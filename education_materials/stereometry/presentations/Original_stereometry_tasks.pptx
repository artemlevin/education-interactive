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50"/>
  </p:notesMasterIdLst>
  <p:sldIdLst>
    <p:sldId id="265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7" r:id="rId12"/>
    <p:sldId id="268" r:id="rId13"/>
    <p:sldId id="269" r:id="rId14"/>
    <p:sldId id="272" r:id="rId15"/>
    <p:sldId id="273" r:id="rId16"/>
    <p:sldId id="271" r:id="rId17"/>
    <p:sldId id="274" r:id="rId18"/>
    <p:sldId id="275" r:id="rId19"/>
    <p:sldId id="282" r:id="rId20"/>
    <p:sldId id="278" r:id="rId21"/>
    <p:sldId id="283" r:id="rId22"/>
    <p:sldId id="285" r:id="rId23"/>
    <p:sldId id="286" r:id="rId24"/>
    <p:sldId id="287" r:id="rId25"/>
    <p:sldId id="288" r:id="rId26"/>
    <p:sldId id="290" r:id="rId27"/>
    <p:sldId id="289" r:id="rId28"/>
    <p:sldId id="292" r:id="rId29"/>
    <p:sldId id="291" r:id="rId30"/>
    <p:sldId id="293" r:id="rId31"/>
    <p:sldId id="295" r:id="rId32"/>
    <p:sldId id="297" r:id="rId33"/>
    <p:sldId id="296" r:id="rId34"/>
    <p:sldId id="298" r:id="rId35"/>
    <p:sldId id="300" r:id="rId36"/>
    <p:sldId id="301" r:id="rId37"/>
    <p:sldId id="306" r:id="rId38"/>
    <p:sldId id="307" r:id="rId39"/>
    <p:sldId id="308" r:id="rId40"/>
    <p:sldId id="311" r:id="rId41"/>
    <p:sldId id="303" r:id="rId42"/>
    <p:sldId id="313" r:id="rId43"/>
    <p:sldId id="321" r:id="rId44"/>
    <p:sldId id="314" r:id="rId45"/>
    <p:sldId id="323" r:id="rId46"/>
    <p:sldId id="316" r:id="rId47"/>
    <p:sldId id="318" r:id="rId48"/>
    <p:sldId id="327" r:id="rId49"/>
  </p:sldIdLst>
  <p:sldSz cx="9144000" cy="5143500" type="screen16x9"/>
  <p:notesSz cx="6858000" cy="9144000"/>
  <p:custDataLst>
    <p:tags r:id="rId51"/>
  </p:custDataLst>
  <p:defaultTextStyle>
    <a:lvl1pPr marL="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521415D9-36F7-43E2-AB2F-B90AF26B5E84}">
      <p14:sectionLst xmlns:p14="http://schemas.microsoft.com/office/powerpoint/2010/main">
        <p14:section name="Раздел по умолчанию" id="{B20DA07E-4C3D-4272-AC63-AE7ABF4A08A9}">
          <p14:sldIdLst>
            <p14:sldId id="265"/>
            <p14:sldId id="257"/>
            <p14:sldId id="258"/>
            <p14:sldId id="259"/>
            <p14:sldId id="260"/>
            <p14:sldId id="266"/>
            <p14:sldId id="261"/>
            <p14:sldId id="262"/>
            <p14:sldId id="263"/>
            <p14:sldId id="264"/>
            <p14:sldId id="267"/>
            <p14:sldId id="268"/>
            <p14:sldId id="269"/>
            <p14:sldId id="272"/>
            <p14:sldId id="273"/>
            <p14:sldId id="271"/>
            <p14:sldId id="274"/>
            <p14:sldId id="275"/>
            <p14:sldId id="282"/>
            <p14:sldId id="278"/>
            <p14:sldId id="283"/>
            <p14:sldId id="285"/>
            <p14:sldId id="286"/>
            <p14:sldId id="287"/>
            <p14:sldId id="288"/>
            <p14:sldId id="290"/>
            <p14:sldId id="289"/>
            <p14:sldId id="292"/>
            <p14:sldId id="291"/>
            <p14:sldId id="293"/>
            <p14:sldId id="295"/>
            <p14:sldId id="297"/>
            <p14:sldId id="296"/>
            <p14:sldId id="298"/>
            <p14:sldId id="300"/>
            <p14:sldId id="301"/>
            <p14:sldId id="306"/>
            <p14:sldId id="307"/>
            <p14:sldId id="308"/>
            <p14:sldId id="311"/>
            <p14:sldId id="303"/>
            <p14:sldId id="313"/>
            <p14:sldId id="321"/>
            <p14:sldId id="314"/>
            <p14:sldId id="323"/>
            <p14:sldId id="316"/>
            <p14:sldId id="318"/>
            <p14:sldId id="327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33"/>
    <a:srgbClr val="006600"/>
    <a:srgbClr val="D4EC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Средний стиль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255" autoAdjust="0"/>
    <p:restoredTop sz="94854" autoAdjust="0"/>
  </p:normalViewPr>
  <p:slideViewPr>
    <p:cSldViewPr>
      <p:cViewPr>
        <p:scale>
          <a:sx n="124" d="100"/>
          <a:sy n="124" d="100"/>
        </p:scale>
        <p:origin x="-1254" y="-59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ags" Target="tags/tag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ru-RU" sz="1200"/>
            </a:lvl1pPr>
            <a:extLst/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ru-RU" sz="1200"/>
            </a:lvl1pPr>
            <a:extLst/>
          </a:lstStyle>
          <a:p>
            <a:fld id="{A8ADFD5B-A66C-449C-B6E8-FB716D07777D}" type="datetimeFigureOut">
              <a:pPr/>
              <a:t>16.09.17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>
            <a:extLst/>
          </a:lstStyle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>
            <a:extLst/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ru-RU" sz="1200"/>
            </a:lvl1pPr>
            <a:extLst/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ru-RU" sz="1200"/>
            </a:lvl1pPr>
            <a:extLst/>
          </a:lstStyle>
          <a:p>
            <a:fld id="{CA5D3BF3-D352-46FC-8343-31F56E6730EA}" type="slidenum"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296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Титульный слайд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ru-RU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ru-RU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ru-RU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</p:spPr>
        <p:txBody>
          <a:bodyPr anchor="ctr"/>
          <a:lstStyle>
            <a:lvl1pPr marL="0" indent="0" algn="l" eaLnBrk="1" latinLnBrk="0" hangingPunct="1">
              <a:buNone/>
              <a:defRPr kumimoji="0" lang="ru-RU" sz="2800">
                <a:solidFill>
                  <a:srgbClr val="FFFFFF"/>
                </a:solidFill>
              </a:defRPr>
            </a:lvl1pPr>
            <a:lvl2pPr marL="457200" indent="0" algn="ctr" eaLnBrk="1" latinLnBrk="0" hangingPunct="1">
              <a:buNone/>
            </a:lvl2pPr>
            <a:lvl3pPr marL="914400" indent="0" algn="ctr" eaLnBrk="1" latinLnBrk="0" hangingPunct="1">
              <a:buNone/>
            </a:lvl3pPr>
            <a:lvl4pPr marL="1371600" indent="0" algn="ctr" eaLnBrk="1" latinLnBrk="0" hangingPunct="1">
              <a:buNone/>
            </a:lvl4pPr>
            <a:lvl5pPr marL="1828800" indent="0" algn="ctr" eaLnBrk="1" latinLnBrk="0" hangingPunct="1">
              <a:buNone/>
            </a:lvl5pPr>
            <a:lvl6pPr marL="2286000" indent="0" algn="ctr" eaLnBrk="1" latinLnBrk="0" hangingPunct="1">
              <a:buNone/>
            </a:lvl6pPr>
            <a:lvl7pPr marL="2743200" indent="0" algn="ctr" eaLnBrk="1" latinLnBrk="0" hangingPunct="1">
              <a:buNone/>
            </a:lvl7pPr>
            <a:lvl8pPr marL="3200400" indent="0" algn="ctr" eaLnBrk="1" latinLnBrk="0" hangingPunct="1">
              <a:buNone/>
            </a:lvl8pPr>
            <a:lvl9pPr marL="3657600" indent="0" algn="ctr" eaLnBrk="1" latinLnBrk="0" hangingPunct="1">
              <a:buNone/>
            </a:lvl9pPr>
            <a:extLst/>
          </a:lstStyle>
          <a:p>
            <a:pPr eaLnBrk="1" latinLnBrk="0" hangingPunct="1"/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</p:spPr>
        <p:txBody>
          <a:bodyPr>
            <a:noAutofit/>
          </a:bodyPr>
          <a:lstStyle>
            <a:lvl1pPr algn="ctr" eaLnBrk="1" latinLnBrk="0" hangingPunct="1">
              <a:defRPr kumimoji="0" lang="ru-RU" sz="2000">
                <a:solidFill>
                  <a:srgbClr val="FFFFFF"/>
                </a:solidFill>
              </a:defRPr>
            </a:lvl1pPr>
            <a:extLst/>
          </a:lstStyle>
          <a:p>
            <a:pPr algn="ctr"/>
            <a:r>
              <a:rPr kumimoji="0" lang="ru-RU" smtClean="0">
                <a:solidFill>
                  <a:srgbClr val="FFFFFF"/>
                </a:solidFill>
              </a:rPr>
              <a:t>6/30/2006</a:t>
            </a:r>
            <a:endParaRPr kumimoji="0" lang="ru-RU" sz="200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177404"/>
            <a:ext cx="5867400" cy="273844"/>
          </a:xfrm>
        </p:spPr>
        <p:txBody>
          <a:bodyPr/>
          <a:lstStyle>
            <a:lvl1pPr algn="r" eaLnBrk="1" latinLnBrk="0" hangingPunct="1">
              <a:defRPr kumimoji="0" lang="ru-RU">
                <a:solidFill>
                  <a:schemeClr val="tx2"/>
                </a:solidFill>
              </a:defRPr>
            </a:lvl1pPr>
            <a:extLst/>
          </a:lstStyle>
          <a:p>
            <a:pPr algn="r"/>
            <a:endParaRPr kumimoji="0" lang="ru-RU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171450"/>
            <a:ext cx="838200" cy="285750"/>
          </a:xfrm>
        </p:spPr>
        <p:txBody>
          <a:bodyPr/>
          <a:lstStyle>
            <a:lvl1pPr eaLnBrk="1" latinLnBrk="0" hangingPunct="1">
              <a:defRPr kumimoji="0" lang="ru-RU">
                <a:solidFill>
                  <a:schemeClr val="tx2"/>
                </a:solidFill>
              </a:defRPr>
            </a:lvl1pPr>
            <a:extLst/>
          </a:lstStyle>
          <a:p>
            <a:fld id="{8F82E0A0-C266-4798-8C8F-B9F91E9DA37E}" type="slidenum">
              <a:rPr kumimoji="0" lang="ru-RU">
                <a:solidFill>
                  <a:schemeClr val="tx2"/>
                </a:solidFill>
              </a:rPr>
              <a:pPr/>
              <a:t>‹#›</a:t>
            </a:fld>
            <a:endParaRPr kumimoji="0" lang="ru-RU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 anchor="b"/>
          <a:lstStyle>
            <a:lvl1pPr eaLnBrk="1" latinLnBrk="0" hangingPunct="1">
              <a:defRPr kumimoji="0" lang="ru-RU" cap="all" baseline="0"/>
            </a:lvl1pPr>
            <a:extLst/>
          </a:lstStyle>
          <a:p>
            <a:pPr eaLnBrk="1" latinLnBrk="0" hangingPunct="1"/>
            <a:r>
              <a:rPr lang="ru-RU" smtClean="0"/>
              <a:t>Образец заголовка</a:t>
            </a:r>
            <a:endParaRPr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pPr eaLnBrk="1" latinLnBrk="0" hangingPunct="1"/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ru-RU" smtClean="0"/>
              <a:t>6/30/2006</a:t>
            </a:r>
            <a:endParaRPr kumimoji="0" lang="ru-RU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ru-RU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algn="ctr"/>
            <a:fld id="{8F82E0A0-C266-4798-8C8F-B9F91E9DA37E}" type="slidenum">
              <a:rPr kumimoji="0" lang="ru-RU" sz="1400" b="1">
                <a:solidFill>
                  <a:srgbClr val="FFFFFF"/>
                </a:solidFill>
              </a:rPr>
              <a:pPr algn="ctr"/>
              <a:t>‹#›</a:t>
            </a:fld>
            <a:endParaRPr kumimoji="0" lang="ru-RU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 anchor="t"/>
          <a:lstStyle>
            <a:lvl1pPr eaLnBrk="1" latinLnBrk="0" hangingPunct="1">
              <a:buNone/>
              <a:defRPr kumimoji="0" lang="ru-RU" sz="2800">
                <a:solidFill>
                  <a:schemeClr val="tx2"/>
                </a:solidFill>
              </a:defRPr>
            </a:lvl1pPr>
            <a:lvl2pPr eaLnBrk="1" latinLnBrk="0" hangingPunct="1">
              <a:buNone/>
              <a:defRPr kumimoji="0" lang="ru-RU" sz="1800">
                <a:solidFill>
                  <a:schemeClr val="tx1">
                    <a:tint val="75000"/>
                  </a:schemeClr>
                </a:solidFill>
              </a:defRPr>
            </a:lvl2pPr>
            <a:lvl3pPr eaLnBrk="1" latinLnBrk="0" hangingPunct="1">
              <a:buNone/>
              <a:defRPr kumimoji="0" lang="ru-RU" sz="1600">
                <a:solidFill>
                  <a:schemeClr val="tx1">
                    <a:tint val="75000"/>
                  </a:schemeClr>
                </a:solidFill>
              </a:defRPr>
            </a:lvl3pPr>
            <a:lvl4pPr eaLnBrk="1" latinLnBrk="0" hangingPunct="1">
              <a:buNone/>
              <a:defRPr kumimoji="0" lang="ru-RU" sz="1400">
                <a:solidFill>
                  <a:schemeClr val="tx1">
                    <a:tint val="75000"/>
                  </a:schemeClr>
                </a:solidFill>
              </a:defRPr>
            </a:lvl4pPr>
            <a:lvl5pPr eaLnBrk="1" latinLnBrk="0" hangingPunct="1">
              <a:buNone/>
              <a:defRPr kumimoji="0" lang="ru-RU"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ru-RU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ru-RU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ru-RU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 eaLnBrk="1" latinLnBrk="0" hangingPunct="1">
              <a:buNone/>
              <a:defRPr kumimoji="0" lang="ru-RU" sz="4400" b="0" cap="none">
                <a:solidFill>
                  <a:srgbClr val="FFFFFF"/>
                </a:solidFill>
              </a:defRPr>
            </a:lvl1pPr>
            <a:extLst/>
          </a:lstStyle>
          <a:p>
            <a:r>
              <a:rPr kumimoji="0" lang="ru-RU"/>
              <a:t>Образец заголовка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ru-RU" smtClean="0"/>
              <a:t>6/30/2006</a:t>
            </a:r>
            <a:endParaRPr kumimoji="0" lang="ru-RU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</p:spPr>
        <p:txBody>
          <a:bodyPr>
            <a:noAutofit/>
          </a:bodyPr>
          <a:lstStyle>
            <a:lvl1pPr eaLnBrk="1" latinLnBrk="0" hangingPunct="1">
              <a:defRPr kumimoji="0" lang="ru-RU" sz="24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kumimoji="0" lang="ru-RU" sz="2400" b="1">
                <a:solidFill>
                  <a:srgbClr val="FFFFFF"/>
                </a:solidFill>
              </a:rPr>
              <a:pPr algn="ctr"/>
              <a:t>‹#›</a:t>
            </a:fld>
            <a:endParaRPr kumimoji="0" lang="ru-RU" sz="240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extLst/>
          </a:lstStyle>
          <a:p>
            <a:endParaRPr kumimoji="0"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pPr eaLnBrk="1" latinLnBrk="0" hangingPunct="1"/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extLst/>
          </a:lstStyle>
          <a:p>
            <a:r>
              <a:rPr lang="ru-RU" smtClean="0"/>
              <a:t>6/30/2006</a:t>
            </a:r>
            <a:endParaRPr kumimoji="0"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extLst/>
          </a:lstStyle>
          <a:p>
            <a:pPr algn="ctr"/>
            <a:fld id="{8F82E0A0-C266-4798-8C8F-B9F91E9DA37E}" type="slidenum">
              <a:rPr kumimoji="0" lang="ru-RU" sz="1400" b="1">
                <a:solidFill>
                  <a:srgbClr val="FFFFFF"/>
                </a:solidFill>
              </a:rPr>
              <a:pPr algn="ctr"/>
              <a:t>‹#›</a:t>
            </a:fld>
            <a:endParaRPr kumimoji="0" lang="ru-RU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extLst/>
          </a:lstStyle>
          <a:p>
            <a:endParaRPr kumimoji="0"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b"/>
          <a:lstStyle>
            <a:lvl1pPr eaLnBrk="1" latinLnBrk="0" hangingPunct="1">
              <a:defRPr kumimoji="0" lang="ru-RU"/>
            </a:lvl1pPr>
            <a:extLst/>
          </a:lstStyle>
          <a:p>
            <a:pPr eaLnBrk="1" latinLnBrk="0" hangingPunct="1"/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extLst/>
          </a:lstStyle>
          <a:p>
            <a:r>
              <a:rPr lang="ru-RU" smtClean="0"/>
              <a:t>6/30/2006</a:t>
            </a:r>
            <a:endParaRPr kumimoji="0" lang="ru-RU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extLst/>
          </a:lstStyle>
          <a:p>
            <a:pPr algn="ctr"/>
            <a:fld id="{8F82E0A0-C266-4798-8C8F-B9F91E9DA37E}" type="slidenum">
              <a:rPr kumimoji="0" lang="ru-RU" sz="1400" b="1">
                <a:solidFill>
                  <a:srgbClr val="FFFFFF"/>
                </a:solidFill>
              </a:rPr>
              <a:pPr algn="ctr"/>
              <a:t>‹#›</a:t>
            </a:fld>
            <a:endParaRPr kumimoji="0" lang="ru-RU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extLst/>
          </a:lstStyle>
          <a:p>
            <a:endParaRPr kumimoji="0" lang="ru-RU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/>
          <a:lstStyle>
            <a:lvl1pPr eaLnBrk="1" latinLnBrk="0" hangingPunct="1">
              <a:buFontTx/>
              <a:buNone/>
              <a:defRPr kumimoji="0" lang="ru-RU" sz="2000" b="1">
                <a:solidFill>
                  <a:srgbClr val="FFFFFF"/>
                </a:solidFill>
              </a:defRPr>
            </a:lvl1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/>
          <a:lstStyle>
            <a:lvl1pPr eaLnBrk="1" latinLnBrk="0" hangingPunct="1">
              <a:buFontTx/>
              <a:buNone/>
              <a:defRPr kumimoji="0" lang="ru-RU" sz="2000" b="1">
                <a:solidFill>
                  <a:srgbClr val="FFFFFF"/>
                </a:solidFill>
              </a:defRPr>
            </a:lvl1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pPr eaLnBrk="1" latinLnBrk="0" hangingPunct="1"/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ru-RU" smtClean="0"/>
              <a:t>6/30/2006</a:t>
            </a:r>
            <a:endParaRPr kumimoji="0"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latinLnBrk="0" hangingPunct="1">
              <a:defRPr kumimoji="0" lang="ru-RU"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kumimoji="0" lang="ru-RU">
                <a:solidFill>
                  <a:srgbClr val="FFFFFF"/>
                </a:solidFill>
              </a:rPr>
              <a:pPr/>
              <a:t>‹#›</a:t>
            </a:fld>
            <a:endParaRPr kumimoji="0" lang="ru-RU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ru-RU" smtClean="0"/>
              <a:t>6/30/2006</a:t>
            </a:r>
            <a:endParaRPr kumimoji="0"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 eaLnBrk="1" latinLnBrk="0" hangingPunct="1">
              <a:defRPr kumimoji="0" lang="ru-RU">
                <a:solidFill>
                  <a:schemeClr val="tx2"/>
                </a:solidFill>
              </a:defRPr>
            </a:lvl1pPr>
            <a:extLst/>
          </a:lstStyle>
          <a:p>
            <a:fld id="{A3F7CB7D-F184-43C7-B6FD-03D728E1BBFF}" type="slidenum">
              <a:rPr kumimoji="0" lang="ru-RU">
                <a:solidFill>
                  <a:schemeClr val="tx2"/>
                </a:solidFill>
              </a:rPr>
              <a:pPr/>
              <a:t>‹#›</a:t>
            </a:fld>
            <a:endParaRPr kumimoji="0" lang="ru-RU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b"/>
          <a:lstStyle>
            <a:lvl1pPr algn="l" eaLnBrk="1" latinLnBrk="0" hangingPunct="1">
              <a:buNone/>
              <a:defRPr kumimoji="0" lang="ru-RU" sz="4200" b="0"/>
            </a:lvl1pPr>
            <a:extLst/>
          </a:lstStyle>
          <a:p>
            <a:pPr eaLnBrk="1" latinLnBrk="0" hangingPunct="1"/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ru-RU" smtClean="0"/>
              <a:t>6/30/2006</a:t>
            </a:r>
            <a:endParaRPr kumimoji="0"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latinLnBrk="0" hangingPunct="1">
              <a:defRPr kumimoji="0" lang="ru-RU"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kumimoji="0" lang="ru-RU">
                <a:solidFill>
                  <a:srgbClr val="FFFFFF"/>
                </a:solidFill>
              </a:rPr>
              <a:pPr/>
              <a:t>‹#›</a:t>
            </a:fld>
            <a:endParaRPr kumimoji="0" lang="ru-RU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 eaLnBrk="1" latinLnBrk="0" hangingPunct="1">
              <a:spcAft>
                <a:spcPts val="1000"/>
              </a:spcAft>
              <a:buNone/>
              <a:defRPr kumimoji="0" lang="ru-RU" sz="1800"/>
            </a:lvl1pPr>
            <a:lvl2pPr eaLnBrk="1" latinLnBrk="0" hangingPunct="1">
              <a:buNone/>
              <a:defRPr kumimoji="0" lang="ru-RU" sz="1200"/>
            </a:lvl2pPr>
            <a:lvl3pPr eaLnBrk="1" latinLnBrk="0" hangingPunct="1">
              <a:buNone/>
              <a:defRPr kumimoji="0" lang="ru-RU" sz="1000"/>
            </a:lvl3pPr>
            <a:lvl4pPr eaLnBrk="1" latinLnBrk="0" hangingPunct="1">
              <a:buNone/>
              <a:defRPr kumimoji="0" lang="ru-RU" sz="900"/>
            </a:lvl4pPr>
            <a:lvl5pPr eaLnBrk="1" latinLnBrk="0" hangingPunct="1">
              <a:buNone/>
              <a:defRPr kumimoji="0" lang="ru-RU" sz="9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 eaLnBrk="1" latinLnBrk="0" hangingPunct="1">
              <a:buNone/>
              <a:defRPr kumimoji="0" lang="ru-RU"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 eaLnBrk="1" latinLnBrk="0" hangingPunct="1">
              <a:buFontTx/>
              <a:buNone/>
              <a:defRPr kumimoji="0" lang="ru-RU" sz="1700"/>
            </a:lvl1pPr>
            <a:lvl2pPr eaLnBrk="1" latinLnBrk="0" hangingPunct="1">
              <a:buFontTx/>
              <a:buNone/>
              <a:defRPr kumimoji="0" lang="ru-RU" sz="1200"/>
            </a:lvl2pPr>
            <a:lvl3pPr eaLnBrk="1" latinLnBrk="0" hangingPunct="1">
              <a:buFontTx/>
              <a:buNone/>
              <a:defRPr kumimoji="0" lang="ru-RU" sz="1000"/>
            </a:lvl3pPr>
            <a:lvl4pPr eaLnBrk="1" latinLnBrk="0" hangingPunct="1">
              <a:buFontTx/>
              <a:buNone/>
              <a:defRPr kumimoji="0" lang="ru-RU" sz="900"/>
            </a:lvl4pPr>
            <a:lvl5pPr eaLnBrk="1" latinLnBrk="0" hangingPunct="1">
              <a:buFontTx/>
              <a:buNone/>
              <a:defRPr kumimoji="0" lang="ru-RU" sz="9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</p:txBody>
      </p:sp>
      <p:sp>
        <p:nvSpPr>
          <p:cNvPr id="8" name="Rectangle 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ru-RU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ru-RU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89520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 eaLnBrk="1" latinLnBrk="0" hangingPunct="1">
              <a:buNone/>
              <a:defRPr kumimoji="0" lang="ru-RU" sz="2800" b="0">
                <a:solidFill>
                  <a:srgbClr val="FFFFFF"/>
                </a:solidFill>
              </a:defRPr>
            </a:lvl1pPr>
            <a:extLst/>
          </a:lstStyle>
          <a:p>
            <a:pPr eaLnBrk="1" latinLnBrk="0" hangingPunct="1"/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ru-RU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</p:spPr>
        <p:txBody>
          <a:bodyPr rtlCol="0"/>
          <a:lstStyle>
            <a:extLst/>
          </a:lstStyle>
          <a:p>
            <a:r>
              <a:rPr lang="ru-RU" smtClean="0"/>
              <a:t>6/30/2006</a:t>
            </a:r>
            <a:endParaRPr kumimoji="0" lang="ru-RU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</p:spPr>
        <p:txBody>
          <a:bodyPr rtlCol="0"/>
          <a:lstStyle>
            <a:lvl1pPr eaLnBrk="1" latinLnBrk="0" hangingPunct="1">
              <a:defRPr kumimoji="0" lang="ru-RU" sz="2800"/>
            </a:lvl1pPr>
            <a:extLst/>
          </a:lstStyle>
          <a:p>
            <a:pPr algn="ctr"/>
            <a:fld id="{8F82E0A0-C266-4798-8C8F-B9F91E9DA37E}" type="slidenum">
              <a:rPr kumimoji="0" lang="ru-RU" sz="2800" b="1">
                <a:solidFill>
                  <a:srgbClr val="FFFFFF"/>
                </a:solidFill>
              </a:rPr>
              <a:pPr algn="ctr"/>
              <a:t>‹#›</a:t>
            </a:fld>
            <a:endParaRPr kumimoji="0" lang="ru-RU" sz="280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</p:spPr>
        <p:txBody>
          <a:bodyPr rtlCol="0"/>
          <a:lstStyle>
            <a:extLst/>
          </a:lstStyle>
          <a:p>
            <a:endParaRPr kumimoji="0"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lang="ru-RU" sz="1400">
                <a:solidFill>
                  <a:schemeClr val="tx2"/>
                </a:solidFill>
              </a:defRPr>
            </a:lvl1pPr>
            <a:extLst/>
          </a:lstStyle>
          <a:p>
            <a:r>
              <a:rPr lang="ru-RU" smtClean="0"/>
              <a:t>6/30/2006</a:t>
            </a:r>
            <a:endParaRPr kumimoji="0" lang="ru-RU" sz="140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lang="ru-RU" sz="1400">
                <a:solidFill>
                  <a:schemeClr val="tx2"/>
                </a:solidFill>
              </a:defRPr>
            </a:lvl1pPr>
            <a:extLst/>
          </a:lstStyle>
          <a:p>
            <a:pPr algn="r"/>
            <a:endParaRPr kumimoji="0" lang="ru-RU" sz="140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ru-RU"/>
          </a:p>
        </p:txBody>
      </p:sp>
      <p:sp>
        <p:nvSpPr>
          <p:cNvPr id="8" name="Rectangle 7"/>
          <p:cNvSpPr/>
          <p:nvPr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ru-RU"/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kumimoji="0" lang="ru-RU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lang="ru-RU" sz="1400" b="1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kumimoji="0" lang="ru-RU" sz="1400" b="1">
                <a:solidFill>
                  <a:srgbClr val="FFFFFF"/>
                </a:solidFill>
              </a:rPr>
              <a:pPr algn="ctr"/>
              <a:t>‹#›</a:t>
            </a:fld>
            <a:endParaRPr kumimoji="0" lang="ru-RU" sz="1400" b="1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pPr eaLnBrk="1" latinLnBrk="0" hangingPunct="1"/>
            <a:r>
              <a:rPr kumimoji="0" lang="ru-RU" smtClean="0"/>
              <a:t>Образец заголовка</a:t>
            </a:r>
            <a:endParaRPr kumimoji="0" 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latinLnBrk="0" hangingPunct="1">
        <a:spcBef>
          <a:spcPct val="0"/>
        </a:spcBef>
        <a:buNone/>
        <a:defRPr kumimoji="0" lang="ru-RU" sz="4200" kern="120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lang="ru-RU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lang="ru-RU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lang="ru-RU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lang="ru-RU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lang="ru-RU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kumimoji="0" lang="ru-RU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lang="ru-RU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lang="ru-RU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lang="ru-RU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lang="ru-RU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lang="ru-RU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lang="ru-RU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lang="ru-RU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lang="ru-RU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lang="ru-RU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lang="ru-RU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lang="ru-RU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lang="ru-RU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.png"/><Relationship Id="rId18" Type="http://schemas.openxmlformats.org/officeDocument/2006/relationships/image" Target="../media/image8.png"/><Relationship Id="rId26" Type="http://schemas.openxmlformats.org/officeDocument/2006/relationships/image" Target="../media/image14.png"/><Relationship Id="rId51" Type="http://schemas.openxmlformats.org/officeDocument/2006/relationships/image" Target="../media/image53.png"/><Relationship Id="rId72" Type="http://schemas.openxmlformats.org/officeDocument/2006/relationships/image" Target="../media/image30.png"/><Relationship Id="rId21" Type="http://schemas.openxmlformats.org/officeDocument/2006/relationships/image" Target="../media/image11.png"/><Relationship Id="rId55" Type="http://schemas.openxmlformats.org/officeDocument/2006/relationships/image" Target="../media/image55.png"/><Relationship Id="rId63" Type="http://schemas.openxmlformats.org/officeDocument/2006/relationships/image" Target="../media/image20.png"/><Relationship Id="rId68" Type="http://schemas.openxmlformats.org/officeDocument/2006/relationships/image" Target="../media/image25.png"/><Relationship Id="rId12" Type="http://schemas.openxmlformats.org/officeDocument/2006/relationships/image" Target="../media/image2.png"/><Relationship Id="rId17" Type="http://schemas.openxmlformats.org/officeDocument/2006/relationships/image" Target="../media/image7.png"/><Relationship Id="rId25" Type="http://schemas.openxmlformats.org/officeDocument/2006/relationships/image" Target="../media/image12.png"/><Relationship Id="rId59" Type="http://schemas.openxmlformats.org/officeDocument/2006/relationships/image" Target="../media/image57.png"/><Relationship Id="rId67" Type="http://schemas.openxmlformats.org/officeDocument/2006/relationships/image" Target="../media/image24.png"/><Relationship Id="rId71" Type="http://schemas.openxmlformats.org/officeDocument/2006/relationships/image" Target="../media/image29.png"/><Relationship Id="rId16" Type="http://schemas.openxmlformats.org/officeDocument/2006/relationships/image" Target="../media/image6.png"/><Relationship Id="rId20" Type="http://schemas.openxmlformats.org/officeDocument/2006/relationships/image" Target="../media/image10.png"/><Relationship Id="rId54" Type="http://schemas.openxmlformats.org/officeDocument/2006/relationships/image" Target="../media/image16.png"/><Relationship Id="rId62" Type="http://schemas.openxmlformats.org/officeDocument/2006/relationships/image" Target="../media/image60.png"/><Relationship Id="rId70" Type="http://schemas.openxmlformats.org/officeDocument/2006/relationships/image" Target="../media/image28.png"/><Relationship Id="rId75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53" Type="http://schemas.openxmlformats.org/officeDocument/2006/relationships/image" Target="../media/image54.png"/><Relationship Id="rId45" Type="http://schemas.openxmlformats.org/officeDocument/2006/relationships/image" Target="../media/image47.png"/><Relationship Id="rId58" Type="http://schemas.openxmlformats.org/officeDocument/2006/relationships/image" Target="../media/image19.png"/><Relationship Id="rId66" Type="http://schemas.openxmlformats.org/officeDocument/2006/relationships/image" Target="../media/image23.png"/><Relationship Id="rId74" Type="http://schemas.openxmlformats.org/officeDocument/2006/relationships/image" Target="../media/image32.png"/><Relationship Id="rId15" Type="http://schemas.openxmlformats.org/officeDocument/2006/relationships/image" Target="../media/image5.png"/><Relationship Id="rId57" Type="http://schemas.openxmlformats.org/officeDocument/2006/relationships/image" Target="../media/image18.png"/><Relationship Id="rId61" Type="http://schemas.openxmlformats.org/officeDocument/2006/relationships/image" Target="../media/image59.png"/><Relationship Id="rId19" Type="http://schemas.openxmlformats.org/officeDocument/2006/relationships/image" Target="../media/image9.png"/><Relationship Id="rId52" Type="http://schemas.openxmlformats.org/officeDocument/2006/relationships/image" Target="../media/image15.png"/><Relationship Id="rId60" Type="http://schemas.openxmlformats.org/officeDocument/2006/relationships/image" Target="../media/image58.png"/><Relationship Id="rId65" Type="http://schemas.openxmlformats.org/officeDocument/2006/relationships/image" Target="../media/image22.png"/><Relationship Id="rId73" Type="http://schemas.openxmlformats.org/officeDocument/2006/relationships/image" Target="../media/image31.png"/><Relationship Id="rId14" Type="http://schemas.openxmlformats.org/officeDocument/2006/relationships/image" Target="../media/image4.png"/><Relationship Id="rId56" Type="http://schemas.openxmlformats.org/officeDocument/2006/relationships/image" Target="../media/image17.png"/><Relationship Id="rId64" Type="http://schemas.openxmlformats.org/officeDocument/2006/relationships/image" Target="../media/image21.png"/><Relationship Id="rId69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18" Type="http://schemas.openxmlformats.org/officeDocument/2006/relationships/image" Target="../media/image50.png"/><Relationship Id="rId26" Type="http://schemas.openxmlformats.org/officeDocument/2006/relationships/image" Target="../media/image65.png"/><Relationship Id="rId39" Type="http://schemas.openxmlformats.org/officeDocument/2006/relationships/image" Target="../media/image78.png"/><Relationship Id="rId3" Type="http://schemas.openxmlformats.org/officeDocument/2006/relationships/image" Target="../media/image35.png"/><Relationship Id="rId21" Type="http://schemas.openxmlformats.org/officeDocument/2006/relationships/image" Target="../media/image56.png"/><Relationship Id="rId34" Type="http://schemas.openxmlformats.org/officeDocument/2006/relationships/image" Target="../media/image73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17" Type="http://schemas.openxmlformats.org/officeDocument/2006/relationships/image" Target="../media/image49.png"/><Relationship Id="rId25" Type="http://schemas.openxmlformats.org/officeDocument/2006/relationships/image" Target="../media/image64.png"/><Relationship Id="rId33" Type="http://schemas.openxmlformats.org/officeDocument/2006/relationships/image" Target="../media/image72.png"/><Relationship Id="rId38" Type="http://schemas.openxmlformats.org/officeDocument/2006/relationships/image" Target="../media/image77.png"/><Relationship Id="rId2" Type="http://schemas.openxmlformats.org/officeDocument/2006/relationships/image" Target="../media/image34.png"/><Relationship Id="rId16" Type="http://schemas.openxmlformats.org/officeDocument/2006/relationships/image" Target="../media/image48.png"/><Relationship Id="rId20" Type="http://schemas.openxmlformats.org/officeDocument/2006/relationships/image" Target="../media/image52.png"/><Relationship Id="rId29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24" Type="http://schemas.openxmlformats.org/officeDocument/2006/relationships/image" Target="../media/image63.png"/><Relationship Id="rId32" Type="http://schemas.openxmlformats.org/officeDocument/2006/relationships/image" Target="../media/image71.png"/><Relationship Id="rId37" Type="http://schemas.openxmlformats.org/officeDocument/2006/relationships/image" Target="../media/image76.png"/><Relationship Id="rId40" Type="http://schemas.openxmlformats.org/officeDocument/2006/relationships/image" Target="../media/image79.png"/><Relationship Id="rId5" Type="http://schemas.openxmlformats.org/officeDocument/2006/relationships/image" Target="../media/image37.png"/><Relationship Id="rId15" Type="http://schemas.openxmlformats.org/officeDocument/2006/relationships/image" Target="../media/image6.png"/><Relationship Id="rId23" Type="http://schemas.openxmlformats.org/officeDocument/2006/relationships/image" Target="../media/image62.png"/><Relationship Id="rId28" Type="http://schemas.openxmlformats.org/officeDocument/2006/relationships/image" Target="../media/image67.png"/><Relationship Id="rId36" Type="http://schemas.openxmlformats.org/officeDocument/2006/relationships/image" Target="../media/image75.png"/><Relationship Id="rId10" Type="http://schemas.openxmlformats.org/officeDocument/2006/relationships/image" Target="../media/image42.png"/><Relationship Id="rId19" Type="http://schemas.openxmlformats.org/officeDocument/2006/relationships/image" Target="../media/image51.png"/><Relationship Id="rId31" Type="http://schemas.openxmlformats.org/officeDocument/2006/relationships/image" Target="../media/image70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Relationship Id="rId22" Type="http://schemas.openxmlformats.org/officeDocument/2006/relationships/image" Target="../media/image61.png"/><Relationship Id="rId27" Type="http://schemas.openxmlformats.org/officeDocument/2006/relationships/image" Target="../media/image66.png"/><Relationship Id="rId30" Type="http://schemas.openxmlformats.org/officeDocument/2006/relationships/image" Target="../media/image69.png"/><Relationship Id="rId35" Type="http://schemas.openxmlformats.org/officeDocument/2006/relationships/image" Target="../media/image7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18" Type="http://schemas.openxmlformats.org/officeDocument/2006/relationships/image" Target="../media/image95.png"/><Relationship Id="rId26" Type="http://schemas.openxmlformats.org/officeDocument/2006/relationships/image" Target="../media/image103.png"/><Relationship Id="rId39" Type="http://schemas.openxmlformats.org/officeDocument/2006/relationships/image" Target="../media/image116.png"/><Relationship Id="rId3" Type="http://schemas.openxmlformats.org/officeDocument/2006/relationships/image" Target="../media/image81.png"/><Relationship Id="rId21" Type="http://schemas.openxmlformats.org/officeDocument/2006/relationships/image" Target="../media/image98.png"/><Relationship Id="rId34" Type="http://schemas.openxmlformats.org/officeDocument/2006/relationships/image" Target="../media/image111.png"/><Relationship Id="rId42" Type="http://schemas.openxmlformats.org/officeDocument/2006/relationships/image" Target="../media/image119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17" Type="http://schemas.openxmlformats.org/officeDocument/2006/relationships/image" Target="../media/image94.png"/><Relationship Id="rId25" Type="http://schemas.openxmlformats.org/officeDocument/2006/relationships/image" Target="../media/image102.png"/><Relationship Id="rId33" Type="http://schemas.openxmlformats.org/officeDocument/2006/relationships/image" Target="../media/image110.png"/><Relationship Id="rId38" Type="http://schemas.openxmlformats.org/officeDocument/2006/relationships/image" Target="../media/image115.png"/><Relationship Id="rId46" Type="http://schemas.openxmlformats.org/officeDocument/2006/relationships/image" Target="../media/image123.png"/><Relationship Id="rId2" Type="http://schemas.openxmlformats.org/officeDocument/2006/relationships/image" Target="../media/image80.png"/><Relationship Id="rId16" Type="http://schemas.openxmlformats.org/officeDocument/2006/relationships/image" Target="../media/image93.png"/><Relationship Id="rId20" Type="http://schemas.openxmlformats.org/officeDocument/2006/relationships/image" Target="../media/image97.png"/><Relationship Id="rId29" Type="http://schemas.openxmlformats.org/officeDocument/2006/relationships/image" Target="../media/image106.png"/><Relationship Id="rId41" Type="http://schemas.openxmlformats.org/officeDocument/2006/relationships/image" Target="../media/image1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24" Type="http://schemas.openxmlformats.org/officeDocument/2006/relationships/image" Target="../media/image101.png"/><Relationship Id="rId32" Type="http://schemas.openxmlformats.org/officeDocument/2006/relationships/image" Target="../media/image109.png"/><Relationship Id="rId37" Type="http://schemas.openxmlformats.org/officeDocument/2006/relationships/image" Target="../media/image114.png"/><Relationship Id="rId40" Type="http://schemas.openxmlformats.org/officeDocument/2006/relationships/image" Target="../media/image117.png"/><Relationship Id="rId45" Type="http://schemas.openxmlformats.org/officeDocument/2006/relationships/image" Target="../media/image122.png"/><Relationship Id="rId5" Type="http://schemas.openxmlformats.org/officeDocument/2006/relationships/image" Target="../media/image4.png"/><Relationship Id="rId15" Type="http://schemas.openxmlformats.org/officeDocument/2006/relationships/image" Target="../media/image92.png"/><Relationship Id="rId23" Type="http://schemas.openxmlformats.org/officeDocument/2006/relationships/image" Target="../media/image100.png"/><Relationship Id="rId28" Type="http://schemas.openxmlformats.org/officeDocument/2006/relationships/image" Target="../media/image105.png"/><Relationship Id="rId36" Type="http://schemas.openxmlformats.org/officeDocument/2006/relationships/image" Target="../media/image113.png"/><Relationship Id="rId10" Type="http://schemas.openxmlformats.org/officeDocument/2006/relationships/image" Target="../media/image87.png"/><Relationship Id="rId19" Type="http://schemas.openxmlformats.org/officeDocument/2006/relationships/image" Target="../media/image96.png"/><Relationship Id="rId31" Type="http://schemas.openxmlformats.org/officeDocument/2006/relationships/image" Target="../media/image108.png"/><Relationship Id="rId44" Type="http://schemas.openxmlformats.org/officeDocument/2006/relationships/image" Target="../media/image121.png"/><Relationship Id="rId4" Type="http://schemas.openxmlformats.org/officeDocument/2006/relationships/image" Target="../media/image82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Relationship Id="rId22" Type="http://schemas.openxmlformats.org/officeDocument/2006/relationships/image" Target="../media/image99.png"/><Relationship Id="rId27" Type="http://schemas.openxmlformats.org/officeDocument/2006/relationships/image" Target="../media/image104.png"/><Relationship Id="rId30" Type="http://schemas.openxmlformats.org/officeDocument/2006/relationships/image" Target="../media/image107.png"/><Relationship Id="rId35" Type="http://schemas.openxmlformats.org/officeDocument/2006/relationships/image" Target="../media/image112.png"/><Relationship Id="rId43" Type="http://schemas.openxmlformats.org/officeDocument/2006/relationships/image" Target="../media/image1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3.png"/><Relationship Id="rId18" Type="http://schemas.openxmlformats.org/officeDocument/2006/relationships/image" Target="../media/image101.png"/><Relationship Id="rId26" Type="http://schemas.openxmlformats.org/officeDocument/2006/relationships/image" Target="../media/image107.png"/><Relationship Id="rId39" Type="http://schemas.openxmlformats.org/officeDocument/2006/relationships/image" Target="../media/image122.png"/><Relationship Id="rId3" Type="http://schemas.openxmlformats.org/officeDocument/2006/relationships/image" Target="../media/image81.png"/><Relationship Id="rId21" Type="http://schemas.openxmlformats.org/officeDocument/2006/relationships/image" Target="../media/image102.png"/><Relationship Id="rId34" Type="http://schemas.openxmlformats.org/officeDocument/2006/relationships/image" Target="../media/image117.png"/><Relationship Id="rId42" Type="http://schemas.openxmlformats.org/officeDocument/2006/relationships/image" Target="../media/image130.png"/><Relationship Id="rId7" Type="http://schemas.openxmlformats.org/officeDocument/2006/relationships/image" Target="../media/image124.png"/><Relationship Id="rId12" Type="http://schemas.openxmlformats.org/officeDocument/2006/relationships/image" Target="../media/image92.png"/><Relationship Id="rId17" Type="http://schemas.openxmlformats.org/officeDocument/2006/relationships/image" Target="../media/image98.png"/><Relationship Id="rId25" Type="http://schemas.openxmlformats.org/officeDocument/2006/relationships/image" Target="../media/image106.png"/><Relationship Id="rId33" Type="http://schemas.openxmlformats.org/officeDocument/2006/relationships/image" Target="../media/image116.png"/><Relationship Id="rId38" Type="http://schemas.openxmlformats.org/officeDocument/2006/relationships/image" Target="../media/image121.png"/><Relationship Id="rId2" Type="http://schemas.openxmlformats.org/officeDocument/2006/relationships/image" Target="../media/image80.png"/><Relationship Id="rId16" Type="http://schemas.openxmlformats.org/officeDocument/2006/relationships/image" Target="../media/image97.png"/><Relationship Id="rId20" Type="http://schemas.openxmlformats.org/officeDocument/2006/relationships/image" Target="../media/image128.png"/><Relationship Id="rId29" Type="http://schemas.openxmlformats.org/officeDocument/2006/relationships/image" Target="../media/image112.png"/><Relationship Id="rId41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11" Type="http://schemas.openxmlformats.org/officeDocument/2006/relationships/image" Target="../media/image126.png"/><Relationship Id="rId24" Type="http://schemas.openxmlformats.org/officeDocument/2006/relationships/image" Target="../media/image105.png"/><Relationship Id="rId32" Type="http://schemas.openxmlformats.org/officeDocument/2006/relationships/image" Target="../media/image115.png"/><Relationship Id="rId37" Type="http://schemas.openxmlformats.org/officeDocument/2006/relationships/image" Target="../media/image120.png"/><Relationship Id="rId40" Type="http://schemas.openxmlformats.org/officeDocument/2006/relationships/image" Target="../media/image123.png"/><Relationship Id="rId5" Type="http://schemas.openxmlformats.org/officeDocument/2006/relationships/image" Target="../media/image4.png"/><Relationship Id="rId15" Type="http://schemas.openxmlformats.org/officeDocument/2006/relationships/image" Target="../media/image96.png"/><Relationship Id="rId23" Type="http://schemas.openxmlformats.org/officeDocument/2006/relationships/image" Target="../media/image104.png"/><Relationship Id="rId28" Type="http://schemas.openxmlformats.org/officeDocument/2006/relationships/image" Target="../media/image109.png"/><Relationship Id="rId36" Type="http://schemas.openxmlformats.org/officeDocument/2006/relationships/image" Target="../media/image119.png"/><Relationship Id="rId10" Type="http://schemas.openxmlformats.org/officeDocument/2006/relationships/image" Target="../media/image88.png"/><Relationship Id="rId19" Type="http://schemas.openxmlformats.org/officeDocument/2006/relationships/image" Target="../media/image100.png"/><Relationship Id="rId31" Type="http://schemas.openxmlformats.org/officeDocument/2006/relationships/image" Target="../media/image114.png"/><Relationship Id="rId4" Type="http://schemas.openxmlformats.org/officeDocument/2006/relationships/image" Target="../media/image36.png"/><Relationship Id="rId9" Type="http://schemas.openxmlformats.org/officeDocument/2006/relationships/image" Target="../media/image125.png"/><Relationship Id="rId14" Type="http://schemas.openxmlformats.org/officeDocument/2006/relationships/image" Target="../media/image127.png"/><Relationship Id="rId22" Type="http://schemas.openxmlformats.org/officeDocument/2006/relationships/image" Target="../media/image103.png"/><Relationship Id="rId27" Type="http://schemas.openxmlformats.org/officeDocument/2006/relationships/image" Target="../media/image108.png"/><Relationship Id="rId30" Type="http://schemas.openxmlformats.org/officeDocument/2006/relationships/image" Target="../media/image113.png"/><Relationship Id="rId35" Type="http://schemas.openxmlformats.org/officeDocument/2006/relationships/image" Target="../media/image11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13" Type="http://schemas.openxmlformats.org/officeDocument/2006/relationships/image" Target="../media/image139.png"/><Relationship Id="rId18" Type="http://schemas.openxmlformats.org/officeDocument/2006/relationships/image" Target="../media/image144.png"/><Relationship Id="rId26" Type="http://schemas.openxmlformats.org/officeDocument/2006/relationships/image" Target="../media/image151.png"/><Relationship Id="rId3" Type="http://schemas.openxmlformats.org/officeDocument/2006/relationships/image" Target="../media/image3.png"/><Relationship Id="rId21" Type="http://schemas.openxmlformats.org/officeDocument/2006/relationships/image" Target="../media/image90.png"/><Relationship Id="rId34" Type="http://schemas.openxmlformats.org/officeDocument/2006/relationships/image" Target="../media/image159.png"/><Relationship Id="rId7" Type="http://schemas.openxmlformats.org/officeDocument/2006/relationships/image" Target="../media/image133.png"/><Relationship Id="rId12" Type="http://schemas.openxmlformats.org/officeDocument/2006/relationships/image" Target="../media/image138.png"/><Relationship Id="rId17" Type="http://schemas.openxmlformats.org/officeDocument/2006/relationships/image" Target="../media/image143.png"/><Relationship Id="rId25" Type="http://schemas.openxmlformats.org/officeDocument/2006/relationships/image" Target="../media/image150.png"/><Relationship Id="rId33" Type="http://schemas.openxmlformats.org/officeDocument/2006/relationships/image" Target="../media/image158.png"/><Relationship Id="rId2" Type="http://schemas.openxmlformats.org/officeDocument/2006/relationships/image" Target="../media/image131.png"/><Relationship Id="rId16" Type="http://schemas.openxmlformats.org/officeDocument/2006/relationships/image" Target="../media/image142.png"/><Relationship Id="rId20" Type="http://schemas.openxmlformats.org/officeDocument/2006/relationships/image" Target="../media/image146.png"/><Relationship Id="rId29" Type="http://schemas.openxmlformats.org/officeDocument/2006/relationships/image" Target="../media/image1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2.png"/><Relationship Id="rId11" Type="http://schemas.openxmlformats.org/officeDocument/2006/relationships/image" Target="../media/image137.png"/><Relationship Id="rId24" Type="http://schemas.openxmlformats.org/officeDocument/2006/relationships/image" Target="../media/image149.png"/><Relationship Id="rId32" Type="http://schemas.openxmlformats.org/officeDocument/2006/relationships/image" Target="../media/image157.png"/><Relationship Id="rId5" Type="http://schemas.openxmlformats.org/officeDocument/2006/relationships/image" Target="../media/image83.png"/><Relationship Id="rId15" Type="http://schemas.openxmlformats.org/officeDocument/2006/relationships/image" Target="../media/image141.png"/><Relationship Id="rId23" Type="http://schemas.openxmlformats.org/officeDocument/2006/relationships/image" Target="../media/image148.png"/><Relationship Id="rId28" Type="http://schemas.openxmlformats.org/officeDocument/2006/relationships/image" Target="../media/image153.png"/><Relationship Id="rId10" Type="http://schemas.openxmlformats.org/officeDocument/2006/relationships/image" Target="../media/image136.png"/><Relationship Id="rId19" Type="http://schemas.openxmlformats.org/officeDocument/2006/relationships/image" Target="../media/image145.png"/><Relationship Id="rId31" Type="http://schemas.openxmlformats.org/officeDocument/2006/relationships/image" Target="../media/image156.png"/><Relationship Id="rId4" Type="http://schemas.openxmlformats.org/officeDocument/2006/relationships/image" Target="../media/image37.png"/><Relationship Id="rId9" Type="http://schemas.openxmlformats.org/officeDocument/2006/relationships/image" Target="../media/image135.png"/><Relationship Id="rId14" Type="http://schemas.openxmlformats.org/officeDocument/2006/relationships/image" Target="../media/image140.png"/><Relationship Id="rId22" Type="http://schemas.openxmlformats.org/officeDocument/2006/relationships/image" Target="../media/image147.png"/><Relationship Id="rId27" Type="http://schemas.openxmlformats.org/officeDocument/2006/relationships/image" Target="../media/image152.png"/><Relationship Id="rId30" Type="http://schemas.openxmlformats.org/officeDocument/2006/relationships/image" Target="../media/image155.png"/><Relationship Id="rId35" Type="http://schemas.openxmlformats.org/officeDocument/2006/relationships/image" Target="../media/image16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169.png"/><Relationship Id="rId18" Type="http://schemas.openxmlformats.org/officeDocument/2006/relationships/image" Target="../media/image174.png"/><Relationship Id="rId26" Type="http://schemas.openxmlformats.org/officeDocument/2006/relationships/image" Target="../media/image182.png"/><Relationship Id="rId3" Type="http://schemas.openxmlformats.org/officeDocument/2006/relationships/image" Target="../media/image3.png"/><Relationship Id="rId21" Type="http://schemas.openxmlformats.org/officeDocument/2006/relationships/image" Target="../media/image177.png"/><Relationship Id="rId34" Type="http://schemas.openxmlformats.org/officeDocument/2006/relationships/image" Target="../media/image190.png"/><Relationship Id="rId7" Type="http://schemas.openxmlformats.org/officeDocument/2006/relationships/image" Target="../media/image164.png"/><Relationship Id="rId12" Type="http://schemas.openxmlformats.org/officeDocument/2006/relationships/image" Target="../media/image168.png"/><Relationship Id="rId17" Type="http://schemas.openxmlformats.org/officeDocument/2006/relationships/image" Target="../media/image173.png"/><Relationship Id="rId25" Type="http://schemas.openxmlformats.org/officeDocument/2006/relationships/image" Target="../media/image181.png"/><Relationship Id="rId33" Type="http://schemas.openxmlformats.org/officeDocument/2006/relationships/image" Target="../media/image189.png"/><Relationship Id="rId38" Type="http://schemas.openxmlformats.org/officeDocument/2006/relationships/image" Target="../media/image194.png"/><Relationship Id="rId2" Type="http://schemas.openxmlformats.org/officeDocument/2006/relationships/image" Target="../media/image161.png"/><Relationship Id="rId16" Type="http://schemas.openxmlformats.org/officeDocument/2006/relationships/image" Target="../media/image172.png"/><Relationship Id="rId20" Type="http://schemas.openxmlformats.org/officeDocument/2006/relationships/image" Target="../media/image176.png"/><Relationship Id="rId29" Type="http://schemas.openxmlformats.org/officeDocument/2006/relationships/image" Target="../media/image18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3.png"/><Relationship Id="rId11" Type="http://schemas.openxmlformats.org/officeDocument/2006/relationships/image" Target="../media/image167.png"/><Relationship Id="rId24" Type="http://schemas.openxmlformats.org/officeDocument/2006/relationships/image" Target="../media/image180.png"/><Relationship Id="rId32" Type="http://schemas.openxmlformats.org/officeDocument/2006/relationships/image" Target="../media/image188.png"/><Relationship Id="rId37" Type="http://schemas.openxmlformats.org/officeDocument/2006/relationships/image" Target="../media/image193.png"/><Relationship Id="rId5" Type="http://schemas.openxmlformats.org/officeDocument/2006/relationships/image" Target="../media/image83.png"/><Relationship Id="rId15" Type="http://schemas.openxmlformats.org/officeDocument/2006/relationships/image" Target="../media/image171.png"/><Relationship Id="rId23" Type="http://schemas.openxmlformats.org/officeDocument/2006/relationships/image" Target="../media/image179.png"/><Relationship Id="rId28" Type="http://schemas.openxmlformats.org/officeDocument/2006/relationships/image" Target="../media/image184.png"/><Relationship Id="rId36" Type="http://schemas.openxmlformats.org/officeDocument/2006/relationships/image" Target="../media/image192.png"/><Relationship Id="rId10" Type="http://schemas.openxmlformats.org/officeDocument/2006/relationships/image" Target="../media/image166.png"/><Relationship Id="rId19" Type="http://schemas.openxmlformats.org/officeDocument/2006/relationships/image" Target="../media/image175.png"/><Relationship Id="rId31" Type="http://schemas.openxmlformats.org/officeDocument/2006/relationships/image" Target="../media/image187.png"/><Relationship Id="rId4" Type="http://schemas.openxmlformats.org/officeDocument/2006/relationships/image" Target="../media/image162.png"/><Relationship Id="rId9" Type="http://schemas.openxmlformats.org/officeDocument/2006/relationships/image" Target="../media/image165.png"/><Relationship Id="rId14" Type="http://schemas.openxmlformats.org/officeDocument/2006/relationships/image" Target="../media/image170.png"/><Relationship Id="rId22" Type="http://schemas.openxmlformats.org/officeDocument/2006/relationships/image" Target="../media/image178.png"/><Relationship Id="rId27" Type="http://schemas.openxmlformats.org/officeDocument/2006/relationships/image" Target="../media/image183.png"/><Relationship Id="rId30" Type="http://schemas.openxmlformats.org/officeDocument/2006/relationships/image" Target="../media/image186.png"/><Relationship Id="rId35" Type="http://schemas.openxmlformats.org/officeDocument/2006/relationships/image" Target="../media/image191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3.png"/><Relationship Id="rId18" Type="http://schemas.openxmlformats.org/officeDocument/2006/relationships/image" Target="../media/image208.png"/><Relationship Id="rId26" Type="http://schemas.openxmlformats.org/officeDocument/2006/relationships/image" Target="../media/image216.png"/><Relationship Id="rId39" Type="http://schemas.openxmlformats.org/officeDocument/2006/relationships/image" Target="../media/image229.png"/><Relationship Id="rId3" Type="http://schemas.openxmlformats.org/officeDocument/2006/relationships/image" Target="../media/image36.png"/><Relationship Id="rId21" Type="http://schemas.openxmlformats.org/officeDocument/2006/relationships/image" Target="../media/image211.png"/><Relationship Id="rId34" Type="http://schemas.openxmlformats.org/officeDocument/2006/relationships/image" Target="../media/image224.png"/><Relationship Id="rId42" Type="http://schemas.openxmlformats.org/officeDocument/2006/relationships/image" Target="../media/image232.png"/><Relationship Id="rId47" Type="http://schemas.openxmlformats.org/officeDocument/2006/relationships/image" Target="../media/image237.png"/><Relationship Id="rId50" Type="http://schemas.openxmlformats.org/officeDocument/2006/relationships/image" Target="../media/image240.png"/><Relationship Id="rId7" Type="http://schemas.openxmlformats.org/officeDocument/2006/relationships/image" Target="../media/image163.png"/><Relationship Id="rId12" Type="http://schemas.openxmlformats.org/officeDocument/2006/relationships/image" Target="../media/image202.png"/><Relationship Id="rId17" Type="http://schemas.openxmlformats.org/officeDocument/2006/relationships/image" Target="../media/image207.png"/><Relationship Id="rId25" Type="http://schemas.openxmlformats.org/officeDocument/2006/relationships/image" Target="../media/image215.png"/><Relationship Id="rId33" Type="http://schemas.openxmlformats.org/officeDocument/2006/relationships/image" Target="../media/image223.png"/><Relationship Id="rId38" Type="http://schemas.openxmlformats.org/officeDocument/2006/relationships/image" Target="../media/image228.png"/><Relationship Id="rId46" Type="http://schemas.openxmlformats.org/officeDocument/2006/relationships/image" Target="../media/image236.png"/><Relationship Id="rId2" Type="http://schemas.openxmlformats.org/officeDocument/2006/relationships/image" Target="../media/image195.png"/><Relationship Id="rId16" Type="http://schemas.openxmlformats.org/officeDocument/2006/relationships/image" Target="../media/image206.png"/><Relationship Id="rId20" Type="http://schemas.openxmlformats.org/officeDocument/2006/relationships/image" Target="../media/image210.png"/><Relationship Id="rId29" Type="http://schemas.openxmlformats.org/officeDocument/2006/relationships/image" Target="../media/image219.png"/><Relationship Id="rId41" Type="http://schemas.openxmlformats.org/officeDocument/2006/relationships/image" Target="../media/image2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7.png"/><Relationship Id="rId11" Type="http://schemas.openxmlformats.org/officeDocument/2006/relationships/image" Target="../media/image201.png"/><Relationship Id="rId24" Type="http://schemas.openxmlformats.org/officeDocument/2006/relationships/image" Target="../media/image214.png"/><Relationship Id="rId32" Type="http://schemas.openxmlformats.org/officeDocument/2006/relationships/image" Target="../media/image222.png"/><Relationship Id="rId37" Type="http://schemas.openxmlformats.org/officeDocument/2006/relationships/image" Target="../media/image227.png"/><Relationship Id="rId40" Type="http://schemas.openxmlformats.org/officeDocument/2006/relationships/image" Target="../media/image230.png"/><Relationship Id="rId45" Type="http://schemas.openxmlformats.org/officeDocument/2006/relationships/image" Target="../media/image235.png"/><Relationship Id="rId5" Type="http://schemas.openxmlformats.org/officeDocument/2006/relationships/image" Target="../media/image38.png"/><Relationship Id="rId15" Type="http://schemas.openxmlformats.org/officeDocument/2006/relationships/image" Target="../media/image205.png"/><Relationship Id="rId23" Type="http://schemas.openxmlformats.org/officeDocument/2006/relationships/image" Target="../media/image213.png"/><Relationship Id="rId28" Type="http://schemas.openxmlformats.org/officeDocument/2006/relationships/image" Target="../media/image218.png"/><Relationship Id="rId36" Type="http://schemas.openxmlformats.org/officeDocument/2006/relationships/image" Target="../media/image226.png"/><Relationship Id="rId49" Type="http://schemas.openxmlformats.org/officeDocument/2006/relationships/image" Target="../media/image239.png"/><Relationship Id="rId10" Type="http://schemas.openxmlformats.org/officeDocument/2006/relationships/image" Target="../media/image200.png"/><Relationship Id="rId19" Type="http://schemas.openxmlformats.org/officeDocument/2006/relationships/image" Target="../media/image209.png"/><Relationship Id="rId31" Type="http://schemas.openxmlformats.org/officeDocument/2006/relationships/image" Target="../media/image221.png"/><Relationship Id="rId44" Type="http://schemas.openxmlformats.org/officeDocument/2006/relationships/image" Target="../media/image234.png"/><Relationship Id="rId4" Type="http://schemas.openxmlformats.org/officeDocument/2006/relationships/image" Target="../media/image196.png"/><Relationship Id="rId9" Type="http://schemas.openxmlformats.org/officeDocument/2006/relationships/image" Target="../media/image199.png"/><Relationship Id="rId14" Type="http://schemas.openxmlformats.org/officeDocument/2006/relationships/image" Target="../media/image204.png"/><Relationship Id="rId22" Type="http://schemas.openxmlformats.org/officeDocument/2006/relationships/image" Target="../media/image212.png"/><Relationship Id="rId27" Type="http://schemas.openxmlformats.org/officeDocument/2006/relationships/image" Target="../media/image217.png"/><Relationship Id="rId30" Type="http://schemas.openxmlformats.org/officeDocument/2006/relationships/image" Target="../media/image220.png"/><Relationship Id="rId35" Type="http://schemas.openxmlformats.org/officeDocument/2006/relationships/image" Target="../media/image225.png"/><Relationship Id="rId43" Type="http://schemas.openxmlformats.org/officeDocument/2006/relationships/image" Target="../media/image233.png"/><Relationship Id="rId48" Type="http://schemas.openxmlformats.org/officeDocument/2006/relationships/image" Target="../media/image238.png"/><Relationship Id="rId8" Type="http://schemas.openxmlformats.org/officeDocument/2006/relationships/image" Target="../media/image19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png"/><Relationship Id="rId13" Type="http://schemas.openxmlformats.org/officeDocument/2006/relationships/image" Target="../media/image203.png"/><Relationship Id="rId18" Type="http://schemas.openxmlformats.org/officeDocument/2006/relationships/image" Target="../media/image243.png"/><Relationship Id="rId26" Type="http://schemas.openxmlformats.org/officeDocument/2006/relationships/image" Target="../media/image251.png"/><Relationship Id="rId3" Type="http://schemas.openxmlformats.org/officeDocument/2006/relationships/image" Target="../media/image36.png"/><Relationship Id="rId21" Type="http://schemas.openxmlformats.org/officeDocument/2006/relationships/image" Target="../media/image246.png"/><Relationship Id="rId34" Type="http://schemas.openxmlformats.org/officeDocument/2006/relationships/image" Target="../media/image259.png"/><Relationship Id="rId7" Type="http://schemas.openxmlformats.org/officeDocument/2006/relationships/image" Target="../media/image84.png"/><Relationship Id="rId12" Type="http://schemas.openxmlformats.org/officeDocument/2006/relationships/image" Target="../media/image202.png"/><Relationship Id="rId17" Type="http://schemas.openxmlformats.org/officeDocument/2006/relationships/image" Target="../media/image242.png"/><Relationship Id="rId25" Type="http://schemas.openxmlformats.org/officeDocument/2006/relationships/image" Target="../media/image250.png"/><Relationship Id="rId33" Type="http://schemas.openxmlformats.org/officeDocument/2006/relationships/image" Target="../media/image258.png"/><Relationship Id="rId2" Type="http://schemas.openxmlformats.org/officeDocument/2006/relationships/image" Target="../media/image241.png"/><Relationship Id="rId16" Type="http://schemas.openxmlformats.org/officeDocument/2006/relationships/image" Target="../media/image221.png"/><Relationship Id="rId20" Type="http://schemas.openxmlformats.org/officeDocument/2006/relationships/image" Target="../media/image245.png"/><Relationship Id="rId29" Type="http://schemas.openxmlformats.org/officeDocument/2006/relationships/image" Target="../media/image2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7.png"/><Relationship Id="rId11" Type="http://schemas.openxmlformats.org/officeDocument/2006/relationships/image" Target="../media/image201.png"/><Relationship Id="rId24" Type="http://schemas.openxmlformats.org/officeDocument/2006/relationships/image" Target="../media/image249.png"/><Relationship Id="rId32" Type="http://schemas.openxmlformats.org/officeDocument/2006/relationships/image" Target="../media/image257.png"/><Relationship Id="rId37" Type="http://schemas.openxmlformats.org/officeDocument/2006/relationships/image" Target="../media/image262.png"/><Relationship Id="rId5" Type="http://schemas.openxmlformats.org/officeDocument/2006/relationships/image" Target="../media/image38.png"/><Relationship Id="rId15" Type="http://schemas.openxmlformats.org/officeDocument/2006/relationships/image" Target="../media/image211.png"/><Relationship Id="rId23" Type="http://schemas.openxmlformats.org/officeDocument/2006/relationships/image" Target="../media/image248.png"/><Relationship Id="rId28" Type="http://schemas.openxmlformats.org/officeDocument/2006/relationships/image" Target="../media/image253.png"/><Relationship Id="rId36" Type="http://schemas.openxmlformats.org/officeDocument/2006/relationships/image" Target="../media/image261.png"/><Relationship Id="rId10" Type="http://schemas.openxmlformats.org/officeDocument/2006/relationships/image" Target="../media/image200.png"/><Relationship Id="rId19" Type="http://schemas.openxmlformats.org/officeDocument/2006/relationships/image" Target="../media/image244.png"/><Relationship Id="rId31" Type="http://schemas.openxmlformats.org/officeDocument/2006/relationships/image" Target="../media/image256.png"/><Relationship Id="rId4" Type="http://schemas.openxmlformats.org/officeDocument/2006/relationships/image" Target="../media/image196.png"/><Relationship Id="rId9" Type="http://schemas.openxmlformats.org/officeDocument/2006/relationships/image" Target="../media/image199.png"/><Relationship Id="rId14" Type="http://schemas.openxmlformats.org/officeDocument/2006/relationships/image" Target="../media/image99.png"/><Relationship Id="rId22" Type="http://schemas.openxmlformats.org/officeDocument/2006/relationships/image" Target="../media/image247.png"/><Relationship Id="rId27" Type="http://schemas.openxmlformats.org/officeDocument/2006/relationships/image" Target="../media/image252.png"/><Relationship Id="rId30" Type="http://schemas.openxmlformats.org/officeDocument/2006/relationships/image" Target="../media/image255.png"/><Relationship Id="rId35" Type="http://schemas.openxmlformats.org/officeDocument/2006/relationships/image" Target="../media/image26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png"/><Relationship Id="rId13" Type="http://schemas.openxmlformats.org/officeDocument/2006/relationships/image" Target="../media/image274.png"/><Relationship Id="rId18" Type="http://schemas.openxmlformats.org/officeDocument/2006/relationships/image" Target="../media/image279.png"/><Relationship Id="rId26" Type="http://schemas.openxmlformats.org/officeDocument/2006/relationships/image" Target="../media/image287.png"/><Relationship Id="rId39" Type="http://schemas.openxmlformats.org/officeDocument/2006/relationships/image" Target="../media/image300.png"/><Relationship Id="rId3" Type="http://schemas.openxmlformats.org/officeDocument/2006/relationships/image" Target="../media/image264.png"/><Relationship Id="rId21" Type="http://schemas.openxmlformats.org/officeDocument/2006/relationships/image" Target="../media/image282.png"/><Relationship Id="rId34" Type="http://schemas.openxmlformats.org/officeDocument/2006/relationships/image" Target="../media/image295.png"/><Relationship Id="rId7" Type="http://schemas.openxmlformats.org/officeDocument/2006/relationships/image" Target="../media/image268.png"/><Relationship Id="rId12" Type="http://schemas.openxmlformats.org/officeDocument/2006/relationships/image" Target="../media/image273.png"/><Relationship Id="rId17" Type="http://schemas.openxmlformats.org/officeDocument/2006/relationships/image" Target="../media/image278.png"/><Relationship Id="rId25" Type="http://schemas.openxmlformats.org/officeDocument/2006/relationships/image" Target="../media/image286.png"/><Relationship Id="rId33" Type="http://schemas.openxmlformats.org/officeDocument/2006/relationships/image" Target="../media/image294.png"/><Relationship Id="rId38" Type="http://schemas.openxmlformats.org/officeDocument/2006/relationships/image" Target="../media/image299.png"/><Relationship Id="rId2" Type="http://schemas.openxmlformats.org/officeDocument/2006/relationships/image" Target="../media/image263.png"/><Relationship Id="rId16" Type="http://schemas.openxmlformats.org/officeDocument/2006/relationships/image" Target="../media/image277.png"/><Relationship Id="rId20" Type="http://schemas.openxmlformats.org/officeDocument/2006/relationships/image" Target="../media/image281.png"/><Relationship Id="rId29" Type="http://schemas.openxmlformats.org/officeDocument/2006/relationships/image" Target="../media/image2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7.png"/><Relationship Id="rId11" Type="http://schemas.openxmlformats.org/officeDocument/2006/relationships/image" Target="../media/image272.png"/><Relationship Id="rId24" Type="http://schemas.openxmlformats.org/officeDocument/2006/relationships/image" Target="../media/image285.png"/><Relationship Id="rId32" Type="http://schemas.openxmlformats.org/officeDocument/2006/relationships/image" Target="../media/image293.png"/><Relationship Id="rId37" Type="http://schemas.openxmlformats.org/officeDocument/2006/relationships/image" Target="../media/image298.png"/><Relationship Id="rId40" Type="http://schemas.openxmlformats.org/officeDocument/2006/relationships/image" Target="../media/image301.png"/><Relationship Id="rId5" Type="http://schemas.openxmlformats.org/officeDocument/2006/relationships/image" Target="../media/image266.png"/><Relationship Id="rId15" Type="http://schemas.openxmlformats.org/officeDocument/2006/relationships/image" Target="../media/image276.png"/><Relationship Id="rId23" Type="http://schemas.openxmlformats.org/officeDocument/2006/relationships/image" Target="../media/image284.png"/><Relationship Id="rId28" Type="http://schemas.openxmlformats.org/officeDocument/2006/relationships/image" Target="../media/image289.png"/><Relationship Id="rId36" Type="http://schemas.openxmlformats.org/officeDocument/2006/relationships/image" Target="../media/image297.png"/><Relationship Id="rId10" Type="http://schemas.openxmlformats.org/officeDocument/2006/relationships/image" Target="../media/image271.png"/><Relationship Id="rId19" Type="http://schemas.openxmlformats.org/officeDocument/2006/relationships/image" Target="../media/image280.png"/><Relationship Id="rId31" Type="http://schemas.openxmlformats.org/officeDocument/2006/relationships/image" Target="../media/image292.png"/><Relationship Id="rId4" Type="http://schemas.openxmlformats.org/officeDocument/2006/relationships/image" Target="../media/image265.png"/><Relationship Id="rId9" Type="http://schemas.openxmlformats.org/officeDocument/2006/relationships/image" Target="../media/image270.png"/><Relationship Id="rId14" Type="http://schemas.openxmlformats.org/officeDocument/2006/relationships/image" Target="../media/image275.png"/><Relationship Id="rId22" Type="http://schemas.openxmlformats.org/officeDocument/2006/relationships/image" Target="../media/image283.png"/><Relationship Id="rId27" Type="http://schemas.openxmlformats.org/officeDocument/2006/relationships/image" Target="../media/image288.png"/><Relationship Id="rId30" Type="http://schemas.openxmlformats.org/officeDocument/2006/relationships/image" Target="../media/image291.png"/><Relationship Id="rId35" Type="http://schemas.openxmlformats.org/officeDocument/2006/relationships/image" Target="../media/image29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6.png"/><Relationship Id="rId13" Type="http://schemas.openxmlformats.org/officeDocument/2006/relationships/image" Target="../media/image311.png"/><Relationship Id="rId18" Type="http://schemas.openxmlformats.org/officeDocument/2006/relationships/image" Target="../media/image316.png"/><Relationship Id="rId26" Type="http://schemas.openxmlformats.org/officeDocument/2006/relationships/image" Target="../media/image324.png"/><Relationship Id="rId3" Type="http://schemas.openxmlformats.org/officeDocument/2006/relationships/image" Target="../media/image303.png"/><Relationship Id="rId21" Type="http://schemas.openxmlformats.org/officeDocument/2006/relationships/image" Target="../media/image319.png"/><Relationship Id="rId34" Type="http://schemas.openxmlformats.org/officeDocument/2006/relationships/image" Target="../media/image332.png"/><Relationship Id="rId7" Type="http://schemas.openxmlformats.org/officeDocument/2006/relationships/image" Target="../media/image305.png"/><Relationship Id="rId12" Type="http://schemas.openxmlformats.org/officeDocument/2006/relationships/image" Target="../media/image310.png"/><Relationship Id="rId17" Type="http://schemas.openxmlformats.org/officeDocument/2006/relationships/image" Target="../media/image315.png"/><Relationship Id="rId25" Type="http://schemas.openxmlformats.org/officeDocument/2006/relationships/image" Target="../media/image323.png"/><Relationship Id="rId33" Type="http://schemas.openxmlformats.org/officeDocument/2006/relationships/image" Target="../media/image331.png"/><Relationship Id="rId2" Type="http://schemas.openxmlformats.org/officeDocument/2006/relationships/image" Target="../media/image302.png"/><Relationship Id="rId16" Type="http://schemas.openxmlformats.org/officeDocument/2006/relationships/image" Target="../media/image314.png"/><Relationship Id="rId20" Type="http://schemas.openxmlformats.org/officeDocument/2006/relationships/image" Target="../media/image318.png"/><Relationship Id="rId29" Type="http://schemas.openxmlformats.org/officeDocument/2006/relationships/image" Target="../media/image3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8.png"/><Relationship Id="rId11" Type="http://schemas.openxmlformats.org/officeDocument/2006/relationships/image" Target="../media/image309.png"/><Relationship Id="rId24" Type="http://schemas.openxmlformats.org/officeDocument/2006/relationships/image" Target="../media/image322.png"/><Relationship Id="rId32" Type="http://schemas.openxmlformats.org/officeDocument/2006/relationships/image" Target="../media/image330.png"/><Relationship Id="rId5" Type="http://schemas.openxmlformats.org/officeDocument/2006/relationships/image" Target="../media/image304.png"/><Relationship Id="rId15" Type="http://schemas.openxmlformats.org/officeDocument/2006/relationships/image" Target="../media/image313.png"/><Relationship Id="rId23" Type="http://schemas.openxmlformats.org/officeDocument/2006/relationships/image" Target="../media/image321.png"/><Relationship Id="rId28" Type="http://schemas.openxmlformats.org/officeDocument/2006/relationships/image" Target="../media/image326.png"/><Relationship Id="rId10" Type="http://schemas.openxmlformats.org/officeDocument/2006/relationships/image" Target="../media/image308.png"/><Relationship Id="rId19" Type="http://schemas.openxmlformats.org/officeDocument/2006/relationships/image" Target="../media/image317.png"/><Relationship Id="rId31" Type="http://schemas.openxmlformats.org/officeDocument/2006/relationships/image" Target="../media/image329.png"/><Relationship Id="rId4" Type="http://schemas.openxmlformats.org/officeDocument/2006/relationships/image" Target="../media/image265.png"/><Relationship Id="rId9" Type="http://schemas.openxmlformats.org/officeDocument/2006/relationships/image" Target="../media/image307.png"/><Relationship Id="rId14" Type="http://schemas.openxmlformats.org/officeDocument/2006/relationships/image" Target="../media/image312.png"/><Relationship Id="rId22" Type="http://schemas.openxmlformats.org/officeDocument/2006/relationships/image" Target="../media/image320.png"/><Relationship Id="rId27" Type="http://schemas.openxmlformats.org/officeDocument/2006/relationships/image" Target="../media/image325.png"/><Relationship Id="rId30" Type="http://schemas.openxmlformats.org/officeDocument/2006/relationships/image" Target="../media/image328.png"/><Relationship Id="rId35" Type="http://schemas.openxmlformats.org/officeDocument/2006/relationships/image" Target="../media/image33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8.png"/><Relationship Id="rId13" Type="http://schemas.openxmlformats.org/officeDocument/2006/relationships/image" Target="../media/image343.png"/><Relationship Id="rId18" Type="http://schemas.openxmlformats.org/officeDocument/2006/relationships/image" Target="../media/image348.png"/><Relationship Id="rId26" Type="http://schemas.openxmlformats.org/officeDocument/2006/relationships/image" Target="../media/image356.png"/><Relationship Id="rId3" Type="http://schemas.openxmlformats.org/officeDocument/2006/relationships/image" Target="../media/image264.png"/><Relationship Id="rId21" Type="http://schemas.openxmlformats.org/officeDocument/2006/relationships/image" Target="../media/image351.png"/><Relationship Id="rId34" Type="http://schemas.openxmlformats.org/officeDocument/2006/relationships/image" Target="../media/image364.png"/><Relationship Id="rId7" Type="http://schemas.openxmlformats.org/officeDocument/2006/relationships/image" Target="../media/image337.png"/><Relationship Id="rId12" Type="http://schemas.openxmlformats.org/officeDocument/2006/relationships/image" Target="../media/image342.png"/><Relationship Id="rId17" Type="http://schemas.openxmlformats.org/officeDocument/2006/relationships/image" Target="../media/image347.png"/><Relationship Id="rId25" Type="http://schemas.openxmlformats.org/officeDocument/2006/relationships/image" Target="../media/image355.png"/><Relationship Id="rId33" Type="http://schemas.openxmlformats.org/officeDocument/2006/relationships/image" Target="../media/image363.png"/><Relationship Id="rId2" Type="http://schemas.openxmlformats.org/officeDocument/2006/relationships/image" Target="../media/image334.png"/><Relationship Id="rId16" Type="http://schemas.openxmlformats.org/officeDocument/2006/relationships/image" Target="../media/image346.png"/><Relationship Id="rId20" Type="http://schemas.openxmlformats.org/officeDocument/2006/relationships/image" Target="../media/image350.png"/><Relationship Id="rId29" Type="http://schemas.openxmlformats.org/officeDocument/2006/relationships/image" Target="../media/image3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8.png"/><Relationship Id="rId11" Type="http://schemas.openxmlformats.org/officeDocument/2006/relationships/image" Target="../media/image341.png"/><Relationship Id="rId24" Type="http://schemas.openxmlformats.org/officeDocument/2006/relationships/image" Target="../media/image354.png"/><Relationship Id="rId32" Type="http://schemas.openxmlformats.org/officeDocument/2006/relationships/image" Target="../media/image362.png"/><Relationship Id="rId5" Type="http://schemas.openxmlformats.org/officeDocument/2006/relationships/image" Target="../media/image336.png"/><Relationship Id="rId15" Type="http://schemas.openxmlformats.org/officeDocument/2006/relationships/image" Target="../media/image345.png"/><Relationship Id="rId23" Type="http://schemas.openxmlformats.org/officeDocument/2006/relationships/image" Target="../media/image353.png"/><Relationship Id="rId28" Type="http://schemas.openxmlformats.org/officeDocument/2006/relationships/image" Target="../media/image358.png"/><Relationship Id="rId36" Type="http://schemas.openxmlformats.org/officeDocument/2006/relationships/image" Target="../media/image366.png"/><Relationship Id="rId10" Type="http://schemas.openxmlformats.org/officeDocument/2006/relationships/image" Target="../media/image340.png"/><Relationship Id="rId19" Type="http://schemas.openxmlformats.org/officeDocument/2006/relationships/image" Target="../media/image349.png"/><Relationship Id="rId31" Type="http://schemas.openxmlformats.org/officeDocument/2006/relationships/image" Target="../media/image361.png"/><Relationship Id="rId4" Type="http://schemas.openxmlformats.org/officeDocument/2006/relationships/image" Target="../media/image335.png"/><Relationship Id="rId9" Type="http://schemas.openxmlformats.org/officeDocument/2006/relationships/image" Target="../media/image339.png"/><Relationship Id="rId14" Type="http://schemas.openxmlformats.org/officeDocument/2006/relationships/image" Target="../media/image344.png"/><Relationship Id="rId22" Type="http://schemas.openxmlformats.org/officeDocument/2006/relationships/image" Target="../media/image352.png"/><Relationship Id="rId27" Type="http://schemas.openxmlformats.org/officeDocument/2006/relationships/image" Target="../media/image357.png"/><Relationship Id="rId30" Type="http://schemas.openxmlformats.org/officeDocument/2006/relationships/image" Target="../media/image360.png"/><Relationship Id="rId35" Type="http://schemas.openxmlformats.org/officeDocument/2006/relationships/image" Target="../media/image36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8.png"/><Relationship Id="rId13" Type="http://schemas.openxmlformats.org/officeDocument/2006/relationships/image" Target="../media/image343.png"/><Relationship Id="rId18" Type="http://schemas.openxmlformats.org/officeDocument/2006/relationships/image" Target="../media/image348.png"/><Relationship Id="rId26" Type="http://schemas.openxmlformats.org/officeDocument/2006/relationships/image" Target="../media/image376.png"/><Relationship Id="rId3" Type="http://schemas.openxmlformats.org/officeDocument/2006/relationships/image" Target="../media/image264.png"/><Relationship Id="rId21" Type="http://schemas.openxmlformats.org/officeDocument/2006/relationships/image" Target="../media/image351.png"/><Relationship Id="rId7" Type="http://schemas.openxmlformats.org/officeDocument/2006/relationships/image" Target="../media/image369.png"/><Relationship Id="rId12" Type="http://schemas.openxmlformats.org/officeDocument/2006/relationships/image" Target="../media/image342.png"/><Relationship Id="rId17" Type="http://schemas.openxmlformats.org/officeDocument/2006/relationships/image" Target="../media/image347.png"/><Relationship Id="rId25" Type="http://schemas.openxmlformats.org/officeDocument/2006/relationships/image" Target="../media/image375.png"/><Relationship Id="rId2" Type="http://schemas.openxmlformats.org/officeDocument/2006/relationships/image" Target="../media/image334.png"/><Relationship Id="rId16" Type="http://schemas.openxmlformats.org/officeDocument/2006/relationships/image" Target="../media/image346.png"/><Relationship Id="rId20" Type="http://schemas.openxmlformats.org/officeDocument/2006/relationships/image" Target="../media/image350.png"/><Relationship Id="rId29" Type="http://schemas.openxmlformats.org/officeDocument/2006/relationships/image" Target="../media/image3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8.png"/><Relationship Id="rId11" Type="http://schemas.openxmlformats.org/officeDocument/2006/relationships/image" Target="../media/image341.png"/><Relationship Id="rId24" Type="http://schemas.openxmlformats.org/officeDocument/2006/relationships/image" Target="../media/image374.png"/><Relationship Id="rId5" Type="http://schemas.openxmlformats.org/officeDocument/2006/relationships/image" Target="../media/image336.png"/><Relationship Id="rId15" Type="http://schemas.openxmlformats.org/officeDocument/2006/relationships/image" Target="../media/image371.png"/><Relationship Id="rId23" Type="http://schemas.openxmlformats.org/officeDocument/2006/relationships/image" Target="../media/image373.png"/><Relationship Id="rId28" Type="http://schemas.openxmlformats.org/officeDocument/2006/relationships/image" Target="../media/image378.png"/><Relationship Id="rId10" Type="http://schemas.openxmlformats.org/officeDocument/2006/relationships/image" Target="../media/image340.png"/><Relationship Id="rId19" Type="http://schemas.openxmlformats.org/officeDocument/2006/relationships/image" Target="../media/image349.png"/><Relationship Id="rId4" Type="http://schemas.openxmlformats.org/officeDocument/2006/relationships/image" Target="../media/image367.png"/><Relationship Id="rId9" Type="http://schemas.openxmlformats.org/officeDocument/2006/relationships/image" Target="../media/image370.png"/><Relationship Id="rId14" Type="http://schemas.openxmlformats.org/officeDocument/2006/relationships/image" Target="../media/image344.png"/><Relationship Id="rId22" Type="http://schemas.openxmlformats.org/officeDocument/2006/relationships/image" Target="../media/image372.png"/><Relationship Id="rId27" Type="http://schemas.openxmlformats.org/officeDocument/2006/relationships/image" Target="../media/image377.png"/><Relationship Id="rId30" Type="http://schemas.openxmlformats.org/officeDocument/2006/relationships/image" Target="../media/image38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5.png"/><Relationship Id="rId13" Type="http://schemas.openxmlformats.org/officeDocument/2006/relationships/image" Target="../media/image389.png"/><Relationship Id="rId18" Type="http://schemas.openxmlformats.org/officeDocument/2006/relationships/image" Target="../media/image394.png"/><Relationship Id="rId26" Type="http://schemas.openxmlformats.org/officeDocument/2006/relationships/image" Target="../media/image402.png"/><Relationship Id="rId3" Type="http://schemas.openxmlformats.org/officeDocument/2006/relationships/image" Target="../media/image264.png"/><Relationship Id="rId21" Type="http://schemas.openxmlformats.org/officeDocument/2006/relationships/image" Target="../media/image397.png"/><Relationship Id="rId34" Type="http://schemas.openxmlformats.org/officeDocument/2006/relationships/image" Target="../media/image410.png"/><Relationship Id="rId7" Type="http://schemas.openxmlformats.org/officeDocument/2006/relationships/image" Target="../media/image384.png"/><Relationship Id="rId12" Type="http://schemas.openxmlformats.org/officeDocument/2006/relationships/image" Target="../media/image283.png"/><Relationship Id="rId17" Type="http://schemas.openxmlformats.org/officeDocument/2006/relationships/image" Target="../media/image393.png"/><Relationship Id="rId25" Type="http://schemas.openxmlformats.org/officeDocument/2006/relationships/image" Target="../media/image401.png"/><Relationship Id="rId33" Type="http://schemas.openxmlformats.org/officeDocument/2006/relationships/image" Target="../media/image409.png"/><Relationship Id="rId2" Type="http://schemas.openxmlformats.org/officeDocument/2006/relationships/image" Target="../media/image381.png"/><Relationship Id="rId16" Type="http://schemas.openxmlformats.org/officeDocument/2006/relationships/image" Target="../media/image392.png"/><Relationship Id="rId20" Type="http://schemas.openxmlformats.org/officeDocument/2006/relationships/image" Target="../media/image396.png"/><Relationship Id="rId29" Type="http://schemas.openxmlformats.org/officeDocument/2006/relationships/image" Target="../media/image40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3.png"/><Relationship Id="rId11" Type="http://schemas.openxmlformats.org/officeDocument/2006/relationships/image" Target="../media/image388.png"/><Relationship Id="rId24" Type="http://schemas.openxmlformats.org/officeDocument/2006/relationships/image" Target="../media/image400.png"/><Relationship Id="rId32" Type="http://schemas.openxmlformats.org/officeDocument/2006/relationships/image" Target="../media/image408.png"/><Relationship Id="rId5" Type="http://schemas.openxmlformats.org/officeDocument/2006/relationships/image" Target="../media/image265.png"/><Relationship Id="rId15" Type="http://schemas.openxmlformats.org/officeDocument/2006/relationships/image" Target="../media/image391.png"/><Relationship Id="rId23" Type="http://schemas.openxmlformats.org/officeDocument/2006/relationships/image" Target="../media/image399.png"/><Relationship Id="rId28" Type="http://schemas.openxmlformats.org/officeDocument/2006/relationships/image" Target="../media/image404.png"/><Relationship Id="rId10" Type="http://schemas.openxmlformats.org/officeDocument/2006/relationships/image" Target="../media/image387.png"/><Relationship Id="rId19" Type="http://schemas.openxmlformats.org/officeDocument/2006/relationships/image" Target="../media/image395.png"/><Relationship Id="rId31" Type="http://schemas.openxmlformats.org/officeDocument/2006/relationships/image" Target="../media/image407.png"/><Relationship Id="rId4" Type="http://schemas.openxmlformats.org/officeDocument/2006/relationships/image" Target="../media/image382.png"/><Relationship Id="rId9" Type="http://schemas.openxmlformats.org/officeDocument/2006/relationships/image" Target="../media/image386.png"/><Relationship Id="rId14" Type="http://schemas.openxmlformats.org/officeDocument/2006/relationships/image" Target="../media/image390.png"/><Relationship Id="rId22" Type="http://schemas.openxmlformats.org/officeDocument/2006/relationships/image" Target="../media/image398.png"/><Relationship Id="rId27" Type="http://schemas.openxmlformats.org/officeDocument/2006/relationships/image" Target="../media/image403.png"/><Relationship Id="rId30" Type="http://schemas.openxmlformats.org/officeDocument/2006/relationships/image" Target="../media/image406.png"/><Relationship Id="rId35" Type="http://schemas.openxmlformats.org/officeDocument/2006/relationships/image" Target="../media/image41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5.png"/><Relationship Id="rId13" Type="http://schemas.openxmlformats.org/officeDocument/2006/relationships/image" Target="../media/image413.png"/><Relationship Id="rId18" Type="http://schemas.openxmlformats.org/officeDocument/2006/relationships/image" Target="../media/image4170.png"/><Relationship Id="rId26" Type="http://schemas.openxmlformats.org/officeDocument/2006/relationships/image" Target="../media/image424.png"/><Relationship Id="rId39" Type="http://schemas.openxmlformats.org/officeDocument/2006/relationships/image" Target="../media/image437.png"/><Relationship Id="rId3" Type="http://schemas.openxmlformats.org/officeDocument/2006/relationships/image" Target="../media/image264.png"/><Relationship Id="rId21" Type="http://schemas.openxmlformats.org/officeDocument/2006/relationships/image" Target="../media/image420.png"/><Relationship Id="rId34" Type="http://schemas.openxmlformats.org/officeDocument/2006/relationships/image" Target="../media/image432.png"/><Relationship Id="rId42" Type="http://schemas.openxmlformats.org/officeDocument/2006/relationships/image" Target="../media/image440.png"/><Relationship Id="rId47" Type="http://schemas.openxmlformats.org/officeDocument/2006/relationships/image" Target="../media/image445.png"/><Relationship Id="rId7" Type="http://schemas.openxmlformats.org/officeDocument/2006/relationships/image" Target="../media/image384.png"/><Relationship Id="rId12" Type="http://schemas.openxmlformats.org/officeDocument/2006/relationships/image" Target="../media/image412.png"/><Relationship Id="rId17" Type="http://schemas.openxmlformats.org/officeDocument/2006/relationships/image" Target="../media/image417.png"/><Relationship Id="rId25" Type="http://schemas.openxmlformats.org/officeDocument/2006/relationships/image" Target="../media/image423.png"/><Relationship Id="rId33" Type="http://schemas.openxmlformats.org/officeDocument/2006/relationships/image" Target="../media/image431.png"/><Relationship Id="rId38" Type="http://schemas.openxmlformats.org/officeDocument/2006/relationships/image" Target="../media/image436.png"/><Relationship Id="rId46" Type="http://schemas.openxmlformats.org/officeDocument/2006/relationships/image" Target="../media/image444.png"/><Relationship Id="rId2" Type="http://schemas.openxmlformats.org/officeDocument/2006/relationships/image" Target="../media/image381.png"/><Relationship Id="rId16" Type="http://schemas.openxmlformats.org/officeDocument/2006/relationships/image" Target="../media/image416.png"/><Relationship Id="rId20" Type="http://schemas.openxmlformats.org/officeDocument/2006/relationships/image" Target="../media/image419.png"/><Relationship Id="rId29" Type="http://schemas.openxmlformats.org/officeDocument/2006/relationships/image" Target="../media/image427.png"/><Relationship Id="rId41" Type="http://schemas.openxmlformats.org/officeDocument/2006/relationships/image" Target="../media/image4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00.png"/><Relationship Id="rId11" Type="http://schemas.openxmlformats.org/officeDocument/2006/relationships/image" Target="../media/image283.png"/><Relationship Id="rId24" Type="http://schemas.openxmlformats.org/officeDocument/2006/relationships/image" Target="../media/image422.png"/><Relationship Id="rId32" Type="http://schemas.openxmlformats.org/officeDocument/2006/relationships/image" Target="../media/image430.png"/><Relationship Id="rId37" Type="http://schemas.openxmlformats.org/officeDocument/2006/relationships/image" Target="../media/image435.png"/><Relationship Id="rId40" Type="http://schemas.openxmlformats.org/officeDocument/2006/relationships/image" Target="../media/image438.png"/><Relationship Id="rId45" Type="http://schemas.openxmlformats.org/officeDocument/2006/relationships/image" Target="../media/image443.png"/><Relationship Id="rId5" Type="http://schemas.openxmlformats.org/officeDocument/2006/relationships/image" Target="../media/image265.png"/><Relationship Id="rId15" Type="http://schemas.openxmlformats.org/officeDocument/2006/relationships/image" Target="../media/image415.png"/><Relationship Id="rId23" Type="http://schemas.openxmlformats.org/officeDocument/2006/relationships/image" Target="../media/image421.png"/><Relationship Id="rId28" Type="http://schemas.openxmlformats.org/officeDocument/2006/relationships/image" Target="../media/image426.png"/><Relationship Id="rId36" Type="http://schemas.openxmlformats.org/officeDocument/2006/relationships/image" Target="../media/image434.png"/><Relationship Id="rId10" Type="http://schemas.openxmlformats.org/officeDocument/2006/relationships/image" Target="../media/image387.png"/><Relationship Id="rId19" Type="http://schemas.openxmlformats.org/officeDocument/2006/relationships/image" Target="../media/image418.png"/><Relationship Id="rId31" Type="http://schemas.openxmlformats.org/officeDocument/2006/relationships/image" Target="../media/image429.png"/><Relationship Id="rId44" Type="http://schemas.openxmlformats.org/officeDocument/2006/relationships/image" Target="../media/image442.png"/><Relationship Id="rId4" Type="http://schemas.openxmlformats.org/officeDocument/2006/relationships/image" Target="../media/image382.png"/><Relationship Id="rId9" Type="http://schemas.openxmlformats.org/officeDocument/2006/relationships/image" Target="../media/image4110.png"/><Relationship Id="rId14" Type="http://schemas.openxmlformats.org/officeDocument/2006/relationships/image" Target="../media/image414.png"/><Relationship Id="rId22" Type="http://schemas.openxmlformats.org/officeDocument/2006/relationships/image" Target="../media/image268.png"/><Relationship Id="rId27" Type="http://schemas.openxmlformats.org/officeDocument/2006/relationships/image" Target="../media/image425.png"/><Relationship Id="rId30" Type="http://schemas.openxmlformats.org/officeDocument/2006/relationships/image" Target="../media/image428.png"/><Relationship Id="rId35" Type="http://schemas.openxmlformats.org/officeDocument/2006/relationships/image" Target="../media/image433.png"/><Relationship Id="rId43" Type="http://schemas.openxmlformats.org/officeDocument/2006/relationships/image" Target="../media/image44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7.png"/><Relationship Id="rId13" Type="http://schemas.openxmlformats.org/officeDocument/2006/relationships/image" Target="../media/image452.png"/><Relationship Id="rId18" Type="http://schemas.openxmlformats.org/officeDocument/2006/relationships/image" Target="../media/image457.png"/><Relationship Id="rId26" Type="http://schemas.openxmlformats.org/officeDocument/2006/relationships/image" Target="../media/image464.png"/><Relationship Id="rId39" Type="http://schemas.openxmlformats.org/officeDocument/2006/relationships/image" Target="../media/image477.png"/><Relationship Id="rId3" Type="http://schemas.openxmlformats.org/officeDocument/2006/relationships/image" Target="../media/image4420.png"/><Relationship Id="rId21" Type="http://schemas.openxmlformats.org/officeDocument/2006/relationships/image" Target="../media/image460.png"/><Relationship Id="rId34" Type="http://schemas.openxmlformats.org/officeDocument/2006/relationships/image" Target="../media/image472.png"/><Relationship Id="rId42" Type="http://schemas.openxmlformats.org/officeDocument/2006/relationships/image" Target="../media/image480.png"/><Relationship Id="rId7" Type="http://schemas.openxmlformats.org/officeDocument/2006/relationships/image" Target="../media/image4460.png"/><Relationship Id="rId12" Type="http://schemas.openxmlformats.org/officeDocument/2006/relationships/image" Target="../media/image451.png"/><Relationship Id="rId17" Type="http://schemas.openxmlformats.org/officeDocument/2006/relationships/image" Target="../media/image456.png"/><Relationship Id="rId25" Type="http://schemas.openxmlformats.org/officeDocument/2006/relationships/image" Target="../media/image463.png"/><Relationship Id="rId33" Type="http://schemas.openxmlformats.org/officeDocument/2006/relationships/image" Target="../media/image471.png"/><Relationship Id="rId38" Type="http://schemas.openxmlformats.org/officeDocument/2006/relationships/image" Target="../media/image476.png"/><Relationship Id="rId2" Type="http://schemas.openxmlformats.org/officeDocument/2006/relationships/image" Target="../media/image4410.png"/><Relationship Id="rId16" Type="http://schemas.openxmlformats.org/officeDocument/2006/relationships/image" Target="../media/image455.png"/><Relationship Id="rId20" Type="http://schemas.openxmlformats.org/officeDocument/2006/relationships/image" Target="../media/image459.png"/><Relationship Id="rId29" Type="http://schemas.openxmlformats.org/officeDocument/2006/relationships/image" Target="../media/image467.png"/><Relationship Id="rId41" Type="http://schemas.openxmlformats.org/officeDocument/2006/relationships/image" Target="../media/image4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50.png"/><Relationship Id="rId11" Type="http://schemas.openxmlformats.org/officeDocument/2006/relationships/image" Target="../media/image450.png"/><Relationship Id="rId24" Type="http://schemas.openxmlformats.org/officeDocument/2006/relationships/image" Target="../media/image462.png"/><Relationship Id="rId32" Type="http://schemas.openxmlformats.org/officeDocument/2006/relationships/image" Target="../media/image470.png"/><Relationship Id="rId37" Type="http://schemas.openxmlformats.org/officeDocument/2006/relationships/image" Target="../media/image475.png"/><Relationship Id="rId40" Type="http://schemas.openxmlformats.org/officeDocument/2006/relationships/image" Target="../media/image478.png"/><Relationship Id="rId5" Type="http://schemas.openxmlformats.org/officeDocument/2006/relationships/image" Target="../media/image446.png"/><Relationship Id="rId15" Type="http://schemas.openxmlformats.org/officeDocument/2006/relationships/image" Target="../media/image454.png"/><Relationship Id="rId23" Type="http://schemas.openxmlformats.org/officeDocument/2006/relationships/image" Target="../media/image4610.png"/><Relationship Id="rId28" Type="http://schemas.openxmlformats.org/officeDocument/2006/relationships/image" Target="../media/image466.png"/><Relationship Id="rId36" Type="http://schemas.openxmlformats.org/officeDocument/2006/relationships/image" Target="../media/image474.png"/><Relationship Id="rId10" Type="http://schemas.openxmlformats.org/officeDocument/2006/relationships/image" Target="../media/image449.png"/><Relationship Id="rId19" Type="http://schemas.openxmlformats.org/officeDocument/2006/relationships/image" Target="../media/image458.png"/><Relationship Id="rId31" Type="http://schemas.openxmlformats.org/officeDocument/2006/relationships/image" Target="../media/image469.png"/><Relationship Id="rId4" Type="http://schemas.openxmlformats.org/officeDocument/2006/relationships/image" Target="../media/image4430.png"/><Relationship Id="rId9" Type="http://schemas.openxmlformats.org/officeDocument/2006/relationships/image" Target="../media/image448.png"/><Relationship Id="rId14" Type="http://schemas.openxmlformats.org/officeDocument/2006/relationships/image" Target="../media/image453.png"/><Relationship Id="rId22" Type="http://schemas.openxmlformats.org/officeDocument/2006/relationships/image" Target="../media/image461.png"/><Relationship Id="rId27" Type="http://schemas.openxmlformats.org/officeDocument/2006/relationships/image" Target="../media/image465.png"/><Relationship Id="rId30" Type="http://schemas.openxmlformats.org/officeDocument/2006/relationships/image" Target="../media/image468.png"/><Relationship Id="rId35" Type="http://schemas.openxmlformats.org/officeDocument/2006/relationships/image" Target="../media/image47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6.png"/><Relationship Id="rId13" Type="http://schemas.openxmlformats.org/officeDocument/2006/relationships/image" Target="../media/image491.png"/><Relationship Id="rId18" Type="http://schemas.openxmlformats.org/officeDocument/2006/relationships/image" Target="../media/image496.png"/><Relationship Id="rId26" Type="http://schemas.openxmlformats.org/officeDocument/2006/relationships/image" Target="../media/image504.png"/><Relationship Id="rId39" Type="http://schemas.openxmlformats.org/officeDocument/2006/relationships/image" Target="../media/image517.png"/><Relationship Id="rId3" Type="http://schemas.openxmlformats.org/officeDocument/2006/relationships/image" Target="../media/image481.png"/><Relationship Id="rId21" Type="http://schemas.openxmlformats.org/officeDocument/2006/relationships/image" Target="../media/image499.png"/><Relationship Id="rId34" Type="http://schemas.openxmlformats.org/officeDocument/2006/relationships/image" Target="../media/image512.png"/><Relationship Id="rId42" Type="http://schemas.openxmlformats.org/officeDocument/2006/relationships/image" Target="../media/image520.png"/><Relationship Id="rId7" Type="http://schemas.openxmlformats.org/officeDocument/2006/relationships/image" Target="../media/image485.png"/><Relationship Id="rId12" Type="http://schemas.openxmlformats.org/officeDocument/2006/relationships/image" Target="../media/image490.png"/><Relationship Id="rId17" Type="http://schemas.openxmlformats.org/officeDocument/2006/relationships/image" Target="../media/image495.png"/><Relationship Id="rId25" Type="http://schemas.openxmlformats.org/officeDocument/2006/relationships/image" Target="../media/image503.png"/><Relationship Id="rId33" Type="http://schemas.openxmlformats.org/officeDocument/2006/relationships/image" Target="../media/image511.png"/><Relationship Id="rId38" Type="http://schemas.openxmlformats.org/officeDocument/2006/relationships/image" Target="../media/image516.png"/><Relationship Id="rId2" Type="http://schemas.openxmlformats.org/officeDocument/2006/relationships/image" Target="../media/image4800.png"/><Relationship Id="rId16" Type="http://schemas.openxmlformats.org/officeDocument/2006/relationships/image" Target="../media/image494.png"/><Relationship Id="rId20" Type="http://schemas.openxmlformats.org/officeDocument/2006/relationships/image" Target="../media/image498.png"/><Relationship Id="rId29" Type="http://schemas.openxmlformats.org/officeDocument/2006/relationships/image" Target="../media/image507.png"/><Relationship Id="rId41" Type="http://schemas.openxmlformats.org/officeDocument/2006/relationships/image" Target="../media/image5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4.png"/><Relationship Id="rId11" Type="http://schemas.openxmlformats.org/officeDocument/2006/relationships/image" Target="../media/image489.png"/><Relationship Id="rId24" Type="http://schemas.openxmlformats.org/officeDocument/2006/relationships/image" Target="../media/image502.png"/><Relationship Id="rId32" Type="http://schemas.openxmlformats.org/officeDocument/2006/relationships/image" Target="../media/image510.png"/><Relationship Id="rId37" Type="http://schemas.openxmlformats.org/officeDocument/2006/relationships/image" Target="../media/image515.png"/><Relationship Id="rId40" Type="http://schemas.openxmlformats.org/officeDocument/2006/relationships/image" Target="../media/image518.png"/><Relationship Id="rId5" Type="http://schemas.openxmlformats.org/officeDocument/2006/relationships/image" Target="../media/image483.png"/><Relationship Id="rId15" Type="http://schemas.openxmlformats.org/officeDocument/2006/relationships/image" Target="../media/image493.png"/><Relationship Id="rId23" Type="http://schemas.openxmlformats.org/officeDocument/2006/relationships/image" Target="../media/image501.png"/><Relationship Id="rId28" Type="http://schemas.openxmlformats.org/officeDocument/2006/relationships/image" Target="../media/image506.png"/><Relationship Id="rId36" Type="http://schemas.openxmlformats.org/officeDocument/2006/relationships/image" Target="../media/image514.png"/><Relationship Id="rId10" Type="http://schemas.openxmlformats.org/officeDocument/2006/relationships/image" Target="../media/image488.png"/><Relationship Id="rId19" Type="http://schemas.openxmlformats.org/officeDocument/2006/relationships/image" Target="../media/image497.png"/><Relationship Id="rId31" Type="http://schemas.openxmlformats.org/officeDocument/2006/relationships/image" Target="../media/image509.png"/><Relationship Id="rId4" Type="http://schemas.openxmlformats.org/officeDocument/2006/relationships/image" Target="../media/image482.png"/><Relationship Id="rId9" Type="http://schemas.openxmlformats.org/officeDocument/2006/relationships/image" Target="../media/image487.png"/><Relationship Id="rId14" Type="http://schemas.openxmlformats.org/officeDocument/2006/relationships/image" Target="../media/image492.png"/><Relationship Id="rId22" Type="http://schemas.openxmlformats.org/officeDocument/2006/relationships/image" Target="../media/image500.png"/><Relationship Id="rId27" Type="http://schemas.openxmlformats.org/officeDocument/2006/relationships/image" Target="../media/image505.png"/><Relationship Id="rId30" Type="http://schemas.openxmlformats.org/officeDocument/2006/relationships/image" Target="../media/image508.png"/><Relationship Id="rId35" Type="http://schemas.openxmlformats.org/officeDocument/2006/relationships/image" Target="../media/image513.png"/><Relationship Id="rId43" Type="http://schemas.openxmlformats.org/officeDocument/2006/relationships/image" Target="../media/image52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7.png"/><Relationship Id="rId13" Type="http://schemas.openxmlformats.org/officeDocument/2006/relationships/image" Target="../media/image532.png"/><Relationship Id="rId18" Type="http://schemas.openxmlformats.org/officeDocument/2006/relationships/image" Target="../media/image537.png"/><Relationship Id="rId26" Type="http://schemas.openxmlformats.org/officeDocument/2006/relationships/image" Target="../media/image544.png"/><Relationship Id="rId39" Type="http://schemas.openxmlformats.org/officeDocument/2006/relationships/image" Target="../media/image557.png"/><Relationship Id="rId3" Type="http://schemas.openxmlformats.org/officeDocument/2006/relationships/image" Target="../media/image522.png"/><Relationship Id="rId21" Type="http://schemas.openxmlformats.org/officeDocument/2006/relationships/image" Target="../media/image5350.png"/><Relationship Id="rId34" Type="http://schemas.openxmlformats.org/officeDocument/2006/relationships/image" Target="../media/image552.png"/><Relationship Id="rId42" Type="http://schemas.openxmlformats.org/officeDocument/2006/relationships/image" Target="../media/image560.png"/><Relationship Id="rId7" Type="http://schemas.openxmlformats.org/officeDocument/2006/relationships/image" Target="../media/image526.png"/><Relationship Id="rId12" Type="http://schemas.openxmlformats.org/officeDocument/2006/relationships/image" Target="../media/image531.png"/><Relationship Id="rId17" Type="http://schemas.openxmlformats.org/officeDocument/2006/relationships/image" Target="../media/image536.png"/><Relationship Id="rId25" Type="http://schemas.openxmlformats.org/officeDocument/2006/relationships/image" Target="../media/image543.png"/><Relationship Id="rId33" Type="http://schemas.openxmlformats.org/officeDocument/2006/relationships/image" Target="../media/image551.png"/><Relationship Id="rId38" Type="http://schemas.openxmlformats.org/officeDocument/2006/relationships/image" Target="../media/image556.png"/><Relationship Id="rId2" Type="http://schemas.openxmlformats.org/officeDocument/2006/relationships/image" Target="../media/image5210.png"/><Relationship Id="rId16" Type="http://schemas.openxmlformats.org/officeDocument/2006/relationships/image" Target="../media/image535.png"/><Relationship Id="rId20" Type="http://schemas.openxmlformats.org/officeDocument/2006/relationships/image" Target="../media/image539.png"/><Relationship Id="rId29" Type="http://schemas.openxmlformats.org/officeDocument/2006/relationships/image" Target="../media/image547.png"/><Relationship Id="rId41" Type="http://schemas.openxmlformats.org/officeDocument/2006/relationships/image" Target="../media/image5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5.png"/><Relationship Id="rId11" Type="http://schemas.openxmlformats.org/officeDocument/2006/relationships/image" Target="../media/image530.png"/><Relationship Id="rId24" Type="http://schemas.openxmlformats.org/officeDocument/2006/relationships/image" Target="../media/image542.png"/><Relationship Id="rId32" Type="http://schemas.openxmlformats.org/officeDocument/2006/relationships/image" Target="../media/image550.png"/><Relationship Id="rId37" Type="http://schemas.openxmlformats.org/officeDocument/2006/relationships/image" Target="../media/image555.png"/><Relationship Id="rId40" Type="http://schemas.openxmlformats.org/officeDocument/2006/relationships/image" Target="../media/image558.png"/><Relationship Id="rId5" Type="http://schemas.openxmlformats.org/officeDocument/2006/relationships/image" Target="../media/image524.png"/><Relationship Id="rId15" Type="http://schemas.openxmlformats.org/officeDocument/2006/relationships/image" Target="../media/image534.png"/><Relationship Id="rId23" Type="http://schemas.openxmlformats.org/officeDocument/2006/relationships/image" Target="../media/image541.png"/><Relationship Id="rId28" Type="http://schemas.openxmlformats.org/officeDocument/2006/relationships/image" Target="../media/image546.png"/><Relationship Id="rId36" Type="http://schemas.openxmlformats.org/officeDocument/2006/relationships/image" Target="../media/image554.png"/><Relationship Id="rId10" Type="http://schemas.openxmlformats.org/officeDocument/2006/relationships/image" Target="../media/image529.png"/><Relationship Id="rId19" Type="http://schemas.openxmlformats.org/officeDocument/2006/relationships/image" Target="../media/image538.png"/><Relationship Id="rId31" Type="http://schemas.openxmlformats.org/officeDocument/2006/relationships/image" Target="../media/image549.png"/><Relationship Id="rId44" Type="http://schemas.openxmlformats.org/officeDocument/2006/relationships/image" Target="../media/image562.png"/><Relationship Id="rId4" Type="http://schemas.openxmlformats.org/officeDocument/2006/relationships/image" Target="../media/image523.png"/><Relationship Id="rId9" Type="http://schemas.openxmlformats.org/officeDocument/2006/relationships/image" Target="../media/image528.png"/><Relationship Id="rId14" Type="http://schemas.openxmlformats.org/officeDocument/2006/relationships/image" Target="../media/image533.png"/><Relationship Id="rId22" Type="http://schemas.openxmlformats.org/officeDocument/2006/relationships/image" Target="../media/image540.png"/><Relationship Id="rId27" Type="http://schemas.openxmlformats.org/officeDocument/2006/relationships/image" Target="../media/image545.png"/><Relationship Id="rId30" Type="http://schemas.openxmlformats.org/officeDocument/2006/relationships/image" Target="../media/image548.png"/><Relationship Id="rId35" Type="http://schemas.openxmlformats.org/officeDocument/2006/relationships/image" Target="../media/image553.png"/><Relationship Id="rId43" Type="http://schemas.openxmlformats.org/officeDocument/2006/relationships/image" Target="../media/image56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9.png"/><Relationship Id="rId13" Type="http://schemas.openxmlformats.org/officeDocument/2006/relationships/image" Target="../media/image574.png"/><Relationship Id="rId18" Type="http://schemas.openxmlformats.org/officeDocument/2006/relationships/image" Target="../media/image579.png"/><Relationship Id="rId26" Type="http://schemas.openxmlformats.org/officeDocument/2006/relationships/image" Target="../media/image587.png"/><Relationship Id="rId3" Type="http://schemas.openxmlformats.org/officeDocument/2006/relationships/image" Target="../media/image564.png"/><Relationship Id="rId21" Type="http://schemas.openxmlformats.org/officeDocument/2006/relationships/image" Target="../media/image582.png"/><Relationship Id="rId34" Type="http://schemas.openxmlformats.org/officeDocument/2006/relationships/image" Target="../media/image595.png"/><Relationship Id="rId7" Type="http://schemas.openxmlformats.org/officeDocument/2006/relationships/image" Target="../media/image568.png"/><Relationship Id="rId12" Type="http://schemas.openxmlformats.org/officeDocument/2006/relationships/image" Target="../media/image573.png"/><Relationship Id="rId17" Type="http://schemas.openxmlformats.org/officeDocument/2006/relationships/image" Target="../media/image578.png"/><Relationship Id="rId25" Type="http://schemas.openxmlformats.org/officeDocument/2006/relationships/image" Target="../media/image586.png"/><Relationship Id="rId33" Type="http://schemas.openxmlformats.org/officeDocument/2006/relationships/image" Target="../media/image594.png"/><Relationship Id="rId2" Type="http://schemas.openxmlformats.org/officeDocument/2006/relationships/image" Target="../media/image563.png"/><Relationship Id="rId16" Type="http://schemas.openxmlformats.org/officeDocument/2006/relationships/image" Target="../media/image577.png"/><Relationship Id="rId20" Type="http://schemas.openxmlformats.org/officeDocument/2006/relationships/image" Target="../media/image581.png"/><Relationship Id="rId29" Type="http://schemas.openxmlformats.org/officeDocument/2006/relationships/image" Target="../media/image5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7.png"/><Relationship Id="rId11" Type="http://schemas.openxmlformats.org/officeDocument/2006/relationships/image" Target="../media/image572.png"/><Relationship Id="rId24" Type="http://schemas.openxmlformats.org/officeDocument/2006/relationships/image" Target="../media/image585.png"/><Relationship Id="rId32" Type="http://schemas.openxmlformats.org/officeDocument/2006/relationships/image" Target="../media/image593.png"/><Relationship Id="rId37" Type="http://schemas.openxmlformats.org/officeDocument/2006/relationships/image" Target="../media/image598.png"/><Relationship Id="rId5" Type="http://schemas.openxmlformats.org/officeDocument/2006/relationships/image" Target="../media/image566.png"/><Relationship Id="rId15" Type="http://schemas.openxmlformats.org/officeDocument/2006/relationships/image" Target="../media/image576.png"/><Relationship Id="rId23" Type="http://schemas.openxmlformats.org/officeDocument/2006/relationships/image" Target="../media/image584.png"/><Relationship Id="rId28" Type="http://schemas.openxmlformats.org/officeDocument/2006/relationships/image" Target="../media/image589.png"/><Relationship Id="rId36" Type="http://schemas.openxmlformats.org/officeDocument/2006/relationships/image" Target="../media/image597.png"/><Relationship Id="rId10" Type="http://schemas.openxmlformats.org/officeDocument/2006/relationships/image" Target="../media/image571.png"/><Relationship Id="rId19" Type="http://schemas.openxmlformats.org/officeDocument/2006/relationships/image" Target="../media/image580.png"/><Relationship Id="rId31" Type="http://schemas.openxmlformats.org/officeDocument/2006/relationships/image" Target="../media/image592.png"/><Relationship Id="rId4" Type="http://schemas.openxmlformats.org/officeDocument/2006/relationships/image" Target="../media/image565.png"/><Relationship Id="rId9" Type="http://schemas.openxmlformats.org/officeDocument/2006/relationships/image" Target="../media/image570.png"/><Relationship Id="rId14" Type="http://schemas.openxmlformats.org/officeDocument/2006/relationships/image" Target="../media/image575.png"/><Relationship Id="rId22" Type="http://schemas.openxmlformats.org/officeDocument/2006/relationships/image" Target="../media/image583.png"/><Relationship Id="rId27" Type="http://schemas.openxmlformats.org/officeDocument/2006/relationships/image" Target="../media/image588.png"/><Relationship Id="rId30" Type="http://schemas.openxmlformats.org/officeDocument/2006/relationships/image" Target="../media/image591.png"/><Relationship Id="rId35" Type="http://schemas.openxmlformats.org/officeDocument/2006/relationships/image" Target="../media/image59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5.png"/><Relationship Id="rId13" Type="http://schemas.openxmlformats.org/officeDocument/2006/relationships/image" Target="../media/image609.png"/><Relationship Id="rId18" Type="http://schemas.openxmlformats.org/officeDocument/2006/relationships/image" Target="../media/image614.png"/><Relationship Id="rId26" Type="http://schemas.openxmlformats.org/officeDocument/2006/relationships/image" Target="../media/image622.png"/><Relationship Id="rId39" Type="http://schemas.openxmlformats.org/officeDocument/2006/relationships/image" Target="../media/image634.png"/><Relationship Id="rId3" Type="http://schemas.openxmlformats.org/officeDocument/2006/relationships/image" Target="../media/image600.png"/><Relationship Id="rId21" Type="http://schemas.openxmlformats.org/officeDocument/2006/relationships/image" Target="../media/image617.png"/><Relationship Id="rId34" Type="http://schemas.openxmlformats.org/officeDocument/2006/relationships/image" Target="../media/image624.png"/><Relationship Id="rId42" Type="http://schemas.openxmlformats.org/officeDocument/2006/relationships/image" Target="../media/image637.png"/><Relationship Id="rId7" Type="http://schemas.openxmlformats.org/officeDocument/2006/relationships/image" Target="../media/image604.png"/><Relationship Id="rId12" Type="http://schemas.openxmlformats.org/officeDocument/2006/relationships/image" Target="../media/image608.png"/><Relationship Id="rId17" Type="http://schemas.openxmlformats.org/officeDocument/2006/relationships/image" Target="../media/image613.png"/><Relationship Id="rId25" Type="http://schemas.openxmlformats.org/officeDocument/2006/relationships/image" Target="../media/image621.png"/><Relationship Id="rId33" Type="http://schemas.openxmlformats.org/officeDocument/2006/relationships/image" Target="../media/image629.png"/><Relationship Id="rId38" Type="http://schemas.openxmlformats.org/officeDocument/2006/relationships/image" Target="../media/image633.png"/><Relationship Id="rId2" Type="http://schemas.openxmlformats.org/officeDocument/2006/relationships/image" Target="../media/image599.png"/><Relationship Id="rId16" Type="http://schemas.openxmlformats.org/officeDocument/2006/relationships/image" Target="../media/image612.png"/><Relationship Id="rId20" Type="http://schemas.openxmlformats.org/officeDocument/2006/relationships/image" Target="../media/image616.png"/><Relationship Id="rId29" Type="http://schemas.openxmlformats.org/officeDocument/2006/relationships/image" Target="../media/image625.png"/><Relationship Id="rId41" Type="http://schemas.openxmlformats.org/officeDocument/2006/relationships/image" Target="../media/image6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3.png"/><Relationship Id="rId11" Type="http://schemas.openxmlformats.org/officeDocument/2006/relationships/image" Target="../media/image6070.png"/><Relationship Id="rId24" Type="http://schemas.openxmlformats.org/officeDocument/2006/relationships/image" Target="../media/image620.png"/><Relationship Id="rId32" Type="http://schemas.openxmlformats.org/officeDocument/2006/relationships/image" Target="../media/image628.png"/><Relationship Id="rId37" Type="http://schemas.openxmlformats.org/officeDocument/2006/relationships/image" Target="../media/image632.png"/><Relationship Id="rId40" Type="http://schemas.openxmlformats.org/officeDocument/2006/relationships/image" Target="../media/image635.png"/><Relationship Id="rId5" Type="http://schemas.openxmlformats.org/officeDocument/2006/relationships/image" Target="../media/image602.png"/><Relationship Id="rId15" Type="http://schemas.openxmlformats.org/officeDocument/2006/relationships/image" Target="../media/image611.png"/><Relationship Id="rId23" Type="http://schemas.openxmlformats.org/officeDocument/2006/relationships/image" Target="../media/image619.png"/><Relationship Id="rId36" Type="http://schemas.openxmlformats.org/officeDocument/2006/relationships/image" Target="../media/image631.png"/><Relationship Id="rId10" Type="http://schemas.openxmlformats.org/officeDocument/2006/relationships/image" Target="../media/image607.png"/><Relationship Id="rId19" Type="http://schemas.openxmlformats.org/officeDocument/2006/relationships/image" Target="../media/image615.png"/><Relationship Id="rId31" Type="http://schemas.openxmlformats.org/officeDocument/2006/relationships/image" Target="../media/image627.png"/><Relationship Id="rId4" Type="http://schemas.openxmlformats.org/officeDocument/2006/relationships/image" Target="../media/image601.png"/><Relationship Id="rId9" Type="http://schemas.openxmlformats.org/officeDocument/2006/relationships/image" Target="../media/image606.png"/><Relationship Id="rId14" Type="http://schemas.openxmlformats.org/officeDocument/2006/relationships/image" Target="../media/image610.png"/><Relationship Id="rId22" Type="http://schemas.openxmlformats.org/officeDocument/2006/relationships/image" Target="../media/image618.png"/><Relationship Id="rId27" Type="http://schemas.openxmlformats.org/officeDocument/2006/relationships/image" Target="../media/image623.png"/><Relationship Id="rId30" Type="http://schemas.openxmlformats.org/officeDocument/2006/relationships/image" Target="../media/image626.png"/><Relationship Id="rId35" Type="http://schemas.openxmlformats.org/officeDocument/2006/relationships/image" Target="../media/image630.png"/><Relationship Id="rId43" Type="http://schemas.openxmlformats.org/officeDocument/2006/relationships/image" Target="../media/image63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3.png"/><Relationship Id="rId13" Type="http://schemas.openxmlformats.org/officeDocument/2006/relationships/image" Target="../media/image648.png"/><Relationship Id="rId18" Type="http://schemas.openxmlformats.org/officeDocument/2006/relationships/image" Target="../media/image653.png"/><Relationship Id="rId26" Type="http://schemas.openxmlformats.org/officeDocument/2006/relationships/image" Target="../media/image661.png"/><Relationship Id="rId3" Type="http://schemas.openxmlformats.org/officeDocument/2006/relationships/image" Target="../media/image640.png"/><Relationship Id="rId21" Type="http://schemas.openxmlformats.org/officeDocument/2006/relationships/image" Target="../media/image656.png"/><Relationship Id="rId34" Type="http://schemas.openxmlformats.org/officeDocument/2006/relationships/image" Target="../media/image669.png"/><Relationship Id="rId7" Type="http://schemas.openxmlformats.org/officeDocument/2006/relationships/image" Target="../media/image642.png"/><Relationship Id="rId12" Type="http://schemas.openxmlformats.org/officeDocument/2006/relationships/image" Target="../media/image647.png"/><Relationship Id="rId17" Type="http://schemas.openxmlformats.org/officeDocument/2006/relationships/image" Target="../media/image652.png"/><Relationship Id="rId25" Type="http://schemas.openxmlformats.org/officeDocument/2006/relationships/image" Target="../media/image660.png"/><Relationship Id="rId33" Type="http://schemas.openxmlformats.org/officeDocument/2006/relationships/image" Target="../media/image668.png"/><Relationship Id="rId2" Type="http://schemas.openxmlformats.org/officeDocument/2006/relationships/image" Target="../media/image639.png"/><Relationship Id="rId16" Type="http://schemas.openxmlformats.org/officeDocument/2006/relationships/image" Target="../media/image651.png"/><Relationship Id="rId20" Type="http://schemas.openxmlformats.org/officeDocument/2006/relationships/image" Target="../media/image655.png"/><Relationship Id="rId29" Type="http://schemas.openxmlformats.org/officeDocument/2006/relationships/image" Target="../media/image6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3.png"/><Relationship Id="rId11" Type="http://schemas.openxmlformats.org/officeDocument/2006/relationships/image" Target="../media/image646.png"/><Relationship Id="rId24" Type="http://schemas.openxmlformats.org/officeDocument/2006/relationships/image" Target="../media/image659.png"/><Relationship Id="rId32" Type="http://schemas.openxmlformats.org/officeDocument/2006/relationships/image" Target="../media/image667.png"/><Relationship Id="rId37" Type="http://schemas.openxmlformats.org/officeDocument/2006/relationships/image" Target="../media/image672.png"/><Relationship Id="rId5" Type="http://schemas.openxmlformats.org/officeDocument/2006/relationships/image" Target="../media/image446.png"/><Relationship Id="rId15" Type="http://schemas.openxmlformats.org/officeDocument/2006/relationships/image" Target="../media/image650.png"/><Relationship Id="rId23" Type="http://schemas.openxmlformats.org/officeDocument/2006/relationships/image" Target="../media/image658.png"/><Relationship Id="rId28" Type="http://schemas.openxmlformats.org/officeDocument/2006/relationships/image" Target="../media/image663.png"/><Relationship Id="rId36" Type="http://schemas.openxmlformats.org/officeDocument/2006/relationships/image" Target="../media/image671.png"/><Relationship Id="rId10" Type="http://schemas.openxmlformats.org/officeDocument/2006/relationships/image" Target="../media/image645.png"/><Relationship Id="rId19" Type="http://schemas.openxmlformats.org/officeDocument/2006/relationships/image" Target="../media/image654.png"/><Relationship Id="rId31" Type="http://schemas.openxmlformats.org/officeDocument/2006/relationships/image" Target="../media/image666.png"/><Relationship Id="rId4" Type="http://schemas.openxmlformats.org/officeDocument/2006/relationships/image" Target="../media/image641.png"/><Relationship Id="rId9" Type="http://schemas.openxmlformats.org/officeDocument/2006/relationships/image" Target="../media/image644.png"/><Relationship Id="rId14" Type="http://schemas.openxmlformats.org/officeDocument/2006/relationships/image" Target="../media/image649.png"/><Relationship Id="rId22" Type="http://schemas.openxmlformats.org/officeDocument/2006/relationships/image" Target="../media/image657.png"/><Relationship Id="rId27" Type="http://schemas.openxmlformats.org/officeDocument/2006/relationships/image" Target="../media/image662.png"/><Relationship Id="rId30" Type="http://schemas.openxmlformats.org/officeDocument/2006/relationships/image" Target="../media/image665.png"/><Relationship Id="rId35" Type="http://schemas.openxmlformats.org/officeDocument/2006/relationships/image" Target="../media/image67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5.png"/><Relationship Id="rId13" Type="http://schemas.openxmlformats.org/officeDocument/2006/relationships/image" Target="../media/image677.png"/><Relationship Id="rId18" Type="http://schemas.openxmlformats.org/officeDocument/2006/relationships/image" Target="../media/image682.png"/><Relationship Id="rId26" Type="http://schemas.openxmlformats.org/officeDocument/2006/relationships/image" Target="../media/image690.png"/><Relationship Id="rId3" Type="http://schemas.openxmlformats.org/officeDocument/2006/relationships/image" Target="../media/image640.png"/><Relationship Id="rId21" Type="http://schemas.openxmlformats.org/officeDocument/2006/relationships/image" Target="../media/image685.png"/><Relationship Id="rId34" Type="http://schemas.openxmlformats.org/officeDocument/2006/relationships/image" Target="../media/image698.png"/><Relationship Id="rId7" Type="http://schemas.openxmlformats.org/officeDocument/2006/relationships/image" Target="../media/image673.png"/><Relationship Id="rId12" Type="http://schemas.openxmlformats.org/officeDocument/2006/relationships/image" Target="../media/image676.png"/><Relationship Id="rId17" Type="http://schemas.openxmlformats.org/officeDocument/2006/relationships/image" Target="../media/image681.png"/><Relationship Id="rId25" Type="http://schemas.openxmlformats.org/officeDocument/2006/relationships/image" Target="../media/image689.png"/><Relationship Id="rId33" Type="http://schemas.openxmlformats.org/officeDocument/2006/relationships/image" Target="../media/image697.png"/><Relationship Id="rId2" Type="http://schemas.openxmlformats.org/officeDocument/2006/relationships/image" Target="../media/image639.png"/><Relationship Id="rId16" Type="http://schemas.openxmlformats.org/officeDocument/2006/relationships/image" Target="../media/image680.png"/><Relationship Id="rId20" Type="http://schemas.openxmlformats.org/officeDocument/2006/relationships/image" Target="../media/image684.png"/><Relationship Id="rId29" Type="http://schemas.openxmlformats.org/officeDocument/2006/relationships/image" Target="../media/image6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4.png"/><Relationship Id="rId11" Type="http://schemas.openxmlformats.org/officeDocument/2006/relationships/image" Target="../media/image675.png"/><Relationship Id="rId24" Type="http://schemas.openxmlformats.org/officeDocument/2006/relationships/image" Target="../media/image688.png"/><Relationship Id="rId32" Type="http://schemas.openxmlformats.org/officeDocument/2006/relationships/image" Target="../media/image696.png"/><Relationship Id="rId5" Type="http://schemas.openxmlformats.org/officeDocument/2006/relationships/image" Target="../media/image446.png"/><Relationship Id="rId15" Type="http://schemas.openxmlformats.org/officeDocument/2006/relationships/image" Target="../media/image679.png"/><Relationship Id="rId23" Type="http://schemas.openxmlformats.org/officeDocument/2006/relationships/image" Target="../media/image687.png"/><Relationship Id="rId28" Type="http://schemas.openxmlformats.org/officeDocument/2006/relationships/image" Target="../media/image692.png"/><Relationship Id="rId10" Type="http://schemas.openxmlformats.org/officeDocument/2006/relationships/image" Target="../media/image674.png"/><Relationship Id="rId19" Type="http://schemas.openxmlformats.org/officeDocument/2006/relationships/image" Target="../media/image683.png"/><Relationship Id="rId31" Type="http://schemas.openxmlformats.org/officeDocument/2006/relationships/image" Target="../media/image695.png"/><Relationship Id="rId4" Type="http://schemas.openxmlformats.org/officeDocument/2006/relationships/image" Target="../media/image641.png"/><Relationship Id="rId9" Type="http://schemas.openxmlformats.org/officeDocument/2006/relationships/image" Target="../media/image656.png"/><Relationship Id="rId14" Type="http://schemas.openxmlformats.org/officeDocument/2006/relationships/image" Target="../media/image678.png"/><Relationship Id="rId22" Type="http://schemas.openxmlformats.org/officeDocument/2006/relationships/image" Target="../media/image686.png"/><Relationship Id="rId27" Type="http://schemas.openxmlformats.org/officeDocument/2006/relationships/image" Target="../media/image691.png"/><Relationship Id="rId30" Type="http://schemas.openxmlformats.org/officeDocument/2006/relationships/image" Target="../media/image69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5.png"/><Relationship Id="rId13" Type="http://schemas.openxmlformats.org/officeDocument/2006/relationships/image" Target="../media/image710.png"/><Relationship Id="rId18" Type="http://schemas.openxmlformats.org/officeDocument/2006/relationships/image" Target="../media/image715.png"/><Relationship Id="rId26" Type="http://schemas.openxmlformats.org/officeDocument/2006/relationships/image" Target="../media/image723.png"/><Relationship Id="rId39" Type="http://schemas.openxmlformats.org/officeDocument/2006/relationships/image" Target="../media/image736.png"/><Relationship Id="rId3" Type="http://schemas.openxmlformats.org/officeDocument/2006/relationships/image" Target="../media/image700.png"/><Relationship Id="rId21" Type="http://schemas.openxmlformats.org/officeDocument/2006/relationships/image" Target="../media/image718.png"/><Relationship Id="rId34" Type="http://schemas.openxmlformats.org/officeDocument/2006/relationships/image" Target="../media/image731.png"/><Relationship Id="rId42" Type="http://schemas.openxmlformats.org/officeDocument/2006/relationships/image" Target="../media/image739.png"/><Relationship Id="rId7" Type="http://schemas.openxmlformats.org/officeDocument/2006/relationships/image" Target="../media/image704.png"/><Relationship Id="rId12" Type="http://schemas.openxmlformats.org/officeDocument/2006/relationships/image" Target="../media/image709.png"/><Relationship Id="rId17" Type="http://schemas.openxmlformats.org/officeDocument/2006/relationships/image" Target="../media/image714.png"/><Relationship Id="rId25" Type="http://schemas.openxmlformats.org/officeDocument/2006/relationships/image" Target="../media/image722.png"/><Relationship Id="rId33" Type="http://schemas.openxmlformats.org/officeDocument/2006/relationships/image" Target="../media/image730.png"/><Relationship Id="rId38" Type="http://schemas.openxmlformats.org/officeDocument/2006/relationships/image" Target="../media/image735.png"/><Relationship Id="rId2" Type="http://schemas.openxmlformats.org/officeDocument/2006/relationships/image" Target="../media/image699.png"/><Relationship Id="rId16" Type="http://schemas.openxmlformats.org/officeDocument/2006/relationships/image" Target="../media/image713.png"/><Relationship Id="rId20" Type="http://schemas.openxmlformats.org/officeDocument/2006/relationships/image" Target="../media/image717.png"/><Relationship Id="rId29" Type="http://schemas.openxmlformats.org/officeDocument/2006/relationships/image" Target="../media/image726.png"/><Relationship Id="rId41" Type="http://schemas.openxmlformats.org/officeDocument/2006/relationships/image" Target="../media/image7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3.png"/><Relationship Id="rId11" Type="http://schemas.openxmlformats.org/officeDocument/2006/relationships/image" Target="../media/image708.png"/><Relationship Id="rId24" Type="http://schemas.openxmlformats.org/officeDocument/2006/relationships/image" Target="../media/image721.png"/><Relationship Id="rId32" Type="http://schemas.openxmlformats.org/officeDocument/2006/relationships/image" Target="../media/image729.png"/><Relationship Id="rId37" Type="http://schemas.openxmlformats.org/officeDocument/2006/relationships/image" Target="../media/image734.png"/><Relationship Id="rId40" Type="http://schemas.openxmlformats.org/officeDocument/2006/relationships/image" Target="../media/image737.png"/><Relationship Id="rId5" Type="http://schemas.openxmlformats.org/officeDocument/2006/relationships/image" Target="../media/image702.png"/><Relationship Id="rId15" Type="http://schemas.openxmlformats.org/officeDocument/2006/relationships/image" Target="../media/image712.png"/><Relationship Id="rId23" Type="http://schemas.openxmlformats.org/officeDocument/2006/relationships/image" Target="../media/image720.png"/><Relationship Id="rId28" Type="http://schemas.openxmlformats.org/officeDocument/2006/relationships/image" Target="../media/image725.png"/><Relationship Id="rId36" Type="http://schemas.openxmlformats.org/officeDocument/2006/relationships/image" Target="../media/image733.png"/><Relationship Id="rId10" Type="http://schemas.openxmlformats.org/officeDocument/2006/relationships/image" Target="../media/image707.png"/><Relationship Id="rId19" Type="http://schemas.openxmlformats.org/officeDocument/2006/relationships/image" Target="../media/image716.png"/><Relationship Id="rId31" Type="http://schemas.openxmlformats.org/officeDocument/2006/relationships/image" Target="../media/image728.png"/><Relationship Id="rId44" Type="http://schemas.openxmlformats.org/officeDocument/2006/relationships/image" Target="../media/image741.png"/><Relationship Id="rId4" Type="http://schemas.openxmlformats.org/officeDocument/2006/relationships/image" Target="../media/image701.png"/><Relationship Id="rId9" Type="http://schemas.openxmlformats.org/officeDocument/2006/relationships/image" Target="../media/image706.png"/><Relationship Id="rId14" Type="http://schemas.openxmlformats.org/officeDocument/2006/relationships/image" Target="../media/image711.png"/><Relationship Id="rId22" Type="http://schemas.openxmlformats.org/officeDocument/2006/relationships/image" Target="../media/image719.png"/><Relationship Id="rId27" Type="http://schemas.openxmlformats.org/officeDocument/2006/relationships/image" Target="../media/image724.png"/><Relationship Id="rId30" Type="http://schemas.openxmlformats.org/officeDocument/2006/relationships/image" Target="../media/image727.png"/><Relationship Id="rId35" Type="http://schemas.openxmlformats.org/officeDocument/2006/relationships/image" Target="../media/image732.png"/><Relationship Id="rId43" Type="http://schemas.openxmlformats.org/officeDocument/2006/relationships/image" Target="../media/image74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5.png"/><Relationship Id="rId13" Type="http://schemas.openxmlformats.org/officeDocument/2006/relationships/image" Target="../media/image710.png"/><Relationship Id="rId18" Type="http://schemas.openxmlformats.org/officeDocument/2006/relationships/image" Target="../media/image744.png"/><Relationship Id="rId26" Type="http://schemas.openxmlformats.org/officeDocument/2006/relationships/image" Target="../media/image749.png"/><Relationship Id="rId39" Type="http://schemas.openxmlformats.org/officeDocument/2006/relationships/image" Target="../media/image762.png"/><Relationship Id="rId3" Type="http://schemas.openxmlformats.org/officeDocument/2006/relationships/image" Target="../media/image700.png"/><Relationship Id="rId21" Type="http://schemas.openxmlformats.org/officeDocument/2006/relationships/image" Target="../media/image747.png"/><Relationship Id="rId34" Type="http://schemas.openxmlformats.org/officeDocument/2006/relationships/image" Target="../media/image757.png"/><Relationship Id="rId7" Type="http://schemas.openxmlformats.org/officeDocument/2006/relationships/image" Target="../media/image704.png"/><Relationship Id="rId12" Type="http://schemas.openxmlformats.org/officeDocument/2006/relationships/image" Target="../media/image709.png"/><Relationship Id="rId17" Type="http://schemas.openxmlformats.org/officeDocument/2006/relationships/image" Target="../media/image743.png"/><Relationship Id="rId25" Type="http://schemas.openxmlformats.org/officeDocument/2006/relationships/image" Target="../media/image738.png"/><Relationship Id="rId33" Type="http://schemas.openxmlformats.org/officeDocument/2006/relationships/image" Target="../media/image756.png"/><Relationship Id="rId38" Type="http://schemas.openxmlformats.org/officeDocument/2006/relationships/image" Target="../media/image761.png"/><Relationship Id="rId2" Type="http://schemas.openxmlformats.org/officeDocument/2006/relationships/image" Target="../media/image699.png"/><Relationship Id="rId16" Type="http://schemas.openxmlformats.org/officeDocument/2006/relationships/image" Target="../media/image742.png"/><Relationship Id="rId20" Type="http://schemas.openxmlformats.org/officeDocument/2006/relationships/image" Target="../media/image746.png"/><Relationship Id="rId29" Type="http://schemas.openxmlformats.org/officeDocument/2006/relationships/image" Target="../media/image7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3.png"/><Relationship Id="rId11" Type="http://schemas.openxmlformats.org/officeDocument/2006/relationships/image" Target="../media/image708.png"/><Relationship Id="rId24" Type="http://schemas.openxmlformats.org/officeDocument/2006/relationships/image" Target="../media/image737.png"/><Relationship Id="rId32" Type="http://schemas.openxmlformats.org/officeDocument/2006/relationships/image" Target="../media/image755.png"/><Relationship Id="rId37" Type="http://schemas.openxmlformats.org/officeDocument/2006/relationships/image" Target="../media/image760.png"/><Relationship Id="rId40" Type="http://schemas.openxmlformats.org/officeDocument/2006/relationships/image" Target="../media/image763.png"/><Relationship Id="rId5" Type="http://schemas.openxmlformats.org/officeDocument/2006/relationships/image" Target="../media/image702.png"/><Relationship Id="rId15" Type="http://schemas.openxmlformats.org/officeDocument/2006/relationships/image" Target="../media/image728.png"/><Relationship Id="rId23" Type="http://schemas.openxmlformats.org/officeDocument/2006/relationships/image" Target="../media/image736.png"/><Relationship Id="rId28" Type="http://schemas.openxmlformats.org/officeDocument/2006/relationships/image" Target="../media/image751.png"/><Relationship Id="rId36" Type="http://schemas.openxmlformats.org/officeDocument/2006/relationships/image" Target="../media/image759.png"/><Relationship Id="rId10" Type="http://schemas.openxmlformats.org/officeDocument/2006/relationships/image" Target="../media/image707.png"/><Relationship Id="rId19" Type="http://schemas.openxmlformats.org/officeDocument/2006/relationships/image" Target="../media/image745.png"/><Relationship Id="rId31" Type="http://schemas.openxmlformats.org/officeDocument/2006/relationships/image" Target="../media/image754.png"/><Relationship Id="rId4" Type="http://schemas.openxmlformats.org/officeDocument/2006/relationships/image" Target="../media/image701.png"/><Relationship Id="rId9" Type="http://schemas.openxmlformats.org/officeDocument/2006/relationships/image" Target="../media/image706.png"/><Relationship Id="rId14" Type="http://schemas.openxmlformats.org/officeDocument/2006/relationships/image" Target="../media/image711.png"/><Relationship Id="rId22" Type="http://schemas.openxmlformats.org/officeDocument/2006/relationships/image" Target="../media/image748.png"/><Relationship Id="rId27" Type="http://schemas.openxmlformats.org/officeDocument/2006/relationships/image" Target="../media/image750.png"/><Relationship Id="rId30" Type="http://schemas.openxmlformats.org/officeDocument/2006/relationships/image" Target="../media/image753.png"/><Relationship Id="rId35" Type="http://schemas.openxmlformats.org/officeDocument/2006/relationships/image" Target="../media/image75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8.png"/><Relationship Id="rId13" Type="http://schemas.openxmlformats.org/officeDocument/2006/relationships/image" Target="../media/image773.png"/><Relationship Id="rId18" Type="http://schemas.openxmlformats.org/officeDocument/2006/relationships/image" Target="../media/image778.png"/><Relationship Id="rId26" Type="http://schemas.openxmlformats.org/officeDocument/2006/relationships/image" Target="../media/image786.png"/><Relationship Id="rId39" Type="http://schemas.openxmlformats.org/officeDocument/2006/relationships/image" Target="../media/image799.png"/><Relationship Id="rId3" Type="http://schemas.openxmlformats.org/officeDocument/2006/relationships/image" Target="../media/image640.png"/><Relationship Id="rId21" Type="http://schemas.openxmlformats.org/officeDocument/2006/relationships/image" Target="../media/image781.png"/><Relationship Id="rId34" Type="http://schemas.openxmlformats.org/officeDocument/2006/relationships/image" Target="../media/image794.png"/><Relationship Id="rId42" Type="http://schemas.openxmlformats.org/officeDocument/2006/relationships/image" Target="../media/image802.png"/><Relationship Id="rId7" Type="http://schemas.openxmlformats.org/officeDocument/2006/relationships/image" Target="../media/image703.png"/><Relationship Id="rId12" Type="http://schemas.openxmlformats.org/officeDocument/2006/relationships/image" Target="../media/image772.png"/><Relationship Id="rId17" Type="http://schemas.openxmlformats.org/officeDocument/2006/relationships/image" Target="../media/image777.png"/><Relationship Id="rId25" Type="http://schemas.openxmlformats.org/officeDocument/2006/relationships/image" Target="../media/image785.png"/><Relationship Id="rId33" Type="http://schemas.openxmlformats.org/officeDocument/2006/relationships/image" Target="../media/image793.png"/><Relationship Id="rId38" Type="http://schemas.openxmlformats.org/officeDocument/2006/relationships/image" Target="../media/image798.png"/><Relationship Id="rId46" Type="http://schemas.openxmlformats.org/officeDocument/2006/relationships/image" Target="../media/image806.png"/><Relationship Id="rId2" Type="http://schemas.openxmlformats.org/officeDocument/2006/relationships/image" Target="../media/image764.png"/><Relationship Id="rId16" Type="http://schemas.openxmlformats.org/officeDocument/2006/relationships/image" Target="../media/image776.png"/><Relationship Id="rId20" Type="http://schemas.openxmlformats.org/officeDocument/2006/relationships/image" Target="../media/image780.png"/><Relationship Id="rId29" Type="http://schemas.openxmlformats.org/officeDocument/2006/relationships/image" Target="../media/image789.png"/><Relationship Id="rId41" Type="http://schemas.openxmlformats.org/officeDocument/2006/relationships/image" Target="../media/image80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7.png"/><Relationship Id="rId11" Type="http://schemas.openxmlformats.org/officeDocument/2006/relationships/image" Target="../media/image771.png"/><Relationship Id="rId24" Type="http://schemas.openxmlformats.org/officeDocument/2006/relationships/image" Target="../media/image784.png"/><Relationship Id="rId32" Type="http://schemas.openxmlformats.org/officeDocument/2006/relationships/image" Target="../media/image792.png"/><Relationship Id="rId37" Type="http://schemas.openxmlformats.org/officeDocument/2006/relationships/image" Target="../media/image797.png"/><Relationship Id="rId40" Type="http://schemas.openxmlformats.org/officeDocument/2006/relationships/image" Target="../media/image800.png"/><Relationship Id="rId45" Type="http://schemas.openxmlformats.org/officeDocument/2006/relationships/image" Target="../media/image805.png"/><Relationship Id="rId5" Type="http://schemas.openxmlformats.org/officeDocument/2006/relationships/image" Target="../media/image766.png"/><Relationship Id="rId15" Type="http://schemas.openxmlformats.org/officeDocument/2006/relationships/image" Target="../media/image775.png"/><Relationship Id="rId23" Type="http://schemas.openxmlformats.org/officeDocument/2006/relationships/image" Target="../media/image783.png"/><Relationship Id="rId28" Type="http://schemas.openxmlformats.org/officeDocument/2006/relationships/image" Target="../media/image788.png"/><Relationship Id="rId36" Type="http://schemas.openxmlformats.org/officeDocument/2006/relationships/image" Target="../media/image796.png"/><Relationship Id="rId10" Type="http://schemas.openxmlformats.org/officeDocument/2006/relationships/image" Target="../media/image770.png"/><Relationship Id="rId19" Type="http://schemas.openxmlformats.org/officeDocument/2006/relationships/image" Target="../media/image779.png"/><Relationship Id="rId31" Type="http://schemas.openxmlformats.org/officeDocument/2006/relationships/image" Target="../media/image791.png"/><Relationship Id="rId44" Type="http://schemas.openxmlformats.org/officeDocument/2006/relationships/image" Target="../media/image804.png"/><Relationship Id="rId4" Type="http://schemas.openxmlformats.org/officeDocument/2006/relationships/image" Target="../media/image765.png"/><Relationship Id="rId9" Type="http://schemas.openxmlformats.org/officeDocument/2006/relationships/image" Target="../media/image769.png"/><Relationship Id="rId14" Type="http://schemas.openxmlformats.org/officeDocument/2006/relationships/image" Target="../media/image774.png"/><Relationship Id="rId22" Type="http://schemas.openxmlformats.org/officeDocument/2006/relationships/image" Target="../media/image782.png"/><Relationship Id="rId27" Type="http://schemas.openxmlformats.org/officeDocument/2006/relationships/image" Target="../media/image787.png"/><Relationship Id="rId30" Type="http://schemas.openxmlformats.org/officeDocument/2006/relationships/image" Target="../media/image790.png"/><Relationship Id="rId35" Type="http://schemas.openxmlformats.org/officeDocument/2006/relationships/image" Target="../media/image795.png"/><Relationship Id="rId43" Type="http://schemas.openxmlformats.org/officeDocument/2006/relationships/image" Target="../media/image80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8.png"/><Relationship Id="rId13" Type="http://schemas.openxmlformats.org/officeDocument/2006/relationships/image" Target="../media/image773.png"/><Relationship Id="rId18" Type="http://schemas.openxmlformats.org/officeDocument/2006/relationships/image" Target="../media/image778.png"/><Relationship Id="rId26" Type="http://schemas.openxmlformats.org/officeDocument/2006/relationships/image" Target="../media/image813.png"/><Relationship Id="rId39" Type="http://schemas.openxmlformats.org/officeDocument/2006/relationships/image" Target="../media/image825.png"/><Relationship Id="rId3" Type="http://schemas.openxmlformats.org/officeDocument/2006/relationships/image" Target="../media/image640.png"/><Relationship Id="rId21" Type="http://schemas.openxmlformats.org/officeDocument/2006/relationships/image" Target="../media/image7900.png"/><Relationship Id="rId34" Type="http://schemas.openxmlformats.org/officeDocument/2006/relationships/image" Target="../media/image820.png"/><Relationship Id="rId42" Type="http://schemas.openxmlformats.org/officeDocument/2006/relationships/image" Target="../media/image828.png"/><Relationship Id="rId47" Type="http://schemas.openxmlformats.org/officeDocument/2006/relationships/image" Target="../media/image833.png"/><Relationship Id="rId7" Type="http://schemas.openxmlformats.org/officeDocument/2006/relationships/image" Target="../media/image809.png"/><Relationship Id="rId12" Type="http://schemas.openxmlformats.org/officeDocument/2006/relationships/image" Target="../media/image772.png"/><Relationship Id="rId17" Type="http://schemas.openxmlformats.org/officeDocument/2006/relationships/image" Target="../media/image777.png"/><Relationship Id="rId25" Type="http://schemas.openxmlformats.org/officeDocument/2006/relationships/image" Target="../media/image8110.png"/><Relationship Id="rId33" Type="http://schemas.openxmlformats.org/officeDocument/2006/relationships/image" Target="../media/image819.png"/><Relationship Id="rId38" Type="http://schemas.openxmlformats.org/officeDocument/2006/relationships/image" Target="../media/image824.png"/><Relationship Id="rId46" Type="http://schemas.openxmlformats.org/officeDocument/2006/relationships/image" Target="../media/image832.png"/><Relationship Id="rId2" Type="http://schemas.openxmlformats.org/officeDocument/2006/relationships/image" Target="../media/image764.png"/><Relationship Id="rId16" Type="http://schemas.openxmlformats.org/officeDocument/2006/relationships/image" Target="../media/image776.png"/><Relationship Id="rId20" Type="http://schemas.openxmlformats.org/officeDocument/2006/relationships/image" Target="../media/image789.png"/><Relationship Id="rId29" Type="http://schemas.openxmlformats.org/officeDocument/2006/relationships/image" Target="../media/image8150.png"/><Relationship Id="rId41" Type="http://schemas.openxmlformats.org/officeDocument/2006/relationships/image" Target="../media/image8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8.png"/><Relationship Id="rId11" Type="http://schemas.openxmlformats.org/officeDocument/2006/relationships/image" Target="../media/image812.png"/><Relationship Id="rId24" Type="http://schemas.openxmlformats.org/officeDocument/2006/relationships/image" Target="../media/image8100.png"/><Relationship Id="rId32" Type="http://schemas.openxmlformats.org/officeDocument/2006/relationships/image" Target="../media/image818.png"/><Relationship Id="rId37" Type="http://schemas.openxmlformats.org/officeDocument/2006/relationships/image" Target="../media/image823.png"/><Relationship Id="rId40" Type="http://schemas.openxmlformats.org/officeDocument/2006/relationships/image" Target="../media/image826.png"/><Relationship Id="rId45" Type="http://schemas.openxmlformats.org/officeDocument/2006/relationships/image" Target="../media/image831.png"/><Relationship Id="rId5" Type="http://schemas.openxmlformats.org/officeDocument/2006/relationships/image" Target="../media/image807.png"/><Relationship Id="rId15" Type="http://schemas.openxmlformats.org/officeDocument/2006/relationships/image" Target="../media/image8080.png"/><Relationship Id="rId23" Type="http://schemas.openxmlformats.org/officeDocument/2006/relationships/image" Target="../media/image8020.png"/><Relationship Id="rId28" Type="http://schemas.openxmlformats.org/officeDocument/2006/relationships/image" Target="../media/image815.png"/><Relationship Id="rId36" Type="http://schemas.openxmlformats.org/officeDocument/2006/relationships/image" Target="../media/image822.png"/><Relationship Id="rId10" Type="http://schemas.openxmlformats.org/officeDocument/2006/relationships/image" Target="../media/image811.png"/><Relationship Id="rId19" Type="http://schemas.openxmlformats.org/officeDocument/2006/relationships/image" Target="../media/image779.png"/><Relationship Id="rId31" Type="http://schemas.openxmlformats.org/officeDocument/2006/relationships/image" Target="../media/image817.png"/><Relationship Id="rId44" Type="http://schemas.openxmlformats.org/officeDocument/2006/relationships/image" Target="../media/image830.png"/><Relationship Id="rId4" Type="http://schemas.openxmlformats.org/officeDocument/2006/relationships/image" Target="../media/image7650.png"/><Relationship Id="rId9" Type="http://schemas.openxmlformats.org/officeDocument/2006/relationships/image" Target="../media/image810.png"/><Relationship Id="rId14" Type="http://schemas.openxmlformats.org/officeDocument/2006/relationships/image" Target="../media/image774.png"/><Relationship Id="rId22" Type="http://schemas.openxmlformats.org/officeDocument/2006/relationships/image" Target="../media/image8090.png"/><Relationship Id="rId27" Type="http://schemas.openxmlformats.org/officeDocument/2006/relationships/image" Target="../media/image814.png"/><Relationship Id="rId30" Type="http://schemas.openxmlformats.org/officeDocument/2006/relationships/image" Target="../media/image816.png"/><Relationship Id="rId35" Type="http://schemas.openxmlformats.org/officeDocument/2006/relationships/image" Target="../media/image821.png"/><Relationship Id="rId43" Type="http://schemas.openxmlformats.org/officeDocument/2006/relationships/image" Target="../media/image82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8.png"/><Relationship Id="rId13" Type="http://schemas.openxmlformats.org/officeDocument/2006/relationships/image" Target="../media/image842.png"/><Relationship Id="rId18" Type="http://schemas.openxmlformats.org/officeDocument/2006/relationships/image" Target="../media/image847.png"/><Relationship Id="rId26" Type="http://schemas.openxmlformats.org/officeDocument/2006/relationships/image" Target="../media/image854.png"/><Relationship Id="rId39" Type="http://schemas.openxmlformats.org/officeDocument/2006/relationships/image" Target="../media/image867.png"/><Relationship Id="rId3" Type="http://schemas.openxmlformats.org/officeDocument/2006/relationships/image" Target="../media/image835.png"/><Relationship Id="rId21" Type="http://schemas.openxmlformats.org/officeDocument/2006/relationships/image" Target="../media/image849.png"/><Relationship Id="rId34" Type="http://schemas.openxmlformats.org/officeDocument/2006/relationships/image" Target="../media/image862.png"/><Relationship Id="rId7" Type="http://schemas.openxmlformats.org/officeDocument/2006/relationships/image" Target="../media/image837.png"/><Relationship Id="rId12" Type="http://schemas.openxmlformats.org/officeDocument/2006/relationships/image" Target="../media/image841.png"/><Relationship Id="rId17" Type="http://schemas.openxmlformats.org/officeDocument/2006/relationships/image" Target="../media/image846.png"/><Relationship Id="rId25" Type="http://schemas.openxmlformats.org/officeDocument/2006/relationships/image" Target="../media/image853.png"/><Relationship Id="rId33" Type="http://schemas.openxmlformats.org/officeDocument/2006/relationships/image" Target="../media/image861.png"/><Relationship Id="rId38" Type="http://schemas.openxmlformats.org/officeDocument/2006/relationships/image" Target="../media/image866.png"/><Relationship Id="rId2" Type="http://schemas.openxmlformats.org/officeDocument/2006/relationships/image" Target="../media/image834.png"/><Relationship Id="rId16" Type="http://schemas.openxmlformats.org/officeDocument/2006/relationships/image" Target="../media/image845.png"/><Relationship Id="rId20" Type="http://schemas.openxmlformats.org/officeDocument/2006/relationships/image" Target="../media/image848.png"/><Relationship Id="rId29" Type="http://schemas.openxmlformats.org/officeDocument/2006/relationships/image" Target="../media/image8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7.png"/><Relationship Id="rId11" Type="http://schemas.openxmlformats.org/officeDocument/2006/relationships/image" Target="../media/image840.png"/><Relationship Id="rId24" Type="http://schemas.openxmlformats.org/officeDocument/2006/relationships/image" Target="../media/image852.png"/><Relationship Id="rId32" Type="http://schemas.openxmlformats.org/officeDocument/2006/relationships/image" Target="../media/image860.png"/><Relationship Id="rId37" Type="http://schemas.openxmlformats.org/officeDocument/2006/relationships/image" Target="../media/image865.png"/><Relationship Id="rId5" Type="http://schemas.openxmlformats.org/officeDocument/2006/relationships/image" Target="../media/image836.png"/><Relationship Id="rId15" Type="http://schemas.openxmlformats.org/officeDocument/2006/relationships/image" Target="../media/image844.png"/><Relationship Id="rId23" Type="http://schemas.openxmlformats.org/officeDocument/2006/relationships/image" Target="../media/image851.png"/><Relationship Id="rId28" Type="http://schemas.openxmlformats.org/officeDocument/2006/relationships/image" Target="../media/image856.png"/><Relationship Id="rId36" Type="http://schemas.openxmlformats.org/officeDocument/2006/relationships/image" Target="../media/image864.png"/><Relationship Id="rId10" Type="http://schemas.openxmlformats.org/officeDocument/2006/relationships/image" Target="../media/image814.png"/><Relationship Id="rId19" Type="http://schemas.openxmlformats.org/officeDocument/2006/relationships/image" Target="../media/image812.png"/><Relationship Id="rId31" Type="http://schemas.openxmlformats.org/officeDocument/2006/relationships/image" Target="../media/image859.png"/><Relationship Id="rId4" Type="http://schemas.openxmlformats.org/officeDocument/2006/relationships/image" Target="../media/image765.png"/><Relationship Id="rId9" Type="http://schemas.openxmlformats.org/officeDocument/2006/relationships/image" Target="../media/image839.png"/><Relationship Id="rId14" Type="http://schemas.openxmlformats.org/officeDocument/2006/relationships/image" Target="../media/image843.png"/><Relationship Id="rId22" Type="http://schemas.openxmlformats.org/officeDocument/2006/relationships/image" Target="../media/image850.png"/><Relationship Id="rId27" Type="http://schemas.openxmlformats.org/officeDocument/2006/relationships/image" Target="../media/image855.png"/><Relationship Id="rId30" Type="http://schemas.openxmlformats.org/officeDocument/2006/relationships/image" Target="../media/image858.png"/><Relationship Id="rId35" Type="http://schemas.openxmlformats.org/officeDocument/2006/relationships/image" Target="../media/image863.png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42.png"/><Relationship Id="rId18" Type="http://schemas.openxmlformats.org/officeDocument/2006/relationships/image" Target="../media/image847.png"/><Relationship Id="rId26" Type="http://schemas.openxmlformats.org/officeDocument/2006/relationships/image" Target="../media/image877.png"/><Relationship Id="rId39" Type="http://schemas.openxmlformats.org/officeDocument/2006/relationships/image" Target="../media/image890.png"/><Relationship Id="rId3" Type="http://schemas.openxmlformats.org/officeDocument/2006/relationships/image" Target="../media/image868.png"/><Relationship Id="rId21" Type="http://schemas.openxmlformats.org/officeDocument/2006/relationships/image" Target="../media/image872.png"/><Relationship Id="rId34" Type="http://schemas.openxmlformats.org/officeDocument/2006/relationships/image" Target="../media/image885.png"/><Relationship Id="rId42" Type="http://schemas.openxmlformats.org/officeDocument/2006/relationships/image" Target="../media/image893.png"/><Relationship Id="rId47" Type="http://schemas.openxmlformats.org/officeDocument/2006/relationships/image" Target="../media/image898.png"/><Relationship Id="rId7" Type="http://schemas.openxmlformats.org/officeDocument/2006/relationships/image" Target="../media/image837.png"/><Relationship Id="rId12" Type="http://schemas.openxmlformats.org/officeDocument/2006/relationships/image" Target="../media/image841.png"/><Relationship Id="rId17" Type="http://schemas.openxmlformats.org/officeDocument/2006/relationships/image" Target="../media/image846.png"/><Relationship Id="rId25" Type="http://schemas.openxmlformats.org/officeDocument/2006/relationships/image" Target="../media/image876.png"/><Relationship Id="rId33" Type="http://schemas.openxmlformats.org/officeDocument/2006/relationships/image" Target="../media/image884.png"/><Relationship Id="rId38" Type="http://schemas.openxmlformats.org/officeDocument/2006/relationships/image" Target="../media/image889.png"/><Relationship Id="rId46" Type="http://schemas.openxmlformats.org/officeDocument/2006/relationships/image" Target="../media/image897.png"/><Relationship Id="rId2" Type="http://schemas.openxmlformats.org/officeDocument/2006/relationships/image" Target="../media/image834.png"/><Relationship Id="rId16" Type="http://schemas.openxmlformats.org/officeDocument/2006/relationships/image" Target="../media/image870.png"/><Relationship Id="rId20" Type="http://schemas.openxmlformats.org/officeDocument/2006/relationships/image" Target="../media/image871.png"/><Relationship Id="rId29" Type="http://schemas.openxmlformats.org/officeDocument/2006/relationships/image" Target="../media/image880.png"/><Relationship Id="rId41" Type="http://schemas.openxmlformats.org/officeDocument/2006/relationships/image" Target="../media/image89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9.png"/><Relationship Id="rId11" Type="http://schemas.openxmlformats.org/officeDocument/2006/relationships/image" Target="../media/image840.png"/><Relationship Id="rId24" Type="http://schemas.openxmlformats.org/officeDocument/2006/relationships/image" Target="../media/image875.png"/><Relationship Id="rId32" Type="http://schemas.openxmlformats.org/officeDocument/2006/relationships/image" Target="../media/image883.png"/><Relationship Id="rId37" Type="http://schemas.openxmlformats.org/officeDocument/2006/relationships/image" Target="../media/image888.png"/><Relationship Id="rId40" Type="http://schemas.openxmlformats.org/officeDocument/2006/relationships/image" Target="../media/image891.png"/><Relationship Id="rId45" Type="http://schemas.openxmlformats.org/officeDocument/2006/relationships/image" Target="../media/image896.png"/><Relationship Id="rId5" Type="http://schemas.openxmlformats.org/officeDocument/2006/relationships/image" Target="../media/image836.png"/><Relationship Id="rId15" Type="http://schemas.openxmlformats.org/officeDocument/2006/relationships/image" Target="../media/image844.png"/><Relationship Id="rId23" Type="http://schemas.openxmlformats.org/officeDocument/2006/relationships/image" Target="../media/image874.png"/><Relationship Id="rId28" Type="http://schemas.openxmlformats.org/officeDocument/2006/relationships/image" Target="../media/image879.png"/><Relationship Id="rId36" Type="http://schemas.openxmlformats.org/officeDocument/2006/relationships/image" Target="../media/image887.png"/><Relationship Id="rId49" Type="http://schemas.openxmlformats.org/officeDocument/2006/relationships/image" Target="../media/image900.png"/><Relationship Id="rId10" Type="http://schemas.openxmlformats.org/officeDocument/2006/relationships/image" Target="../media/image814.png"/><Relationship Id="rId19" Type="http://schemas.openxmlformats.org/officeDocument/2006/relationships/image" Target="../media/image812.png"/><Relationship Id="rId31" Type="http://schemas.openxmlformats.org/officeDocument/2006/relationships/image" Target="../media/image882.png"/><Relationship Id="rId44" Type="http://schemas.openxmlformats.org/officeDocument/2006/relationships/image" Target="../media/image895.png"/><Relationship Id="rId4" Type="http://schemas.openxmlformats.org/officeDocument/2006/relationships/image" Target="../media/image765.png"/><Relationship Id="rId9" Type="http://schemas.openxmlformats.org/officeDocument/2006/relationships/image" Target="../media/image839.png"/><Relationship Id="rId14" Type="http://schemas.openxmlformats.org/officeDocument/2006/relationships/image" Target="../media/image821.png"/><Relationship Id="rId22" Type="http://schemas.openxmlformats.org/officeDocument/2006/relationships/image" Target="../media/image873.png"/><Relationship Id="rId27" Type="http://schemas.openxmlformats.org/officeDocument/2006/relationships/image" Target="../media/image878.png"/><Relationship Id="rId30" Type="http://schemas.openxmlformats.org/officeDocument/2006/relationships/image" Target="../media/image881.png"/><Relationship Id="rId35" Type="http://schemas.openxmlformats.org/officeDocument/2006/relationships/image" Target="../media/image886.png"/><Relationship Id="rId43" Type="http://schemas.openxmlformats.org/officeDocument/2006/relationships/image" Target="../media/image894.png"/><Relationship Id="rId48" Type="http://schemas.openxmlformats.org/officeDocument/2006/relationships/image" Target="../media/image899.png"/><Relationship Id="rId8" Type="http://schemas.openxmlformats.org/officeDocument/2006/relationships/image" Target="../media/image838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7.png"/><Relationship Id="rId13" Type="http://schemas.openxmlformats.org/officeDocument/2006/relationships/image" Target="../media/image912.png"/><Relationship Id="rId18" Type="http://schemas.openxmlformats.org/officeDocument/2006/relationships/image" Target="../media/image917.png"/><Relationship Id="rId26" Type="http://schemas.openxmlformats.org/officeDocument/2006/relationships/image" Target="../media/image925.png"/><Relationship Id="rId3" Type="http://schemas.openxmlformats.org/officeDocument/2006/relationships/image" Target="../media/image902.png"/><Relationship Id="rId21" Type="http://schemas.openxmlformats.org/officeDocument/2006/relationships/image" Target="../media/image920.png"/><Relationship Id="rId7" Type="http://schemas.openxmlformats.org/officeDocument/2006/relationships/image" Target="../media/image906.png"/><Relationship Id="rId12" Type="http://schemas.openxmlformats.org/officeDocument/2006/relationships/image" Target="../media/image911.png"/><Relationship Id="rId17" Type="http://schemas.openxmlformats.org/officeDocument/2006/relationships/image" Target="../media/image916.png"/><Relationship Id="rId25" Type="http://schemas.openxmlformats.org/officeDocument/2006/relationships/image" Target="../media/image924.png"/><Relationship Id="rId2" Type="http://schemas.openxmlformats.org/officeDocument/2006/relationships/image" Target="../media/image901.png"/><Relationship Id="rId16" Type="http://schemas.openxmlformats.org/officeDocument/2006/relationships/image" Target="../media/image915.png"/><Relationship Id="rId20" Type="http://schemas.openxmlformats.org/officeDocument/2006/relationships/image" Target="../media/image9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5.png"/><Relationship Id="rId11" Type="http://schemas.openxmlformats.org/officeDocument/2006/relationships/image" Target="../media/image910.png"/><Relationship Id="rId24" Type="http://schemas.openxmlformats.org/officeDocument/2006/relationships/image" Target="../media/image923.png"/><Relationship Id="rId5" Type="http://schemas.openxmlformats.org/officeDocument/2006/relationships/image" Target="../media/image904.png"/><Relationship Id="rId15" Type="http://schemas.openxmlformats.org/officeDocument/2006/relationships/image" Target="../media/image914.png"/><Relationship Id="rId23" Type="http://schemas.openxmlformats.org/officeDocument/2006/relationships/image" Target="../media/image922.png"/><Relationship Id="rId10" Type="http://schemas.openxmlformats.org/officeDocument/2006/relationships/image" Target="../media/image909.png"/><Relationship Id="rId19" Type="http://schemas.openxmlformats.org/officeDocument/2006/relationships/image" Target="../media/image918.png"/><Relationship Id="rId4" Type="http://schemas.openxmlformats.org/officeDocument/2006/relationships/image" Target="../media/image903.png"/><Relationship Id="rId9" Type="http://schemas.openxmlformats.org/officeDocument/2006/relationships/image" Target="../media/image908.png"/><Relationship Id="rId14" Type="http://schemas.openxmlformats.org/officeDocument/2006/relationships/image" Target="../media/image913.png"/><Relationship Id="rId22" Type="http://schemas.openxmlformats.org/officeDocument/2006/relationships/image" Target="../media/image921.png"/><Relationship Id="rId27" Type="http://schemas.openxmlformats.org/officeDocument/2006/relationships/image" Target="../media/image926.png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36.png"/><Relationship Id="rId18" Type="http://schemas.openxmlformats.org/officeDocument/2006/relationships/image" Target="../media/image941.png"/><Relationship Id="rId26" Type="http://schemas.openxmlformats.org/officeDocument/2006/relationships/image" Target="../media/image948.png"/><Relationship Id="rId39" Type="http://schemas.openxmlformats.org/officeDocument/2006/relationships/image" Target="../media/image961.png"/><Relationship Id="rId3" Type="http://schemas.openxmlformats.org/officeDocument/2006/relationships/image" Target="../media/image927.png"/><Relationship Id="rId21" Type="http://schemas.openxmlformats.org/officeDocument/2006/relationships/image" Target="../media/image944.png"/><Relationship Id="rId34" Type="http://schemas.openxmlformats.org/officeDocument/2006/relationships/image" Target="../media/image956.png"/><Relationship Id="rId42" Type="http://schemas.openxmlformats.org/officeDocument/2006/relationships/image" Target="../media/image964.png"/><Relationship Id="rId47" Type="http://schemas.openxmlformats.org/officeDocument/2006/relationships/image" Target="../media/image969.png"/><Relationship Id="rId50" Type="http://schemas.openxmlformats.org/officeDocument/2006/relationships/image" Target="../media/image972.png"/><Relationship Id="rId7" Type="http://schemas.openxmlformats.org/officeDocument/2006/relationships/image" Target="../media/image930.png"/><Relationship Id="rId12" Type="http://schemas.openxmlformats.org/officeDocument/2006/relationships/image" Target="../media/image935.png"/><Relationship Id="rId17" Type="http://schemas.openxmlformats.org/officeDocument/2006/relationships/image" Target="../media/image940.png"/><Relationship Id="rId25" Type="http://schemas.openxmlformats.org/officeDocument/2006/relationships/image" Target="../media/image947.png"/><Relationship Id="rId33" Type="http://schemas.openxmlformats.org/officeDocument/2006/relationships/image" Target="../media/image955.png"/><Relationship Id="rId38" Type="http://schemas.openxmlformats.org/officeDocument/2006/relationships/image" Target="../media/image960.png"/><Relationship Id="rId46" Type="http://schemas.openxmlformats.org/officeDocument/2006/relationships/image" Target="../media/image968.png"/><Relationship Id="rId2" Type="http://schemas.openxmlformats.org/officeDocument/2006/relationships/image" Target="../media/image901.png"/><Relationship Id="rId16" Type="http://schemas.openxmlformats.org/officeDocument/2006/relationships/image" Target="../media/image939.png"/><Relationship Id="rId20" Type="http://schemas.openxmlformats.org/officeDocument/2006/relationships/image" Target="../media/image943.png"/><Relationship Id="rId29" Type="http://schemas.openxmlformats.org/officeDocument/2006/relationships/image" Target="../media/image951.png"/><Relationship Id="rId41" Type="http://schemas.openxmlformats.org/officeDocument/2006/relationships/image" Target="../media/image9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9.png"/><Relationship Id="rId11" Type="http://schemas.openxmlformats.org/officeDocument/2006/relationships/image" Target="../media/image934.png"/><Relationship Id="rId24" Type="http://schemas.openxmlformats.org/officeDocument/2006/relationships/image" Target="../media/image907.png"/><Relationship Id="rId32" Type="http://schemas.openxmlformats.org/officeDocument/2006/relationships/image" Target="../media/image954.png"/><Relationship Id="rId37" Type="http://schemas.openxmlformats.org/officeDocument/2006/relationships/image" Target="../media/image959.png"/><Relationship Id="rId40" Type="http://schemas.openxmlformats.org/officeDocument/2006/relationships/image" Target="../media/image962.png"/><Relationship Id="rId45" Type="http://schemas.openxmlformats.org/officeDocument/2006/relationships/image" Target="../media/image967.png"/><Relationship Id="rId5" Type="http://schemas.openxmlformats.org/officeDocument/2006/relationships/image" Target="../media/image904.png"/><Relationship Id="rId15" Type="http://schemas.openxmlformats.org/officeDocument/2006/relationships/image" Target="../media/image938.png"/><Relationship Id="rId23" Type="http://schemas.openxmlformats.org/officeDocument/2006/relationships/image" Target="../media/image946.png"/><Relationship Id="rId28" Type="http://schemas.openxmlformats.org/officeDocument/2006/relationships/image" Target="../media/image950.png"/><Relationship Id="rId36" Type="http://schemas.openxmlformats.org/officeDocument/2006/relationships/image" Target="../media/image958.png"/><Relationship Id="rId49" Type="http://schemas.openxmlformats.org/officeDocument/2006/relationships/image" Target="../media/image971.png"/><Relationship Id="rId10" Type="http://schemas.openxmlformats.org/officeDocument/2006/relationships/image" Target="../media/image933.png"/><Relationship Id="rId19" Type="http://schemas.openxmlformats.org/officeDocument/2006/relationships/image" Target="../media/image942.png"/><Relationship Id="rId31" Type="http://schemas.openxmlformats.org/officeDocument/2006/relationships/image" Target="../media/image953.png"/><Relationship Id="rId44" Type="http://schemas.openxmlformats.org/officeDocument/2006/relationships/image" Target="../media/image966.png"/><Relationship Id="rId4" Type="http://schemas.openxmlformats.org/officeDocument/2006/relationships/image" Target="../media/image928.png"/><Relationship Id="rId9" Type="http://schemas.openxmlformats.org/officeDocument/2006/relationships/image" Target="../media/image932.png"/><Relationship Id="rId14" Type="http://schemas.openxmlformats.org/officeDocument/2006/relationships/image" Target="../media/image937.png"/><Relationship Id="rId22" Type="http://schemas.openxmlformats.org/officeDocument/2006/relationships/image" Target="../media/image945.png"/><Relationship Id="rId27" Type="http://schemas.openxmlformats.org/officeDocument/2006/relationships/image" Target="../media/image949.png"/><Relationship Id="rId30" Type="http://schemas.openxmlformats.org/officeDocument/2006/relationships/image" Target="../media/image952.png"/><Relationship Id="rId35" Type="http://schemas.openxmlformats.org/officeDocument/2006/relationships/image" Target="../media/image957.png"/><Relationship Id="rId43" Type="http://schemas.openxmlformats.org/officeDocument/2006/relationships/image" Target="../media/image965.png"/><Relationship Id="rId48" Type="http://schemas.openxmlformats.org/officeDocument/2006/relationships/image" Target="../media/image970.png"/><Relationship Id="rId8" Type="http://schemas.openxmlformats.org/officeDocument/2006/relationships/image" Target="../media/image931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9.png"/><Relationship Id="rId13" Type="http://schemas.openxmlformats.org/officeDocument/2006/relationships/image" Target="../media/image984.png"/><Relationship Id="rId18" Type="http://schemas.openxmlformats.org/officeDocument/2006/relationships/image" Target="../media/image989.png"/><Relationship Id="rId26" Type="http://schemas.openxmlformats.org/officeDocument/2006/relationships/image" Target="../media/image997.png"/><Relationship Id="rId3" Type="http://schemas.openxmlformats.org/officeDocument/2006/relationships/image" Target="../media/image974.png"/><Relationship Id="rId21" Type="http://schemas.openxmlformats.org/officeDocument/2006/relationships/image" Target="../media/image992.png"/><Relationship Id="rId7" Type="http://schemas.openxmlformats.org/officeDocument/2006/relationships/image" Target="../media/image978.png"/><Relationship Id="rId12" Type="http://schemas.openxmlformats.org/officeDocument/2006/relationships/image" Target="../media/image983.png"/><Relationship Id="rId17" Type="http://schemas.openxmlformats.org/officeDocument/2006/relationships/image" Target="../media/image988.png"/><Relationship Id="rId25" Type="http://schemas.openxmlformats.org/officeDocument/2006/relationships/image" Target="../media/image996.png"/><Relationship Id="rId2" Type="http://schemas.openxmlformats.org/officeDocument/2006/relationships/image" Target="../media/image973.png"/><Relationship Id="rId16" Type="http://schemas.openxmlformats.org/officeDocument/2006/relationships/image" Target="../media/image987.png"/><Relationship Id="rId20" Type="http://schemas.openxmlformats.org/officeDocument/2006/relationships/image" Target="../media/image9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7.png"/><Relationship Id="rId11" Type="http://schemas.openxmlformats.org/officeDocument/2006/relationships/image" Target="../media/image982.png"/><Relationship Id="rId24" Type="http://schemas.openxmlformats.org/officeDocument/2006/relationships/image" Target="../media/image995.png"/><Relationship Id="rId5" Type="http://schemas.openxmlformats.org/officeDocument/2006/relationships/image" Target="../media/image976.png"/><Relationship Id="rId15" Type="http://schemas.openxmlformats.org/officeDocument/2006/relationships/image" Target="../media/image986.png"/><Relationship Id="rId23" Type="http://schemas.openxmlformats.org/officeDocument/2006/relationships/image" Target="../media/image994.png"/><Relationship Id="rId10" Type="http://schemas.openxmlformats.org/officeDocument/2006/relationships/image" Target="../media/image981.png"/><Relationship Id="rId19" Type="http://schemas.openxmlformats.org/officeDocument/2006/relationships/image" Target="../media/image990.png"/><Relationship Id="rId4" Type="http://schemas.openxmlformats.org/officeDocument/2006/relationships/image" Target="../media/image975.png"/><Relationship Id="rId9" Type="http://schemas.openxmlformats.org/officeDocument/2006/relationships/image" Target="../media/image980.png"/><Relationship Id="rId14" Type="http://schemas.openxmlformats.org/officeDocument/2006/relationships/image" Target="../media/image985.png"/><Relationship Id="rId22" Type="http://schemas.openxmlformats.org/officeDocument/2006/relationships/image" Target="../media/image993.png"/><Relationship Id="rId27" Type="http://schemas.openxmlformats.org/officeDocument/2006/relationships/image" Target="../media/image998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4.png"/><Relationship Id="rId13" Type="http://schemas.openxmlformats.org/officeDocument/2006/relationships/image" Target="../media/image1009.png"/><Relationship Id="rId18" Type="http://schemas.openxmlformats.org/officeDocument/2006/relationships/image" Target="../media/image1014.png"/><Relationship Id="rId3" Type="http://schemas.openxmlformats.org/officeDocument/2006/relationships/image" Target="../media/image1000.png"/><Relationship Id="rId21" Type="http://schemas.openxmlformats.org/officeDocument/2006/relationships/image" Target="../media/image1017.png"/><Relationship Id="rId7" Type="http://schemas.openxmlformats.org/officeDocument/2006/relationships/image" Target="../media/image1003.png"/><Relationship Id="rId12" Type="http://schemas.openxmlformats.org/officeDocument/2006/relationships/image" Target="../media/image1008.png"/><Relationship Id="rId17" Type="http://schemas.openxmlformats.org/officeDocument/2006/relationships/image" Target="../media/image1013.png"/><Relationship Id="rId2" Type="http://schemas.openxmlformats.org/officeDocument/2006/relationships/image" Target="../media/image999.png"/><Relationship Id="rId16" Type="http://schemas.openxmlformats.org/officeDocument/2006/relationships/image" Target="../media/image1012.png"/><Relationship Id="rId20" Type="http://schemas.openxmlformats.org/officeDocument/2006/relationships/image" Target="../media/image10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2.png"/><Relationship Id="rId11" Type="http://schemas.openxmlformats.org/officeDocument/2006/relationships/image" Target="../media/image1007.png"/><Relationship Id="rId5" Type="http://schemas.openxmlformats.org/officeDocument/2006/relationships/image" Target="../media/image976.png"/><Relationship Id="rId15" Type="http://schemas.openxmlformats.org/officeDocument/2006/relationships/image" Target="../media/image1011.png"/><Relationship Id="rId10" Type="http://schemas.openxmlformats.org/officeDocument/2006/relationships/image" Target="../media/image1006.png"/><Relationship Id="rId19" Type="http://schemas.openxmlformats.org/officeDocument/2006/relationships/image" Target="../media/image1015.png"/><Relationship Id="rId4" Type="http://schemas.openxmlformats.org/officeDocument/2006/relationships/image" Target="../media/image1001.png"/><Relationship Id="rId9" Type="http://schemas.openxmlformats.org/officeDocument/2006/relationships/image" Target="../media/image1005.png"/><Relationship Id="rId14" Type="http://schemas.openxmlformats.org/officeDocument/2006/relationships/image" Target="../media/image101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4.png"/><Relationship Id="rId13" Type="http://schemas.openxmlformats.org/officeDocument/2006/relationships/image" Target="../media/image10280.png"/><Relationship Id="rId18" Type="http://schemas.openxmlformats.org/officeDocument/2006/relationships/image" Target="../media/image1033.png"/><Relationship Id="rId26" Type="http://schemas.openxmlformats.org/officeDocument/2006/relationships/image" Target="../media/image1041.png"/><Relationship Id="rId3" Type="http://schemas.openxmlformats.org/officeDocument/2006/relationships/image" Target="../media/image1019.png"/><Relationship Id="rId21" Type="http://schemas.openxmlformats.org/officeDocument/2006/relationships/image" Target="../media/image1036.png"/><Relationship Id="rId34" Type="http://schemas.openxmlformats.org/officeDocument/2006/relationships/image" Target="../media/image1049.png"/><Relationship Id="rId7" Type="http://schemas.openxmlformats.org/officeDocument/2006/relationships/image" Target="../media/image1023.png"/><Relationship Id="rId12" Type="http://schemas.openxmlformats.org/officeDocument/2006/relationships/image" Target="../media/image1028.png"/><Relationship Id="rId17" Type="http://schemas.openxmlformats.org/officeDocument/2006/relationships/image" Target="../media/image1032.png"/><Relationship Id="rId25" Type="http://schemas.openxmlformats.org/officeDocument/2006/relationships/image" Target="../media/image1040.png"/><Relationship Id="rId33" Type="http://schemas.openxmlformats.org/officeDocument/2006/relationships/image" Target="../media/image1048.png"/><Relationship Id="rId2" Type="http://schemas.openxmlformats.org/officeDocument/2006/relationships/image" Target="../media/image1018.png"/><Relationship Id="rId16" Type="http://schemas.openxmlformats.org/officeDocument/2006/relationships/image" Target="../media/image1031.png"/><Relationship Id="rId20" Type="http://schemas.openxmlformats.org/officeDocument/2006/relationships/image" Target="../media/image1035.png"/><Relationship Id="rId29" Type="http://schemas.openxmlformats.org/officeDocument/2006/relationships/image" Target="../media/image10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22.png"/><Relationship Id="rId11" Type="http://schemas.openxmlformats.org/officeDocument/2006/relationships/image" Target="../media/image1027.png"/><Relationship Id="rId24" Type="http://schemas.openxmlformats.org/officeDocument/2006/relationships/image" Target="../media/image1039.png"/><Relationship Id="rId32" Type="http://schemas.openxmlformats.org/officeDocument/2006/relationships/image" Target="../media/image1047.png"/><Relationship Id="rId5" Type="http://schemas.openxmlformats.org/officeDocument/2006/relationships/image" Target="../media/image1021.png"/><Relationship Id="rId15" Type="http://schemas.openxmlformats.org/officeDocument/2006/relationships/image" Target="../media/image1030.png"/><Relationship Id="rId23" Type="http://schemas.openxmlformats.org/officeDocument/2006/relationships/image" Target="../media/image1038.png"/><Relationship Id="rId28" Type="http://schemas.openxmlformats.org/officeDocument/2006/relationships/image" Target="../media/image1043.png"/><Relationship Id="rId36" Type="http://schemas.openxmlformats.org/officeDocument/2006/relationships/image" Target="../media/image1051.png"/><Relationship Id="rId10" Type="http://schemas.openxmlformats.org/officeDocument/2006/relationships/image" Target="../media/image1026.png"/><Relationship Id="rId19" Type="http://schemas.openxmlformats.org/officeDocument/2006/relationships/image" Target="../media/image1034.png"/><Relationship Id="rId31" Type="http://schemas.openxmlformats.org/officeDocument/2006/relationships/image" Target="../media/image1046.png"/><Relationship Id="rId4" Type="http://schemas.openxmlformats.org/officeDocument/2006/relationships/image" Target="../media/image1020.png"/><Relationship Id="rId9" Type="http://schemas.openxmlformats.org/officeDocument/2006/relationships/image" Target="../media/image1025.png"/><Relationship Id="rId14" Type="http://schemas.openxmlformats.org/officeDocument/2006/relationships/image" Target="../media/image1029.png"/><Relationship Id="rId22" Type="http://schemas.openxmlformats.org/officeDocument/2006/relationships/image" Target="../media/image1037.png"/><Relationship Id="rId27" Type="http://schemas.openxmlformats.org/officeDocument/2006/relationships/image" Target="../media/image1042.png"/><Relationship Id="rId30" Type="http://schemas.openxmlformats.org/officeDocument/2006/relationships/image" Target="../media/image1045.png"/><Relationship Id="rId35" Type="http://schemas.openxmlformats.org/officeDocument/2006/relationships/image" Target="../media/image1050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5.png"/><Relationship Id="rId13" Type="http://schemas.openxmlformats.org/officeDocument/2006/relationships/image" Target="../media/image1059.png"/><Relationship Id="rId18" Type="http://schemas.openxmlformats.org/officeDocument/2006/relationships/image" Target="../media/image1064.png"/><Relationship Id="rId26" Type="http://schemas.openxmlformats.org/officeDocument/2006/relationships/image" Target="../media/image1072.png"/><Relationship Id="rId3" Type="http://schemas.openxmlformats.org/officeDocument/2006/relationships/image" Target="../media/image1019.png"/><Relationship Id="rId21" Type="http://schemas.openxmlformats.org/officeDocument/2006/relationships/image" Target="../media/image1067.png"/><Relationship Id="rId7" Type="http://schemas.openxmlformats.org/officeDocument/2006/relationships/image" Target="../media/image1054.png"/><Relationship Id="rId12" Type="http://schemas.openxmlformats.org/officeDocument/2006/relationships/image" Target="../media/image1058.png"/><Relationship Id="rId17" Type="http://schemas.openxmlformats.org/officeDocument/2006/relationships/image" Target="../media/image1063.png"/><Relationship Id="rId25" Type="http://schemas.openxmlformats.org/officeDocument/2006/relationships/image" Target="../media/image1071.png"/><Relationship Id="rId2" Type="http://schemas.openxmlformats.org/officeDocument/2006/relationships/image" Target="../media/image1052.png"/><Relationship Id="rId16" Type="http://schemas.openxmlformats.org/officeDocument/2006/relationships/image" Target="../media/image1062.png"/><Relationship Id="rId20" Type="http://schemas.openxmlformats.org/officeDocument/2006/relationships/image" Target="../media/image10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22.png"/><Relationship Id="rId11" Type="http://schemas.openxmlformats.org/officeDocument/2006/relationships/image" Target="../media/image1044.png"/><Relationship Id="rId24" Type="http://schemas.openxmlformats.org/officeDocument/2006/relationships/image" Target="../media/image1070.png"/><Relationship Id="rId5" Type="http://schemas.openxmlformats.org/officeDocument/2006/relationships/image" Target="../media/image1053.png"/><Relationship Id="rId15" Type="http://schemas.openxmlformats.org/officeDocument/2006/relationships/image" Target="../media/image1061.png"/><Relationship Id="rId23" Type="http://schemas.openxmlformats.org/officeDocument/2006/relationships/image" Target="../media/image1069.png"/><Relationship Id="rId28" Type="http://schemas.openxmlformats.org/officeDocument/2006/relationships/image" Target="../media/image1074.png"/><Relationship Id="rId10" Type="http://schemas.openxmlformats.org/officeDocument/2006/relationships/image" Target="../media/image1057.png"/><Relationship Id="rId19" Type="http://schemas.openxmlformats.org/officeDocument/2006/relationships/image" Target="../media/image1065.png"/><Relationship Id="rId4" Type="http://schemas.openxmlformats.org/officeDocument/2006/relationships/image" Target="../media/image1020.png"/><Relationship Id="rId9" Type="http://schemas.openxmlformats.org/officeDocument/2006/relationships/image" Target="../media/image1056.png"/><Relationship Id="rId14" Type="http://schemas.openxmlformats.org/officeDocument/2006/relationships/image" Target="../media/image1060.png"/><Relationship Id="rId22" Type="http://schemas.openxmlformats.org/officeDocument/2006/relationships/image" Target="../media/image1068.png"/><Relationship Id="rId27" Type="http://schemas.openxmlformats.org/officeDocument/2006/relationships/image" Target="../media/image1073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1.png"/><Relationship Id="rId13" Type="http://schemas.openxmlformats.org/officeDocument/2006/relationships/image" Target="../media/image1086.png"/><Relationship Id="rId18" Type="http://schemas.openxmlformats.org/officeDocument/2006/relationships/image" Target="../media/image1091.png"/><Relationship Id="rId26" Type="http://schemas.openxmlformats.org/officeDocument/2006/relationships/image" Target="../media/image1099.png"/><Relationship Id="rId39" Type="http://schemas.openxmlformats.org/officeDocument/2006/relationships/image" Target="../media/image1112.png"/><Relationship Id="rId3" Type="http://schemas.openxmlformats.org/officeDocument/2006/relationships/image" Target="../media/image1076.png"/><Relationship Id="rId21" Type="http://schemas.openxmlformats.org/officeDocument/2006/relationships/image" Target="../media/image1094.png"/><Relationship Id="rId34" Type="http://schemas.openxmlformats.org/officeDocument/2006/relationships/image" Target="../media/image1107.png"/><Relationship Id="rId42" Type="http://schemas.openxmlformats.org/officeDocument/2006/relationships/image" Target="../media/image1115.png"/><Relationship Id="rId47" Type="http://schemas.openxmlformats.org/officeDocument/2006/relationships/image" Target="../media/image1120.png"/><Relationship Id="rId7" Type="http://schemas.openxmlformats.org/officeDocument/2006/relationships/image" Target="../media/image1080.png"/><Relationship Id="rId12" Type="http://schemas.openxmlformats.org/officeDocument/2006/relationships/image" Target="../media/image1085.png"/><Relationship Id="rId17" Type="http://schemas.openxmlformats.org/officeDocument/2006/relationships/image" Target="../media/image1090.png"/><Relationship Id="rId25" Type="http://schemas.openxmlformats.org/officeDocument/2006/relationships/image" Target="../media/image1098.png"/><Relationship Id="rId33" Type="http://schemas.openxmlformats.org/officeDocument/2006/relationships/image" Target="../media/image1106.png"/><Relationship Id="rId38" Type="http://schemas.openxmlformats.org/officeDocument/2006/relationships/image" Target="../media/image1111.png"/><Relationship Id="rId46" Type="http://schemas.openxmlformats.org/officeDocument/2006/relationships/image" Target="../media/image1119.png"/><Relationship Id="rId2" Type="http://schemas.openxmlformats.org/officeDocument/2006/relationships/image" Target="../media/image1075.png"/><Relationship Id="rId16" Type="http://schemas.openxmlformats.org/officeDocument/2006/relationships/image" Target="../media/image1089.png"/><Relationship Id="rId20" Type="http://schemas.openxmlformats.org/officeDocument/2006/relationships/image" Target="../media/image1093.png"/><Relationship Id="rId29" Type="http://schemas.openxmlformats.org/officeDocument/2006/relationships/image" Target="../media/image1102.png"/><Relationship Id="rId41" Type="http://schemas.openxmlformats.org/officeDocument/2006/relationships/image" Target="../media/image11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9.png"/><Relationship Id="rId11" Type="http://schemas.openxmlformats.org/officeDocument/2006/relationships/image" Target="../media/image1084.png"/><Relationship Id="rId24" Type="http://schemas.openxmlformats.org/officeDocument/2006/relationships/image" Target="../media/image1097.png"/><Relationship Id="rId32" Type="http://schemas.openxmlformats.org/officeDocument/2006/relationships/image" Target="../media/image1105.png"/><Relationship Id="rId37" Type="http://schemas.openxmlformats.org/officeDocument/2006/relationships/image" Target="../media/image1110.png"/><Relationship Id="rId40" Type="http://schemas.openxmlformats.org/officeDocument/2006/relationships/image" Target="../media/image1113.png"/><Relationship Id="rId45" Type="http://schemas.openxmlformats.org/officeDocument/2006/relationships/image" Target="../media/image1118.png"/><Relationship Id="rId5" Type="http://schemas.openxmlformats.org/officeDocument/2006/relationships/image" Target="../media/image1078.png"/><Relationship Id="rId15" Type="http://schemas.openxmlformats.org/officeDocument/2006/relationships/image" Target="../media/image1088.png"/><Relationship Id="rId23" Type="http://schemas.openxmlformats.org/officeDocument/2006/relationships/image" Target="../media/image1096.png"/><Relationship Id="rId28" Type="http://schemas.openxmlformats.org/officeDocument/2006/relationships/image" Target="../media/image1101.png"/><Relationship Id="rId36" Type="http://schemas.openxmlformats.org/officeDocument/2006/relationships/image" Target="../media/image1109.png"/><Relationship Id="rId10" Type="http://schemas.openxmlformats.org/officeDocument/2006/relationships/image" Target="../media/image1083.png"/><Relationship Id="rId19" Type="http://schemas.openxmlformats.org/officeDocument/2006/relationships/image" Target="../media/image1092.png"/><Relationship Id="rId31" Type="http://schemas.openxmlformats.org/officeDocument/2006/relationships/image" Target="../media/image1104.png"/><Relationship Id="rId44" Type="http://schemas.openxmlformats.org/officeDocument/2006/relationships/image" Target="../media/image1117.png"/><Relationship Id="rId4" Type="http://schemas.openxmlformats.org/officeDocument/2006/relationships/image" Target="../media/image1077.png"/><Relationship Id="rId9" Type="http://schemas.openxmlformats.org/officeDocument/2006/relationships/image" Target="../media/image1082.png"/><Relationship Id="rId14" Type="http://schemas.openxmlformats.org/officeDocument/2006/relationships/image" Target="../media/image1087.png"/><Relationship Id="rId22" Type="http://schemas.openxmlformats.org/officeDocument/2006/relationships/image" Target="../media/image1095.png"/><Relationship Id="rId27" Type="http://schemas.openxmlformats.org/officeDocument/2006/relationships/image" Target="../media/image1100.png"/><Relationship Id="rId30" Type="http://schemas.openxmlformats.org/officeDocument/2006/relationships/image" Target="../media/image1103.png"/><Relationship Id="rId35" Type="http://schemas.openxmlformats.org/officeDocument/2006/relationships/image" Target="../media/image1108.png"/><Relationship Id="rId43" Type="http://schemas.openxmlformats.org/officeDocument/2006/relationships/image" Target="../media/image1116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1.png"/><Relationship Id="rId13" Type="http://schemas.openxmlformats.org/officeDocument/2006/relationships/image" Target="../media/image1087.png"/><Relationship Id="rId18" Type="http://schemas.openxmlformats.org/officeDocument/2006/relationships/image" Target="../media/image1125.png"/><Relationship Id="rId26" Type="http://schemas.openxmlformats.org/officeDocument/2006/relationships/image" Target="../media/image1133.png"/><Relationship Id="rId3" Type="http://schemas.openxmlformats.org/officeDocument/2006/relationships/image" Target="../media/image1076.png"/><Relationship Id="rId21" Type="http://schemas.openxmlformats.org/officeDocument/2006/relationships/image" Target="../media/image1128.png"/><Relationship Id="rId7" Type="http://schemas.openxmlformats.org/officeDocument/2006/relationships/image" Target="../media/image1080.png"/><Relationship Id="rId12" Type="http://schemas.openxmlformats.org/officeDocument/2006/relationships/image" Target="../media/image1085.png"/><Relationship Id="rId17" Type="http://schemas.openxmlformats.org/officeDocument/2006/relationships/image" Target="../media/image1124.png"/><Relationship Id="rId25" Type="http://schemas.openxmlformats.org/officeDocument/2006/relationships/image" Target="../media/image1132.png"/><Relationship Id="rId2" Type="http://schemas.openxmlformats.org/officeDocument/2006/relationships/image" Target="../media/image1121.png"/><Relationship Id="rId16" Type="http://schemas.openxmlformats.org/officeDocument/2006/relationships/image" Target="../media/image1123.png"/><Relationship Id="rId20" Type="http://schemas.openxmlformats.org/officeDocument/2006/relationships/image" Target="../media/image11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9.png"/><Relationship Id="rId11" Type="http://schemas.openxmlformats.org/officeDocument/2006/relationships/image" Target="../media/image1084.png"/><Relationship Id="rId24" Type="http://schemas.openxmlformats.org/officeDocument/2006/relationships/image" Target="../media/image1131.png"/><Relationship Id="rId5" Type="http://schemas.openxmlformats.org/officeDocument/2006/relationships/image" Target="../media/image1078.png"/><Relationship Id="rId15" Type="http://schemas.openxmlformats.org/officeDocument/2006/relationships/image" Target="../media/image1122.png"/><Relationship Id="rId23" Type="http://schemas.openxmlformats.org/officeDocument/2006/relationships/image" Target="../media/image1130.png"/><Relationship Id="rId28" Type="http://schemas.openxmlformats.org/officeDocument/2006/relationships/image" Target="../media/image1135.png"/><Relationship Id="rId10" Type="http://schemas.openxmlformats.org/officeDocument/2006/relationships/image" Target="../media/image1083.png"/><Relationship Id="rId19" Type="http://schemas.openxmlformats.org/officeDocument/2006/relationships/image" Target="../media/image1126.png"/><Relationship Id="rId4" Type="http://schemas.openxmlformats.org/officeDocument/2006/relationships/image" Target="../media/image1077.png"/><Relationship Id="rId9" Type="http://schemas.openxmlformats.org/officeDocument/2006/relationships/image" Target="../media/image1082.png"/><Relationship Id="rId14" Type="http://schemas.openxmlformats.org/officeDocument/2006/relationships/image" Target="../media/image1088.png"/><Relationship Id="rId22" Type="http://schemas.openxmlformats.org/officeDocument/2006/relationships/image" Target="../media/image1129.png"/><Relationship Id="rId27" Type="http://schemas.openxmlformats.org/officeDocument/2006/relationships/image" Target="../media/image1134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2.png"/><Relationship Id="rId13" Type="http://schemas.openxmlformats.org/officeDocument/2006/relationships/image" Target="../media/image1087.png"/><Relationship Id="rId18" Type="http://schemas.openxmlformats.org/officeDocument/2006/relationships/image" Target="../media/image1151.png"/><Relationship Id="rId26" Type="http://schemas.openxmlformats.org/officeDocument/2006/relationships/image" Target="../media/image1159.png"/><Relationship Id="rId39" Type="http://schemas.openxmlformats.org/officeDocument/2006/relationships/image" Target="../media/image1172.png"/><Relationship Id="rId3" Type="http://schemas.openxmlformats.org/officeDocument/2006/relationships/image" Target="../media/image1137.png"/><Relationship Id="rId21" Type="http://schemas.openxmlformats.org/officeDocument/2006/relationships/image" Target="../media/image1154.png"/><Relationship Id="rId34" Type="http://schemas.openxmlformats.org/officeDocument/2006/relationships/image" Target="../media/image1167.png"/><Relationship Id="rId42" Type="http://schemas.openxmlformats.org/officeDocument/2006/relationships/image" Target="../media/image1175.png"/><Relationship Id="rId7" Type="http://schemas.openxmlformats.org/officeDocument/2006/relationships/image" Target="../media/image1141.png"/><Relationship Id="rId12" Type="http://schemas.openxmlformats.org/officeDocument/2006/relationships/image" Target="../media/image1146.png"/><Relationship Id="rId17" Type="http://schemas.openxmlformats.org/officeDocument/2006/relationships/image" Target="../media/image1150.png"/><Relationship Id="rId25" Type="http://schemas.openxmlformats.org/officeDocument/2006/relationships/image" Target="../media/image1158.png"/><Relationship Id="rId33" Type="http://schemas.openxmlformats.org/officeDocument/2006/relationships/image" Target="../media/image1166.png"/><Relationship Id="rId38" Type="http://schemas.openxmlformats.org/officeDocument/2006/relationships/image" Target="../media/image1171.png"/><Relationship Id="rId2" Type="http://schemas.openxmlformats.org/officeDocument/2006/relationships/image" Target="../media/image1136.png"/><Relationship Id="rId16" Type="http://schemas.openxmlformats.org/officeDocument/2006/relationships/image" Target="../media/image1149.png"/><Relationship Id="rId20" Type="http://schemas.openxmlformats.org/officeDocument/2006/relationships/image" Target="../media/image1153.png"/><Relationship Id="rId29" Type="http://schemas.openxmlformats.org/officeDocument/2006/relationships/image" Target="../media/image1162.png"/><Relationship Id="rId41" Type="http://schemas.openxmlformats.org/officeDocument/2006/relationships/image" Target="../media/image117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40.png"/><Relationship Id="rId11" Type="http://schemas.openxmlformats.org/officeDocument/2006/relationships/image" Target="../media/image1145.png"/><Relationship Id="rId24" Type="http://schemas.openxmlformats.org/officeDocument/2006/relationships/image" Target="../media/image1157.png"/><Relationship Id="rId32" Type="http://schemas.openxmlformats.org/officeDocument/2006/relationships/image" Target="../media/image1165.png"/><Relationship Id="rId37" Type="http://schemas.openxmlformats.org/officeDocument/2006/relationships/image" Target="../media/image1170.png"/><Relationship Id="rId40" Type="http://schemas.openxmlformats.org/officeDocument/2006/relationships/image" Target="../media/image1173.png"/><Relationship Id="rId5" Type="http://schemas.openxmlformats.org/officeDocument/2006/relationships/image" Target="../media/image1139.png"/><Relationship Id="rId15" Type="http://schemas.openxmlformats.org/officeDocument/2006/relationships/image" Target="../media/image1148.png"/><Relationship Id="rId23" Type="http://schemas.openxmlformats.org/officeDocument/2006/relationships/image" Target="../media/image1156.png"/><Relationship Id="rId28" Type="http://schemas.openxmlformats.org/officeDocument/2006/relationships/image" Target="../media/image1161.png"/><Relationship Id="rId36" Type="http://schemas.openxmlformats.org/officeDocument/2006/relationships/image" Target="../media/image1169.png"/><Relationship Id="rId10" Type="http://schemas.openxmlformats.org/officeDocument/2006/relationships/image" Target="../media/image1144.png"/><Relationship Id="rId19" Type="http://schemas.openxmlformats.org/officeDocument/2006/relationships/image" Target="../media/image1152.png"/><Relationship Id="rId31" Type="http://schemas.openxmlformats.org/officeDocument/2006/relationships/image" Target="../media/image1164.png"/><Relationship Id="rId44" Type="http://schemas.openxmlformats.org/officeDocument/2006/relationships/image" Target="../media/image1177.png"/><Relationship Id="rId4" Type="http://schemas.openxmlformats.org/officeDocument/2006/relationships/image" Target="../media/image1138.png"/><Relationship Id="rId9" Type="http://schemas.openxmlformats.org/officeDocument/2006/relationships/image" Target="../media/image1143.png"/><Relationship Id="rId14" Type="http://schemas.openxmlformats.org/officeDocument/2006/relationships/image" Target="../media/image1147.png"/><Relationship Id="rId22" Type="http://schemas.openxmlformats.org/officeDocument/2006/relationships/image" Target="../media/image1155.png"/><Relationship Id="rId27" Type="http://schemas.openxmlformats.org/officeDocument/2006/relationships/image" Target="../media/image1160.png"/><Relationship Id="rId30" Type="http://schemas.openxmlformats.org/officeDocument/2006/relationships/image" Target="../media/image1163.png"/><Relationship Id="rId35" Type="http://schemas.openxmlformats.org/officeDocument/2006/relationships/image" Target="../media/image1168.png"/><Relationship Id="rId43" Type="http://schemas.openxmlformats.org/officeDocument/2006/relationships/image" Target="../media/image1176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4.png"/><Relationship Id="rId13" Type="http://schemas.openxmlformats.org/officeDocument/2006/relationships/image" Target="../media/image1189.png"/><Relationship Id="rId18" Type="http://schemas.openxmlformats.org/officeDocument/2006/relationships/image" Target="../media/image1194.png"/><Relationship Id="rId26" Type="http://schemas.openxmlformats.org/officeDocument/2006/relationships/image" Target="../media/image1202.png"/><Relationship Id="rId39" Type="http://schemas.openxmlformats.org/officeDocument/2006/relationships/image" Target="../media/image1215.png"/><Relationship Id="rId3" Type="http://schemas.openxmlformats.org/officeDocument/2006/relationships/image" Target="../media/image1179.png"/><Relationship Id="rId21" Type="http://schemas.openxmlformats.org/officeDocument/2006/relationships/image" Target="../media/image1197.png"/><Relationship Id="rId34" Type="http://schemas.openxmlformats.org/officeDocument/2006/relationships/image" Target="../media/image1210.png"/><Relationship Id="rId7" Type="http://schemas.openxmlformats.org/officeDocument/2006/relationships/image" Target="../media/image1183.png"/><Relationship Id="rId12" Type="http://schemas.openxmlformats.org/officeDocument/2006/relationships/image" Target="../media/image1188.png"/><Relationship Id="rId17" Type="http://schemas.openxmlformats.org/officeDocument/2006/relationships/image" Target="../media/image1193.png"/><Relationship Id="rId25" Type="http://schemas.openxmlformats.org/officeDocument/2006/relationships/image" Target="../media/image1201.png"/><Relationship Id="rId33" Type="http://schemas.openxmlformats.org/officeDocument/2006/relationships/image" Target="../media/image1209.png"/><Relationship Id="rId38" Type="http://schemas.openxmlformats.org/officeDocument/2006/relationships/image" Target="../media/image1214.png"/><Relationship Id="rId2" Type="http://schemas.openxmlformats.org/officeDocument/2006/relationships/image" Target="../media/image1178.png"/><Relationship Id="rId16" Type="http://schemas.openxmlformats.org/officeDocument/2006/relationships/image" Target="../media/image1192.png"/><Relationship Id="rId20" Type="http://schemas.openxmlformats.org/officeDocument/2006/relationships/image" Target="../media/image1196.png"/><Relationship Id="rId29" Type="http://schemas.openxmlformats.org/officeDocument/2006/relationships/image" Target="../media/image120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82.png"/><Relationship Id="rId11" Type="http://schemas.openxmlformats.org/officeDocument/2006/relationships/image" Target="../media/image1187.png"/><Relationship Id="rId24" Type="http://schemas.openxmlformats.org/officeDocument/2006/relationships/image" Target="../media/image1200.png"/><Relationship Id="rId32" Type="http://schemas.openxmlformats.org/officeDocument/2006/relationships/image" Target="../media/image1208.png"/><Relationship Id="rId37" Type="http://schemas.openxmlformats.org/officeDocument/2006/relationships/image" Target="../media/image1213.png"/><Relationship Id="rId5" Type="http://schemas.openxmlformats.org/officeDocument/2006/relationships/image" Target="../media/image1181.png"/><Relationship Id="rId15" Type="http://schemas.openxmlformats.org/officeDocument/2006/relationships/image" Target="../media/image1191.png"/><Relationship Id="rId23" Type="http://schemas.openxmlformats.org/officeDocument/2006/relationships/image" Target="../media/image1199.png"/><Relationship Id="rId28" Type="http://schemas.openxmlformats.org/officeDocument/2006/relationships/image" Target="../media/image1204.png"/><Relationship Id="rId36" Type="http://schemas.openxmlformats.org/officeDocument/2006/relationships/image" Target="../media/image1212.png"/><Relationship Id="rId10" Type="http://schemas.openxmlformats.org/officeDocument/2006/relationships/image" Target="../media/image1186.png"/><Relationship Id="rId19" Type="http://schemas.openxmlformats.org/officeDocument/2006/relationships/image" Target="../media/image1195.png"/><Relationship Id="rId31" Type="http://schemas.openxmlformats.org/officeDocument/2006/relationships/image" Target="../media/image1207.png"/><Relationship Id="rId4" Type="http://schemas.openxmlformats.org/officeDocument/2006/relationships/image" Target="../media/image1180.png"/><Relationship Id="rId9" Type="http://schemas.openxmlformats.org/officeDocument/2006/relationships/image" Target="../media/image1185.png"/><Relationship Id="rId14" Type="http://schemas.openxmlformats.org/officeDocument/2006/relationships/image" Target="../media/image1190.png"/><Relationship Id="rId22" Type="http://schemas.openxmlformats.org/officeDocument/2006/relationships/image" Target="../media/image1198.png"/><Relationship Id="rId27" Type="http://schemas.openxmlformats.org/officeDocument/2006/relationships/image" Target="../media/image1203.png"/><Relationship Id="rId30" Type="http://schemas.openxmlformats.org/officeDocument/2006/relationships/image" Target="../media/image1206.png"/><Relationship Id="rId35" Type="http://schemas.openxmlformats.org/officeDocument/2006/relationships/image" Target="../media/image1211.png"/></Relationships>
</file>

<file path=ppt/slides/_rels/slide4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28.png"/><Relationship Id="rId18" Type="http://schemas.openxmlformats.org/officeDocument/2006/relationships/image" Target="../media/image1231.png"/><Relationship Id="rId26" Type="http://schemas.openxmlformats.org/officeDocument/2006/relationships/image" Target="../media/image1241.png"/><Relationship Id="rId39" Type="http://schemas.openxmlformats.org/officeDocument/2006/relationships/image" Target="../media/image1250.png"/><Relationship Id="rId3" Type="http://schemas.openxmlformats.org/officeDocument/2006/relationships/image" Target="../media/image1218.png"/><Relationship Id="rId21" Type="http://schemas.openxmlformats.org/officeDocument/2006/relationships/image" Target="../media/image1236.png"/><Relationship Id="rId34" Type="http://schemas.openxmlformats.org/officeDocument/2006/relationships/image" Target="../media/image1248.png"/><Relationship Id="rId42" Type="http://schemas.openxmlformats.org/officeDocument/2006/relationships/image" Target="../media/image1252.png"/><Relationship Id="rId47" Type="http://schemas.openxmlformats.org/officeDocument/2006/relationships/image" Target="../media/image1261.png"/><Relationship Id="rId50" Type="http://schemas.openxmlformats.org/officeDocument/2006/relationships/image" Target="../media/image1259.png"/><Relationship Id="rId7" Type="http://schemas.openxmlformats.org/officeDocument/2006/relationships/image" Target="../media/image1222.png"/><Relationship Id="rId12" Type="http://schemas.openxmlformats.org/officeDocument/2006/relationships/image" Target="../media/image1227.png"/><Relationship Id="rId17" Type="http://schemas.openxmlformats.org/officeDocument/2006/relationships/image" Target="../media/image1232.png"/><Relationship Id="rId25" Type="http://schemas.openxmlformats.org/officeDocument/2006/relationships/image" Target="../media/image1240.png"/><Relationship Id="rId33" Type="http://schemas.openxmlformats.org/officeDocument/2006/relationships/image" Target="../media/image1247.png"/><Relationship Id="rId38" Type="http://schemas.openxmlformats.org/officeDocument/2006/relationships/image" Target="../media/image1244.png"/><Relationship Id="rId46" Type="http://schemas.openxmlformats.org/officeDocument/2006/relationships/image" Target="../media/image1260.png"/><Relationship Id="rId2" Type="http://schemas.openxmlformats.org/officeDocument/2006/relationships/image" Target="../media/image1217.png"/><Relationship Id="rId16" Type="http://schemas.openxmlformats.org/officeDocument/2006/relationships/image" Target="../media/image1230.png"/><Relationship Id="rId20" Type="http://schemas.openxmlformats.org/officeDocument/2006/relationships/image" Target="../media/image1235.png"/><Relationship Id="rId29" Type="http://schemas.openxmlformats.org/officeDocument/2006/relationships/image" Target="../media/image1238.png"/><Relationship Id="rId41" Type="http://schemas.openxmlformats.org/officeDocument/2006/relationships/image" Target="../media/image12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21.png"/><Relationship Id="rId11" Type="http://schemas.openxmlformats.org/officeDocument/2006/relationships/image" Target="../media/image1226.png"/><Relationship Id="rId32" Type="http://schemas.openxmlformats.org/officeDocument/2006/relationships/image" Target="../media/image1246.png"/><Relationship Id="rId37" Type="http://schemas.openxmlformats.org/officeDocument/2006/relationships/image" Target="../media/image1251.png"/><Relationship Id="rId40" Type="http://schemas.openxmlformats.org/officeDocument/2006/relationships/image" Target="../media/image1254.png"/><Relationship Id="rId45" Type="http://schemas.openxmlformats.org/officeDocument/2006/relationships/image" Target="../media/image1257.png"/><Relationship Id="rId53" Type="http://schemas.openxmlformats.org/officeDocument/2006/relationships/image" Target="../media/image1265.png"/><Relationship Id="rId5" Type="http://schemas.openxmlformats.org/officeDocument/2006/relationships/image" Target="../media/image1220.png"/><Relationship Id="rId15" Type="http://schemas.openxmlformats.org/officeDocument/2006/relationships/image" Target="../media/image1229.png"/><Relationship Id="rId23" Type="http://schemas.openxmlformats.org/officeDocument/2006/relationships/image" Target="../media/image1237.png"/><Relationship Id="rId28" Type="http://schemas.openxmlformats.org/officeDocument/2006/relationships/image" Target="../media/image1243.png"/><Relationship Id="rId36" Type="http://schemas.openxmlformats.org/officeDocument/2006/relationships/image" Target="../media/image1239.png"/><Relationship Id="rId49" Type="http://schemas.openxmlformats.org/officeDocument/2006/relationships/image" Target="../media/image1258.png"/><Relationship Id="rId10" Type="http://schemas.openxmlformats.org/officeDocument/2006/relationships/image" Target="../media/image1225.png"/><Relationship Id="rId19" Type="http://schemas.openxmlformats.org/officeDocument/2006/relationships/image" Target="../media/image1233.png"/><Relationship Id="rId31" Type="http://schemas.openxmlformats.org/officeDocument/2006/relationships/image" Target="../media/image1245.png"/><Relationship Id="rId44" Type="http://schemas.openxmlformats.org/officeDocument/2006/relationships/image" Target="../media/image1256.png"/><Relationship Id="rId52" Type="http://schemas.openxmlformats.org/officeDocument/2006/relationships/image" Target="../media/image1264.png"/><Relationship Id="rId4" Type="http://schemas.openxmlformats.org/officeDocument/2006/relationships/image" Target="../media/image1219.png"/><Relationship Id="rId9" Type="http://schemas.openxmlformats.org/officeDocument/2006/relationships/image" Target="../media/image1224.png"/><Relationship Id="rId14" Type="http://schemas.openxmlformats.org/officeDocument/2006/relationships/image" Target="../media/image1216.png"/><Relationship Id="rId22" Type="http://schemas.openxmlformats.org/officeDocument/2006/relationships/image" Target="../media/image1234.png"/><Relationship Id="rId27" Type="http://schemas.openxmlformats.org/officeDocument/2006/relationships/image" Target="../media/image1242.png"/><Relationship Id="rId30" Type="http://schemas.openxmlformats.org/officeDocument/2006/relationships/image" Target="../media/image1191.png"/><Relationship Id="rId35" Type="http://schemas.openxmlformats.org/officeDocument/2006/relationships/image" Target="../media/image1249.png"/><Relationship Id="rId43" Type="http://schemas.openxmlformats.org/officeDocument/2006/relationships/image" Target="../media/image1253.png"/><Relationship Id="rId48" Type="http://schemas.openxmlformats.org/officeDocument/2006/relationships/image" Target="../media/image1262.png"/><Relationship Id="rId8" Type="http://schemas.openxmlformats.org/officeDocument/2006/relationships/image" Target="../media/image1223.png"/><Relationship Id="rId51" Type="http://schemas.openxmlformats.org/officeDocument/2006/relationships/image" Target="../media/image1263.png"/></Relationships>
</file>

<file path=ppt/slides/_rels/slide4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77.png"/><Relationship Id="rId18" Type="http://schemas.openxmlformats.org/officeDocument/2006/relationships/image" Target="../media/image1281.png"/><Relationship Id="rId26" Type="http://schemas.openxmlformats.org/officeDocument/2006/relationships/image" Target="../media/image1289.png"/><Relationship Id="rId39" Type="http://schemas.openxmlformats.org/officeDocument/2006/relationships/image" Target="../media/image1302.png"/><Relationship Id="rId21" Type="http://schemas.openxmlformats.org/officeDocument/2006/relationships/image" Target="../media/image1284.png"/><Relationship Id="rId34" Type="http://schemas.openxmlformats.org/officeDocument/2006/relationships/image" Target="../media/image1297.png"/><Relationship Id="rId42" Type="http://schemas.openxmlformats.org/officeDocument/2006/relationships/image" Target="../media/image1305.png"/><Relationship Id="rId47" Type="http://schemas.openxmlformats.org/officeDocument/2006/relationships/image" Target="../media/image1310.png"/><Relationship Id="rId50" Type="http://schemas.openxmlformats.org/officeDocument/2006/relationships/image" Target="../media/image1313.png"/><Relationship Id="rId55" Type="http://schemas.openxmlformats.org/officeDocument/2006/relationships/image" Target="../media/image1318.png"/><Relationship Id="rId63" Type="http://schemas.openxmlformats.org/officeDocument/2006/relationships/image" Target="../media/image1326.png"/><Relationship Id="rId7" Type="http://schemas.openxmlformats.org/officeDocument/2006/relationships/image" Target="../media/image1271.png"/><Relationship Id="rId2" Type="http://schemas.openxmlformats.org/officeDocument/2006/relationships/image" Target="../media/image1266.png"/><Relationship Id="rId16" Type="http://schemas.openxmlformats.org/officeDocument/2006/relationships/image" Target="../media/image1279.png"/><Relationship Id="rId20" Type="http://schemas.openxmlformats.org/officeDocument/2006/relationships/image" Target="../media/image1283.png"/><Relationship Id="rId29" Type="http://schemas.openxmlformats.org/officeDocument/2006/relationships/image" Target="../media/image1292.png"/><Relationship Id="rId41" Type="http://schemas.openxmlformats.org/officeDocument/2006/relationships/image" Target="../media/image1304.png"/><Relationship Id="rId54" Type="http://schemas.openxmlformats.org/officeDocument/2006/relationships/image" Target="../media/image1317.png"/><Relationship Id="rId62" Type="http://schemas.openxmlformats.org/officeDocument/2006/relationships/image" Target="../media/image13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70.png"/><Relationship Id="rId11" Type="http://schemas.openxmlformats.org/officeDocument/2006/relationships/image" Target="../media/image1275.png"/><Relationship Id="rId24" Type="http://schemas.openxmlformats.org/officeDocument/2006/relationships/image" Target="../media/image1287.png"/><Relationship Id="rId32" Type="http://schemas.openxmlformats.org/officeDocument/2006/relationships/image" Target="../media/image1295.png"/><Relationship Id="rId37" Type="http://schemas.openxmlformats.org/officeDocument/2006/relationships/image" Target="../media/image1300.png"/><Relationship Id="rId40" Type="http://schemas.openxmlformats.org/officeDocument/2006/relationships/image" Target="../media/image1303.png"/><Relationship Id="rId45" Type="http://schemas.openxmlformats.org/officeDocument/2006/relationships/image" Target="../media/image1308.png"/><Relationship Id="rId53" Type="http://schemas.openxmlformats.org/officeDocument/2006/relationships/image" Target="../media/image1316.png"/><Relationship Id="rId58" Type="http://schemas.openxmlformats.org/officeDocument/2006/relationships/image" Target="../media/image1321.png"/><Relationship Id="rId5" Type="http://schemas.openxmlformats.org/officeDocument/2006/relationships/image" Target="../media/image1269.png"/><Relationship Id="rId15" Type="http://schemas.openxmlformats.org/officeDocument/2006/relationships/image" Target="../media/image1239.png"/><Relationship Id="rId23" Type="http://schemas.openxmlformats.org/officeDocument/2006/relationships/image" Target="../media/image1286.png"/><Relationship Id="rId28" Type="http://schemas.openxmlformats.org/officeDocument/2006/relationships/image" Target="../media/image1291.png"/><Relationship Id="rId36" Type="http://schemas.openxmlformats.org/officeDocument/2006/relationships/image" Target="../media/image1299.png"/><Relationship Id="rId49" Type="http://schemas.openxmlformats.org/officeDocument/2006/relationships/image" Target="../media/image1312.png"/><Relationship Id="rId57" Type="http://schemas.openxmlformats.org/officeDocument/2006/relationships/image" Target="../media/image1320.png"/><Relationship Id="rId61" Type="http://schemas.openxmlformats.org/officeDocument/2006/relationships/image" Target="../media/image1324.png"/><Relationship Id="rId10" Type="http://schemas.openxmlformats.org/officeDocument/2006/relationships/image" Target="../media/image1274.png"/><Relationship Id="rId19" Type="http://schemas.openxmlformats.org/officeDocument/2006/relationships/image" Target="../media/image1282.png"/><Relationship Id="rId31" Type="http://schemas.openxmlformats.org/officeDocument/2006/relationships/image" Target="../media/image1294.png"/><Relationship Id="rId44" Type="http://schemas.openxmlformats.org/officeDocument/2006/relationships/image" Target="../media/image1307.png"/><Relationship Id="rId52" Type="http://schemas.openxmlformats.org/officeDocument/2006/relationships/image" Target="../media/image1315.png"/><Relationship Id="rId60" Type="http://schemas.openxmlformats.org/officeDocument/2006/relationships/image" Target="../media/image1323.png"/><Relationship Id="rId4" Type="http://schemas.openxmlformats.org/officeDocument/2006/relationships/image" Target="../media/image1268.png"/><Relationship Id="rId9" Type="http://schemas.openxmlformats.org/officeDocument/2006/relationships/image" Target="../media/image1273.png"/><Relationship Id="rId14" Type="http://schemas.openxmlformats.org/officeDocument/2006/relationships/image" Target="../media/image1278.png"/><Relationship Id="rId22" Type="http://schemas.openxmlformats.org/officeDocument/2006/relationships/image" Target="../media/image1285.png"/><Relationship Id="rId27" Type="http://schemas.openxmlformats.org/officeDocument/2006/relationships/image" Target="../media/image1290.png"/><Relationship Id="rId30" Type="http://schemas.openxmlformats.org/officeDocument/2006/relationships/image" Target="../media/image1293.png"/><Relationship Id="rId35" Type="http://schemas.openxmlformats.org/officeDocument/2006/relationships/image" Target="../media/image1298.png"/><Relationship Id="rId43" Type="http://schemas.openxmlformats.org/officeDocument/2006/relationships/image" Target="../media/image1306.png"/><Relationship Id="rId48" Type="http://schemas.openxmlformats.org/officeDocument/2006/relationships/image" Target="../media/image1311.png"/><Relationship Id="rId56" Type="http://schemas.openxmlformats.org/officeDocument/2006/relationships/image" Target="../media/image1319.png"/><Relationship Id="rId8" Type="http://schemas.openxmlformats.org/officeDocument/2006/relationships/image" Target="../media/image1272.png"/><Relationship Id="rId51" Type="http://schemas.openxmlformats.org/officeDocument/2006/relationships/image" Target="../media/image1314.png"/><Relationship Id="rId3" Type="http://schemas.openxmlformats.org/officeDocument/2006/relationships/image" Target="../media/image1267.png"/><Relationship Id="rId12" Type="http://schemas.openxmlformats.org/officeDocument/2006/relationships/image" Target="../media/image1276.png"/><Relationship Id="rId17" Type="http://schemas.openxmlformats.org/officeDocument/2006/relationships/image" Target="../media/image1280.png"/><Relationship Id="rId25" Type="http://schemas.openxmlformats.org/officeDocument/2006/relationships/image" Target="../media/image1288.png"/><Relationship Id="rId33" Type="http://schemas.openxmlformats.org/officeDocument/2006/relationships/image" Target="../media/image1296.png"/><Relationship Id="rId38" Type="http://schemas.openxmlformats.org/officeDocument/2006/relationships/image" Target="../media/image1301.png"/><Relationship Id="rId46" Type="http://schemas.openxmlformats.org/officeDocument/2006/relationships/image" Target="../media/image1309.png"/><Relationship Id="rId59" Type="http://schemas.openxmlformats.org/officeDocument/2006/relationships/image" Target="../media/image1322.png"/></Relationships>
</file>

<file path=ppt/slides/_rels/slide4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78.png"/><Relationship Id="rId18" Type="http://schemas.openxmlformats.org/officeDocument/2006/relationships/image" Target="../media/image1282.png"/><Relationship Id="rId26" Type="http://schemas.openxmlformats.org/officeDocument/2006/relationships/image" Target="../media/image1333.png"/><Relationship Id="rId39" Type="http://schemas.openxmlformats.org/officeDocument/2006/relationships/image" Target="../media/image1335.png"/><Relationship Id="rId21" Type="http://schemas.openxmlformats.org/officeDocument/2006/relationships/image" Target="../media/image1285.png"/><Relationship Id="rId34" Type="http://schemas.openxmlformats.org/officeDocument/2006/relationships/image" Target="../media/image1298.png"/><Relationship Id="rId42" Type="http://schemas.openxmlformats.org/officeDocument/2006/relationships/image" Target="../media/image1336.png"/><Relationship Id="rId47" Type="http://schemas.openxmlformats.org/officeDocument/2006/relationships/image" Target="../media/image1312.png"/><Relationship Id="rId50" Type="http://schemas.openxmlformats.org/officeDocument/2006/relationships/image" Target="../media/image1315.png"/><Relationship Id="rId55" Type="http://schemas.openxmlformats.org/officeDocument/2006/relationships/image" Target="../media/image1337.png"/><Relationship Id="rId7" Type="http://schemas.openxmlformats.org/officeDocument/2006/relationships/image" Target="../media/image1271.png"/><Relationship Id="rId12" Type="http://schemas.openxmlformats.org/officeDocument/2006/relationships/image" Target="../media/image1275.png"/><Relationship Id="rId17" Type="http://schemas.openxmlformats.org/officeDocument/2006/relationships/image" Target="../media/image1330.png"/><Relationship Id="rId25" Type="http://schemas.openxmlformats.org/officeDocument/2006/relationships/image" Target="../media/image1289.png"/><Relationship Id="rId33" Type="http://schemas.openxmlformats.org/officeDocument/2006/relationships/image" Target="../media/image1297.png"/><Relationship Id="rId38" Type="http://schemas.openxmlformats.org/officeDocument/2006/relationships/image" Target="../media/image1303.png"/><Relationship Id="rId46" Type="http://schemas.openxmlformats.org/officeDocument/2006/relationships/image" Target="../media/image1311.png"/><Relationship Id="rId59" Type="http://schemas.openxmlformats.org/officeDocument/2006/relationships/image" Target="../media/image1341.png"/><Relationship Id="rId2" Type="http://schemas.openxmlformats.org/officeDocument/2006/relationships/image" Target="../media/image1266.png"/><Relationship Id="rId16" Type="http://schemas.openxmlformats.org/officeDocument/2006/relationships/image" Target="../media/image1329.png"/><Relationship Id="rId20" Type="http://schemas.openxmlformats.org/officeDocument/2006/relationships/image" Target="../media/image1284.png"/><Relationship Id="rId29" Type="http://schemas.openxmlformats.org/officeDocument/2006/relationships/image" Target="../media/image1293.png"/><Relationship Id="rId41" Type="http://schemas.openxmlformats.org/officeDocument/2006/relationships/image" Target="../media/image1306.png"/><Relationship Id="rId54" Type="http://schemas.openxmlformats.org/officeDocument/2006/relationships/image" Target="../media/image13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70.png"/><Relationship Id="rId11" Type="http://schemas.openxmlformats.org/officeDocument/2006/relationships/image" Target="../media/image1277.png"/><Relationship Id="rId24" Type="http://schemas.openxmlformats.org/officeDocument/2006/relationships/image" Target="../media/image1332.png"/><Relationship Id="rId32" Type="http://schemas.openxmlformats.org/officeDocument/2006/relationships/image" Target="../media/image1296.png"/><Relationship Id="rId37" Type="http://schemas.openxmlformats.org/officeDocument/2006/relationships/image" Target="../media/image1301.png"/><Relationship Id="rId40" Type="http://schemas.openxmlformats.org/officeDocument/2006/relationships/image" Target="../media/image1305.png"/><Relationship Id="rId45" Type="http://schemas.openxmlformats.org/officeDocument/2006/relationships/image" Target="../media/image1310.png"/><Relationship Id="rId53" Type="http://schemas.openxmlformats.org/officeDocument/2006/relationships/image" Target="../media/image1318.png"/><Relationship Id="rId58" Type="http://schemas.openxmlformats.org/officeDocument/2006/relationships/image" Target="../media/image1340.png"/><Relationship Id="rId5" Type="http://schemas.openxmlformats.org/officeDocument/2006/relationships/image" Target="../media/image1328.png"/><Relationship Id="rId15" Type="http://schemas.openxmlformats.org/officeDocument/2006/relationships/image" Target="../media/image1279.png"/><Relationship Id="rId23" Type="http://schemas.openxmlformats.org/officeDocument/2006/relationships/image" Target="../media/image1331.png"/><Relationship Id="rId28" Type="http://schemas.openxmlformats.org/officeDocument/2006/relationships/image" Target="../media/image1292.png"/><Relationship Id="rId36" Type="http://schemas.openxmlformats.org/officeDocument/2006/relationships/image" Target="../media/image1300.png"/><Relationship Id="rId49" Type="http://schemas.openxmlformats.org/officeDocument/2006/relationships/image" Target="../media/image1314.png"/><Relationship Id="rId57" Type="http://schemas.openxmlformats.org/officeDocument/2006/relationships/image" Target="../media/image1339.png"/><Relationship Id="rId10" Type="http://schemas.openxmlformats.org/officeDocument/2006/relationships/image" Target="../media/image1276.png"/><Relationship Id="rId19" Type="http://schemas.openxmlformats.org/officeDocument/2006/relationships/image" Target="../media/image1283.png"/><Relationship Id="rId31" Type="http://schemas.openxmlformats.org/officeDocument/2006/relationships/image" Target="../media/image1295.png"/><Relationship Id="rId44" Type="http://schemas.openxmlformats.org/officeDocument/2006/relationships/image" Target="../media/image1309.png"/><Relationship Id="rId52" Type="http://schemas.openxmlformats.org/officeDocument/2006/relationships/image" Target="../media/image1317.png"/><Relationship Id="rId60" Type="http://schemas.openxmlformats.org/officeDocument/2006/relationships/image" Target="../media/image1326.png"/><Relationship Id="rId4" Type="http://schemas.openxmlformats.org/officeDocument/2006/relationships/image" Target="../media/image1268.png"/><Relationship Id="rId9" Type="http://schemas.openxmlformats.org/officeDocument/2006/relationships/image" Target="../media/image1273.png"/><Relationship Id="rId14" Type="http://schemas.openxmlformats.org/officeDocument/2006/relationships/image" Target="../media/image1239.png"/><Relationship Id="rId22" Type="http://schemas.openxmlformats.org/officeDocument/2006/relationships/image" Target="../media/image1286.png"/><Relationship Id="rId27" Type="http://schemas.openxmlformats.org/officeDocument/2006/relationships/image" Target="../media/image1291.png"/><Relationship Id="rId30" Type="http://schemas.openxmlformats.org/officeDocument/2006/relationships/image" Target="../media/image1334.png"/><Relationship Id="rId35" Type="http://schemas.openxmlformats.org/officeDocument/2006/relationships/image" Target="../media/image1299.png"/><Relationship Id="rId43" Type="http://schemas.openxmlformats.org/officeDocument/2006/relationships/image" Target="../media/image1308.png"/><Relationship Id="rId48" Type="http://schemas.openxmlformats.org/officeDocument/2006/relationships/image" Target="../media/image1313.png"/><Relationship Id="rId56" Type="http://schemas.openxmlformats.org/officeDocument/2006/relationships/image" Target="../media/image1338.png"/><Relationship Id="rId8" Type="http://schemas.openxmlformats.org/officeDocument/2006/relationships/image" Target="../media/image1272.png"/><Relationship Id="rId51" Type="http://schemas.openxmlformats.org/officeDocument/2006/relationships/image" Target="../media/image1316.png"/><Relationship Id="rId3" Type="http://schemas.openxmlformats.org/officeDocument/2006/relationships/image" Target="../media/image13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fld id="{8F82E0A0-C266-4798-8C8F-B9F91E9DA37E}" type="slidenum">
              <a:rPr kumimoji="0" lang="ru-RU" sz="1400" b="1" smtClean="0">
                <a:solidFill>
                  <a:srgbClr val="FFFFFF"/>
                </a:solidFill>
              </a:rPr>
              <a:pPr algn="ctr"/>
              <a:t>1</a:t>
            </a:fld>
            <a:endParaRPr kumimoji="0"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683568" y="1994932"/>
            <a:ext cx="7416824" cy="627534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rgbClr val="FF0000"/>
                </a:solidFill>
              </a:rPr>
              <a:t>Угол между прямыми</a:t>
            </a:r>
            <a:endParaRPr lang="ru-R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06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fld id="{8F82E0A0-C266-4798-8C8F-B9F91E9DA37E}" type="slidenum">
              <a:rPr kumimoji="0" lang="ru-RU" sz="1400" b="1" smtClean="0">
                <a:solidFill>
                  <a:srgbClr val="FFFFFF"/>
                </a:solidFill>
              </a:rPr>
              <a:pPr algn="ctr"/>
              <a:t>2</a:t>
            </a:fld>
            <a:endParaRPr kumimoji="0"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0" y="-22136"/>
                <a:ext cx="9144000" cy="86569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dirty="0" smtClean="0">
                    <a:solidFill>
                      <a:srgbClr val="7030A0"/>
                    </a:solidFill>
                  </a:rPr>
                  <a:t>1.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Точка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𝑮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лежит на боковом ребре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𝑺𝑪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правильной шестиугольной пирамиды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𝑺𝑨𝑩𝑪𝑫𝑬𝑭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 с</a:t>
                </a:r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вершиной</a:t>
                </a:r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а) Постройте точку пересечения прямой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𝑩𝑮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с плоскостью боковой грани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𝑬𝑺𝑭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б) Найдите угол между прямыми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𝑩𝑮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𝑨𝑫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,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если стороны основания пирамиды равны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𝟔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,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боковые ребра </a:t>
                </a:r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равны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𝟑</m:t>
                    </m:r>
                    <m:rad>
                      <m:radPr>
                        <m:degHide m:val="on"/>
                        <m:ctrlP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𝟏𝟑</m:t>
                        </m:r>
                      </m:e>
                    </m:rad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, 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а</a:t>
                </a:r>
                <a14:m>
                  <m:oMath xmlns:m="http://schemas.openxmlformats.org/officeDocument/2006/math">
                    <m:r>
                      <a:rPr lang="ru-RU" sz="1200" b="1" i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𝑺𝑮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: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𝑮𝑪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𝟏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: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𝟐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r>
                  <a:rPr lang="en-US" sz="1200" b="1" i="1" dirty="0" smtClean="0">
                    <a:solidFill>
                      <a:srgbClr val="7030A0"/>
                    </a:solidFill>
                  </a:rPr>
                  <a:t> </a:t>
                </a:r>
                <a:endParaRPr lang="en-US" sz="1200" b="1" i="1" dirty="0" smtClean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6"/>
                <a:ext cx="9144000" cy="865694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66104" y="1135055"/>
            <a:ext cx="4325376" cy="31818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-46350" y="3605166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6350" y="3605166"/>
                <a:ext cx="340286" cy="307777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97992" y="4083918"/>
                <a:ext cx="3829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992" y="4083918"/>
                <a:ext cx="382989" cy="307777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546040" y="4095421"/>
                <a:ext cx="3481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040" y="4095421"/>
                <a:ext cx="348172" cy="307777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464759" y="2931790"/>
                <a:ext cx="3407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𝐹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4759" y="2931790"/>
                <a:ext cx="340734" cy="307777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927413" y="1049997"/>
                <a:ext cx="32284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𝑆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7413" y="1049997"/>
                <a:ext cx="322845" cy="307777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102248" y="2931789"/>
                <a:ext cx="3481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𝐸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2248" y="2931789"/>
                <a:ext cx="348172" cy="307777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894336" y="3605166"/>
                <a:ext cx="3550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𝐷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4336" y="3605166"/>
                <a:ext cx="355034" cy="307777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Овал 1"/>
          <p:cNvSpPr/>
          <p:nvPr/>
        </p:nvSpPr>
        <p:spPr>
          <a:xfrm flipV="1">
            <a:off x="2310160" y="2283718"/>
            <a:ext cx="50304" cy="502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025358" y="2139702"/>
                <a:ext cx="3550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𝐺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5358" y="2139702"/>
                <a:ext cx="355034" cy="307777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291041" y="952629"/>
                <a:ext cx="37706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/>
                  <a:t>а) Найдем линию пересечения плоскостей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</a:rPr>
                      <m:t>𝐵𝑆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𝐶</m:t>
                    </m:r>
                  </m:oMath>
                </a14:m>
                <a:r>
                  <a:rPr lang="en-US" sz="1200" dirty="0" smtClean="0"/>
                  <a:t> </a:t>
                </a:r>
                <a:r>
                  <a:rPr lang="ru-RU" sz="1200" dirty="0" smtClean="0"/>
                  <a:t>и</a:t>
                </a:r>
                <a14:m>
                  <m:oMath xmlns:m="http://schemas.openxmlformats.org/officeDocument/2006/math">
                    <m:r>
                      <a:rPr lang="ru-RU" sz="1200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𝐸𝑆𝐹</m:t>
                    </m:r>
                  </m:oMath>
                </a14:m>
                <a:endParaRPr lang="ru-RU" sz="12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1041" y="952629"/>
                <a:ext cx="3770648" cy="276999"/>
              </a:xfrm>
              <a:prstGeom prst="rect">
                <a:avLst/>
              </a:prstGeom>
              <a:blipFill rotWithShape="0">
                <a:blip r:embed="rId21"/>
                <a:stretch>
                  <a:fillRect l="-162"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343458" y="1487105"/>
                <a:ext cx="4680520" cy="646331"/>
              </a:xfrm>
              <a:prstGeom prst="rect">
                <a:avLst/>
              </a:prstGeom>
              <a:solidFill>
                <a:srgbClr val="D4ECBA"/>
              </a:solidFill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200" dirty="0" smtClean="0">
                    <a:solidFill>
                      <a:srgbClr val="002060"/>
                    </a:solidFill>
                  </a:rPr>
                  <a:t>Если прямые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𝑎</m:t>
                    </m:r>
                  </m:oMath>
                </a14:m>
                <a:r>
                  <a:rPr lang="ru-RU" sz="1200" dirty="0" smtClean="0">
                    <a:solidFill>
                      <a:srgbClr val="002060"/>
                    </a:solidFill>
                  </a:rPr>
                  <a:t> и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002060"/>
                        </a:solidFill>
                        <a:latin typeface="Cambria Math" charset="0"/>
                      </a:rPr>
                      <m:t>𝑏</m:t>
                    </m:r>
                    <m:r>
                      <a:rPr lang="en-US" sz="1200" i="1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dirty="0" smtClean="0">
                    <a:solidFill>
                      <a:srgbClr val="002060"/>
                    </a:solidFill>
                  </a:rPr>
                  <a:t>параллельны, а плоскость, проходящая через прямую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FF0000"/>
                        </a:solidFill>
                        <a:latin typeface="Cambria Math" charset="0"/>
                      </a:rPr>
                      <m:t>𝑎</m:t>
                    </m:r>
                  </m:oMath>
                </a14:m>
                <a:r>
                  <a:rPr lang="ru-RU" sz="1200" dirty="0" smtClean="0">
                    <a:solidFill>
                      <a:srgbClr val="002060"/>
                    </a:solidFill>
                  </a:rPr>
                  <a:t> и плоскость, проходящая через прямую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002060"/>
                        </a:solidFill>
                        <a:latin typeface="Cambria Math" charset="0"/>
                      </a:rPr>
                      <m:t>𝑏</m:t>
                    </m:r>
                  </m:oMath>
                </a14:m>
                <a:r>
                  <a:rPr lang="ru-RU" sz="1200" dirty="0" smtClean="0">
                    <a:solidFill>
                      <a:srgbClr val="002060"/>
                    </a:solidFill>
                  </a:rPr>
                  <a:t> пересекаются, то прямая пересечения плоскостей параллельна прямым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FF0000"/>
                        </a:solidFill>
                        <a:latin typeface="Cambria Math" charset="0"/>
                      </a:rPr>
                      <m:t>𝑎</m:t>
                    </m:r>
                  </m:oMath>
                </a14:m>
                <a:r>
                  <a:rPr lang="ru-RU" sz="1200" dirty="0">
                    <a:solidFill>
                      <a:srgbClr val="002060"/>
                    </a:solidFill>
                  </a:rPr>
                  <a:t> и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002060"/>
                        </a:solidFill>
                        <a:latin typeface="Cambria Math" charset="0"/>
                      </a:rPr>
                      <m:t>𝑏</m:t>
                    </m:r>
                    <m:r>
                      <a:rPr lang="ru-RU" sz="1200" b="0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ru-RU" sz="12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58" y="1487105"/>
                <a:ext cx="4680520" cy="646331"/>
              </a:xfrm>
              <a:prstGeom prst="rect">
                <a:avLst/>
              </a:prstGeom>
              <a:blipFill rotWithShape="0">
                <a:blip r:embed="rId24"/>
                <a:stretch>
                  <a:fillRect/>
                </a:stretch>
              </a:blipFill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271207" y="1210106"/>
                <a:ext cx="81355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𝐵𝐶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∥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𝐸𝐹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1207" y="1210106"/>
                <a:ext cx="813556" cy="276999"/>
              </a:xfrm>
              <a:prstGeom prst="rect">
                <a:avLst/>
              </a:prstGeom>
              <a:blipFill rotWithShape="0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Прямая соединительная линия 19"/>
          <p:cNvCxnSpPr/>
          <p:nvPr/>
        </p:nvCxnSpPr>
        <p:spPr>
          <a:xfrm>
            <a:off x="169373" y="1328285"/>
            <a:ext cx="3709778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41000" y="1040828"/>
                <a:ext cx="36054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𝑁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000" y="1040828"/>
                <a:ext cx="360548" cy="307777"/>
              </a:xfrm>
              <a:prstGeom prst="rect">
                <a:avLst/>
              </a:prstGeom>
              <a:blipFill rotWithShape="0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341037" y="2227663"/>
                <a:ext cx="16453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𝑁𝑆</m:t>
                      </m:r>
                      <m:r>
                        <a:rPr lang="en-US" sz="1200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𝐵𝑆𝐶</m:t>
                          </m:r>
                        </m:e>
                      </m:d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∩</m:t>
                      </m:r>
                      <m:d>
                        <m:dPr>
                          <m:ctrlPr>
                            <a:rPr lang="ru-RU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𝐸𝑆𝐹</m:t>
                          </m:r>
                        </m:e>
                      </m:d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1037" y="2227663"/>
                <a:ext cx="1645322" cy="276999"/>
              </a:xfrm>
              <a:prstGeom prst="rect">
                <a:avLst/>
              </a:prstGeom>
              <a:blipFill rotWithShape="0"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Прямая соединительная линия 23"/>
          <p:cNvCxnSpPr/>
          <p:nvPr/>
        </p:nvCxnSpPr>
        <p:spPr>
          <a:xfrm flipV="1">
            <a:off x="1085044" y="1198621"/>
            <a:ext cx="2006064" cy="2926895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Овал 26"/>
          <p:cNvSpPr/>
          <p:nvPr/>
        </p:nvSpPr>
        <p:spPr>
          <a:xfrm flipV="1">
            <a:off x="2976899" y="1298201"/>
            <a:ext cx="50304" cy="502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2695526" y="1075739"/>
                <a:ext cx="3550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𝐾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526" y="1075739"/>
                <a:ext cx="355034" cy="307777"/>
              </a:xfrm>
              <a:prstGeom prst="rect">
                <a:avLst/>
              </a:prstGeom>
              <a:blipFill rotWithShape="0"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918299" y="2218984"/>
                <a:ext cx="234109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𝐾</m:t>
                      </m:r>
                      <m:r>
                        <a:rPr lang="en-US" sz="1200" b="0" i="1" smtClean="0">
                          <a:latin typeface="Cambria Math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𝐵𝐺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∩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𝑁𝑆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i="1">
                          <a:latin typeface="Cambria Math" charset="0"/>
                        </a:rPr>
                        <m:t>𝐾</m:t>
                      </m:r>
                      <m:r>
                        <a:rPr lang="en-US" sz="1200" i="1">
                          <a:latin typeface="Cambria Math" charset="0"/>
                        </a:rPr>
                        <m:t>=</m:t>
                      </m:r>
                      <m:r>
                        <a:rPr lang="en-US" sz="1200" i="1">
                          <a:latin typeface="Cambria Math" charset="0"/>
                        </a:rPr>
                        <m:t>𝐵𝐺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∩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𝐸𝑆𝐹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8299" y="2218984"/>
                <a:ext cx="2341090" cy="276999"/>
              </a:xfrm>
              <a:prstGeom prst="rect">
                <a:avLst/>
              </a:prstGeom>
              <a:blipFill rotWithShape="0"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Прямая соединительная линия 30"/>
          <p:cNvCxnSpPr/>
          <p:nvPr/>
        </p:nvCxnSpPr>
        <p:spPr>
          <a:xfrm>
            <a:off x="250401" y="3652254"/>
            <a:ext cx="3701004" cy="15240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4341037" y="2469262"/>
                <a:ext cx="46829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 smtClean="0"/>
                  <a:t>б)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charset="0"/>
                      </a:rPr>
                      <m:t>𝐵𝐶</m:t>
                    </m:r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∥</m:t>
                    </m:r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𝐹𝐸</m:t>
                    </m:r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</m:oMath>
                </a14:m>
                <a:r>
                  <a:rPr lang="en-US" sz="1200" dirty="0" smtClean="0"/>
                  <a:t> </a:t>
                </a:r>
                <a:r>
                  <a:rPr lang="ru-RU" sz="1200" dirty="0" smtClean="0"/>
                  <a:t>угол между прямыми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charset="0"/>
                      </a:rPr>
                      <m:t>𝐵𝐺</m:t>
                    </m:r>
                  </m:oMath>
                </a14:m>
                <a:r>
                  <a:rPr lang="ru-RU" sz="1200" dirty="0" smtClean="0"/>
                  <a:t> и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</a:rPr>
                      <m:t>𝐴𝐷</m:t>
                    </m:r>
                  </m:oMath>
                </a14:m>
                <a:r>
                  <a:rPr lang="en-US" sz="1200" dirty="0" smtClean="0"/>
                  <a:t>  </a:t>
                </a:r>
                <a:r>
                  <a:rPr lang="ru-RU" sz="1200" dirty="0" smtClean="0"/>
                  <a:t>равен углу </a:t>
                </a:r>
                <a:r>
                  <a:rPr lang="ru-RU" sz="1200" dirty="0"/>
                  <a:t>между прямыми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charset="0"/>
                      </a:rPr>
                      <m:t>𝐵𝐺</m:t>
                    </m:r>
                  </m:oMath>
                </a14:m>
                <a:r>
                  <a:rPr lang="ru-RU" sz="1200" dirty="0"/>
                  <a:t> и</a:t>
                </a:r>
                <a:r>
                  <a:rPr lang="ru-RU" sz="1200" dirty="0" smtClean="0"/>
                  <a:t>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charset="0"/>
                      </a:rPr>
                      <m:t>𝐵𝐶</m:t>
                    </m:r>
                    <m:r>
                      <a:rPr lang="ru-RU" sz="1200" b="0" i="1" smtClean="0">
                        <a:latin typeface="Cambria Math" charset="0"/>
                      </a:rPr>
                      <m:t>.</m:t>
                    </m:r>
                  </m:oMath>
                </a14:m>
                <a:endParaRPr lang="ru-RU" sz="12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1037" y="2469262"/>
                <a:ext cx="4682941" cy="461665"/>
              </a:xfrm>
              <a:prstGeom prst="rect">
                <a:avLst/>
              </a:prstGeom>
              <a:blipFill rotWithShape="0">
                <a:blip r:embed="rId45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Сектор 36"/>
          <p:cNvSpPr/>
          <p:nvPr/>
        </p:nvSpPr>
        <p:spPr>
          <a:xfrm>
            <a:off x="638984" y="3668644"/>
            <a:ext cx="914400" cy="914400"/>
          </a:xfrm>
          <a:prstGeom prst="pie">
            <a:avLst>
              <a:gd name="adj1" fmla="val 18305076"/>
              <a:gd name="adj2" fmla="val 21599999"/>
            </a:avLst>
          </a:prstGeom>
          <a:solidFill>
            <a:schemeClr val="accent1">
              <a:alpha val="23000"/>
            </a:schemeClr>
          </a:solidFill>
          <a:ln w="63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2367907" y="2669679"/>
                <a:ext cx="640816" cy="3331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b="0" i="1" smtClean="0">
                          <a:latin typeface="Cambria Math" charset="0"/>
                        </a:rPr>
                        <m:t>3</m:t>
                      </m:r>
                      <m:rad>
                        <m:radPr>
                          <m:degHide m:val="on"/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ru-RU" sz="1400" b="0" i="1" smtClean="0">
                              <a:latin typeface="Cambria Math" charset="0"/>
                            </a:rPr>
                            <m:t>13</m:t>
                          </m:r>
                        </m:e>
                      </m:rad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907" y="2669679"/>
                <a:ext cx="640816" cy="333168"/>
              </a:xfrm>
              <a:prstGeom prst="rect">
                <a:avLst/>
              </a:prstGeom>
              <a:blipFill rotWithShape="0"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4339005" y="2838732"/>
                <a:ext cx="468294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smtClean="0"/>
                  <a:t>Рассмотрим треугольник</a:t>
                </a:r>
                <a:r>
                  <a:rPr lang="en-US" sz="1200" dirty="0" smtClean="0"/>
                  <a:t>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charset="0"/>
                      </a:rPr>
                      <m:t>𝐵</m:t>
                    </m:r>
                    <m:r>
                      <a:rPr lang="en-US" sz="1200" b="0" i="1" smtClean="0">
                        <a:latin typeface="Cambria Math" charset="0"/>
                      </a:rPr>
                      <m:t>𝑆</m:t>
                    </m:r>
                    <m:r>
                      <a:rPr lang="en-US" sz="1200" i="1">
                        <a:latin typeface="Cambria Math" charset="0"/>
                      </a:rPr>
                      <m:t>𝐶</m:t>
                    </m:r>
                    <m:r>
                      <a:rPr lang="en-US" sz="1200" b="0" i="1" smtClean="0">
                        <a:latin typeface="Cambria Math" charset="0"/>
                      </a:rPr>
                      <m:t>. </m:t>
                    </m:r>
                  </m:oMath>
                </a14:m>
                <a:r>
                  <a:rPr lang="ru-RU" sz="1200" dirty="0" smtClean="0"/>
                  <a:t> </a:t>
                </a:r>
                <a:endParaRPr lang="ru-RU" sz="12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9005" y="2838732"/>
                <a:ext cx="4682941" cy="276999"/>
              </a:xfrm>
              <a:prstGeom prst="rect">
                <a:avLst/>
              </a:prstGeom>
              <a:blipFill rotWithShape="0">
                <a:blip r:embed="rId55"/>
                <a:stretch>
                  <a:fillRect l="-130" t="-82222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Полилиния 39"/>
          <p:cNvSpPr/>
          <p:nvPr/>
        </p:nvSpPr>
        <p:spPr>
          <a:xfrm>
            <a:off x="1082560" y="1300413"/>
            <a:ext cx="1645920" cy="2814320"/>
          </a:xfrm>
          <a:custGeom>
            <a:avLst/>
            <a:gdLst>
              <a:gd name="connsiteX0" fmla="*/ 0 w 1645920"/>
              <a:gd name="connsiteY0" fmla="*/ 2814320 h 2814320"/>
              <a:gd name="connsiteX1" fmla="*/ 1026160 w 1645920"/>
              <a:gd name="connsiteY1" fmla="*/ 0 h 2814320"/>
              <a:gd name="connsiteX2" fmla="*/ 1645920 w 1645920"/>
              <a:gd name="connsiteY2" fmla="*/ 2814320 h 2814320"/>
              <a:gd name="connsiteX3" fmla="*/ 0 w 1645920"/>
              <a:gd name="connsiteY3" fmla="*/ 2814320 h 281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45920" h="2814320">
                <a:moveTo>
                  <a:pt x="0" y="2814320"/>
                </a:moveTo>
                <a:lnTo>
                  <a:pt x="1026160" y="0"/>
                </a:lnTo>
                <a:lnTo>
                  <a:pt x="1645920" y="2814320"/>
                </a:lnTo>
                <a:lnTo>
                  <a:pt x="0" y="2814320"/>
                </a:lnTo>
                <a:close/>
              </a:path>
            </a:pathLst>
          </a:custGeom>
          <a:solidFill>
            <a:srgbClr val="FF0000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986289" y="2598888"/>
                <a:ext cx="640816" cy="3331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b="0" i="1" smtClean="0">
                          <a:latin typeface="Cambria Math" charset="0"/>
                        </a:rPr>
                        <m:t>3</m:t>
                      </m:r>
                      <m:rad>
                        <m:radPr>
                          <m:degHide m:val="on"/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ru-RU" sz="1400" b="0" i="1" smtClean="0">
                              <a:latin typeface="Cambria Math" charset="0"/>
                            </a:rPr>
                            <m:t>13</m:t>
                          </m:r>
                        </m:e>
                      </m:rad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289" y="2598888"/>
                <a:ext cx="640816" cy="333168"/>
              </a:xfrm>
              <a:prstGeom prst="rect">
                <a:avLst/>
              </a:prstGeom>
              <a:blipFill rotWithShape="0"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1755535" y="4173736"/>
                <a:ext cx="32412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6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5535" y="4173736"/>
                <a:ext cx="324127" cy="307777"/>
              </a:xfrm>
              <a:prstGeom prst="rect">
                <a:avLst/>
              </a:prstGeom>
              <a:blipFill rotWithShape="0">
                <a:blip r:embed="rId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Прямая соединительная линия 42"/>
          <p:cNvCxnSpPr/>
          <p:nvPr/>
        </p:nvCxnSpPr>
        <p:spPr>
          <a:xfrm flipV="1">
            <a:off x="1926029" y="1347614"/>
            <a:ext cx="183127" cy="276807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Полилиния 46"/>
          <p:cNvSpPr/>
          <p:nvPr/>
        </p:nvSpPr>
        <p:spPr>
          <a:xfrm>
            <a:off x="1939672" y="3942080"/>
            <a:ext cx="152400" cy="182880"/>
          </a:xfrm>
          <a:custGeom>
            <a:avLst/>
            <a:gdLst>
              <a:gd name="connsiteX0" fmla="*/ 0 w 152400"/>
              <a:gd name="connsiteY0" fmla="*/ 0 h 182880"/>
              <a:gd name="connsiteX1" fmla="*/ 152400 w 152400"/>
              <a:gd name="connsiteY1" fmla="*/ 0 h 182880"/>
              <a:gd name="connsiteX2" fmla="*/ 142240 w 152400"/>
              <a:gd name="connsiteY2" fmla="*/ 182880 h 182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2400" h="182880">
                <a:moveTo>
                  <a:pt x="0" y="0"/>
                </a:moveTo>
                <a:lnTo>
                  <a:pt x="152400" y="0"/>
                </a:lnTo>
                <a:lnTo>
                  <a:pt x="142240" y="182880"/>
                </a:lnTo>
              </a:path>
            </a:pathLst>
          </a:cu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1651944" y="3861027"/>
                <a:ext cx="32457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𝐿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1944" y="3861027"/>
                <a:ext cx="324576" cy="307777"/>
              </a:xfrm>
              <a:prstGeom prst="rect">
                <a:avLst/>
              </a:prstGeom>
              <a:blipFill rotWithShape="0">
                <a:blip r:embed="rId5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4343328" y="3062812"/>
                <a:ext cx="18848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</a:rPr>
                      <m:t>𝑆𝐿</m:t>
                    </m:r>
                    <m:r>
                      <a:rPr lang="en-US" sz="1200" b="0" i="1" dirty="0" smtClean="0">
                        <a:latin typeface="Cambria Math" charset="0"/>
                      </a:rPr>
                      <m:t> −</m:t>
                    </m:r>
                  </m:oMath>
                </a14:m>
                <a:r>
                  <a:rPr lang="en-US" sz="1200" dirty="0" smtClean="0"/>
                  <a:t> </a:t>
                </a:r>
                <a:r>
                  <a:rPr lang="ru-RU" sz="1200" dirty="0" smtClean="0"/>
                  <a:t>медиана и высота. </a:t>
                </a:r>
                <a:endParaRPr lang="ru-RU" sz="120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328" y="3062812"/>
                <a:ext cx="1884856" cy="276999"/>
              </a:xfrm>
              <a:prstGeom prst="rect">
                <a:avLst/>
              </a:prstGeom>
              <a:blipFill rotWithShape="0">
                <a:blip r:embed="rId59"/>
                <a:stretch>
                  <a:fillRect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5990293" y="2957673"/>
                <a:ext cx="1383667" cy="453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b="0" i="0" dirty="0" smtClean="0">
                              <a:latin typeface="Cambria Math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200" b="0" i="1" dirty="0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∠</m:t>
                              </m:r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𝐵𝐶𝑆</m:t>
                              </m:r>
                            </m:e>
                          </m:d>
                        </m:e>
                      </m:func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dirty="0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</a:rPr>
                            <m:t>𝐿𝐶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</a:rPr>
                            <m:t>𝑆𝐶</m:t>
                          </m:r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293" y="2957673"/>
                <a:ext cx="1383667" cy="453970"/>
              </a:xfrm>
              <a:prstGeom prst="rect">
                <a:avLst/>
              </a:prstGeom>
              <a:blipFill rotWithShape="0">
                <a:blip r:embed="rId6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7088844" y="2972290"/>
                <a:ext cx="1383667" cy="4543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100" b="0" i="1" dirty="0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100" b="0" i="1" dirty="0" smtClean="0">
                              <a:latin typeface="Cambria Math" charset="0"/>
                            </a:rPr>
                            <m:t>3</m:t>
                          </m:r>
                        </m:num>
                        <m:den>
                          <m:r>
                            <a:rPr lang="ru-RU" sz="1200" i="1">
                              <a:latin typeface="Cambria Math" charset="0"/>
                            </a:rPr>
                            <m:t>3</m:t>
                          </m:r>
                          <m:rad>
                            <m:radPr>
                              <m:degHide m:val="on"/>
                              <m:ctrlPr>
                                <a:rPr lang="ru-RU" sz="1200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1200" i="1">
                                  <a:latin typeface="Cambria Math" charset="0"/>
                                </a:rPr>
                                <m:t>13</m:t>
                              </m:r>
                            </m:e>
                          </m:rad>
                        </m:den>
                      </m:f>
                      <m:r>
                        <a:rPr lang="en-US" sz="1100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100" b="0" i="1" dirty="0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100" b="0" i="1" dirty="0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ru-RU" sz="1200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1200" i="1">
                                  <a:latin typeface="Cambria Math" charset="0"/>
                                </a:rPr>
                                <m:t>13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8844" y="2972290"/>
                <a:ext cx="1383667" cy="454355"/>
              </a:xfrm>
              <a:prstGeom prst="rect">
                <a:avLst/>
              </a:prstGeom>
              <a:blipFill rotWithShape="0">
                <a:blip r:embed="rId6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4339006" y="3308019"/>
                <a:ext cx="23431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 smtClean="0"/>
                  <a:t>Рассмотрим треугольник</a:t>
                </a:r>
                <a:r>
                  <a:rPr lang="en-US" sz="1200" dirty="0" smtClean="0"/>
                  <a:t> </a:t>
                </a:r>
                <a14:m>
                  <m:oMath xmlns:m="http://schemas.openxmlformats.org/officeDocument/2006/math">
                    <m:r>
                      <a:rPr lang="en-US" sz="1200" i="1" smtClean="0">
                        <a:latin typeface="Cambria Math" charset="0"/>
                      </a:rPr>
                      <m:t>𝐵</m:t>
                    </m:r>
                    <m:r>
                      <a:rPr lang="en-US" sz="1200" b="0" i="1" smtClean="0">
                        <a:latin typeface="Cambria Math" charset="0"/>
                      </a:rPr>
                      <m:t>𝐶𝐺</m:t>
                    </m:r>
                    <m:r>
                      <a:rPr lang="en-US" sz="1200" b="0" i="1" smtClean="0">
                        <a:latin typeface="Cambria Math" charset="0"/>
                      </a:rPr>
                      <m:t>. </m:t>
                    </m:r>
                  </m:oMath>
                </a14:m>
                <a:r>
                  <a:rPr lang="ru-RU" sz="1200" dirty="0" smtClean="0"/>
                  <a:t> </a:t>
                </a:r>
                <a:endParaRPr lang="ru-RU" sz="1200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9006" y="3308019"/>
                <a:ext cx="2343122" cy="276999"/>
              </a:xfrm>
              <a:prstGeom prst="rect">
                <a:avLst/>
              </a:prstGeom>
              <a:blipFill rotWithShape="0">
                <a:blip r:embed="rId62"/>
                <a:stretch>
                  <a:fillRect l="-260" t="-82222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Полилиния 52"/>
          <p:cNvSpPr/>
          <p:nvPr/>
        </p:nvSpPr>
        <p:spPr>
          <a:xfrm>
            <a:off x="1086232" y="2316480"/>
            <a:ext cx="1645921" cy="1818640"/>
          </a:xfrm>
          <a:custGeom>
            <a:avLst/>
            <a:gdLst>
              <a:gd name="connsiteX0" fmla="*/ 0 w 1645920"/>
              <a:gd name="connsiteY0" fmla="*/ 1818640 h 1818640"/>
              <a:gd name="connsiteX1" fmla="*/ 1249680 w 1645920"/>
              <a:gd name="connsiteY1" fmla="*/ 0 h 1818640"/>
              <a:gd name="connsiteX2" fmla="*/ 1645920 w 1645920"/>
              <a:gd name="connsiteY2" fmla="*/ 1808480 h 1818640"/>
              <a:gd name="connsiteX3" fmla="*/ 0 w 1645920"/>
              <a:gd name="connsiteY3" fmla="*/ 1818640 h 181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45920" h="1818640">
                <a:moveTo>
                  <a:pt x="0" y="1818640"/>
                </a:moveTo>
                <a:lnTo>
                  <a:pt x="1249680" y="0"/>
                </a:lnTo>
                <a:lnTo>
                  <a:pt x="1645920" y="1808480"/>
                </a:lnTo>
                <a:lnTo>
                  <a:pt x="0" y="1818640"/>
                </a:lnTo>
                <a:close/>
              </a:path>
            </a:pathLst>
          </a:custGeom>
          <a:solidFill>
            <a:srgbClr val="92D050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1946569" y="1829356"/>
                <a:ext cx="413895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charset="0"/>
                        </a:rPr>
                        <m:t>(1)</m:t>
                      </m:r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6569" y="1829356"/>
                <a:ext cx="413895" cy="261610"/>
              </a:xfrm>
              <a:prstGeom prst="rect">
                <a:avLst/>
              </a:prstGeom>
              <a:blipFill rotWithShape="0">
                <a:blip r:embed="rId63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2148300" y="2896990"/>
                <a:ext cx="413895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charset="0"/>
                        </a:rPr>
                        <m:t>(2)</m:t>
                      </m:r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300" y="2896990"/>
                <a:ext cx="413895" cy="261610"/>
              </a:xfrm>
              <a:prstGeom prst="rect">
                <a:avLst/>
              </a:prstGeom>
              <a:blipFill rotWithShape="0">
                <a:blip r:embed="rId64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5017356" y="1209992"/>
                <a:ext cx="167167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𝐵𝐶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∈</m:t>
                      </m:r>
                      <m:r>
                        <a:rPr lang="en-US" sz="1200" i="1" dirty="0">
                          <a:latin typeface="Cambria Math" charset="0"/>
                        </a:rPr>
                        <m:t>𝐵𝑆𝐶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;  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𝐸𝐹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∈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𝐸𝑆𝐹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7356" y="1209992"/>
                <a:ext cx="1671676" cy="276999"/>
              </a:xfrm>
              <a:prstGeom prst="rect">
                <a:avLst/>
              </a:prstGeom>
              <a:blipFill rotWithShape="0">
                <a:blip r:embed="rId65"/>
                <a:stretch>
                  <a:fillRect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4339005" y="3552247"/>
                <a:ext cx="1579294" cy="3543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charset="0"/>
                      </a:rPr>
                      <m:t>𝐶𝐺</m:t>
                    </m:r>
                    <m:r>
                      <a:rPr lang="en-US" sz="1200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sz="1200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1200" b="0" i="1" smtClean="0">
                            <a:latin typeface="Cambria Math" charset="0"/>
                          </a:rPr>
                          <m:t>2</m:t>
                        </m:r>
                      </m:num>
                      <m:den>
                        <m:r>
                          <a:rPr lang="en-US" sz="1200" b="0" i="1" smtClean="0">
                            <a:latin typeface="Cambria Math" charset="0"/>
                          </a:rPr>
                          <m:t>3</m:t>
                        </m:r>
                      </m:den>
                    </m:f>
                    <m:r>
                      <a:rPr lang="en-US" sz="1200" b="0" i="1" smtClean="0">
                        <a:latin typeface="Cambria Math" charset="0"/>
                      </a:rPr>
                      <m:t>𝐶𝑆</m:t>
                    </m:r>
                    <m:r>
                      <a:rPr lang="en-US" sz="1200" b="0" i="1" smtClean="0">
                        <a:latin typeface="Cambria Math" charset="0"/>
                      </a:rPr>
                      <m:t>=2</m:t>
                    </m:r>
                    <m:rad>
                      <m:radPr>
                        <m:degHide m:val="on"/>
                        <m:ctrlPr>
                          <a:rPr lang="ru-RU" sz="12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ru-RU" sz="1200" i="1">
                            <a:latin typeface="Cambria Math" charset="0"/>
                          </a:rPr>
                          <m:t>13</m:t>
                        </m:r>
                      </m:e>
                    </m:rad>
                    <m:r>
                      <a:rPr lang="en-US" sz="1200" b="0" i="1" smtClean="0">
                        <a:latin typeface="Cambria Math" charset="0"/>
                      </a:rPr>
                      <m:t>; </m:t>
                    </m:r>
                  </m:oMath>
                </a14:m>
                <a:r>
                  <a:rPr lang="ru-RU" sz="1200" dirty="0" smtClean="0"/>
                  <a:t> </a:t>
                </a:r>
                <a:endParaRPr lang="ru-RU" sz="12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9005" y="3552247"/>
                <a:ext cx="1579294" cy="354392"/>
              </a:xfrm>
              <a:prstGeom prst="rect">
                <a:avLst/>
              </a:prstGeom>
              <a:blipFill rotWithShape="0">
                <a:blip r:embed="rId66"/>
                <a:stretch>
                  <a:fillRect t="-51724" b="-689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758536" y="3590943"/>
                <a:ext cx="312655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𝐵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𝐺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smtClean="0">
                          <a:latin typeface="Cambria Math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𝐵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𝐶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smtClean="0">
                          <a:latin typeface="Cambria Math" charset="0"/>
                        </a:rPr>
                        <m:t>+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𝐶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𝐺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smtClean="0">
                          <a:latin typeface="Cambria Math" charset="0"/>
                        </a:rPr>
                        <m:t>−2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𝐵𝐶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𝐶𝐺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func>
                        <m:funcPr>
                          <m:ctrlPr>
                            <a:rPr lang="en-US" sz="1200" i="1" dirty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dirty="0">
                              <a:latin typeface="Cambria Math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2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2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∠</m:t>
                              </m:r>
                              <m:r>
                                <a:rPr lang="en-US" sz="12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𝐵𝐶𝑆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8536" y="3590943"/>
                <a:ext cx="3126557" cy="276999"/>
              </a:xfrm>
              <a:prstGeom prst="rect">
                <a:avLst/>
              </a:prstGeom>
              <a:blipFill rotWithShape="0">
                <a:blip r:embed="rId6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122964" y="3765365"/>
                <a:ext cx="3126557" cy="4651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𝐵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𝐺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smtClean="0">
                          <a:latin typeface="Cambria Math" charset="0"/>
                        </a:rPr>
                        <m:t>=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6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smtClean="0">
                          <a:latin typeface="Cambria Math" charset="0"/>
                        </a:rPr>
                        <m:t>+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charset="0"/>
                            </a:rPr>
                            <m:t>(2</m:t>
                          </m:r>
                          <m:rad>
                            <m:radPr>
                              <m:degHide m:val="on"/>
                              <m:ctrlPr>
                                <a:rPr lang="ru-RU" sz="1200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1200" i="1">
                                  <a:latin typeface="Cambria Math" charset="0"/>
                                </a:rPr>
                                <m:t>13</m:t>
                              </m:r>
                            </m:e>
                          </m:rad>
                          <m:r>
                            <a:rPr lang="en-US" sz="1200" b="0" i="1" smtClean="0">
                              <a:latin typeface="Cambria Math" charset="0"/>
                            </a:rPr>
                            <m:t>)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smtClean="0">
                          <a:latin typeface="Cambria Math" charset="0"/>
                        </a:rPr>
                        <m:t>−2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b="0" i="1" smtClean="0">
                          <a:latin typeface="Cambria Math" charset="0"/>
                        </a:rPr>
                        <m:t>6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i="1">
                          <a:latin typeface="Cambria Math" charset="0"/>
                        </a:rPr>
                        <m:t>2</m:t>
                      </m:r>
                      <m:rad>
                        <m:radPr>
                          <m:degHide m:val="on"/>
                          <m:ctrlPr>
                            <a:rPr lang="ru-RU" sz="1200" i="1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ru-RU" sz="1200" i="1">
                              <a:latin typeface="Cambria Math" charset="0"/>
                            </a:rPr>
                            <m:t>13</m:t>
                          </m:r>
                        </m:e>
                      </m:rad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f>
                        <m:fPr>
                          <m:ctrlPr>
                            <a:rPr lang="en-US" sz="1100" i="1" dirty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100" i="1" dirty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ru-RU" sz="1200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1200" i="1">
                                  <a:latin typeface="Cambria Math" charset="0"/>
                                </a:rPr>
                                <m:t>13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2964" y="3765365"/>
                <a:ext cx="3126557" cy="465127"/>
              </a:xfrm>
              <a:prstGeom prst="rect">
                <a:avLst/>
              </a:prstGeom>
              <a:blipFill rotWithShape="0">
                <a:blip r:embed="rId6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6933665" y="3859117"/>
                <a:ext cx="16211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=36+52−24=64;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665" y="3859117"/>
                <a:ext cx="1621192" cy="276999"/>
              </a:xfrm>
              <a:prstGeom prst="rect">
                <a:avLst/>
              </a:prstGeom>
              <a:blipFill rotWithShape="0">
                <a:blip r:embed="rId6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4267762" y="4136046"/>
                <a:ext cx="312655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𝐶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𝐺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smtClean="0">
                          <a:latin typeface="Cambria Math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𝐵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𝐶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smtClean="0">
                          <a:latin typeface="Cambria Math" charset="0"/>
                        </a:rPr>
                        <m:t>+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𝐵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𝐺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smtClean="0">
                          <a:latin typeface="Cambria Math" charset="0"/>
                        </a:rPr>
                        <m:t>−2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𝐵𝐶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𝐵𝐺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func>
                        <m:funcPr>
                          <m:ctrlPr>
                            <a:rPr lang="en-US" sz="1200" i="1" dirty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dirty="0">
                              <a:latin typeface="Cambria Math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2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2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∠</m:t>
                              </m:r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𝐺𝐵𝐶</m:t>
                              </m:r>
                            </m:e>
                          </m:d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;</m:t>
                          </m:r>
                        </m:e>
                      </m:func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762" y="4136046"/>
                <a:ext cx="3126557" cy="276999"/>
              </a:xfrm>
              <a:prstGeom prst="rect">
                <a:avLst/>
              </a:prstGeom>
              <a:blipFill rotWithShape="0">
                <a:blip r:embed="rId7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8322696" y="3859117"/>
                <a:ext cx="97571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𝐵𝐺</m:t>
                      </m:r>
                      <m:r>
                        <a:rPr lang="en-US" sz="1200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2696" y="3859117"/>
                <a:ext cx="975714" cy="276999"/>
              </a:xfrm>
              <a:prstGeom prst="rect">
                <a:avLst/>
              </a:prstGeom>
              <a:blipFill rotWithShape="0">
                <a:blip r:embed="rId7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4052759" y="4389678"/>
                <a:ext cx="312655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52=36+64−2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b="0" i="1" smtClean="0">
                          <a:latin typeface="Cambria Math" charset="0"/>
                        </a:rPr>
                        <m:t>6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∙8∙</m:t>
                      </m:r>
                      <m:func>
                        <m:funcPr>
                          <m:ctrlPr>
                            <a:rPr lang="en-US" sz="1200" i="1" dirty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dirty="0">
                              <a:latin typeface="Cambria Math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2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2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∠</m:t>
                              </m:r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𝐺𝐵𝐶</m:t>
                              </m:r>
                            </m:e>
                          </m:d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;</m:t>
                          </m:r>
                        </m:e>
                      </m:func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2759" y="4389678"/>
                <a:ext cx="3126557" cy="276999"/>
              </a:xfrm>
              <a:prstGeom prst="rect">
                <a:avLst/>
              </a:prstGeom>
              <a:blipFill rotWithShape="0">
                <a:blip r:embed="rId7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6900185" y="4301733"/>
                <a:ext cx="1760984" cy="443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200" i="1" dirty="0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dirty="0">
                              <a:latin typeface="Cambria Math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2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2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∠</m:t>
                              </m:r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𝐺𝐵𝐶</m:t>
                              </m:r>
                            </m:e>
                          </m:d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48</m:t>
                              </m:r>
                            </m:num>
                            <m:den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2∙48</m:t>
                              </m:r>
                            </m:den>
                          </m:f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;</m:t>
                          </m:r>
                        </m:e>
                      </m:func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0185" y="4301733"/>
                <a:ext cx="1760984" cy="443006"/>
              </a:xfrm>
              <a:prstGeom prst="rect">
                <a:avLst/>
              </a:prstGeom>
              <a:blipFill rotWithShape="0">
                <a:blip r:embed="rId73"/>
                <a:stretch>
                  <a:fillRect r="-103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937537" y="4662377"/>
                <a:ext cx="176098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∠</m:t>
                      </m:r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𝐺𝐵𝐶</m:t>
                      </m:r>
                      <m:r>
                        <a:rPr lang="en-US" sz="1200" b="0" i="0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=60</m:t>
                      </m:r>
                      <m:r>
                        <a:rPr lang="it-IT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°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7537" y="4662377"/>
                <a:ext cx="1760984" cy="276999"/>
              </a:xfrm>
              <a:prstGeom prst="rect">
                <a:avLst/>
              </a:prstGeom>
              <a:blipFill rotWithShape="0">
                <a:blip r:embed="rId7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127760" y="4572000"/>
                <a:ext cx="12806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b="1" dirty="0" smtClean="0">
                    <a:solidFill>
                      <a:srgbClr val="FF0000"/>
                    </a:solidFill>
                  </a:rPr>
                  <a:t>Ответ: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𝟔𝟎</m:t>
                    </m:r>
                    <m:r>
                      <a:rPr lang="it-IT" b="1" i="1" dirty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°</m:t>
                    </m:r>
                  </m:oMath>
                </a14:m>
                <a:r>
                  <a:rPr lang="ru-RU" b="1" dirty="0" smtClean="0">
                    <a:solidFill>
                      <a:srgbClr val="FF0000"/>
                    </a:solidFill>
                  </a:rPr>
                  <a:t> </a:t>
                </a:r>
                <a:endParaRPr lang="ru-RU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760" y="4572000"/>
                <a:ext cx="1280672" cy="369332"/>
              </a:xfrm>
              <a:prstGeom prst="rect">
                <a:avLst/>
              </a:prstGeom>
              <a:blipFill rotWithShape="0">
                <a:blip r:embed="rId75"/>
                <a:stretch>
                  <a:fillRect l="-3810" t="-8197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8487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9" grpId="0"/>
      <p:bldP spid="10" grpId="0"/>
      <p:bldP spid="11" grpId="0"/>
      <p:bldP spid="12" grpId="0"/>
      <p:bldP spid="13" grpId="0"/>
      <p:bldP spid="14" grpId="0"/>
      <p:bldP spid="2" grpId="0" animBg="1"/>
      <p:bldP spid="16" grpId="0"/>
      <p:bldP spid="4" grpId="0"/>
      <p:bldP spid="17" grpId="0" animBg="1"/>
      <p:bldP spid="18" grpId="0"/>
      <p:bldP spid="22" grpId="0"/>
      <p:bldP spid="23" grpId="0"/>
      <p:bldP spid="27" grpId="0" animBg="1"/>
      <p:bldP spid="29" grpId="1"/>
      <p:bldP spid="30" grpId="0"/>
      <p:bldP spid="36" grpId="0"/>
      <p:bldP spid="37" grpId="0" animBg="1"/>
      <p:bldP spid="38" grpId="0"/>
      <p:bldP spid="39" grpId="0"/>
      <p:bldP spid="40" grpId="0" animBg="1"/>
      <p:bldP spid="40" grpId="1" animBg="1"/>
      <p:bldP spid="41" grpId="0"/>
      <p:bldP spid="42" grpId="0"/>
      <p:bldP spid="47" grpId="0" animBg="1"/>
      <p:bldP spid="48" grpId="0"/>
      <p:bldP spid="49" grpId="0"/>
      <p:bldP spid="50" grpId="0"/>
      <p:bldP spid="51" grpId="0"/>
      <p:bldP spid="52" grpId="0"/>
      <p:bldP spid="53" grpId="0" animBg="1"/>
      <p:bldP spid="54" grpId="0"/>
      <p:bldP spid="55" grpId="0"/>
      <p:bldP spid="56" grpId="0"/>
      <p:bldP spid="44" grpId="0"/>
      <p:bldP spid="45" grpId="0"/>
      <p:bldP spid="46" grpId="0"/>
      <p:bldP spid="57" grpId="0"/>
      <p:bldP spid="58" grpId="0"/>
      <p:bldP spid="59" grpId="0"/>
      <p:bldP spid="60" grpId="0"/>
      <p:bldP spid="61" grpId="0"/>
      <p:bldP spid="6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3</a:t>
            </a:fld>
            <a:endParaRPr kumimoji="0" lang="ru-RU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0" y="-22136"/>
                <a:ext cx="9144000" cy="86569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dirty="0" smtClean="0">
                    <a:solidFill>
                      <a:srgbClr val="7030A0"/>
                    </a:solidFill>
                  </a:rPr>
                  <a:t>2.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Основание пирамиды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𝑺𝑨𝑩𝑪𝑫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mr-IN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–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параллелограмм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𝑨𝑩𝑪𝑫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Точка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𝑲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mr-IN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–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середина ребра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𝑺𝑫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а) Плоскость проходит через точку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𝑲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параллельно медианам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𝑩𝑴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𝑺𝑵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граней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𝑩𝑺𝑪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𝑨𝑺𝑫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Постройте прямую пересечения этой плоскости с плоскостью основания пирамиды.</a:t>
                </a: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б) Найдите угол между прямыми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𝑩𝑴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 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𝑺𝑵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,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если пирамида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𝑺𝑨𝑩𝑪𝑫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mr-IN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–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правильная, причем все ее ребра равны. </a:t>
                </a:r>
                <a:endParaRPr lang="en-US" sz="1200" b="1" i="1" dirty="0" smtClean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6"/>
                <a:ext cx="9144000" cy="86569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0593" y="1223881"/>
            <a:ext cx="3899471" cy="28563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148064" y="3876001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064" y="3876001"/>
                <a:ext cx="340286" cy="3077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642043" y="3837414"/>
                <a:ext cx="3829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2043" y="3837414"/>
                <a:ext cx="382989" cy="3077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760332" y="3075806"/>
                <a:ext cx="3481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0332" y="3075806"/>
                <a:ext cx="348172" cy="3077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978905" y="1045509"/>
                <a:ext cx="32284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𝑆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8905" y="1045509"/>
                <a:ext cx="322845" cy="30777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414729" y="2890262"/>
                <a:ext cx="3550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𝐷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4729" y="2890262"/>
                <a:ext cx="355034" cy="30777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Овал 12"/>
          <p:cNvSpPr/>
          <p:nvPr/>
        </p:nvSpPr>
        <p:spPr>
          <a:xfrm flipV="1">
            <a:off x="6766431" y="2243479"/>
            <a:ext cx="50304" cy="502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mtClean="0"/>
              <a:t>  </a:t>
            </a:r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780235" y="2066505"/>
                <a:ext cx="3320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𝐾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0235" y="2066505"/>
                <a:ext cx="332014" cy="276999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Полилиния 15"/>
          <p:cNvSpPr/>
          <p:nvPr/>
        </p:nvSpPr>
        <p:spPr>
          <a:xfrm rot="2700000">
            <a:off x="6863687" y="1960438"/>
            <a:ext cx="132080" cy="40640"/>
          </a:xfrm>
          <a:custGeom>
            <a:avLst/>
            <a:gdLst>
              <a:gd name="connsiteX0" fmla="*/ 0 w 132080"/>
              <a:gd name="connsiteY0" fmla="*/ 40640 h 40640"/>
              <a:gd name="connsiteX1" fmla="*/ 132080 w 132080"/>
              <a:gd name="connsiteY1" fmla="*/ 0 h 40640"/>
              <a:gd name="connsiteX2" fmla="*/ 132080 w 132080"/>
              <a:gd name="connsiteY2" fmla="*/ 0 h 40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2080" h="40640">
                <a:moveTo>
                  <a:pt x="0" y="40640"/>
                </a:moveTo>
                <a:lnTo>
                  <a:pt x="132080" y="0"/>
                </a:lnTo>
                <a:lnTo>
                  <a:pt x="132080" y="0"/>
                </a:lnTo>
              </a:path>
            </a:pathLst>
          </a:cu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олилиния 16"/>
          <p:cNvSpPr/>
          <p:nvPr/>
        </p:nvSpPr>
        <p:spPr>
          <a:xfrm rot="2700000">
            <a:off x="6542387" y="2743732"/>
            <a:ext cx="132080" cy="40640"/>
          </a:xfrm>
          <a:custGeom>
            <a:avLst/>
            <a:gdLst>
              <a:gd name="connsiteX0" fmla="*/ 0 w 132080"/>
              <a:gd name="connsiteY0" fmla="*/ 40640 h 40640"/>
              <a:gd name="connsiteX1" fmla="*/ 132080 w 132080"/>
              <a:gd name="connsiteY1" fmla="*/ 0 h 40640"/>
              <a:gd name="connsiteX2" fmla="*/ 132080 w 132080"/>
              <a:gd name="connsiteY2" fmla="*/ 0 h 40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2080" h="40640">
                <a:moveTo>
                  <a:pt x="0" y="40640"/>
                </a:moveTo>
                <a:lnTo>
                  <a:pt x="132080" y="0"/>
                </a:lnTo>
                <a:lnTo>
                  <a:pt x="132080" y="0"/>
                </a:lnTo>
              </a:path>
            </a:pathLst>
          </a:cu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948349" y="2067694"/>
                <a:ext cx="44007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𝑀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8349" y="2067694"/>
                <a:ext cx="440075" cy="276999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Прямая соединительная линия 21"/>
          <p:cNvCxnSpPr/>
          <p:nvPr/>
        </p:nvCxnSpPr>
        <p:spPr>
          <a:xfrm flipV="1">
            <a:off x="7834811" y="2275041"/>
            <a:ext cx="191495" cy="1590801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Полилиния 29"/>
          <p:cNvSpPr/>
          <p:nvPr/>
        </p:nvSpPr>
        <p:spPr>
          <a:xfrm rot="9900000">
            <a:off x="7576002" y="1899372"/>
            <a:ext cx="132080" cy="40640"/>
          </a:xfrm>
          <a:custGeom>
            <a:avLst/>
            <a:gdLst>
              <a:gd name="connsiteX0" fmla="*/ 0 w 132080"/>
              <a:gd name="connsiteY0" fmla="*/ 40640 h 40640"/>
              <a:gd name="connsiteX1" fmla="*/ 132080 w 132080"/>
              <a:gd name="connsiteY1" fmla="*/ 0 h 40640"/>
              <a:gd name="connsiteX2" fmla="*/ 132080 w 132080"/>
              <a:gd name="connsiteY2" fmla="*/ 0 h 40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2080" h="40640">
                <a:moveTo>
                  <a:pt x="0" y="40640"/>
                </a:moveTo>
                <a:lnTo>
                  <a:pt x="132080" y="0"/>
                </a:lnTo>
                <a:lnTo>
                  <a:pt x="132080" y="0"/>
                </a:lnTo>
              </a:path>
            </a:pathLst>
          </a:cu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олилиния 30"/>
          <p:cNvSpPr/>
          <p:nvPr/>
        </p:nvSpPr>
        <p:spPr>
          <a:xfrm rot="9900000">
            <a:off x="8403357" y="2707013"/>
            <a:ext cx="132080" cy="40640"/>
          </a:xfrm>
          <a:custGeom>
            <a:avLst/>
            <a:gdLst>
              <a:gd name="connsiteX0" fmla="*/ 0 w 132080"/>
              <a:gd name="connsiteY0" fmla="*/ 40640 h 40640"/>
              <a:gd name="connsiteX1" fmla="*/ 132080 w 132080"/>
              <a:gd name="connsiteY1" fmla="*/ 0 h 40640"/>
              <a:gd name="connsiteX2" fmla="*/ 132080 w 132080"/>
              <a:gd name="connsiteY2" fmla="*/ 0 h 40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2080" h="40640">
                <a:moveTo>
                  <a:pt x="0" y="40640"/>
                </a:moveTo>
                <a:lnTo>
                  <a:pt x="132080" y="0"/>
                </a:lnTo>
                <a:lnTo>
                  <a:pt x="132080" y="0"/>
                </a:lnTo>
              </a:path>
            </a:pathLst>
          </a:cu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5766657" y="3427958"/>
                <a:ext cx="44007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𝑁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6657" y="3427958"/>
                <a:ext cx="440075" cy="276999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Прямая соединительная линия 32"/>
          <p:cNvCxnSpPr>
            <a:stCxn id="32" idx="0"/>
          </p:cNvCxnSpPr>
          <p:nvPr/>
        </p:nvCxnSpPr>
        <p:spPr>
          <a:xfrm flipV="1">
            <a:off x="5986695" y="1387062"/>
            <a:ext cx="1153146" cy="2040896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Полилиния 36"/>
          <p:cNvSpPr/>
          <p:nvPr/>
        </p:nvSpPr>
        <p:spPr>
          <a:xfrm>
            <a:off x="5675609" y="3576320"/>
            <a:ext cx="60960" cy="101600"/>
          </a:xfrm>
          <a:custGeom>
            <a:avLst/>
            <a:gdLst>
              <a:gd name="connsiteX0" fmla="*/ 0 w 60960"/>
              <a:gd name="connsiteY0" fmla="*/ 0 h 101600"/>
              <a:gd name="connsiteX1" fmla="*/ 60960 w 60960"/>
              <a:gd name="connsiteY1" fmla="*/ 101600 h 101600"/>
              <a:gd name="connsiteX2" fmla="*/ 60960 w 60960"/>
              <a:gd name="connsiteY2" fmla="*/ 101600 h 10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960" h="101600">
                <a:moveTo>
                  <a:pt x="0" y="0"/>
                </a:moveTo>
                <a:lnTo>
                  <a:pt x="60960" y="101600"/>
                </a:lnTo>
                <a:lnTo>
                  <a:pt x="60960" y="10160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олилиния 37"/>
          <p:cNvSpPr/>
          <p:nvPr/>
        </p:nvSpPr>
        <p:spPr>
          <a:xfrm>
            <a:off x="5704809" y="3560430"/>
            <a:ext cx="60960" cy="101600"/>
          </a:xfrm>
          <a:custGeom>
            <a:avLst/>
            <a:gdLst>
              <a:gd name="connsiteX0" fmla="*/ 0 w 60960"/>
              <a:gd name="connsiteY0" fmla="*/ 0 h 101600"/>
              <a:gd name="connsiteX1" fmla="*/ 60960 w 60960"/>
              <a:gd name="connsiteY1" fmla="*/ 101600 h 101600"/>
              <a:gd name="connsiteX2" fmla="*/ 60960 w 60960"/>
              <a:gd name="connsiteY2" fmla="*/ 101600 h 10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960" h="101600">
                <a:moveTo>
                  <a:pt x="0" y="0"/>
                </a:moveTo>
                <a:lnTo>
                  <a:pt x="60960" y="101600"/>
                </a:lnTo>
                <a:lnTo>
                  <a:pt x="60960" y="10160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олилиния 38"/>
          <p:cNvSpPr/>
          <p:nvPr/>
        </p:nvSpPr>
        <p:spPr>
          <a:xfrm>
            <a:off x="6108771" y="3295568"/>
            <a:ext cx="60960" cy="101600"/>
          </a:xfrm>
          <a:custGeom>
            <a:avLst/>
            <a:gdLst>
              <a:gd name="connsiteX0" fmla="*/ 0 w 60960"/>
              <a:gd name="connsiteY0" fmla="*/ 0 h 101600"/>
              <a:gd name="connsiteX1" fmla="*/ 60960 w 60960"/>
              <a:gd name="connsiteY1" fmla="*/ 101600 h 101600"/>
              <a:gd name="connsiteX2" fmla="*/ 60960 w 60960"/>
              <a:gd name="connsiteY2" fmla="*/ 101600 h 10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960" h="101600">
                <a:moveTo>
                  <a:pt x="0" y="0"/>
                </a:moveTo>
                <a:lnTo>
                  <a:pt x="60960" y="101600"/>
                </a:lnTo>
                <a:lnTo>
                  <a:pt x="60960" y="10160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олилиния 39"/>
          <p:cNvSpPr/>
          <p:nvPr/>
        </p:nvSpPr>
        <p:spPr>
          <a:xfrm>
            <a:off x="6138633" y="3268454"/>
            <a:ext cx="60960" cy="101600"/>
          </a:xfrm>
          <a:custGeom>
            <a:avLst/>
            <a:gdLst>
              <a:gd name="connsiteX0" fmla="*/ 0 w 60960"/>
              <a:gd name="connsiteY0" fmla="*/ 0 h 101600"/>
              <a:gd name="connsiteX1" fmla="*/ 60960 w 60960"/>
              <a:gd name="connsiteY1" fmla="*/ 101600 h 101600"/>
              <a:gd name="connsiteX2" fmla="*/ 60960 w 60960"/>
              <a:gd name="connsiteY2" fmla="*/ 101600 h 10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960" h="101600">
                <a:moveTo>
                  <a:pt x="0" y="0"/>
                </a:moveTo>
                <a:lnTo>
                  <a:pt x="60960" y="101600"/>
                </a:lnTo>
                <a:lnTo>
                  <a:pt x="60960" y="10160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1" name="Прямая соединительная линия 40"/>
          <p:cNvCxnSpPr/>
          <p:nvPr/>
        </p:nvCxnSpPr>
        <p:spPr>
          <a:xfrm flipV="1">
            <a:off x="6200999" y="2265246"/>
            <a:ext cx="572338" cy="1029728"/>
          </a:xfrm>
          <a:prstGeom prst="line">
            <a:avLst/>
          </a:prstGeom>
          <a:ln>
            <a:solidFill>
              <a:srgbClr val="00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6021212" y="3302479"/>
                <a:ext cx="44007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𝐿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1212" y="3302479"/>
                <a:ext cx="440075" cy="276999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Овал 44"/>
          <p:cNvSpPr/>
          <p:nvPr/>
        </p:nvSpPr>
        <p:spPr>
          <a:xfrm flipV="1">
            <a:off x="6178691" y="3289782"/>
            <a:ext cx="50304" cy="502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0" y="922398"/>
                <a:ext cx="20657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/>
                  <a:t>а)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</a:rPr>
                      <m:t>𝐿</m:t>
                    </m:r>
                    <m:r>
                      <a:rPr lang="en-US" sz="1200" i="1" dirty="0" smtClean="0">
                        <a:latin typeface="Cambria Math" charset="0"/>
                      </a:rPr>
                      <m:t> – </m:t>
                    </m:r>
                  </m:oMath>
                </a14:m>
                <a:r>
                  <a:rPr lang="ru-RU" sz="1200" dirty="0" smtClean="0"/>
                  <a:t>середина отрезка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</a:rPr>
                      <m:t>𝑁𝐷</m:t>
                    </m:r>
                    <m:r>
                      <a:rPr lang="en-US" sz="1200" b="0" i="1" dirty="0" smtClean="0">
                        <a:latin typeface="Cambria Math" charset="0"/>
                      </a:rPr>
                      <m:t> </m:t>
                    </m:r>
                  </m:oMath>
                </a14:m>
                <a:endParaRPr lang="ru-RU" sz="12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22398"/>
                <a:ext cx="2065758" cy="276999"/>
              </a:xfrm>
              <a:prstGeom prst="rect">
                <a:avLst/>
              </a:prstGeom>
              <a:blipFill rotWithShape="0">
                <a:blip r:embed="rId13"/>
                <a:stretch>
                  <a:fillRect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97628" y="1133579"/>
                <a:ext cx="418634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 smtClean="0">
                    <a:latin typeface="Cambria Math" charset="0"/>
                    <a:ea typeface="Cambria Math" charset="0"/>
                    <a:cs typeface="Cambria Math" charset="0"/>
                  </a:rPr>
                  <a:t>⟹</a:t>
                </a:r>
                <a:r>
                  <a:rPr lang="en-US" sz="1200" i="1" dirty="0" smtClean="0">
                    <a:latin typeface="Cambria Math" charset="0"/>
                    <a:ea typeface="Cambria Math" charset="0"/>
                    <a:cs typeface="Cambria Math" charset="0"/>
                  </a:rPr>
                  <a:t>KL </a:t>
                </a:r>
                <a:r>
                  <a:rPr lang="mr-IN" sz="1200" i="1" dirty="0" smtClean="0">
                    <a:latin typeface="Cambria Math" charset="0"/>
                    <a:ea typeface="Cambria Math" charset="0"/>
                    <a:cs typeface="Cambria Math" charset="0"/>
                  </a:rPr>
                  <a:t>–</a:t>
                </a:r>
                <a:r>
                  <a:rPr lang="en-US" sz="1200" i="1" dirty="0" smtClean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lang="ru-RU" sz="1200" dirty="0" smtClean="0">
                    <a:latin typeface="+mj-lt"/>
                    <a:ea typeface="Cambria Math" charset="0"/>
                    <a:cs typeface="Cambria Math" charset="0"/>
                  </a:rPr>
                  <a:t>средняя линия </a:t>
                </a:r>
                <a:r>
                  <a:rPr lang="ru-RU" sz="1200" b="0" i="0" dirty="0" smtClean="0">
                    <a:latin typeface="+mj-lt"/>
                    <a:ea typeface="Cambria Math" charset="0"/>
                    <a:cs typeface="Cambria Math" charset="0"/>
                  </a:rPr>
                  <a:t>треугольника</a:t>
                </a:r>
                <a14:m>
                  <m:oMath xmlns:m="http://schemas.openxmlformats.org/officeDocument/2006/math">
                    <m:r>
                      <a:rPr lang="ru-RU" sz="1200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𝑁𝑆𝐷</m:t>
                    </m:r>
                    <m:r>
                      <a:rPr lang="en-US" sz="1200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ru-RU" sz="1200" b="0" i="0" dirty="0" smtClean="0">
                    <a:latin typeface="+mj-lt"/>
                    <a:ea typeface="Cambria Math" charset="0"/>
                    <a:cs typeface="Cambria Math" charset="0"/>
                  </a:rPr>
                  <a:t>и</a:t>
                </a:r>
                <a14:m>
                  <m:oMath xmlns:m="http://schemas.openxmlformats.org/officeDocument/2006/math">
                    <m:r>
                      <a:rPr lang="ru-RU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𝐾𝐿</m:t>
                    </m:r>
                    <m:r>
                      <a:rPr lang="en-US" sz="12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∥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𝑆𝑁</m:t>
                    </m:r>
                  </m:oMath>
                </a14:m>
                <a:endParaRPr lang="ru-RU" sz="1200" i="1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28" y="1133579"/>
                <a:ext cx="4186340" cy="276999"/>
              </a:xfrm>
              <a:prstGeom prst="rect">
                <a:avLst/>
              </a:prstGeom>
              <a:blipFill rotWithShape="0">
                <a:blip r:embed="rId14"/>
                <a:stretch>
                  <a:fillRect t="-77778" b="-1044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Овал 47"/>
          <p:cNvSpPr/>
          <p:nvPr/>
        </p:nvSpPr>
        <p:spPr>
          <a:xfrm flipH="1">
            <a:off x="6598373" y="383781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6438972" y="3850859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𝐹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72" y="3850859"/>
                <a:ext cx="340286" cy="307777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49388" y="1375240"/>
                <a:ext cx="190635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charset="0"/>
                      </a:rPr>
                      <m:t>𝐹</m:t>
                    </m:r>
                    <m:r>
                      <a:rPr lang="en-US" sz="1200" i="1" dirty="0" smtClean="0">
                        <a:latin typeface="Cambria Math" charset="0"/>
                      </a:rPr>
                      <m:t> </m:t>
                    </m:r>
                    <m:r>
                      <a:rPr lang="mr-IN" sz="1200" i="1" dirty="0" smtClean="0">
                        <a:latin typeface="Cambria Math" charset="0"/>
                      </a:rPr>
                      <m:t>–</m:t>
                    </m:r>
                    <m:r>
                      <a:rPr lang="en-US" sz="1200" i="1" dirty="0" smtClean="0"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dirty="0" smtClean="0"/>
                  <a:t>середина отрезка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charset="0"/>
                      </a:rPr>
                      <m:t>𝐴𝐵</m:t>
                    </m:r>
                    <m:r>
                      <a:rPr lang="en-US" sz="1200" b="0" i="1" dirty="0" smtClean="0">
                        <a:latin typeface="Cambria Math" charset="0"/>
                      </a:rPr>
                      <m:t>; </m:t>
                    </m:r>
                  </m:oMath>
                </a14:m>
                <a:endParaRPr lang="ru-RU" sz="1200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88" y="1375240"/>
                <a:ext cx="1906356" cy="276999"/>
              </a:xfrm>
              <a:prstGeom prst="rect">
                <a:avLst/>
              </a:prstGeom>
              <a:blipFill rotWithShape="0">
                <a:blip r:embed="rId16"/>
                <a:stretch>
                  <a:fillRect t="-82222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Прямая соединительная линия 57"/>
          <p:cNvCxnSpPr/>
          <p:nvPr/>
        </p:nvCxnSpPr>
        <p:spPr>
          <a:xfrm flipH="1">
            <a:off x="6792721" y="2284264"/>
            <a:ext cx="1205474" cy="2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1651240" y="1531308"/>
                <a:ext cx="1635769" cy="4380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𝐹𝐵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</a:rPr>
                        <m:t>𝐷𝐶</m:t>
                      </m:r>
                      <m:r>
                        <a:rPr lang="en-US" sz="1200" i="1" dirty="0">
                          <a:latin typeface="Cambria Math" charset="0"/>
                        </a:rPr>
                        <m:t>;</m:t>
                      </m:r>
                      <m:r>
                        <a:rPr lang="en-US" sz="1200" i="1" dirty="0">
                          <a:latin typeface="Cambria Math" charset="0"/>
                        </a:rPr>
                        <m:t>𝐹𝐵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∥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𝐷𝐶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; 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1240" y="1531308"/>
                <a:ext cx="1635769" cy="438005"/>
              </a:xfrm>
              <a:prstGeom prst="rect">
                <a:avLst/>
              </a:prstGeom>
              <a:blipFill rotWithShape="0">
                <a:blip r:embed="rId17"/>
                <a:stretch>
                  <a:fillRect t="-27778" b="-486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34982" y="1531259"/>
                <a:ext cx="1721689" cy="4380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𝐾𝑀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</a:rPr>
                        <m:t>𝐷𝐶</m:t>
                      </m:r>
                      <m:r>
                        <a:rPr lang="en-US" sz="1200" i="1" dirty="0">
                          <a:latin typeface="Cambria Math" charset="0"/>
                        </a:rPr>
                        <m:t>;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𝐾𝑀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∥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𝐷𝐶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 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82" y="1531259"/>
                <a:ext cx="1721689" cy="438005"/>
              </a:xfrm>
              <a:prstGeom prst="rect">
                <a:avLst/>
              </a:prstGeom>
              <a:blipFill rotWithShape="0">
                <a:blip r:embed="rId18"/>
                <a:stretch>
                  <a:fillRect t="-27778" b="-486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Прямая соединительная линия 65"/>
          <p:cNvCxnSpPr/>
          <p:nvPr/>
        </p:nvCxnSpPr>
        <p:spPr>
          <a:xfrm flipV="1">
            <a:off x="6605614" y="2285200"/>
            <a:ext cx="191495" cy="1590801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97628" y="1927738"/>
                <a:ext cx="213609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 sz="1200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  <m:r>
                      <a:rPr lang="en-US" sz="1200" i="1" dirty="0" smtClean="0">
                        <a:latin typeface="Cambria Math" charset="0"/>
                      </a:rPr>
                      <m:t>𝐹𝐾𝑀𝐵</m:t>
                    </m:r>
                    <m:r>
                      <a:rPr lang="en-US" sz="1200" b="0" i="1" dirty="0" smtClean="0">
                        <a:latin typeface="Cambria Math" charset="0"/>
                      </a:rPr>
                      <m:t> − </m:t>
                    </m:r>
                  </m:oMath>
                </a14:m>
                <a:r>
                  <a:rPr lang="ru-RU" sz="1200" dirty="0" smtClean="0"/>
                  <a:t>параллелограмм</a:t>
                </a:r>
                <a:endParaRPr lang="ru-RU" sz="1200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28" y="1927738"/>
                <a:ext cx="2136098" cy="276999"/>
              </a:xfrm>
              <a:prstGeom prst="rect">
                <a:avLst/>
              </a:prstGeom>
              <a:blipFill rotWithShape="0">
                <a:blip r:embed="rId19"/>
                <a:stretch>
                  <a:fillRect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2084993" y="1939814"/>
                <a:ext cx="100296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ru-RU" sz="1200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𝐾𝐹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∥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𝐵𝑀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4993" y="1939814"/>
                <a:ext cx="1002967" cy="276999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Прямая соединительная линия 68"/>
          <p:cNvCxnSpPr/>
          <p:nvPr/>
        </p:nvCxnSpPr>
        <p:spPr>
          <a:xfrm flipH="1" flipV="1">
            <a:off x="6218835" y="3314927"/>
            <a:ext cx="376073" cy="529578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64177" y="2174257"/>
                <a:ext cx="50738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b="0" i="0" dirty="0" smtClean="0">
                    <a:latin typeface="+mj-lt"/>
                  </a:rPr>
                  <a:t>Плоскость</a:t>
                </a:r>
                <a14:m>
                  <m:oMath xmlns:m="http://schemas.openxmlformats.org/officeDocument/2006/math">
                    <m:r>
                      <a:rPr lang="ru-RU" sz="1200" b="0" i="1" dirty="0" smtClean="0">
                        <a:latin typeface="Cambria Math" charset="0"/>
                      </a:rPr>
                      <m:t> 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𝐿𝐾𝐹</m:t>
                    </m:r>
                    <m:r>
                      <a:rPr lang="en-US" sz="1200" b="0" i="1" dirty="0" smtClean="0"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0" i="0" dirty="0" smtClean="0">
                    <a:latin typeface="+mj-lt"/>
                  </a:rPr>
                  <a:t>проходит через точку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charset="0"/>
                      </a:rPr>
                      <m:t>𝐾</m:t>
                    </m:r>
                    <m:r>
                      <a:rPr lang="en-US" sz="1200" b="0" i="1" dirty="0" smtClean="0"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sz="1200" b="0" i="0" dirty="0" smtClean="0">
                    <a:latin typeface="+mj-lt"/>
                  </a:rPr>
                  <a:t> </a:t>
                </a:r>
                <a:r>
                  <a:rPr lang="ru-RU" sz="1200" b="0" i="0" dirty="0" smtClean="0">
                    <a:latin typeface="+mj-lt"/>
                  </a:rPr>
                  <a:t>параллельно прямым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𝐵𝑀</m:t>
                    </m:r>
                    <m:r>
                      <a:rPr lang="ru-RU" sz="1200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ru-RU" sz="1200" dirty="0" smtClean="0"/>
                  <a:t>и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𝑆𝑁</m:t>
                    </m:r>
                    <m:r>
                      <a:rPr lang="en-US" sz="1200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. </m:t>
                    </m:r>
                  </m:oMath>
                </a14:m>
                <a:endParaRPr lang="ru-RU" sz="1200" i="1" dirty="0"/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77" y="2174257"/>
                <a:ext cx="5073836" cy="276999"/>
              </a:xfrm>
              <a:prstGeom prst="rect">
                <a:avLst/>
              </a:prstGeom>
              <a:blipFill rotWithShape="0">
                <a:blip r:embed="rId21"/>
                <a:stretch>
                  <a:fillRect l="-120" t="-82222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Полилиния 72"/>
          <p:cNvSpPr/>
          <p:nvPr/>
        </p:nvSpPr>
        <p:spPr>
          <a:xfrm>
            <a:off x="6214089" y="2286000"/>
            <a:ext cx="579120" cy="1564640"/>
          </a:xfrm>
          <a:custGeom>
            <a:avLst/>
            <a:gdLst>
              <a:gd name="connsiteX0" fmla="*/ 0 w 579120"/>
              <a:gd name="connsiteY0" fmla="*/ 1026160 h 1564640"/>
              <a:gd name="connsiteX1" fmla="*/ 579120 w 579120"/>
              <a:gd name="connsiteY1" fmla="*/ 0 h 1564640"/>
              <a:gd name="connsiteX2" fmla="*/ 406400 w 579120"/>
              <a:gd name="connsiteY2" fmla="*/ 1564640 h 1564640"/>
              <a:gd name="connsiteX3" fmla="*/ 0 w 579120"/>
              <a:gd name="connsiteY3" fmla="*/ 1026160 h 1564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9120" h="1564640">
                <a:moveTo>
                  <a:pt x="0" y="1026160"/>
                </a:moveTo>
                <a:lnTo>
                  <a:pt x="579120" y="0"/>
                </a:lnTo>
                <a:lnTo>
                  <a:pt x="406400" y="1564640"/>
                </a:lnTo>
                <a:lnTo>
                  <a:pt x="0" y="1026160"/>
                </a:lnTo>
                <a:close/>
              </a:path>
            </a:pathLst>
          </a:custGeom>
          <a:solidFill>
            <a:schemeClr val="accent1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55837" y="2448510"/>
                <a:ext cx="535056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𝐿𝐹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 − 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прям</a:t>
                </a:r>
                <a:r>
                  <a:rPr lang="ru-RU" sz="1200" dirty="0" smtClean="0"/>
                  <a:t>ая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 </a:t>
                </a:r>
                <a:r>
                  <a:rPr lang="ru-RU" sz="1200" dirty="0">
                    <a:solidFill>
                      <a:schemeClr val="tx1"/>
                    </a:solidFill>
                  </a:rPr>
                  <a:t>пересечения этой плоскости с плоскостью основания пирамиды.</a:t>
                </a:r>
                <a:endParaRPr lang="ru-RU" sz="12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37" y="2448510"/>
                <a:ext cx="5350567" cy="276999"/>
              </a:xfrm>
              <a:prstGeom prst="rect">
                <a:avLst/>
              </a:prstGeom>
              <a:blipFill rotWithShape="0">
                <a:blip r:embed="rId22"/>
                <a:stretch>
                  <a:fillRect t="-82222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Прямая соединительная линия 74"/>
          <p:cNvCxnSpPr/>
          <p:nvPr/>
        </p:nvCxnSpPr>
        <p:spPr>
          <a:xfrm flipV="1">
            <a:off x="7840195" y="2284266"/>
            <a:ext cx="191495" cy="159080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единительная линия 75"/>
          <p:cNvCxnSpPr/>
          <p:nvPr/>
        </p:nvCxnSpPr>
        <p:spPr>
          <a:xfrm flipV="1">
            <a:off x="5966535" y="1428062"/>
            <a:ext cx="1153146" cy="2040896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39555" y="2672372"/>
                <a:ext cx="361284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/>
                  <a:t>б)</a:t>
                </a:r>
                <a:r>
                  <a:rPr lang="ru-RU" sz="1200" i="0" dirty="0" smtClean="0">
                    <a:latin typeface="+mj-lt"/>
                  </a:rPr>
                  <a:t> У</a:t>
                </a:r>
                <a:r>
                  <a:rPr lang="ru-RU" sz="1200" b="0" i="0" dirty="0" smtClean="0">
                    <a:latin typeface="+mj-lt"/>
                  </a:rPr>
                  <a:t>гол 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charset="0"/>
                      </a:rPr>
                      <m:t>𝐿𝐾𝐹</m:t>
                    </m:r>
                  </m:oMath>
                </a14:m>
                <a:r>
                  <a:rPr lang="en-US" sz="1200" dirty="0" smtClean="0"/>
                  <a:t> </a:t>
                </a:r>
                <a:r>
                  <a:rPr lang="ru-RU" sz="1200" dirty="0" smtClean="0"/>
                  <a:t>равен 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углу </a:t>
                </a:r>
                <a:r>
                  <a:rPr lang="ru-RU" sz="1200" dirty="0">
                    <a:solidFill>
                      <a:schemeClr val="tx1"/>
                    </a:solidFill>
                  </a:rPr>
                  <a:t>между прямыми </a:t>
                </a:r>
                <a14:m>
                  <m:oMath xmlns:m="http://schemas.openxmlformats.org/officeDocument/2006/math"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charset="0"/>
                      </a:rPr>
                      <m:t>𝐵𝑀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</a:t>
                </a:r>
                <a:r>
                  <a:rPr lang="ru-RU" sz="1200" dirty="0">
                    <a:solidFill>
                      <a:schemeClr val="tx1"/>
                    </a:solidFill>
                  </a:rPr>
                  <a:t> и </a:t>
                </a:r>
                <a14:m>
                  <m:oMath xmlns:m="http://schemas.openxmlformats.org/officeDocument/2006/math"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charset="0"/>
                      </a:rPr>
                      <m:t>𝑆𝑁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.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5" y="2672372"/>
                <a:ext cx="3612849" cy="276999"/>
              </a:xfrm>
              <a:prstGeom prst="rect">
                <a:avLst/>
              </a:prstGeom>
              <a:blipFill rotWithShape="0">
                <a:blip r:embed="rId23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48312" y="2927683"/>
                <a:ext cx="217604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i="0" dirty="0" smtClean="0">
                    <a:latin typeface="+mj-lt"/>
                  </a:rPr>
                  <a:t>Р</a:t>
                </a:r>
                <a:r>
                  <a:rPr lang="ru-RU" sz="1200" b="0" i="0" dirty="0" smtClean="0">
                    <a:latin typeface="+mj-lt"/>
                  </a:rPr>
                  <a:t>ассмотрим треугольник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charset="0"/>
                      </a:rPr>
                      <m:t>𝐿𝐾𝐹</m:t>
                    </m:r>
                    <m:r>
                      <a:rPr lang="ru-RU" sz="1200" b="0" i="1" dirty="0" smtClean="0">
                        <a:latin typeface="Cambria Math" charset="0"/>
                      </a:rPr>
                      <m:t>.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12" y="2927683"/>
                <a:ext cx="2176045" cy="276999"/>
              </a:xfrm>
              <a:prstGeom prst="rect">
                <a:avLst/>
              </a:prstGeom>
              <a:blipFill rotWithShape="0">
                <a:blip r:embed="rId24"/>
                <a:stretch>
                  <a:fillRect l="-280"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Сектор 78"/>
          <p:cNvSpPr/>
          <p:nvPr/>
        </p:nvSpPr>
        <p:spPr>
          <a:xfrm>
            <a:off x="6342347" y="1786424"/>
            <a:ext cx="914400" cy="914400"/>
          </a:xfrm>
          <a:prstGeom prst="pie">
            <a:avLst>
              <a:gd name="adj1" fmla="val 5871199"/>
              <a:gd name="adj2" fmla="val 7210867"/>
            </a:avLst>
          </a:prstGeom>
          <a:solidFill>
            <a:schemeClr val="accent1">
              <a:alpha val="58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39555" y="3141122"/>
                <a:ext cx="953594" cy="4380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𝐾𝐿</m:t>
                      </m:r>
                      <m:r>
                        <a:rPr lang="ru-RU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ru-RU" sz="120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ru-RU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ru-RU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𝑆𝑁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5" y="3141122"/>
                <a:ext cx="953594" cy="438005"/>
              </a:xfrm>
              <a:prstGeom prst="rect">
                <a:avLst/>
              </a:prstGeom>
              <a:blipFill rotWithShape="0">
                <a:blip r:embed="rId2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785316" y="3109880"/>
                <a:ext cx="760721" cy="4795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ru-RU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ru-RU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ru-RU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ru-RU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f>
                        <m:fPr>
                          <m:ctrlPr>
                            <a:rPr lang="ru-RU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ru-RU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ru-RU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316" y="3109880"/>
                <a:ext cx="760721" cy="479555"/>
              </a:xfrm>
              <a:prstGeom prst="rect">
                <a:avLst/>
              </a:prstGeom>
              <a:blipFill rotWithShape="0">
                <a:blip r:embed="rId26"/>
                <a:stretch>
                  <a:fillRect b="-12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2190798" y="2927683"/>
                <a:ext cx="25486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>
                    <a:latin typeface="+mj-lt"/>
                  </a:rPr>
                  <a:t>Пусть все ребра пирамиды равны 1</a:t>
                </a:r>
                <a14:m>
                  <m:oMath xmlns:m="http://schemas.openxmlformats.org/officeDocument/2006/math">
                    <m:r>
                      <a:rPr lang="ru-RU" sz="1200" b="0" i="1" dirty="0" smtClean="0">
                        <a:latin typeface="Cambria Math" charset="0"/>
                      </a:rPr>
                      <m:t>.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798" y="2927683"/>
                <a:ext cx="2548646" cy="276999"/>
              </a:xfrm>
              <a:prstGeom prst="rect">
                <a:avLst/>
              </a:prstGeom>
              <a:blipFill rotWithShape="0">
                <a:blip r:embed="rId27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1386297" y="3118117"/>
                <a:ext cx="663515" cy="4795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ru-RU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ru-RU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ru-RU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4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 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297" y="3118117"/>
                <a:ext cx="663515" cy="479555"/>
              </a:xfrm>
              <a:prstGeom prst="rect">
                <a:avLst/>
              </a:prstGeom>
              <a:blipFill rotWithShape="0">
                <a:blip r:embed="rId28"/>
                <a:stretch>
                  <a:fillRect t="-17949" b="-461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1876390" y="3118117"/>
                <a:ext cx="1252073" cy="4795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𝐾𝐹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𝐵𝑀</m:t>
                      </m:r>
                      <m:r>
                        <a:rPr lang="ru-RU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ru-RU" sz="120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ru-RU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ru-RU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6390" y="3118117"/>
                <a:ext cx="1252073" cy="479555"/>
              </a:xfrm>
              <a:prstGeom prst="rect">
                <a:avLst/>
              </a:prstGeom>
              <a:blipFill rotWithShape="0">
                <a:blip r:embed="rId29"/>
                <a:stretch>
                  <a:fillRect b="-12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Полилиния 85"/>
          <p:cNvSpPr/>
          <p:nvPr/>
        </p:nvSpPr>
        <p:spPr>
          <a:xfrm>
            <a:off x="5588000" y="3708400"/>
            <a:ext cx="203200" cy="142240"/>
          </a:xfrm>
          <a:custGeom>
            <a:avLst/>
            <a:gdLst>
              <a:gd name="connsiteX0" fmla="*/ 0 w 203200"/>
              <a:gd name="connsiteY0" fmla="*/ 0 h 142240"/>
              <a:gd name="connsiteX1" fmla="*/ 203200 w 203200"/>
              <a:gd name="connsiteY1" fmla="*/ 0 h 142240"/>
              <a:gd name="connsiteX2" fmla="*/ 30480 w 203200"/>
              <a:gd name="connsiteY2" fmla="*/ 142240 h 142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3200" h="142240">
                <a:moveTo>
                  <a:pt x="0" y="0"/>
                </a:moveTo>
                <a:lnTo>
                  <a:pt x="203200" y="0"/>
                </a:lnTo>
                <a:lnTo>
                  <a:pt x="30480" y="142240"/>
                </a:lnTo>
              </a:path>
            </a:pathLst>
          </a:cu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48312" y="3552145"/>
                <a:ext cx="754245" cy="4380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𝐴𝐿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4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12" y="3552145"/>
                <a:ext cx="754245" cy="438005"/>
              </a:xfrm>
              <a:prstGeom prst="rect">
                <a:avLst/>
              </a:prstGeom>
              <a:blipFill rotWithShape="0"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677162" y="3552145"/>
                <a:ext cx="769954" cy="4380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𝐴𝐹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162" y="3552145"/>
                <a:ext cx="769954" cy="438005"/>
              </a:xfrm>
              <a:prstGeom prst="rect">
                <a:avLst/>
              </a:prstGeom>
              <a:blipFill rotWithShape="0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1354535" y="3661359"/>
                <a:ext cx="137858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𝐿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𝐹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</m:t>
                      </m:r>
                      <m:sSup>
                        <m:sSupPr>
                          <m:ctrlPr>
                            <a:rPr lang="en-US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𝐿</m:t>
                          </m:r>
                        </m:e>
                        <m:sup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+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</m:t>
                      </m:r>
                      <m:sSup>
                        <m:sSupPr>
                          <m:ctrlPr>
                            <a:rPr lang="en-US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𝐹</m:t>
                          </m:r>
                        </m:e>
                        <m:sup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535" y="3661359"/>
                <a:ext cx="1378583" cy="276999"/>
              </a:xfrm>
              <a:prstGeom prst="rect">
                <a:avLst/>
              </a:prstGeom>
              <a:blipFill rotWithShape="0"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2586476" y="3556196"/>
                <a:ext cx="1064201" cy="4380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sSup>
                        <m:sSupPr>
                          <m:ctrlPr>
                            <a:rPr lang="en-US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)</m:t>
                          </m:r>
                        </m:e>
                        <m:sup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+</m:t>
                      </m:r>
                      <m:sSup>
                        <m:sSupPr>
                          <m:ctrlPr>
                            <a:rPr lang="en-US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)</m:t>
                          </m:r>
                        </m:e>
                        <m:sup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476" y="3556196"/>
                <a:ext cx="1064201" cy="438005"/>
              </a:xfrm>
              <a:prstGeom prst="rect">
                <a:avLst/>
              </a:prstGeom>
              <a:blipFill rotWithShape="0">
                <a:blip r:embed="rId3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3479110" y="3566207"/>
                <a:ext cx="1336328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13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16</m:t>
                          </m:r>
                        </m:den>
                      </m:f>
                      <m:r>
                        <a:rPr lang="ru-RU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  (из ∆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𝐴𝐿𝐹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)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9110" y="3566207"/>
                <a:ext cx="1336328" cy="439223"/>
              </a:xfrm>
              <a:prstGeom prst="rect">
                <a:avLst/>
              </a:prstGeom>
              <a:blipFill rotWithShape="0">
                <a:blip r:embed="rId34"/>
                <a:stretch>
                  <a:fillRect t="-27778" b="-486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55837" y="4025728"/>
                <a:ext cx="50405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𝐿</m:t>
                    </m:r>
                    <m:sSup>
                      <m:sSupPr>
                        <m:ctrlPr>
                          <a:rPr lang="en-US" sz="1200" b="0" i="1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𝐹</m:t>
                        </m:r>
                      </m:e>
                      <m:sup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p>
                    </m:sSup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𝐾</m:t>
                    </m:r>
                    <m:sSup>
                      <m:sSupPr>
                        <m:ctrlPr>
                          <a:rPr lang="en-US" sz="1200" b="0" i="1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𝐿</m:t>
                        </m:r>
                      </m:e>
                      <m:sup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p>
                    </m:sSup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+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𝐾</m:t>
                    </m:r>
                    <m:sSup>
                      <m:sSupPr>
                        <m:ctrlPr>
                          <a:rPr lang="en-US" sz="1200" b="0" i="1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𝐹</m:t>
                        </m:r>
                      </m:e>
                      <m:sup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p>
                    </m:sSup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−2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𝐾𝐿</m:t>
                    </m:r>
                    <m:r>
                      <a:rPr lang="ru-RU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∙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𝐾𝐹</m:t>
                    </m:r>
                    <m:r>
                      <a:rPr lang="ru-RU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∙</m:t>
                    </m:r>
                    <m:func>
                      <m:funcPr>
                        <m:ctrlPr>
                          <a:rPr lang="en-US" sz="1200" b="0" i="1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1200" b="0" i="1" smtClean="0">
                                <a:latin typeface="Cambria Math"/>
                                <a:ea typeface="Cambria Math" charset="0"/>
                                <a:cs typeface="Cambria Math" charset="0"/>
                              </a:rPr>
                            </m:ctrlPr>
                          </m:dPr>
                          <m:e>
                            <m:r>
                              <a:rPr lang="en-US" sz="1200" i="1" dirty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∠</m:t>
                            </m:r>
                            <m:r>
                              <a:rPr lang="en-US" sz="1200" b="0" i="1" dirty="0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𝐿𝐾𝐹</m:t>
                            </m:r>
                          </m:e>
                        </m:d>
                      </m:e>
                    </m:func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(</m:t>
                    </m:r>
                  </m:oMath>
                </a14:m>
                <a:r>
                  <a:rPr lang="ru-RU" sz="1200" b="0" i="0" dirty="0" smtClean="0">
                    <a:latin typeface="+mj-lt"/>
                    <a:ea typeface="Cambria Math" charset="0"/>
                    <a:cs typeface="Cambria Math" charset="0"/>
                  </a:rPr>
                  <a:t>по </a:t>
                </a:r>
                <a:r>
                  <a:rPr lang="ru-RU" sz="1200" b="0" i="0" dirty="0" err="1" smtClean="0">
                    <a:latin typeface="+mj-lt"/>
                    <a:ea typeface="Cambria Math" charset="0"/>
                    <a:cs typeface="Cambria Math" charset="0"/>
                  </a:rPr>
                  <a:t>теор</a:t>
                </a:r>
                <a:r>
                  <a:rPr lang="ru-RU" sz="1200" b="0" i="0" dirty="0" smtClean="0">
                    <a:latin typeface="+mj-lt"/>
                    <a:ea typeface="Cambria Math" charset="0"/>
                    <a:cs typeface="Cambria Math" charset="0"/>
                  </a:rPr>
                  <a:t>. косинусов из 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∆</m:t>
                    </m:r>
                    <m:r>
                      <a:rPr lang="en-US" sz="1200" i="1" dirty="0">
                        <a:latin typeface="Cambria Math" charset="0"/>
                      </a:rPr>
                      <m:t>𝐿𝐾𝐹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)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37" y="4025728"/>
                <a:ext cx="5040547" cy="276999"/>
              </a:xfrm>
              <a:prstGeom prst="rect">
                <a:avLst/>
              </a:prstGeom>
              <a:blipFill rotWithShape="0">
                <a:blip r:embed="rId35"/>
                <a:stretch>
                  <a:fillRect t="-76087" b="-10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39555" y="4229170"/>
                <a:ext cx="2804101" cy="4807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13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16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16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+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4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−2</m:t>
                      </m:r>
                      <m:r>
                        <a:rPr lang="ru-RU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f>
                        <m:fPr>
                          <m:ctrlPr>
                            <a:rPr lang="ru-RU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ru-RU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ru-RU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4</m:t>
                          </m:r>
                        </m:den>
                      </m:f>
                      <m:r>
                        <a:rPr lang="ru-RU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f>
                        <m:fPr>
                          <m:ctrlPr>
                            <a:rPr lang="ru-RU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ru-RU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ru-RU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ru-RU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func>
                        <m:func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sz="12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∠</m:t>
                              </m:r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𝐿𝐾𝐹</m:t>
                              </m:r>
                            </m:e>
                          </m:d>
                        </m:e>
                      </m:func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5" y="4229170"/>
                <a:ext cx="2804101" cy="480773"/>
              </a:xfrm>
              <a:prstGeom prst="rect">
                <a:avLst/>
              </a:prstGeom>
              <a:blipFill rotWithShape="0"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/>
              <p:cNvSpPr txBox="1"/>
              <p:nvPr/>
            </p:nvSpPr>
            <p:spPr>
              <a:xfrm>
                <a:off x="2723128" y="4253578"/>
                <a:ext cx="1940083" cy="44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13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16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15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16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−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4</m:t>
                          </m:r>
                        </m:den>
                      </m:f>
                      <m:r>
                        <a:rPr lang="ru-RU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func>
                        <m:func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sz="12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∠</m:t>
                              </m:r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𝐿𝐾𝐹</m:t>
                              </m:r>
                            </m:e>
                          </m:d>
                        </m:e>
                      </m:func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3128" y="4253578"/>
                <a:ext cx="1940083" cy="443006"/>
              </a:xfrm>
              <a:prstGeom prst="rect">
                <a:avLst/>
              </a:prstGeom>
              <a:blipFill rotWithShape="0">
                <a:blip r:embed="rId3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/>
              <p:cNvSpPr txBox="1"/>
              <p:nvPr/>
            </p:nvSpPr>
            <p:spPr>
              <a:xfrm>
                <a:off x="4572000" y="4240219"/>
                <a:ext cx="1239121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sz="12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∠</m:t>
                              </m:r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𝐿𝐾𝐹</m:t>
                              </m:r>
                            </m:e>
                          </m:d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6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4240219"/>
                <a:ext cx="1239121" cy="439223"/>
              </a:xfrm>
              <a:prstGeom prst="rect">
                <a:avLst/>
              </a:prstGeom>
              <a:blipFill rotWithShape="0"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6278880" y="4338320"/>
                <a:ext cx="1864165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b="1" dirty="0" smtClean="0">
                    <a:solidFill>
                      <a:srgbClr val="FF0000"/>
                    </a:solidFill>
                  </a:rPr>
                  <a:t>Ответ: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charset="0"/>
                      </a:rPr>
                      <m:t>𝐚𝐫𝐜𝐜𝐨𝐬</m:t>
                    </m:r>
                    <m:r>
                      <a:rPr lang="ru-RU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⁡(</m:t>
                    </m:r>
                    <m:f>
                      <m:fPr>
                        <m:ctrlPr>
                          <a:rPr lang="ru-RU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ru-RU" b="1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𝟏</m:t>
                        </m:r>
                      </m:num>
                      <m:den>
                        <m:r>
                          <a:rPr lang="ru-RU" b="1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𝟔</m:t>
                        </m:r>
                      </m:den>
                    </m:f>
                    <m:r>
                      <a:rPr lang="ru-RU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)</m:t>
                    </m:r>
                  </m:oMath>
                </a14:m>
                <a:endParaRPr lang="ru-RU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8880" y="4338320"/>
                <a:ext cx="1864165" cy="492443"/>
              </a:xfrm>
              <a:prstGeom prst="rect">
                <a:avLst/>
              </a:prstGeom>
              <a:blipFill rotWithShape="0">
                <a:blip r:embed="rId39"/>
                <a:stretch>
                  <a:fillRect l="-2614" t="-60000" r="-327" b="-812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Овал 96"/>
          <p:cNvSpPr/>
          <p:nvPr/>
        </p:nvSpPr>
        <p:spPr>
          <a:xfrm>
            <a:off x="8004141" y="2275041"/>
            <a:ext cx="5274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/>
              <p:cNvSpPr txBox="1"/>
              <p:nvPr/>
            </p:nvSpPr>
            <p:spPr>
              <a:xfrm>
                <a:off x="3128463" y="1621759"/>
                <a:ext cx="171001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ru-RU" sz="1200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𝐾𝑀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∥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𝐹𝐵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;</m:t>
                      </m:r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𝐾𝑀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i="1" dirty="0">
                          <a:latin typeface="Cambria Math" charset="0"/>
                        </a:rPr>
                        <m:t>𝐹𝐵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8" name="TextBox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8463" y="1621759"/>
                <a:ext cx="1710019" cy="276999"/>
              </a:xfrm>
              <a:prstGeom prst="rect">
                <a:avLst/>
              </a:prstGeom>
              <a:blipFill rotWithShape="0"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1875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/>
      <p:bldP spid="9" grpId="0"/>
      <p:bldP spid="10" grpId="0"/>
      <p:bldP spid="11" grpId="0"/>
      <p:bldP spid="13" grpId="0" animBg="1"/>
      <p:bldP spid="15" grpId="0"/>
      <p:bldP spid="16" grpId="0" animBg="1"/>
      <p:bldP spid="17" grpId="0" animBg="1"/>
      <p:bldP spid="20" grpId="0"/>
      <p:bldP spid="30" grpId="0" animBg="1"/>
      <p:bldP spid="31" grpId="0" animBg="1"/>
      <p:bldP spid="32" grpId="0"/>
      <p:bldP spid="37" grpId="0" animBg="1"/>
      <p:bldP spid="38" grpId="0" animBg="1"/>
      <p:bldP spid="39" grpId="0" animBg="1"/>
      <p:bldP spid="40" grpId="0" animBg="1"/>
      <p:bldP spid="44" grpId="0"/>
      <p:bldP spid="45" grpId="0" animBg="1"/>
      <p:bldP spid="46" grpId="0"/>
      <p:bldP spid="47" grpId="0"/>
      <p:bldP spid="48" grpId="0" animBg="1"/>
      <p:bldP spid="51" grpId="0"/>
      <p:bldP spid="53" grpId="0"/>
      <p:bldP spid="60" grpId="0"/>
      <p:bldP spid="61" grpId="0"/>
      <p:bldP spid="67" grpId="0"/>
      <p:bldP spid="68" grpId="0"/>
      <p:bldP spid="72" grpId="0"/>
      <p:bldP spid="73" grpId="0" animBg="1"/>
      <p:bldP spid="74" grpId="0"/>
      <p:bldP spid="77" grpId="0"/>
      <p:bldP spid="78" grpId="0"/>
      <p:bldP spid="79" grpId="0" animBg="1"/>
      <p:bldP spid="80" grpId="0"/>
      <p:bldP spid="81" grpId="0"/>
      <p:bldP spid="82" grpId="0"/>
      <p:bldP spid="83" grpId="0"/>
      <p:bldP spid="84" grpId="0"/>
      <p:bldP spid="86" grpId="0" animBg="1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7" grpId="0" animBg="1"/>
      <p:bldP spid="9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0" y="4594860"/>
            <a:ext cx="533400" cy="285750"/>
          </a:xfrm>
        </p:spPr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4</a:t>
            </a:fld>
            <a:endParaRPr kumimoji="0" lang="ru-RU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0" y="-22136"/>
                <a:ext cx="9144000" cy="86569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dirty="0" smtClean="0">
                    <a:solidFill>
                      <a:srgbClr val="7030A0"/>
                    </a:solidFill>
                  </a:rPr>
                  <a:t>3.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Дана прямая призма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𝑨𝑩𝑪</m:t>
                    </m:r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Плоскость, проходящая через центр основания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и середину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𝑲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ребра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𝑩𝑪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,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параллельна прямой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Эта плоскость пересекает прямую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𝑪</m:t>
                    </m:r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в точке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𝑳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>
                    <a:solidFill>
                      <a:srgbClr val="002060"/>
                    </a:solidFill>
                  </a:rPr>
                  <a:t>а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) Докажите, что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𝑪𝑳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𝟑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𝑪</m:t>
                    </m:r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б) Найдите угол между прямыми 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𝑲𝑳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</m:t>
                    </m:r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,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если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∠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𝑨𝑪𝑩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𝟗𝟎</m:t>
                    </m:r>
                    <m:r>
                      <a:rPr lang="it-IT" sz="1200" b="1" i="1" dirty="0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°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𝑨</m:t>
                    </m:r>
                    <m:sSub>
                      <m:sSubPr>
                        <m:ctrlP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𝑨𝑪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num>
                      <m:den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𝟒</m:t>
                        </m:r>
                      </m:den>
                    </m:f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𝑩𝑪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 smtClean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6"/>
                <a:ext cx="9144000" cy="86569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64" y="920707"/>
            <a:ext cx="2039528" cy="19684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59306" y="2335981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306" y="2335981"/>
                <a:ext cx="340286" cy="3077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791539" y="2767454"/>
                <a:ext cx="3829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1539" y="2767454"/>
                <a:ext cx="382989" cy="3077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576984" y="2208312"/>
                <a:ext cx="3481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6984" y="2208312"/>
                <a:ext cx="348172" cy="3077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46336" y="875670"/>
                <a:ext cx="41716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336" y="875670"/>
                <a:ext cx="417165" cy="30777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729960" y="1223918"/>
                <a:ext cx="4140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960" y="1223918"/>
                <a:ext cx="414088" cy="30777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582076" y="818045"/>
                <a:ext cx="4002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2076" y="818045"/>
                <a:ext cx="400238" cy="30777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Прямая соединительная линия 12"/>
          <p:cNvCxnSpPr/>
          <p:nvPr/>
        </p:nvCxnSpPr>
        <p:spPr>
          <a:xfrm>
            <a:off x="812971" y="1058299"/>
            <a:ext cx="1449292" cy="2355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1399999" y="1048534"/>
            <a:ext cx="1227785" cy="258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Овал 29"/>
          <p:cNvSpPr/>
          <p:nvPr/>
        </p:nvSpPr>
        <p:spPr>
          <a:xfrm flipV="1">
            <a:off x="1826834" y="1202357"/>
            <a:ext cx="50304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1733839" y="986486"/>
                <a:ext cx="36856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1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charset="0"/>
                            </a:rPr>
                            <m:t>𝑂</m:t>
                          </m:r>
                        </m:e>
                        <m:sub>
                          <m:r>
                            <a:rPr lang="ru-RU" sz="11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3839" y="986486"/>
                <a:ext cx="368562" cy="26161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Овал 32"/>
          <p:cNvSpPr/>
          <p:nvPr/>
        </p:nvSpPr>
        <p:spPr>
          <a:xfrm flipV="1">
            <a:off x="2271157" y="2534113"/>
            <a:ext cx="50304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238747" y="2507186"/>
                <a:ext cx="318805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charset="0"/>
                        </a:rPr>
                        <m:t>𝐾</m:t>
                      </m:r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747" y="2507186"/>
                <a:ext cx="318805" cy="26161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Прямая соединительная линия 35"/>
          <p:cNvCxnSpPr>
            <a:endCxn id="40" idx="7"/>
          </p:cNvCxnSpPr>
          <p:nvPr/>
        </p:nvCxnSpPr>
        <p:spPr>
          <a:xfrm flipH="1" flipV="1">
            <a:off x="1776776" y="2335248"/>
            <a:ext cx="495648" cy="211319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Овал 39"/>
          <p:cNvSpPr/>
          <p:nvPr/>
        </p:nvSpPr>
        <p:spPr>
          <a:xfrm flipV="1">
            <a:off x="1733839" y="2296224"/>
            <a:ext cx="50304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1453560" y="2111388"/>
                <a:ext cx="30835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charset="0"/>
                        </a:rPr>
                        <m:t>𝑃</m:t>
                      </m:r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3560" y="2111388"/>
                <a:ext cx="308354" cy="26161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Прямая соединительная линия 41"/>
          <p:cNvCxnSpPr/>
          <p:nvPr/>
        </p:nvCxnSpPr>
        <p:spPr>
          <a:xfrm flipH="1" flipV="1">
            <a:off x="1435005" y="1040393"/>
            <a:ext cx="772427" cy="334769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Овал 42"/>
          <p:cNvSpPr/>
          <p:nvPr/>
        </p:nvSpPr>
        <p:spPr>
          <a:xfrm flipV="1">
            <a:off x="2163890" y="1345618"/>
            <a:ext cx="45733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2193243" y="1256223"/>
                <a:ext cx="322781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charset="0"/>
                        </a:rPr>
                        <m:t>𝑁</m:t>
                      </m:r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3243" y="1256223"/>
                <a:ext cx="322781" cy="26161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Овал 44"/>
          <p:cNvSpPr/>
          <p:nvPr/>
        </p:nvSpPr>
        <p:spPr>
          <a:xfrm flipV="1">
            <a:off x="1427638" y="1022868"/>
            <a:ext cx="50304" cy="502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1186043" y="834177"/>
                <a:ext cx="340413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charset="0"/>
                        </a:rPr>
                        <m:t>𝑀</m:t>
                      </m:r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043" y="834177"/>
                <a:ext cx="340413" cy="261610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3597668" y="921769"/>
                <a:ext cx="169450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/>
                  <a:t>а)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charset="0"/>
                      </a:rPr>
                      <m:t>𝑀𝑁</m:t>
                    </m:r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∥</m:t>
                    </m:r>
                    <m:sSub>
                      <m:sSubPr>
                        <m:ctrlPr>
                          <a:rPr lang="en-US" sz="1200" b="0" i="1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b="0" i="1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;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𝑃𝐾</m:t>
                    </m:r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∥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𝐴𝐵</m:t>
                    </m:r>
                  </m:oMath>
                </a14:m>
                <a:endParaRPr lang="ru-RU" sz="12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7668" y="921769"/>
                <a:ext cx="1694503" cy="276999"/>
              </a:xfrm>
              <a:prstGeom prst="rect">
                <a:avLst/>
              </a:prstGeom>
              <a:blipFill rotWithShape="0">
                <a:blip r:embed="rId15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5577975" y="914075"/>
                <a:ext cx="136915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charset="0"/>
                      </a:rPr>
                      <m:t>𝑃</m:t>
                    </m:r>
                    <m:r>
                      <a:rPr lang="en-US" sz="1200" i="1" dirty="0" smtClean="0">
                        <a:latin typeface="Cambria Math" charset="0"/>
                      </a:rPr>
                      <m:t>𝑀𝑁𝐾</m:t>
                    </m:r>
                  </m:oMath>
                </a14:m>
                <a:r>
                  <a:rPr lang="en-US" sz="1200" dirty="0" smtClean="0"/>
                  <a:t> </a:t>
                </a:r>
                <a:r>
                  <a:rPr lang="mr-IN" sz="1200" dirty="0" smtClean="0"/>
                  <a:t>–</a:t>
                </a:r>
                <a:r>
                  <a:rPr lang="en-US" sz="1200" dirty="0" smtClean="0"/>
                  <a:t> </a:t>
                </a:r>
                <a:r>
                  <a:rPr lang="ru-RU" sz="1200" dirty="0" smtClean="0"/>
                  <a:t>сечение.</a:t>
                </a:r>
                <a:endParaRPr lang="ru-RU" sz="120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975" y="914075"/>
                <a:ext cx="1369157" cy="276999"/>
              </a:xfrm>
              <a:prstGeom prst="rect">
                <a:avLst/>
              </a:prstGeom>
              <a:blipFill rotWithShape="0">
                <a:blip r:embed="rId16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Прямая соединительная линия 49"/>
          <p:cNvCxnSpPr/>
          <p:nvPr/>
        </p:nvCxnSpPr>
        <p:spPr>
          <a:xfrm flipH="1">
            <a:off x="2614344" y="2208312"/>
            <a:ext cx="15499" cy="28526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/>
          <p:nvPr/>
        </p:nvCxnSpPr>
        <p:spPr>
          <a:xfrm>
            <a:off x="2173720" y="1415187"/>
            <a:ext cx="462163" cy="37708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Прямая соединительная линия 71"/>
          <p:cNvCxnSpPr>
            <a:stCxn id="33" idx="7"/>
          </p:cNvCxnSpPr>
          <p:nvPr/>
        </p:nvCxnSpPr>
        <p:spPr>
          <a:xfrm flipH="1" flipV="1">
            <a:off x="2171258" y="1381965"/>
            <a:ext cx="142836" cy="1191172"/>
          </a:xfrm>
          <a:prstGeom prst="line">
            <a:avLst/>
          </a:prstGeom>
          <a:ln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единительная линия 75"/>
          <p:cNvCxnSpPr/>
          <p:nvPr/>
        </p:nvCxnSpPr>
        <p:spPr>
          <a:xfrm flipH="1" flipV="1">
            <a:off x="1463246" y="1057394"/>
            <a:ext cx="300442" cy="1274389"/>
          </a:xfrm>
          <a:prstGeom prst="line">
            <a:avLst/>
          </a:prstGeom>
          <a:ln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Полилиния 79"/>
          <p:cNvSpPr/>
          <p:nvPr/>
        </p:nvSpPr>
        <p:spPr>
          <a:xfrm>
            <a:off x="1466119" y="1052886"/>
            <a:ext cx="833120" cy="1513840"/>
          </a:xfrm>
          <a:custGeom>
            <a:avLst/>
            <a:gdLst>
              <a:gd name="connsiteX0" fmla="*/ 0 w 833120"/>
              <a:gd name="connsiteY0" fmla="*/ 0 h 1513840"/>
              <a:gd name="connsiteX1" fmla="*/ 711200 w 833120"/>
              <a:gd name="connsiteY1" fmla="*/ 304800 h 1513840"/>
              <a:gd name="connsiteX2" fmla="*/ 833120 w 833120"/>
              <a:gd name="connsiteY2" fmla="*/ 1513840 h 1513840"/>
              <a:gd name="connsiteX3" fmla="*/ 304800 w 833120"/>
              <a:gd name="connsiteY3" fmla="*/ 1259840 h 1513840"/>
              <a:gd name="connsiteX4" fmla="*/ 0 w 833120"/>
              <a:gd name="connsiteY4" fmla="*/ 0 h 151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3120" h="1513840">
                <a:moveTo>
                  <a:pt x="0" y="0"/>
                </a:moveTo>
                <a:lnTo>
                  <a:pt x="711200" y="304800"/>
                </a:lnTo>
                <a:lnTo>
                  <a:pt x="833120" y="1513840"/>
                </a:lnTo>
                <a:lnTo>
                  <a:pt x="304800" y="1259840"/>
                </a:lnTo>
                <a:lnTo>
                  <a:pt x="0" y="0"/>
                </a:lnTo>
                <a:close/>
              </a:path>
            </a:pathLst>
          </a:custGeom>
          <a:solidFill>
            <a:srgbClr val="FF0000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1" name="Овал 80"/>
          <p:cNvSpPr/>
          <p:nvPr/>
        </p:nvSpPr>
        <p:spPr>
          <a:xfrm flipV="1">
            <a:off x="2582393" y="4914005"/>
            <a:ext cx="50304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 flipH="1">
                <a:off x="2489136" y="4762181"/>
                <a:ext cx="5286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𝐿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489136" y="4762181"/>
                <a:ext cx="528623" cy="307777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1152875" y="1266489"/>
                <a:ext cx="322781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charset="0"/>
                        </a:rPr>
                        <m:t>𝐻</m:t>
                      </m:r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875" y="1266489"/>
                <a:ext cx="322781" cy="261610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3625547" y="1176088"/>
                <a:ext cx="362644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charset="0"/>
                          </a:rPr>
                          <m:t>𝐶</m:t>
                        </m:r>
                      </m:e>
                      <m:sub>
                        <m:r>
                          <a:rPr lang="en-US" sz="1200" i="1" dirty="0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charset="0"/>
                          </a:rPr>
                          <m:t>𝑂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dirty="0" smtClean="0">
                        <a:latin typeface="Cambria Math" charset="0"/>
                      </a:rPr>
                      <m:t>:</m:t>
                    </m:r>
                    <m:sSub>
                      <m:sSubPr>
                        <m:ctrlPr>
                          <a:rPr lang="en-US" sz="12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charset="0"/>
                          </a:rPr>
                          <m:t>𝑂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dirty="0" smtClean="0">
                        <a:latin typeface="Cambria Math" charset="0"/>
                      </a:rPr>
                      <m:t>𝐻</m:t>
                    </m:r>
                    <m:r>
                      <a:rPr lang="en-US" sz="1200" b="0" i="1" dirty="0" smtClean="0">
                        <a:latin typeface="Cambria Math" charset="0"/>
                      </a:rPr>
                      <m:t>=2:1 </m:t>
                    </m:r>
                  </m:oMath>
                </a14:m>
                <a:r>
                  <a:rPr lang="en-US" sz="1200" dirty="0" smtClean="0"/>
                  <a:t>(</a:t>
                </a:r>
                <a:r>
                  <a:rPr lang="ru-RU" sz="1200" dirty="0" smtClean="0"/>
                  <a:t>по свойству медиан треугольника)</a:t>
                </a:r>
                <a:endParaRPr lang="ru-RU" sz="1200" dirty="0"/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5547" y="1176088"/>
                <a:ext cx="3626442" cy="276999"/>
              </a:xfrm>
              <a:prstGeom prst="rect">
                <a:avLst/>
              </a:prstGeom>
              <a:blipFill rotWithShape="0">
                <a:blip r:embed="rId19"/>
                <a:stretch>
                  <a:fillRect t="-80000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3625547" y="1397294"/>
                <a:ext cx="230890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</a:rPr>
                        <m:t>𝑀𝑁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∥</m:t>
                      </m:r>
                      <m:sSub>
                        <m:sSubPr>
                          <m:ctrlPr>
                            <a:rPr lang="en-US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𝑁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: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𝑁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=2:1;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5547" y="1397294"/>
                <a:ext cx="2308901" cy="276999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2275275" y="1158012"/>
                <a:ext cx="37061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b="0" i="1" smtClean="0">
                          <a:latin typeface="Cambria Math" charset="0"/>
                        </a:rPr>
                        <m:t>(2)</m:t>
                      </m:r>
                    </m:oMath>
                  </m:oMathPara>
                </a14:m>
                <a:endParaRPr lang="ru-RU" sz="900" dirty="0"/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5275" y="1158012"/>
                <a:ext cx="370614" cy="230832"/>
              </a:xfrm>
              <a:prstGeom prst="rect">
                <a:avLst/>
              </a:prstGeom>
              <a:blipFill rotWithShape="0">
                <a:blip r:embed="rId21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1889235" y="1418549"/>
                <a:ext cx="37061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b="0" i="1" smtClean="0">
                          <a:latin typeface="Cambria Math" charset="0"/>
                        </a:rPr>
                        <m:t>(1)</m:t>
                      </m:r>
                    </m:oMath>
                  </m:oMathPara>
                </a14:m>
                <a:endParaRPr lang="ru-RU" sz="900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235" y="1418549"/>
                <a:ext cx="370614" cy="230832"/>
              </a:xfrm>
              <a:prstGeom prst="rect">
                <a:avLst/>
              </a:prstGeom>
              <a:blipFill rotWithShape="0">
                <a:blip r:embed="rId22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5818923" y="1397294"/>
                <a:ext cx="83946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</a:rPr>
                        <m:t>𝐵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𝐾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𝐾𝐶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923" y="1397294"/>
                <a:ext cx="839461" cy="276999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1972473" y="2648530"/>
                <a:ext cx="37061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b="0" i="1" smtClean="0">
                          <a:latin typeface="Cambria Math" charset="0"/>
                        </a:rPr>
                        <m:t>(1)</m:t>
                      </m:r>
                    </m:oMath>
                  </m:oMathPara>
                </a14:m>
                <a:endParaRPr lang="ru-RU" sz="900" dirty="0"/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2473" y="2648530"/>
                <a:ext cx="370614" cy="230832"/>
              </a:xfrm>
              <a:prstGeom prst="rect">
                <a:avLst/>
              </a:prstGeom>
              <a:blipFill rotWithShape="0">
                <a:blip r:embed="rId24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2338873" y="2404245"/>
                <a:ext cx="37061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b="0" i="1" smtClean="0">
                          <a:latin typeface="Cambria Math" charset="0"/>
                        </a:rPr>
                        <m:t>(1)</m:t>
                      </m:r>
                    </m:oMath>
                  </m:oMathPara>
                </a14:m>
                <a:endParaRPr lang="ru-RU" sz="900" dirty="0"/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8873" y="2404245"/>
                <a:ext cx="370614" cy="230832"/>
              </a:xfrm>
              <a:prstGeom prst="rect">
                <a:avLst/>
              </a:prstGeom>
              <a:blipFill rotWithShape="0">
                <a:blip r:embed="rId24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3625547" y="1651613"/>
                <a:ext cx="127252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∆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𝑁𝐿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∼∆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𝐾𝐿𝐶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5547" y="1651613"/>
                <a:ext cx="1272528" cy="276999"/>
              </a:xfrm>
              <a:prstGeom prst="rect">
                <a:avLst/>
              </a:prstGeom>
              <a:blipFill rotWithShape="0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4798282" y="1588200"/>
                <a:ext cx="923523" cy="4694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𝐶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𝐿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𝐿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𝐾𝐶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8282" y="1588200"/>
                <a:ext cx="923523" cy="469424"/>
              </a:xfrm>
              <a:prstGeom prst="rect">
                <a:avLst/>
              </a:prstGeom>
              <a:blipFill rotWithShape="0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/>
              <p:cNvSpPr txBox="1"/>
              <p:nvPr/>
            </p:nvSpPr>
            <p:spPr>
              <a:xfrm>
                <a:off x="3660865" y="1985231"/>
                <a:ext cx="169988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/>
                  <a:t>Пусть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charset="0"/>
                      </a:rPr>
                      <m:t>𝐵𝐶</m:t>
                    </m:r>
                    <m:r>
                      <a:rPr lang="en-US" sz="1200" b="0" i="1" smtClean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sz="12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sz="1200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charset="0"/>
                          </a:rPr>
                          <m:t>𝐶</m:t>
                        </m:r>
                      </m:e>
                      <m:sub>
                        <m:r>
                          <a:rPr lang="en-US" sz="1200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charset="0"/>
                      </a:rPr>
                      <m:t>=6</m:t>
                    </m:r>
                    <m:r>
                      <a:rPr lang="en-US" sz="1200" b="0" i="1" smtClean="0">
                        <a:latin typeface="Cambria Math" charset="0"/>
                      </a:rPr>
                      <m:t>𝑥</m:t>
                    </m:r>
                    <m:r>
                      <a:rPr lang="en-US" sz="1200" b="0" i="1" smtClean="0">
                        <a:latin typeface="Cambria Math" charset="0"/>
                      </a:rPr>
                      <m:t>,</m:t>
                    </m:r>
                  </m:oMath>
                </a14:m>
                <a:endParaRPr lang="ru-RU" sz="1200" dirty="0"/>
              </a:p>
            </p:txBody>
          </p:sp>
        </mc:Choice>
        <mc:Fallback xmlns=""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0865" y="1985231"/>
                <a:ext cx="1699889" cy="276999"/>
              </a:xfrm>
              <a:prstGeom prst="rect">
                <a:avLst/>
              </a:prstGeom>
              <a:blipFill rotWithShape="0">
                <a:blip r:embed="rId27"/>
                <a:stretch>
                  <a:fillRect l="-360"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/>
              <p:cNvSpPr txBox="1"/>
              <p:nvPr/>
            </p:nvSpPr>
            <p:spPr>
              <a:xfrm>
                <a:off x="5220012" y="1946534"/>
                <a:ext cx="1919372" cy="3543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/>
                  <a:t>тогда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2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charset="0"/>
                          </a:rPr>
                          <m:t>𝐶</m:t>
                        </m:r>
                      </m:e>
                      <m:sub>
                        <m:r>
                          <a:rPr lang="ru-RU" sz="1200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charset="0"/>
                      </a:rPr>
                      <m:t>𝑁</m:t>
                    </m:r>
                    <m:r>
                      <a:rPr lang="en-US" sz="1200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sz="1200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1200" b="0" i="1" smtClean="0">
                            <a:latin typeface="Cambria Math" charset="0"/>
                          </a:rPr>
                          <m:t>2</m:t>
                        </m:r>
                      </m:num>
                      <m:den>
                        <m:r>
                          <a:rPr lang="en-US" sz="1200" b="0" i="1" smtClean="0">
                            <a:latin typeface="Cambria Math" charset="0"/>
                          </a:rPr>
                          <m:t>3</m:t>
                        </m:r>
                      </m:den>
                    </m:f>
                    <m:sSub>
                      <m:sSubPr>
                        <m:ctrlPr>
                          <a:rPr lang="en-US" sz="12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sz="1200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charset="0"/>
                          </a:rPr>
                          <m:t>𝐶</m:t>
                        </m:r>
                      </m:e>
                      <m:sub>
                        <m:r>
                          <a:rPr lang="en-US" sz="1200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charset="0"/>
                      </a:rPr>
                      <m:t>=4</m:t>
                    </m:r>
                    <m:r>
                      <a:rPr lang="en-US" sz="1200" b="0" i="1" smtClean="0">
                        <a:latin typeface="Cambria Math" charset="0"/>
                      </a:rPr>
                      <m:t>𝑥</m:t>
                    </m:r>
                    <m:r>
                      <a:rPr lang="en-US" sz="1200" b="0" i="1" smtClean="0">
                        <a:latin typeface="Cambria Math" charset="0"/>
                      </a:rPr>
                      <m:t>,</m:t>
                    </m:r>
                  </m:oMath>
                </a14:m>
                <a:r>
                  <a:rPr lang="en-US" sz="1200" dirty="0" smtClean="0"/>
                  <a:t> </a:t>
                </a:r>
                <a:endParaRPr lang="ru-RU" sz="1200" dirty="0"/>
              </a:p>
            </p:txBody>
          </p:sp>
        </mc:Choice>
        <mc:Fallback xmlns=""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12" y="1946534"/>
                <a:ext cx="1919372" cy="354392"/>
              </a:xfrm>
              <a:prstGeom prst="rect">
                <a:avLst/>
              </a:prstGeom>
              <a:blipFill rotWithShape="0">
                <a:blip r:embed="rId28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6947132" y="1947175"/>
                <a:ext cx="1442254" cy="353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charset="0"/>
                      </a:rPr>
                      <m:t>𝐾𝐶</m:t>
                    </m:r>
                    <m:r>
                      <a:rPr lang="en-US" sz="1200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sz="1200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1200" b="0" i="1" smtClean="0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sz="1200" b="0" i="1" smtClean="0">
                            <a:latin typeface="Cambria Math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sz="12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sz="1200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charset="0"/>
                          </a:rPr>
                          <m:t>𝐶</m:t>
                        </m:r>
                      </m:e>
                      <m:sub>
                        <m:r>
                          <a:rPr lang="en-US" sz="1200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charset="0"/>
                      </a:rPr>
                      <m:t>=3</m:t>
                    </m:r>
                    <m:r>
                      <a:rPr lang="en-US" sz="1200" b="0" i="1" smtClean="0">
                        <a:latin typeface="Cambria Math" charset="0"/>
                      </a:rPr>
                      <m:t>𝑥</m:t>
                    </m:r>
                    <m:r>
                      <a:rPr lang="en-US" sz="1200" b="0" i="1" smtClean="0">
                        <a:latin typeface="Cambria Math" charset="0"/>
                      </a:rPr>
                      <m:t>,</m:t>
                    </m:r>
                  </m:oMath>
                </a14:m>
                <a:r>
                  <a:rPr lang="en-US" sz="1200" dirty="0" smtClean="0"/>
                  <a:t> </a:t>
                </a:r>
                <a:endParaRPr lang="ru-RU" sz="1200" dirty="0"/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7132" y="1947175"/>
                <a:ext cx="1442254" cy="353110"/>
              </a:xfrm>
              <a:prstGeom prst="rect">
                <a:avLst/>
              </a:prstGeom>
              <a:blipFill rotWithShape="0"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/>
              <p:cNvSpPr txBox="1"/>
              <p:nvPr/>
            </p:nvSpPr>
            <p:spPr>
              <a:xfrm>
                <a:off x="3680444" y="2265818"/>
                <a:ext cx="1113959" cy="4694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𝐶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𝐿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𝐿</m:t>
                          </m:r>
                        </m:den>
                      </m:f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i="1" dirty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𝑥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4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𝑥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7" name="TextBox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0444" y="2265818"/>
                <a:ext cx="1113959" cy="469424"/>
              </a:xfrm>
              <a:prstGeom prst="rect">
                <a:avLst/>
              </a:prstGeom>
              <a:blipFill rotWithShape="0"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/>
              <p:cNvSpPr txBox="1"/>
              <p:nvPr/>
            </p:nvSpPr>
            <p:spPr>
              <a:xfrm>
                <a:off x="4775833" y="2265818"/>
                <a:ext cx="101239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 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𝐶</m:t>
                          </m:r>
                          <m:sSub>
                            <m:sSub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𝐶𝐿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ru-RU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ru-RU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8" name="TextBox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5833" y="2265818"/>
                <a:ext cx="1012392" cy="439223"/>
              </a:xfrm>
              <a:prstGeom prst="rect">
                <a:avLst/>
              </a:prstGeom>
              <a:blipFill rotWithShape="0">
                <a:blip r:embed="rId31"/>
                <a:stretch>
                  <a:fillRect t="-29167" b="-486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0" name="Прямая соединительная линия 99"/>
          <p:cNvCxnSpPr/>
          <p:nvPr/>
        </p:nvCxnSpPr>
        <p:spPr>
          <a:xfrm flipV="1">
            <a:off x="811987" y="1080790"/>
            <a:ext cx="1817856" cy="1240841"/>
          </a:xfrm>
          <a:prstGeom prst="line">
            <a:avLst/>
          </a:prstGeom>
          <a:ln w="1905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Прямая соединительная линия 102"/>
          <p:cNvCxnSpPr>
            <a:stCxn id="43" idx="0"/>
            <a:endCxn id="33" idx="7"/>
          </p:cNvCxnSpPr>
          <p:nvPr/>
        </p:nvCxnSpPr>
        <p:spPr>
          <a:xfrm>
            <a:off x="2186757" y="1387181"/>
            <a:ext cx="127337" cy="1185956"/>
          </a:xfrm>
          <a:prstGeom prst="line">
            <a:avLst/>
          </a:prstGeom>
          <a:ln w="19050">
            <a:solidFill>
              <a:srgbClr val="7030A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Полилиния 108"/>
          <p:cNvSpPr/>
          <p:nvPr/>
        </p:nvSpPr>
        <p:spPr>
          <a:xfrm>
            <a:off x="2346960" y="2336800"/>
            <a:ext cx="162560" cy="71120"/>
          </a:xfrm>
          <a:custGeom>
            <a:avLst/>
            <a:gdLst>
              <a:gd name="connsiteX0" fmla="*/ 101600 w 162560"/>
              <a:gd name="connsiteY0" fmla="*/ 0 h 71120"/>
              <a:gd name="connsiteX1" fmla="*/ 0 w 162560"/>
              <a:gd name="connsiteY1" fmla="*/ 71120 h 71120"/>
              <a:gd name="connsiteX2" fmla="*/ 162560 w 162560"/>
              <a:gd name="connsiteY2" fmla="*/ 71120 h 71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2560" h="71120">
                <a:moveTo>
                  <a:pt x="101600" y="0"/>
                </a:moveTo>
                <a:lnTo>
                  <a:pt x="0" y="71120"/>
                </a:lnTo>
                <a:lnTo>
                  <a:pt x="162560" y="71120"/>
                </a:lnTo>
              </a:path>
            </a:pathLst>
          </a:custGeom>
          <a:noFill/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/>
              <p:cNvSpPr txBox="1"/>
              <p:nvPr/>
            </p:nvSpPr>
            <p:spPr>
              <a:xfrm>
                <a:off x="3680444" y="2733206"/>
                <a:ext cx="247997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>
                    <a:solidFill>
                      <a:schemeClr val="tx1"/>
                    </a:solidFill>
                  </a:rPr>
                  <a:t>б) Пусть </a:t>
                </a:r>
                <a14:m>
                  <m:oMath xmlns:m="http://schemas.openxmlformats.org/officeDocument/2006/math">
                    <m:r>
                      <a:rPr lang="en-US" sz="1200" b="0" i="1">
                        <a:solidFill>
                          <a:schemeClr val="tx1"/>
                        </a:solidFill>
                        <a:latin typeface="Cambria Math" charset="0"/>
                      </a:rPr>
                      <m:t>𝐴</m:t>
                    </m:r>
                    <m:sSub>
                      <m:sSubPr>
                        <m:ctrlPr>
                          <a:rPr lang="en-US" sz="12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sz="1200" b="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0" i="1">
                        <a:solidFill>
                          <a:schemeClr val="tx1"/>
                        </a:solidFill>
                        <a:latin typeface="Cambria Math" charset="0"/>
                      </a:rPr>
                      <m:t>𝐴𝐶</m:t>
                    </m:r>
                    <m:r>
                      <a:rPr lang="ru-RU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=1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;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200" b="0" i="1">
                        <a:solidFill>
                          <a:schemeClr val="tx1"/>
                        </a:solidFill>
                        <a:latin typeface="Cambria Math" charset="0"/>
                      </a:rPr>
                      <m:t>𝐵𝐶</m:t>
                    </m:r>
                    <m:r>
                      <a:rPr lang="ru-RU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=4. 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0" name="TextBox 1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0444" y="2733206"/>
                <a:ext cx="2479974" cy="276999"/>
              </a:xfrm>
              <a:prstGeom prst="rect">
                <a:avLst/>
              </a:prstGeom>
              <a:blipFill rotWithShape="0">
                <a:blip r:embed="rId32"/>
                <a:stretch>
                  <a:fillRect l="-246"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Прямая со стрелкой 111"/>
          <p:cNvCxnSpPr/>
          <p:nvPr/>
        </p:nvCxnSpPr>
        <p:spPr>
          <a:xfrm flipV="1">
            <a:off x="2630556" y="868588"/>
            <a:ext cx="10808" cy="1473355"/>
          </a:xfrm>
          <a:prstGeom prst="straightConnector1">
            <a:avLst/>
          </a:prstGeom>
          <a:ln w="1905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 стрелкой 118"/>
          <p:cNvCxnSpPr/>
          <p:nvPr/>
        </p:nvCxnSpPr>
        <p:spPr>
          <a:xfrm flipH="1">
            <a:off x="1184198" y="2339063"/>
            <a:ext cx="1461691" cy="978081"/>
          </a:xfrm>
          <a:prstGeom prst="straightConnector1">
            <a:avLst/>
          </a:prstGeom>
          <a:ln w="1905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/>
              <p:cNvSpPr txBox="1"/>
              <p:nvPr/>
            </p:nvSpPr>
            <p:spPr>
              <a:xfrm>
                <a:off x="1187624" y="3176648"/>
                <a:ext cx="298479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smtClean="0">
                          <a:solidFill>
                            <a:srgbClr val="006600"/>
                          </a:solidFill>
                          <a:latin typeface="Cambria Math" charset="0"/>
                        </a:rPr>
                        <m:t>𝒙</m:t>
                      </m:r>
                    </m:oMath>
                  </m:oMathPara>
                </a14:m>
                <a:endParaRPr lang="ru-RU" sz="1100" b="1" dirty="0">
                  <a:solidFill>
                    <a:srgbClr val="006600"/>
                  </a:solidFill>
                </a:endParaRPr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3176648"/>
                <a:ext cx="298479" cy="261610"/>
              </a:xfrm>
              <a:prstGeom prst="rect">
                <a:avLst/>
              </a:prstGeom>
              <a:blipFill rotWithShape="0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251520" y="2294766"/>
                <a:ext cx="301685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smtClean="0">
                          <a:solidFill>
                            <a:srgbClr val="006600"/>
                          </a:solidFill>
                          <a:latin typeface="Cambria Math" charset="0"/>
                        </a:rPr>
                        <m:t>𝒚</m:t>
                      </m:r>
                    </m:oMath>
                  </m:oMathPara>
                </a14:m>
                <a:endParaRPr lang="ru-RU" sz="1100" b="1" dirty="0">
                  <a:solidFill>
                    <a:srgbClr val="006600"/>
                  </a:solidFill>
                </a:endParaRPr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2294766"/>
                <a:ext cx="301685" cy="261610"/>
              </a:xfrm>
              <a:prstGeom prst="rect">
                <a:avLst/>
              </a:prstGeom>
              <a:blipFill rotWithShape="0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/>
              <p:cNvSpPr txBox="1"/>
              <p:nvPr/>
            </p:nvSpPr>
            <p:spPr>
              <a:xfrm>
                <a:off x="2387059" y="812190"/>
                <a:ext cx="28886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smtClean="0">
                          <a:solidFill>
                            <a:srgbClr val="006600"/>
                          </a:solidFill>
                          <a:latin typeface="Cambria Math" charset="0"/>
                        </a:rPr>
                        <m:t>𝒛</m:t>
                      </m:r>
                    </m:oMath>
                  </m:oMathPara>
                </a14:m>
                <a:endParaRPr lang="ru-RU" sz="1100" b="1" dirty="0">
                  <a:solidFill>
                    <a:srgbClr val="006600"/>
                  </a:solidFill>
                </a:endParaRPr>
              </a:p>
            </p:txBody>
          </p:sp>
        </mc:Choice>
        <mc:Fallback xmlns="">
          <p:sp>
            <p:nvSpPr>
              <p:cNvPr id="124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7059" y="812190"/>
                <a:ext cx="288862" cy="261610"/>
              </a:xfrm>
              <a:prstGeom prst="rect">
                <a:avLst/>
              </a:prstGeom>
              <a:blipFill rotWithShape="0"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/>
              <p:cNvSpPr txBox="1"/>
              <p:nvPr/>
            </p:nvSpPr>
            <p:spPr>
              <a:xfrm>
                <a:off x="3699724" y="2997926"/>
                <a:ext cx="89947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𝐴</m:t>
                    </m:r>
                    <m:d>
                      <m:d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0;1;0</m:t>
                        </m:r>
                      </m:e>
                    </m:d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;</m:t>
                    </m:r>
                    <m:r>
                      <a:rPr lang="ru-RU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9724" y="2997926"/>
                <a:ext cx="899477" cy="276999"/>
              </a:xfrm>
              <a:prstGeom prst="rect">
                <a:avLst/>
              </a:prstGeom>
              <a:blipFill rotWithShape="0">
                <a:blip r:embed="rId36"/>
                <a:stretch>
                  <a:fillRect t="-80000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/>
              <p:cNvSpPr txBox="1"/>
              <p:nvPr/>
            </p:nvSpPr>
            <p:spPr>
              <a:xfrm>
                <a:off x="4413014" y="2997925"/>
                <a:ext cx="9585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𝐶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0;0;1</m:t>
                        </m:r>
                      </m:e>
                    </m:d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;</m:t>
                    </m:r>
                    <m:r>
                      <a:rPr lang="ru-RU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3014" y="2997925"/>
                <a:ext cx="958596" cy="276999"/>
              </a:xfrm>
              <a:prstGeom prst="rect">
                <a:avLst/>
              </a:prstGeom>
              <a:blipFill rotWithShape="0">
                <a:blip r:embed="rId37"/>
                <a:stretch>
                  <a:fillRect t="-80000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/>
              <p:cNvSpPr txBox="1"/>
              <p:nvPr/>
            </p:nvSpPr>
            <p:spPr>
              <a:xfrm>
                <a:off x="5232288" y="2986126"/>
                <a:ext cx="1173270" cy="3005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𝐴</m:t>
                        </m:r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0;−1;1</m:t>
                        </m:r>
                      </m:e>
                    </m:d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;</m:t>
                    </m:r>
                    <m:r>
                      <a:rPr lang="ru-RU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288" y="2986126"/>
                <a:ext cx="1173270" cy="300595"/>
              </a:xfrm>
              <a:prstGeom prst="rect">
                <a:avLst/>
              </a:prstGeom>
              <a:blipFill rotWithShape="0">
                <a:blip r:embed="rId38"/>
                <a:stretch>
                  <a:fillRect t="-65306" b="-938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/>
              <p:cNvSpPr txBox="1"/>
              <p:nvPr/>
            </p:nvSpPr>
            <p:spPr>
              <a:xfrm>
                <a:off x="3699724" y="3272405"/>
                <a:ext cx="91980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𝐾</m:t>
                    </m:r>
                    <m:d>
                      <m:d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2;0;0</m:t>
                        </m:r>
                      </m:e>
                    </m:d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;</m:t>
                    </m:r>
                    <m:r>
                      <a:rPr lang="ru-RU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8" name="TextBox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9724" y="3272405"/>
                <a:ext cx="919804" cy="276999"/>
              </a:xfrm>
              <a:prstGeom prst="rect">
                <a:avLst/>
              </a:prstGeom>
              <a:blipFill rotWithShape="0">
                <a:blip r:embed="rId39"/>
                <a:stretch>
                  <a:fillRect t="-80000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/>
              <p:cNvSpPr txBox="1"/>
              <p:nvPr/>
            </p:nvSpPr>
            <p:spPr>
              <a:xfrm>
                <a:off x="4423591" y="3228614"/>
                <a:ext cx="1004634" cy="3687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𝑁</m:t>
                    </m:r>
                    <m:d>
                      <m:d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3</m:t>
                            </m:r>
                          </m:den>
                        </m:f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;0;1</m:t>
                        </m:r>
                      </m:e>
                    </m:d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;</m:t>
                    </m:r>
                    <m:r>
                      <a:rPr lang="ru-RU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9" name="TextBox 1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3591" y="3228614"/>
                <a:ext cx="1004634" cy="368755"/>
              </a:xfrm>
              <a:prstGeom prst="rect">
                <a:avLst/>
              </a:prstGeom>
              <a:blipFill rotWithShape="0">
                <a:blip r:embed="rId40"/>
                <a:stretch>
                  <a:fillRect t="-48333" b="-6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/>
              <p:cNvSpPr txBox="1"/>
              <p:nvPr/>
            </p:nvSpPr>
            <p:spPr>
              <a:xfrm>
                <a:off x="5252615" y="3229424"/>
                <a:ext cx="1112036" cy="3687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𝐾𝑁</m:t>
                        </m:r>
                      </m:e>
                    </m:acc>
                    <m:d>
                      <m:d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3</m:t>
                            </m:r>
                          </m:den>
                        </m:f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;0;1</m:t>
                        </m:r>
                      </m:e>
                    </m:d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;</m:t>
                    </m:r>
                    <m:r>
                      <a:rPr lang="ru-RU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0" name="TextBox 1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2615" y="3229424"/>
                <a:ext cx="1112036" cy="368755"/>
              </a:xfrm>
              <a:prstGeom prst="rect">
                <a:avLst/>
              </a:prstGeom>
              <a:blipFill rotWithShape="0">
                <a:blip r:embed="rId41"/>
                <a:stretch>
                  <a:fillRect t="-46667" b="-6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/>
              <p:cNvSpPr txBox="1"/>
              <p:nvPr/>
            </p:nvSpPr>
            <p:spPr>
              <a:xfrm>
                <a:off x="3699724" y="3502660"/>
                <a:ext cx="2063322" cy="5472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b="0" i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200" i="1">
                                          <a:latin typeface="Cambria Math" charset="0"/>
                                        </a:rPr>
                                        <m:t>𝐴</m:t>
                                      </m:r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acc>
                                  <m:acc>
                                    <m:accPr>
                                      <m:chr m:val="⃗"/>
                                      <m:ctrlPr>
                                        <a:rPr lang="en-US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</a:rPr>
                                        <m:t>𝐾𝑁</m:t>
                                      </m:r>
                                    </m:e>
                                  </m:acc>
                                </m:e>
                              </m:acc>
                            </m:e>
                          </m:d>
                        </m:e>
                      </m:func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mr-IN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charset="0"/>
                                </a:rPr>
                                <m:t>𝐴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acc>
                            <m:accPr>
                              <m:chr m:val="⃗"/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𝐾𝑁</m:t>
                              </m:r>
                            </m:e>
                          </m:acc>
                        </m:num>
                        <m:den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|</m:t>
                          </m:r>
                          <m:acc>
                            <m:accPr>
                              <m:chr m:val="⃗"/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charset="0"/>
                                </a:rPr>
                                <m:t>𝐴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|</m:t>
                          </m:r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∙|</m:t>
                          </m:r>
                          <m:acc>
                            <m:accPr>
                              <m:chr m:val="⃗"/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𝐾𝑁</m:t>
                              </m:r>
                            </m:e>
                          </m:acc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|</m:t>
                          </m:r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1" name="TextBox 1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9724" y="3502660"/>
                <a:ext cx="2063322" cy="547266"/>
              </a:xfrm>
              <a:prstGeom prst="rect">
                <a:avLst/>
              </a:prstGeom>
              <a:blipFill rotWithShape="0">
                <a:blip r:embed="rId42"/>
                <a:stretch>
                  <a:fillRect b="-56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/>
              <p:cNvSpPr txBox="1"/>
              <p:nvPr/>
            </p:nvSpPr>
            <p:spPr>
              <a:xfrm>
                <a:off x="5577975" y="3436470"/>
                <a:ext cx="2041648" cy="7897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0</m:t>
                          </m:r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0+1</m:t>
                          </m:r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mr-IN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mr-IN" sz="12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(−1)</m:t>
                                  </m:r>
                                </m:e>
                                <m:sup>
                                  <m:r>
                                    <a:rPr lang="mr-IN" sz="12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mr-IN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mr-IN" sz="12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1</m:t>
                                  </m:r>
                                </m:e>
                                <m:sup>
                                  <m:r>
                                    <a:rPr lang="mr-IN" sz="12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rad>
                            <m:radPr>
                              <m:degHide m:val="on"/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1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  <a:ea typeface="Cambria Math" charset="0"/>
                                              <a:cs typeface="Cambria Math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2</m:t>
                                          </m:r>
                                        </m:num>
                                        <m:den>
                                          <m:r>
                                            <a:rPr lang="en-US" sz="1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3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1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2" name="TextBox 1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975" y="3436470"/>
                <a:ext cx="2041648" cy="789768"/>
              </a:xfrm>
              <a:prstGeom prst="rect">
                <a:avLst/>
              </a:prstGeom>
              <a:blipFill rotWithShape="0"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/>
              <p:cNvSpPr txBox="1"/>
              <p:nvPr/>
            </p:nvSpPr>
            <p:spPr>
              <a:xfrm>
                <a:off x="7464402" y="3549404"/>
                <a:ext cx="961161" cy="6689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mr-IN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e>
                          </m:rad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rad>
                            <m:radPr>
                              <m:degHide m:val="on"/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9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3" name="TextBox 1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4402" y="3549404"/>
                <a:ext cx="961161" cy="668901"/>
              </a:xfrm>
              <a:prstGeom prst="rect">
                <a:avLst/>
              </a:prstGeom>
              <a:blipFill rotWithShape="0"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5" name="Прямая со стрелкой 134"/>
          <p:cNvCxnSpPr/>
          <p:nvPr/>
        </p:nvCxnSpPr>
        <p:spPr>
          <a:xfrm flipH="1" flipV="1">
            <a:off x="153839" y="2338586"/>
            <a:ext cx="2465195" cy="477"/>
          </a:xfrm>
          <a:prstGeom prst="straightConnector1">
            <a:avLst/>
          </a:prstGeom>
          <a:ln w="1905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/>
              <p:cNvSpPr txBox="1"/>
              <p:nvPr/>
            </p:nvSpPr>
            <p:spPr>
              <a:xfrm>
                <a:off x="8251078" y="3555411"/>
                <a:ext cx="649088" cy="4737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ru-RU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3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mr-IN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ru-RU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6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7" name="TextBox 1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1078" y="3555411"/>
                <a:ext cx="649088" cy="473784"/>
              </a:xfrm>
              <a:prstGeom prst="rect">
                <a:avLst/>
              </a:prstGeom>
              <a:blipFill rotWithShape="0"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/>
              <p:cNvSpPr txBox="1"/>
              <p:nvPr/>
            </p:nvSpPr>
            <p:spPr>
              <a:xfrm>
                <a:off x="4444919" y="4300155"/>
                <a:ext cx="2069413" cy="5018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b="1" dirty="0" smtClean="0">
                    <a:solidFill>
                      <a:srgbClr val="FF0000"/>
                    </a:solidFill>
                  </a:rPr>
                  <a:t>Ответ: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charset="0"/>
                      </a:rPr>
                      <m:t>𝐚𝐫𝐜𝐜𝐨𝐬</m:t>
                    </m:r>
                    <m:r>
                      <a:rPr lang="ru-RU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⁡(</m:t>
                    </m:r>
                    <m:f>
                      <m:fPr>
                        <m:ctrlPr>
                          <a:rPr lang="mr-IN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ru-RU" b="1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𝟑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mr-IN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𝟐</m:t>
                            </m:r>
                            <m:r>
                              <a:rPr lang="ru-RU" b="1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𝟔</m:t>
                            </m:r>
                          </m:e>
                        </m:rad>
                      </m:den>
                    </m:f>
                    <m:r>
                      <a:rPr lang="ru-RU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)</m:t>
                    </m:r>
                  </m:oMath>
                </a14:m>
                <a:endParaRPr lang="ru-RU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9" name="TextBox 1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4919" y="4300155"/>
                <a:ext cx="2069413" cy="501804"/>
              </a:xfrm>
              <a:prstGeom prst="rect">
                <a:avLst/>
              </a:prstGeom>
              <a:blipFill rotWithShape="0">
                <a:blip r:embed="rId46"/>
                <a:stretch>
                  <a:fillRect l="-2353" t="-56627" r="-294" b="-759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2903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/>
      <p:bldP spid="8" grpId="0"/>
      <p:bldP spid="9" grpId="0"/>
      <p:bldP spid="10" grpId="0"/>
      <p:bldP spid="11" grpId="0"/>
      <p:bldP spid="30" grpId="0" animBg="1"/>
      <p:bldP spid="32" grpId="0"/>
      <p:bldP spid="33" grpId="0" animBg="1"/>
      <p:bldP spid="34" grpId="0"/>
      <p:bldP spid="40" grpId="0" animBg="1"/>
      <p:bldP spid="40" grpId="1" animBg="1"/>
      <p:bldP spid="41" grpId="0"/>
      <p:bldP spid="41" grpId="1"/>
      <p:bldP spid="43" grpId="0" animBg="1"/>
      <p:bldP spid="44" grpId="0"/>
      <p:bldP spid="45" grpId="0" animBg="1"/>
      <p:bldP spid="45" grpId="1" animBg="1"/>
      <p:bldP spid="46" grpId="0"/>
      <p:bldP spid="46" grpId="1"/>
      <p:bldP spid="47" grpId="0"/>
      <p:bldP spid="48" grpId="0"/>
      <p:bldP spid="80" grpId="0" animBg="1"/>
      <p:bldP spid="80" grpId="1" animBg="1"/>
      <p:bldP spid="81" grpId="0" animBg="1"/>
      <p:bldP spid="82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109" grpId="0" animBg="1"/>
      <p:bldP spid="110" grpId="0"/>
      <p:bldP spid="122" grpId="0"/>
      <p:bldP spid="123" grpId="0"/>
      <p:bldP spid="124" grpId="0"/>
      <p:bldP spid="125" grpId="0"/>
      <p:bldP spid="126" grpId="0"/>
      <p:bldP spid="127" grpId="0"/>
      <p:bldP spid="128" grpId="0"/>
      <p:bldP spid="129" grpId="0"/>
      <p:bldP spid="130" grpId="0"/>
      <p:bldP spid="131" grpId="0"/>
      <p:bldP spid="132" grpId="0"/>
      <p:bldP spid="133" grpId="0"/>
      <p:bldP spid="13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0" y="4731990"/>
            <a:ext cx="533400" cy="285750"/>
          </a:xfrm>
        </p:spPr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5</a:t>
            </a:fld>
            <a:endParaRPr kumimoji="0" lang="ru-RU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0" y="-22136"/>
                <a:ext cx="9144000" cy="86569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dirty="0" smtClean="0">
                    <a:solidFill>
                      <a:srgbClr val="7030A0"/>
                    </a:solidFill>
                  </a:rPr>
                  <a:t>3.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Дана прямая призма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𝑨𝑩𝑪</m:t>
                    </m:r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Плоскость, проходящая через центр основания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и середину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𝑲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ребра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𝑩𝑪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,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параллельна прямой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Эта плоскость пересекает прямую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𝑪</m:t>
                    </m:r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в точке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𝑳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>
                    <a:solidFill>
                      <a:srgbClr val="002060"/>
                    </a:solidFill>
                  </a:rPr>
                  <a:t>а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) Докажите, что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𝑪𝑳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𝟑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𝑪</m:t>
                    </m:r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б) Найдите угол между прямыми 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𝑲𝑳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</m:t>
                    </m:r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,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если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∠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𝑨𝑪𝑩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𝟗𝟎</m:t>
                    </m:r>
                    <m:r>
                      <a:rPr lang="it-IT" sz="1200" b="1" i="1" dirty="0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°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𝑨</m:t>
                    </m:r>
                    <m:sSub>
                      <m:sSubPr>
                        <m:ctrlP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𝑨𝑪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num>
                      <m:den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𝟒</m:t>
                        </m:r>
                      </m:den>
                    </m:f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𝑩𝑪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 smtClean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6"/>
                <a:ext cx="9144000" cy="86569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64" y="920707"/>
            <a:ext cx="2039528" cy="19684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489675" y="2307392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9675" y="2307392"/>
                <a:ext cx="340286" cy="3077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791539" y="2767454"/>
                <a:ext cx="3829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1539" y="2767454"/>
                <a:ext cx="382989" cy="3077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97825" y="2300285"/>
                <a:ext cx="3481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25" y="2300285"/>
                <a:ext cx="348172" cy="3077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605582" y="903936"/>
                <a:ext cx="41716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5582" y="903936"/>
                <a:ext cx="417165" cy="30777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729960" y="1223918"/>
                <a:ext cx="4140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960" y="1223918"/>
                <a:ext cx="414088" cy="30777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68806" y="867276"/>
                <a:ext cx="4002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06" y="867276"/>
                <a:ext cx="400238" cy="30777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Овал 15"/>
          <p:cNvSpPr/>
          <p:nvPr/>
        </p:nvSpPr>
        <p:spPr>
          <a:xfrm flipV="1">
            <a:off x="1304831" y="2547239"/>
            <a:ext cx="45731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039343" y="2479422"/>
                <a:ext cx="318805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charset="0"/>
                        </a:rPr>
                        <m:t>𝐾</m:t>
                      </m:r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343" y="2479422"/>
                <a:ext cx="318805" cy="26161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Овал 21"/>
          <p:cNvSpPr/>
          <p:nvPr/>
        </p:nvSpPr>
        <p:spPr>
          <a:xfrm flipV="1">
            <a:off x="1586803" y="1355731"/>
            <a:ext cx="45733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475656" y="1111270"/>
                <a:ext cx="322781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charset="0"/>
                        </a:rPr>
                        <m:t>𝑁</m:t>
                      </m:r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1111270"/>
                <a:ext cx="322781" cy="26161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597668" y="921769"/>
                <a:ext cx="169450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/>
                  <a:t>а)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charset="0"/>
                      </a:rPr>
                      <m:t>𝑀𝑁</m:t>
                    </m:r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∥</m:t>
                    </m:r>
                    <m:sSub>
                      <m:sSubPr>
                        <m:ctrlPr>
                          <a:rPr lang="en-US" sz="1200" b="0" i="1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b="0" i="1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;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𝑃𝐾</m:t>
                    </m:r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∥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𝐴𝐵</m:t>
                    </m:r>
                  </m:oMath>
                </a14:m>
                <a:endParaRPr lang="ru-RU" sz="12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7668" y="921769"/>
                <a:ext cx="1694503" cy="276999"/>
              </a:xfrm>
              <a:prstGeom prst="rect">
                <a:avLst/>
              </a:prstGeom>
              <a:blipFill rotWithShape="0">
                <a:blip r:embed="rId12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5577975" y="914075"/>
                <a:ext cx="136915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charset="0"/>
                      </a:rPr>
                      <m:t>𝑃</m:t>
                    </m:r>
                    <m:r>
                      <a:rPr lang="en-US" sz="1200" i="1" dirty="0" smtClean="0">
                        <a:latin typeface="Cambria Math" charset="0"/>
                      </a:rPr>
                      <m:t>𝑀𝑁𝐾</m:t>
                    </m:r>
                  </m:oMath>
                </a14:m>
                <a:r>
                  <a:rPr lang="en-US" sz="1200" dirty="0" smtClean="0"/>
                  <a:t> </a:t>
                </a:r>
                <a:r>
                  <a:rPr lang="mr-IN" sz="1200" dirty="0" smtClean="0"/>
                  <a:t>–</a:t>
                </a:r>
                <a:r>
                  <a:rPr lang="en-US" sz="1200" dirty="0" smtClean="0"/>
                  <a:t> </a:t>
                </a:r>
                <a:r>
                  <a:rPr lang="ru-RU" sz="1200" dirty="0" smtClean="0"/>
                  <a:t>сечение.</a:t>
                </a:r>
                <a:endParaRPr lang="ru-RU" sz="12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975" y="914075"/>
                <a:ext cx="1369157" cy="276999"/>
              </a:xfrm>
              <a:prstGeom prst="rect">
                <a:avLst/>
              </a:prstGeom>
              <a:blipFill rotWithShape="0">
                <a:blip r:embed="rId13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Прямая соединительная линия 27"/>
          <p:cNvCxnSpPr/>
          <p:nvPr/>
        </p:nvCxnSpPr>
        <p:spPr>
          <a:xfrm flipH="1">
            <a:off x="775434" y="2112606"/>
            <a:ext cx="15499" cy="28526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/>
          <p:nvPr/>
        </p:nvCxnSpPr>
        <p:spPr>
          <a:xfrm flipH="1">
            <a:off x="744528" y="1358788"/>
            <a:ext cx="845670" cy="36514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вал 32"/>
          <p:cNvSpPr/>
          <p:nvPr/>
        </p:nvSpPr>
        <p:spPr>
          <a:xfrm flipV="1">
            <a:off x="754523" y="4857750"/>
            <a:ext cx="50304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 flipH="1">
                <a:off x="642928" y="4760754"/>
                <a:ext cx="5286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𝐿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42928" y="4760754"/>
                <a:ext cx="528623" cy="307777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625547" y="1176088"/>
                <a:ext cx="362644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charset="0"/>
                          </a:rPr>
                          <m:t>𝐶</m:t>
                        </m:r>
                      </m:e>
                      <m:sub>
                        <m:r>
                          <a:rPr lang="en-US" sz="1200" i="1" dirty="0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charset="0"/>
                          </a:rPr>
                          <m:t>𝑂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dirty="0" smtClean="0">
                        <a:latin typeface="Cambria Math" charset="0"/>
                      </a:rPr>
                      <m:t>:</m:t>
                    </m:r>
                    <m:sSub>
                      <m:sSubPr>
                        <m:ctrlPr>
                          <a:rPr lang="en-US" sz="12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charset="0"/>
                          </a:rPr>
                          <m:t>𝑂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dirty="0" smtClean="0">
                        <a:latin typeface="Cambria Math" charset="0"/>
                      </a:rPr>
                      <m:t>𝐻</m:t>
                    </m:r>
                    <m:r>
                      <a:rPr lang="en-US" sz="1200" b="0" i="1" dirty="0" smtClean="0">
                        <a:latin typeface="Cambria Math" charset="0"/>
                      </a:rPr>
                      <m:t>=2:1 </m:t>
                    </m:r>
                  </m:oMath>
                </a14:m>
                <a:r>
                  <a:rPr lang="en-US" sz="1200" dirty="0" smtClean="0"/>
                  <a:t>(</a:t>
                </a:r>
                <a:r>
                  <a:rPr lang="ru-RU" sz="1200" dirty="0" smtClean="0"/>
                  <a:t>по свойству медиан треугольника)</a:t>
                </a:r>
                <a:endParaRPr lang="ru-RU" sz="12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5547" y="1176088"/>
                <a:ext cx="3626442" cy="276999"/>
              </a:xfrm>
              <a:prstGeom prst="rect">
                <a:avLst/>
              </a:prstGeom>
              <a:blipFill rotWithShape="0">
                <a:blip r:embed="rId15"/>
                <a:stretch>
                  <a:fillRect t="-80000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3625547" y="1397294"/>
                <a:ext cx="230890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</a:rPr>
                        <m:t>𝑀𝑁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∥</m:t>
                      </m:r>
                      <m:sSub>
                        <m:sSubPr>
                          <m:ctrlPr>
                            <a:rPr lang="en-US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𝑁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: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𝑁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=2:1;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5547" y="1397294"/>
                <a:ext cx="2308901" cy="276999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1056481" y="1016119"/>
                <a:ext cx="37061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b="0" i="1" smtClean="0">
                          <a:latin typeface="Cambria Math" charset="0"/>
                        </a:rPr>
                        <m:t>(2)</m:t>
                      </m:r>
                    </m:oMath>
                  </m:oMathPara>
                </a14:m>
                <a:endParaRPr lang="ru-RU" sz="9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481" y="1016119"/>
                <a:ext cx="370614" cy="230832"/>
              </a:xfrm>
              <a:prstGeom prst="rect">
                <a:avLst/>
              </a:prstGeom>
              <a:blipFill rotWithShape="0">
                <a:blip r:embed="rId1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1558016" y="1407990"/>
                <a:ext cx="37061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b="0" i="1" smtClean="0">
                          <a:latin typeface="Cambria Math" charset="0"/>
                        </a:rPr>
                        <m:t>(1)</m:t>
                      </m:r>
                    </m:oMath>
                  </m:oMathPara>
                </a14:m>
                <a:endParaRPr lang="ru-RU" sz="9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8016" y="1407990"/>
                <a:ext cx="370614" cy="230832"/>
              </a:xfrm>
              <a:prstGeom prst="rect">
                <a:avLst/>
              </a:prstGeom>
              <a:blipFill rotWithShape="0">
                <a:blip r:embed="rId1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5818923" y="1397294"/>
                <a:ext cx="83946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</a:rPr>
                        <m:t>𝐵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𝐾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𝐾𝐶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923" y="1397294"/>
                <a:ext cx="839461" cy="276999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1313831" y="2658948"/>
                <a:ext cx="37061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b="0" i="1" smtClean="0">
                          <a:latin typeface="Cambria Math" charset="0"/>
                        </a:rPr>
                        <m:t>(1)</m:t>
                      </m:r>
                    </m:oMath>
                  </m:oMathPara>
                </a14:m>
                <a:endParaRPr lang="ru-RU" sz="900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3831" y="2658948"/>
                <a:ext cx="370614" cy="230832"/>
              </a:xfrm>
              <a:prstGeom prst="rect">
                <a:avLst/>
              </a:prstGeom>
              <a:blipFill rotWithShape="0">
                <a:blip r:embed="rId1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824356" y="2415529"/>
                <a:ext cx="37061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b="0" i="1" smtClean="0">
                          <a:latin typeface="Cambria Math" charset="0"/>
                        </a:rPr>
                        <m:t>(1)</m:t>
                      </m:r>
                    </m:oMath>
                  </m:oMathPara>
                </a14:m>
                <a:endParaRPr lang="ru-RU" sz="900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356" y="2415529"/>
                <a:ext cx="370614" cy="230832"/>
              </a:xfrm>
              <a:prstGeom prst="rect">
                <a:avLst/>
              </a:prstGeom>
              <a:blipFill rotWithShape="0">
                <a:blip r:embed="rId20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3625547" y="1651613"/>
                <a:ext cx="127252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∆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𝑁𝐿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∼∆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𝐾𝐿𝐶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5547" y="1651613"/>
                <a:ext cx="1272528" cy="276999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4798282" y="1588200"/>
                <a:ext cx="923523" cy="4694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𝐶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𝐿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𝐿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𝐾𝐶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8282" y="1588200"/>
                <a:ext cx="923523" cy="469424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3660865" y="1985231"/>
                <a:ext cx="169988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/>
                  <a:t>Пусть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charset="0"/>
                      </a:rPr>
                      <m:t>𝐵𝐶</m:t>
                    </m:r>
                    <m:r>
                      <a:rPr lang="en-US" sz="1200" b="0" i="1" smtClean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sz="12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sz="1200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charset="0"/>
                          </a:rPr>
                          <m:t>𝐶</m:t>
                        </m:r>
                      </m:e>
                      <m:sub>
                        <m:r>
                          <a:rPr lang="en-US" sz="1200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charset="0"/>
                      </a:rPr>
                      <m:t>=6</m:t>
                    </m:r>
                    <m:r>
                      <a:rPr lang="en-US" sz="1200" b="0" i="1" smtClean="0">
                        <a:latin typeface="Cambria Math" charset="0"/>
                      </a:rPr>
                      <m:t>𝑥</m:t>
                    </m:r>
                    <m:r>
                      <a:rPr lang="en-US" sz="1200" b="0" i="1" smtClean="0">
                        <a:latin typeface="Cambria Math" charset="0"/>
                      </a:rPr>
                      <m:t>,</m:t>
                    </m:r>
                  </m:oMath>
                </a14:m>
                <a:endParaRPr lang="ru-RU" sz="12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0865" y="1985231"/>
                <a:ext cx="1699889" cy="276999"/>
              </a:xfrm>
              <a:prstGeom prst="rect">
                <a:avLst/>
              </a:prstGeom>
              <a:blipFill rotWithShape="0">
                <a:blip r:embed="rId23"/>
                <a:stretch>
                  <a:fillRect l="-360"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5220012" y="1946534"/>
                <a:ext cx="1919372" cy="3543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/>
                  <a:t>тогда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2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charset="0"/>
                          </a:rPr>
                          <m:t>𝐶</m:t>
                        </m:r>
                      </m:e>
                      <m:sub>
                        <m:r>
                          <a:rPr lang="ru-RU" sz="1200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charset="0"/>
                      </a:rPr>
                      <m:t>𝑁</m:t>
                    </m:r>
                    <m:r>
                      <a:rPr lang="en-US" sz="1200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sz="1200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1200" b="0" i="1" smtClean="0">
                            <a:latin typeface="Cambria Math" charset="0"/>
                          </a:rPr>
                          <m:t>2</m:t>
                        </m:r>
                      </m:num>
                      <m:den>
                        <m:r>
                          <a:rPr lang="en-US" sz="1200" b="0" i="1" smtClean="0">
                            <a:latin typeface="Cambria Math" charset="0"/>
                          </a:rPr>
                          <m:t>3</m:t>
                        </m:r>
                      </m:den>
                    </m:f>
                    <m:sSub>
                      <m:sSubPr>
                        <m:ctrlPr>
                          <a:rPr lang="en-US" sz="12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sz="1200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charset="0"/>
                          </a:rPr>
                          <m:t>𝐶</m:t>
                        </m:r>
                      </m:e>
                      <m:sub>
                        <m:r>
                          <a:rPr lang="en-US" sz="1200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charset="0"/>
                      </a:rPr>
                      <m:t>=4</m:t>
                    </m:r>
                    <m:r>
                      <a:rPr lang="en-US" sz="1200" b="0" i="1" smtClean="0">
                        <a:latin typeface="Cambria Math" charset="0"/>
                      </a:rPr>
                      <m:t>𝑥</m:t>
                    </m:r>
                    <m:r>
                      <a:rPr lang="en-US" sz="1200" b="0" i="1" smtClean="0">
                        <a:latin typeface="Cambria Math" charset="0"/>
                      </a:rPr>
                      <m:t>,</m:t>
                    </m:r>
                  </m:oMath>
                </a14:m>
                <a:r>
                  <a:rPr lang="en-US" sz="1200" dirty="0" smtClean="0"/>
                  <a:t> </a:t>
                </a:r>
                <a:endParaRPr lang="ru-RU" sz="12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12" y="1946534"/>
                <a:ext cx="1919372" cy="354392"/>
              </a:xfrm>
              <a:prstGeom prst="rect">
                <a:avLst/>
              </a:prstGeom>
              <a:blipFill rotWithShape="0">
                <a:blip r:embed="rId24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6947132" y="1947175"/>
                <a:ext cx="1442254" cy="353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charset="0"/>
                      </a:rPr>
                      <m:t>𝐾𝐶</m:t>
                    </m:r>
                    <m:r>
                      <a:rPr lang="en-US" sz="1200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sz="1200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1200" b="0" i="1" smtClean="0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sz="1200" b="0" i="1" smtClean="0">
                            <a:latin typeface="Cambria Math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sz="12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sz="1200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charset="0"/>
                          </a:rPr>
                          <m:t>𝐶</m:t>
                        </m:r>
                      </m:e>
                      <m:sub>
                        <m:r>
                          <a:rPr lang="en-US" sz="1200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charset="0"/>
                      </a:rPr>
                      <m:t>=3</m:t>
                    </m:r>
                    <m:r>
                      <a:rPr lang="en-US" sz="1200" b="0" i="1" smtClean="0">
                        <a:latin typeface="Cambria Math" charset="0"/>
                      </a:rPr>
                      <m:t>𝑥</m:t>
                    </m:r>
                    <m:r>
                      <a:rPr lang="en-US" sz="1200" b="0" i="1" smtClean="0">
                        <a:latin typeface="Cambria Math" charset="0"/>
                      </a:rPr>
                      <m:t>,</m:t>
                    </m:r>
                  </m:oMath>
                </a14:m>
                <a:r>
                  <a:rPr lang="en-US" sz="1200" dirty="0" smtClean="0"/>
                  <a:t> </a:t>
                </a:r>
                <a:endParaRPr lang="ru-RU" sz="12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7132" y="1947175"/>
                <a:ext cx="1442254" cy="353110"/>
              </a:xfrm>
              <a:prstGeom prst="rect">
                <a:avLst/>
              </a:prstGeom>
              <a:blipFill rotWithShape="0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3680444" y="2265818"/>
                <a:ext cx="1113959" cy="4694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𝐶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𝐿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𝐿</m:t>
                          </m:r>
                        </m:den>
                      </m:f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i="1" dirty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𝑥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4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𝑥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0444" y="2265818"/>
                <a:ext cx="1113959" cy="469424"/>
              </a:xfrm>
              <a:prstGeom prst="rect">
                <a:avLst/>
              </a:prstGeom>
              <a:blipFill rotWithShape="0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4775833" y="2265818"/>
                <a:ext cx="1012392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 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𝐶</m:t>
                          </m:r>
                          <m:sSub>
                            <m:sSub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𝐶𝐿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ru-RU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ru-RU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5833" y="2265818"/>
                <a:ext cx="1012392" cy="439223"/>
              </a:xfrm>
              <a:prstGeom prst="rect">
                <a:avLst/>
              </a:prstGeom>
              <a:blipFill rotWithShape="0">
                <a:blip r:embed="rId27"/>
                <a:stretch>
                  <a:fillRect t="-29167" b="-486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Прямая соединительная линия 49"/>
          <p:cNvCxnSpPr/>
          <p:nvPr/>
        </p:nvCxnSpPr>
        <p:spPr>
          <a:xfrm>
            <a:off x="786116" y="1060268"/>
            <a:ext cx="1841482" cy="1276751"/>
          </a:xfrm>
          <a:prstGeom prst="line">
            <a:avLst/>
          </a:prstGeom>
          <a:ln w="1905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единительная линия 50"/>
          <p:cNvCxnSpPr/>
          <p:nvPr/>
        </p:nvCxnSpPr>
        <p:spPr>
          <a:xfrm flipH="1">
            <a:off x="1320592" y="1391207"/>
            <a:ext cx="271812" cy="1162727"/>
          </a:xfrm>
          <a:prstGeom prst="line">
            <a:avLst/>
          </a:prstGeom>
          <a:ln w="19050">
            <a:solidFill>
              <a:srgbClr val="7030A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3680444" y="2733206"/>
                <a:ext cx="247997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>
                    <a:solidFill>
                      <a:schemeClr val="tx1"/>
                    </a:solidFill>
                  </a:rPr>
                  <a:t>б) Пусть </a:t>
                </a:r>
                <a14:m>
                  <m:oMath xmlns:m="http://schemas.openxmlformats.org/officeDocument/2006/math">
                    <m:r>
                      <a:rPr lang="en-US" sz="1200" b="0" i="1">
                        <a:solidFill>
                          <a:schemeClr val="tx1"/>
                        </a:solidFill>
                        <a:latin typeface="Cambria Math" charset="0"/>
                      </a:rPr>
                      <m:t>𝐴</m:t>
                    </m:r>
                    <m:sSub>
                      <m:sSubPr>
                        <m:ctrlPr>
                          <a:rPr lang="en-US" sz="12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sz="1200" b="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0" i="1">
                        <a:solidFill>
                          <a:schemeClr val="tx1"/>
                        </a:solidFill>
                        <a:latin typeface="Cambria Math" charset="0"/>
                      </a:rPr>
                      <m:t>𝐴𝐶</m:t>
                    </m:r>
                    <m:r>
                      <a:rPr lang="ru-RU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=1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;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200" b="0" i="1">
                        <a:solidFill>
                          <a:schemeClr val="tx1"/>
                        </a:solidFill>
                        <a:latin typeface="Cambria Math" charset="0"/>
                      </a:rPr>
                      <m:t>𝐵𝐶</m:t>
                    </m:r>
                    <m:r>
                      <a:rPr lang="ru-RU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=4. 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0444" y="2733206"/>
                <a:ext cx="2479974" cy="276999"/>
              </a:xfrm>
              <a:prstGeom prst="rect">
                <a:avLst/>
              </a:prstGeom>
              <a:blipFill rotWithShape="0">
                <a:blip r:embed="rId28"/>
                <a:stretch>
                  <a:fillRect l="-246"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Прямая со стрелкой 53"/>
          <p:cNvCxnSpPr/>
          <p:nvPr/>
        </p:nvCxnSpPr>
        <p:spPr>
          <a:xfrm flipV="1">
            <a:off x="786056" y="868588"/>
            <a:ext cx="10808" cy="1473355"/>
          </a:xfrm>
          <a:prstGeom prst="straightConnector1">
            <a:avLst/>
          </a:prstGeom>
          <a:ln w="1905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827584" y="812190"/>
                <a:ext cx="28886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smtClean="0">
                          <a:solidFill>
                            <a:srgbClr val="006600"/>
                          </a:solidFill>
                          <a:latin typeface="Cambria Math" charset="0"/>
                        </a:rPr>
                        <m:t>𝒛</m:t>
                      </m:r>
                    </m:oMath>
                  </m:oMathPara>
                </a14:m>
                <a:endParaRPr lang="ru-RU" sz="1100" b="1" dirty="0">
                  <a:solidFill>
                    <a:srgbClr val="006600"/>
                  </a:solidFill>
                </a:endParaRPr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812190"/>
                <a:ext cx="288862" cy="261610"/>
              </a:xfrm>
              <a:prstGeom prst="rect">
                <a:avLst/>
              </a:prstGeom>
              <a:blipFill rotWithShape="0"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3699724" y="2997926"/>
                <a:ext cx="89947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𝐴</m:t>
                    </m:r>
                    <m:d>
                      <m:d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0;1;0</m:t>
                        </m:r>
                      </m:e>
                    </m:d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;</m:t>
                    </m:r>
                    <m:r>
                      <a:rPr lang="ru-RU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9724" y="2997926"/>
                <a:ext cx="899477" cy="276999"/>
              </a:xfrm>
              <a:prstGeom prst="rect">
                <a:avLst/>
              </a:prstGeom>
              <a:blipFill rotWithShape="0">
                <a:blip r:embed="rId30"/>
                <a:stretch>
                  <a:fillRect t="-80000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4413014" y="2997925"/>
                <a:ext cx="9585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𝐶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0;0;1</m:t>
                        </m:r>
                      </m:e>
                    </m:d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;</m:t>
                    </m:r>
                    <m:r>
                      <a:rPr lang="ru-RU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3014" y="2997925"/>
                <a:ext cx="958596" cy="276999"/>
              </a:xfrm>
              <a:prstGeom prst="rect">
                <a:avLst/>
              </a:prstGeom>
              <a:blipFill rotWithShape="0">
                <a:blip r:embed="rId31"/>
                <a:stretch>
                  <a:fillRect t="-80000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5232288" y="2986126"/>
                <a:ext cx="1173270" cy="3005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𝐴</m:t>
                        </m:r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0;−1;1</m:t>
                        </m:r>
                      </m:e>
                    </m:d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;</m:t>
                    </m:r>
                    <m:r>
                      <a:rPr lang="ru-RU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288" y="2986126"/>
                <a:ext cx="1173270" cy="300595"/>
              </a:xfrm>
              <a:prstGeom prst="rect">
                <a:avLst/>
              </a:prstGeom>
              <a:blipFill rotWithShape="0">
                <a:blip r:embed="rId32"/>
                <a:stretch>
                  <a:fillRect t="-65306" b="-938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699724" y="3272405"/>
                <a:ext cx="91980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𝐾</m:t>
                    </m:r>
                    <m:d>
                      <m:d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2;0;0</m:t>
                        </m:r>
                      </m:e>
                    </m:d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;</m:t>
                    </m:r>
                    <m:r>
                      <a:rPr lang="ru-RU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9724" y="3272405"/>
                <a:ext cx="919804" cy="276999"/>
              </a:xfrm>
              <a:prstGeom prst="rect">
                <a:avLst/>
              </a:prstGeom>
              <a:blipFill rotWithShape="0">
                <a:blip r:embed="rId33"/>
                <a:stretch>
                  <a:fillRect t="-80000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4423591" y="3228614"/>
                <a:ext cx="1004634" cy="3687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𝑁</m:t>
                    </m:r>
                    <m:d>
                      <m:d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3</m:t>
                            </m:r>
                          </m:den>
                        </m:f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;0;1</m:t>
                        </m:r>
                      </m:e>
                    </m:d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;</m:t>
                    </m:r>
                    <m:r>
                      <a:rPr lang="ru-RU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3591" y="3228614"/>
                <a:ext cx="1004634" cy="368755"/>
              </a:xfrm>
              <a:prstGeom prst="rect">
                <a:avLst/>
              </a:prstGeom>
              <a:blipFill rotWithShape="0">
                <a:blip r:embed="rId34"/>
                <a:stretch>
                  <a:fillRect t="-48333" b="-6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5252615" y="3229424"/>
                <a:ext cx="1112036" cy="3687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𝐾𝑁</m:t>
                        </m:r>
                      </m:e>
                    </m:acc>
                    <m:d>
                      <m:d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3</m:t>
                            </m:r>
                          </m:den>
                        </m:f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;0;1</m:t>
                        </m:r>
                      </m:e>
                    </m:d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;</m:t>
                    </m:r>
                    <m:r>
                      <a:rPr lang="ru-RU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2615" y="3229424"/>
                <a:ext cx="1112036" cy="368755"/>
              </a:xfrm>
              <a:prstGeom prst="rect">
                <a:avLst/>
              </a:prstGeom>
              <a:blipFill rotWithShape="0">
                <a:blip r:embed="rId35"/>
                <a:stretch>
                  <a:fillRect t="-46667" b="-6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3699724" y="3502660"/>
                <a:ext cx="2063322" cy="5472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b="0" i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200" i="1">
                                          <a:latin typeface="Cambria Math" charset="0"/>
                                        </a:rPr>
                                        <m:t>𝐴</m:t>
                                      </m:r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acc>
                                  <m:acc>
                                    <m:accPr>
                                      <m:chr m:val="⃗"/>
                                      <m:ctrlPr>
                                        <a:rPr lang="en-US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</a:rPr>
                                        <m:t>𝐾𝑁</m:t>
                                      </m:r>
                                    </m:e>
                                  </m:acc>
                                </m:e>
                              </m:acc>
                            </m:e>
                          </m:d>
                        </m:e>
                      </m:func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mr-IN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charset="0"/>
                                </a:rPr>
                                <m:t>𝐴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acc>
                            <m:accPr>
                              <m:chr m:val="⃗"/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𝐾𝑁</m:t>
                              </m:r>
                            </m:e>
                          </m:acc>
                        </m:num>
                        <m:den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|</m:t>
                          </m:r>
                          <m:acc>
                            <m:accPr>
                              <m:chr m:val="⃗"/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charset="0"/>
                                </a:rPr>
                                <m:t>𝐴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|</m:t>
                          </m:r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∙|</m:t>
                          </m:r>
                          <m:acc>
                            <m:accPr>
                              <m:chr m:val="⃗"/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𝐾𝑁</m:t>
                              </m:r>
                            </m:e>
                          </m:acc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|</m:t>
                          </m:r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9724" y="3502660"/>
                <a:ext cx="2063322" cy="547266"/>
              </a:xfrm>
              <a:prstGeom prst="rect">
                <a:avLst/>
              </a:prstGeom>
              <a:blipFill rotWithShape="0">
                <a:blip r:embed="rId36"/>
                <a:stretch>
                  <a:fillRect b="-56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5577975" y="3436470"/>
                <a:ext cx="2041648" cy="7897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0</m:t>
                          </m:r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0+1</m:t>
                          </m:r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mr-IN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mr-IN" sz="12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(−1)</m:t>
                                  </m:r>
                                </m:e>
                                <m:sup>
                                  <m:r>
                                    <a:rPr lang="mr-IN" sz="12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mr-IN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mr-IN" sz="12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1</m:t>
                                  </m:r>
                                </m:e>
                                <m:sup>
                                  <m:r>
                                    <a:rPr lang="mr-IN" sz="12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rad>
                            <m:radPr>
                              <m:degHide m:val="on"/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1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  <a:ea typeface="Cambria Math" charset="0"/>
                                              <a:cs typeface="Cambria Math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2</m:t>
                                          </m:r>
                                        </m:num>
                                        <m:den>
                                          <m:r>
                                            <a:rPr lang="en-US" sz="1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3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1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975" y="3436470"/>
                <a:ext cx="2041648" cy="789768"/>
              </a:xfrm>
              <a:prstGeom prst="rect">
                <a:avLst/>
              </a:prstGeom>
              <a:blipFill rotWithShape="0"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7464402" y="3549404"/>
                <a:ext cx="961161" cy="6689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mr-IN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e>
                          </m:rad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rad>
                            <m:radPr>
                              <m:degHide m:val="on"/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9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4402" y="3549404"/>
                <a:ext cx="961161" cy="668901"/>
              </a:xfrm>
              <a:prstGeom prst="rect">
                <a:avLst/>
              </a:prstGeom>
              <a:blipFill rotWithShape="0"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8251078" y="3555411"/>
                <a:ext cx="649088" cy="4737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ru-RU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3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mr-IN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ru-RU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6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1078" y="3555411"/>
                <a:ext cx="649088" cy="473784"/>
              </a:xfrm>
              <a:prstGeom prst="rect">
                <a:avLst/>
              </a:prstGeom>
              <a:blipFill rotWithShape="0"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4444919" y="4300155"/>
                <a:ext cx="2069413" cy="5018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b="1" dirty="0" smtClean="0">
                    <a:solidFill>
                      <a:srgbClr val="FF0000"/>
                    </a:solidFill>
                  </a:rPr>
                  <a:t>Ответ: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charset="0"/>
                      </a:rPr>
                      <m:t>𝐚𝐫𝐜𝐜𝐨𝐬</m:t>
                    </m:r>
                    <m:r>
                      <a:rPr lang="ru-RU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⁡(</m:t>
                    </m:r>
                    <m:f>
                      <m:fPr>
                        <m:ctrlPr>
                          <a:rPr lang="mr-IN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ru-RU" b="1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𝟑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mr-IN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𝟐</m:t>
                            </m:r>
                            <m:r>
                              <a:rPr lang="ru-RU" b="1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𝟔</m:t>
                            </m:r>
                          </m:e>
                        </m:rad>
                      </m:den>
                    </m:f>
                    <m:r>
                      <a:rPr lang="ru-RU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)</m:t>
                    </m:r>
                  </m:oMath>
                </a14:m>
                <a:endParaRPr lang="ru-RU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4919" y="4300155"/>
                <a:ext cx="2069413" cy="501804"/>
              </a:xfrm>
              <a:prstGeom prst="rect">
                <a:avLst/>
              </a:prstGeom>
              <a:blipFill rotWithShape="0">
                <a:blip r:embed="rId40"/>
                <a:stretch>
                  <a:fillRect l="-2353" t="-56627" r="-294" b="-759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Полилиния 78"/>
          <p:cNvSpPr/>
          <p:nvPr/>
        </p:nvSpPr>
        <p:spPr>
          <a:xfrm>
            <a:off x="985520" y="2336800"/>
            <a:ext cx="294640" cy="71120"/>
          </a:xfrm>
          <a:custGeom>
            <a:avLst/>
            <a:gdLst>
              <a:gd name="connsiteX0" fmla="*/ 91440 w 294640"/>
              <a:gd name="connsiteY0" fmla="*/ 0 h 71120"/>
              <a:gd name="connsiteX1" fmla="*/ 294640 w 294640"/>
              <a:gd name="connsiteY1" fmla="*/ 71120 h 71120"/>
              <a:gd name="connsiteX2" fmla="*/ 0 w 294640"/>
              <a:gd name="connsiteY2" fmla="*/ 71120 h 71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4640" h="71120">
                <a:moveTo>
                  <a:pt x="91440" y="0"/>
                </a:moveTo>
                <a:lnTo>
                  <a:pt x="294640" y="71120"/>
                </a:lnTo>
                <a:lnTo>
                  <a:pt x="0" y="71120"/>
                </a:lnTo>
              </a:path>
            </a:pathLst>
          </a:custGeom>
          <a:noFill/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5" name="Прямая со стрелкой 84"/>
          <p:cNvCxnSpPr/>
          <p:nvPr/>
        </p:nvCxnSpPr>
        <p:spPr>
          <a:xfrm flipV="1">
            <a:off x="791891" y="2338801"/>
            <a:ext cx="2444272" cy="4887"/>
          </a:xfrm>
          <a:prstGeom prst="straightConnector1">
            <a:avLst/>
          </a:prstGeom>
          <a:ln w="1905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2955025" y="2315727"/>
                <a:ext cx="28886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smtClean="0">
                          <a:solidFill>
                            <a:srgbClr val="006600"/>
                          </a:solidFill>
                          <a:latin typeface="Cambria Math" charset="0"/>
                        </a:rPr>
                        <m:t>𝒚</m:t>
                      </m:r>
                    </m:oMath>
                  </m:oMathPara>
                </a14:m>
                <a:endParaRPr lang="ru-RU" sz="1100" b="1" dirty="0">
                  <a:solidFill>
                    <a:srgbClr val="006600"/>
                  </a:solidFill>
                </a:endParaRPr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5025" y="2315727"/>
                <a:ext cx="288862" cy="261610"/>
              </a:xfrm>
              <a:prstGeom prst="rect">
                <a:avLst/>
              </a:prstGeom>
              <a:blipFill rotWithShape="0"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Прямая со стрелкой 89"/>
          <p:cNvCxnSpPr/>
          <p:nvPr/>
        </p:nvCxnSpPr>
        <p:spPr>
          <a:xfrm>
            <a:off x="800510" y="2333528"/>
            <a:ext cx="2211192" cy="893952"/>
          </a:xfrm>
          <a:prstGeom prst="straightConnector1">
            <a:avLst/>
          </a:prstGeom>
          <a:ln w="1905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2675921" y="3135190"/>
                <a:ext cx="28886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smtClean="0">
                          <a:solidFill>
                            <a:srgbClr val="006600"/>
                          </a:solidFill>
                          <a:latin typeface="Cambria Math" charset="0"/>
                        </a:rPr>
                        <m:t>𝒙</m:t>
                      </m:r>
                    </m:oMath>
                  </m:oMathPara>
                </a14:m>
                <a:endParaRPr lang="ru-RU" sz="1100" b="1" dirty="0">
                  <a:solidFill>
                    <a:srgbClr val="006600"/>
                  </a:solidFill>
                </a:endParaRP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5921" y="3135190"/>
                <a:ext cx="288862" cy="261610"/>
              </a:xfrm>
              <a:prstGeom prst="rect">
                <a:avLst/>
              </a:prstGeom>
              <a:blipFill rotWithShape="0"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6059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6" grpId="0" animBg="1"/>
      <p:bldP spid="17" grpId="0"/>
      <p:bldP spid="22" grpId="0" animBg="1"/>
      <p:bldP spid="23" grpId="0"/>
      <p:bldP spid="33" grpId="0" animBg="1"/>
      <p:bldP spid="34" grpId="0"/>
      <p:bldP spid="38" grpId="0"/>
      <p:bldP spid="39" grpId="0"/>
      <p:bldP spid="41" grpId="0"/>
      <p:bldP spid="42" grpId="0"/>
      <p:bldP spid="53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9" grpId="0"/>
      <p:bldP spid="79" grpId="0" animBg="1"/>
      <p:bldP spid="86" grpId="0"/>
      <p:bldP spid="9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6</a:t>
            </a:fld>
            <a:endParaRPr kumimoji="0" lang="ru-RU">
              <a:solidFill>
                <a:schemeClr val="tx2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27584" y="1851670"/>
            <a:ext cx="7416824" cy="627534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rgbClr val="FF0000"/>
                </a:solidFill>
              </a:rPr>
              <a:t>Угол между плоскостями</a:t>
            </a:r>
            <a:endParaRPr lang="ru-R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4697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7</a:t>
            </a:fld>
            <a:endParaRPr kumimoji="0" lang="ru-RU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/>
              <p:cNvSpPr/>
              <p:nvPr/>
            </p:nvSpPr>
            <p:spPr>
              <a:xfrm>
                <a:off x="0" y="-22136"/>
                <a:ext cx="9144000" cy="86569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dirty="0" smtClean="0">
                    <a:solidFill>
                      <a:srgbClr val="7030A0"/>
                    </a:solidFill>
                  </a:rPr>
                  <a:t>4.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О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снование пирамиды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𝑨𝑩𝑪𝑫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−  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прямоугольный</a:t>
                </a:r>
                <a14:m>
                  <m:oMath xmlns:m="http://schemas.openxmlformats.org/officeDocument/2006/math">
                    <m:r>
                      <a:rPr lang="ru-RU" sz="1200" b="1" i="0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треугольник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𝑨𝑩𝑪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. Высота пирамиды проходит через середину гипотенузы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𝑨𝑩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. </a:t>
                </a: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а) Докажите, что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боковые ребра пирамиды образуют равные углы с плоскостью основания.</a:t>
                </a:r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б) Известно, что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𝑩𝑪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: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𝑨𝑪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𝟑</m:t>
                        </m:r>
                      </m:e>
                    </m:rad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: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𝟏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, 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а угол между боковой гранью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𝑩𝑫𝑪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и плоскостью основания равен </a:t>
                </a:r>
                <a14:m>
                  <m:oMath xmlns:m="http://schemas.openxmlformats.org/officeDocument/2006/math"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𝟔𝟎</m:t>
                    </m:r>
                    <m:r>
                      <a:rPr lang="it-IT" sz="1200" b="1" i="1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°</m:t>
                    </m:r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.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Найдите углы двух других боковых граней с плоскостью основания. </a:t>
                </a:r>
                <a:endParaRPr lang="en-US" sz="1200" b="1" dirty="0" smtClean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6"/>
                <a:ext cx="9144000" cy="86569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Прямая соединительная линия 5"/>
          <p:cNvCxnSpPr/>
          <p:nvPr/>
        </p:nvCxnSpPr>
        <p:spPr>
          <a:xfrm>
            <a:off x="5775035" y="2879530"/>
            <a:ext cx="2930726" cy="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 flipV="1">
            <a:off x="7791259" y="2879530"/>
            <a:ext cx="914502" cy="72008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5775035" y="2879530"/>
            <a:ext cx="2016224" cy="72008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7244787" y="1367362"/>
            <a:ext cx="0" cy="1512168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7240398" y="1367362"/>
            <a:ext cx="1465363" cy="1512167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H="1">
            <a:off x="5775035" y="1367361"/>
            <a:ext cx="1465363" cy="1512168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>
            <a:off x="7240398" y="1367360"/>
            <a:ext cx="546471" cy="223225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5487003" y="2725640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7003" y="2725640"/>
                <a:ext cx="340286" cy="3077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8653507" y="2725640"/>
                <a:ext cx="3829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3507" y="2725640"/>
                <a:ext cx="382989" cy="3077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612783" y="3599610"/>
                <a:ext cx="3481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2783" y="3599610"/>
                <a:ext cx="348172" cy="3077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7067270" y="1059582"/>
                <a:ext cx="35503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𝐷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7270" y="1059582"/>
                <a:ext cx="355033" cy="3077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Полилиния 33"/>
          <p:cNvSpPr/>
          <p:nvPr/>
        </p:nvSpPr>
        <p:spPr>
          <a:xfrm>
            <a:off x="7636483" y="3412300"/>
            <a:ext cx="325120" cy="182880"/>
          </a:xfrm>
          <a:custGeom>
            <a:avLst/>
            <a:gdLst>
              <a:gd name="connsiteX0" fmla="*/ 325120 w 325120"/>
              <a:gd name="connsiteY0" fmla="*/ 50800 h 182880"/>
              <a:gd name="connsiteX1" fmla="*/ 152400 w 325120"/>
              <a:gd name="connsiteY1" fmla="*/ 182880 h 182880"/>
              <a:gd name="connsiteX2" fmla="*/ 0 w 325120"/>
              <a:gd name="connsiteY2" fmla="*/ 132080 h 182880"/>
              <a:gd name="connsiteX3" fmla="*/ 172720 w 325120"/>
              <a:gd name="connsiteY3" fmla="*/ 0 h 182880"/>
              <a:gd name="connsiteX4" fmla="*/ 325120 w 325120"/>
              <a:gd name="connsiteY4" fmla="*/ 50800 h 182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5120" h="182880">
                <a:moveTo>
                  <a:pt x="325120" y="50800"/>
                </a:moveTo>
                <a:lnTo>
                  <a:pt x="152400" y="182880"/>
                </a:lnTo>
                <a:lnTo>
                  <a:pt x="0" y="132080"/>
                </a:lnTo>
                <a:lnTo>
                  <a:pt x="172720" y="0"/>
                </a:lnTo>
                <a:lnTo>
                  <a:pt x="325120" y="50800"/>
                </a:lnTo>
                <a:close/>
              </a:path>
            </a:pathLst>
          </a:custGeom>
          <a:solidFill>
            <a:schemeClr val="bg1">
              <a:lumMod val="85000"/>
              <a:alpha val="44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 34"/>
          <p:cNvSpPr/>
          <p:nvPr/>
        </p:nvSpPr>
        <p:spPr>
          <a:xfrm>
            <a:off x="7067270" y="2715480"/>
            <a:ext cx="175374" cy="159598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Овал 35"/>
          <p:cNvSpPr/>
          <p:nvPr/>
        </p:nvSpPr>
        <p:spPr>
          <a:xfrm>
            <a:off x="7222660" y="2856664"/>
            <a:ext cx="45719" cy="457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7074131" y="2885238"/>
                <a:ext cx="32342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charset="0"/>
                        </a:rPr>
                        <m:t>𝐻</m:t>
                      </m:r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4131" y="2885238"/>
                <a:ext cx="323422" cy="26161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Полилиния 39"/>
          <p:cNvSpPr/>
          <p:nvPr/>
        </p:nvSpPr>
        <p:spPr>
          <a:xfrm>
            <a:off x="6412947" y="2843340"/>
            <a:ext cx="10160" cy="91440"/>
          </a:xfrm>
          <a:custGeom>
            <a:avLst/>
            <a:gdLst>
              <a:gd name="connsiteX0" fmla="*/ 0 w 10160"/>
              <a:gd name="connsiteY0" fmla="*/ 0 h 91440"/>
              <a:gd name="connsiteX1" fmla="*/ 10160 w 10160"/>
              <a:gd name="connsiteY1" fmla="*/ 91440 h 91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160" h="91440">
                <a:moveTo>
                  <a:pt x="0" y="0"/>
                </a:moveTo>
                <a:lnTo>
                  <a:pt x="10160" y="91440"/>
                </a:lnTo>
              </a:path>
            </a:pathLst>
          </a:cu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олилиния 40"/>
          <p:cNvSpPr/>
          <p:nvPr/>
        </p:nvSpPr>
        <p:spPr>
          <a:xfrm>
            <a:off x="6463747" y="2838890"/>
            <a:ext cx="10160" cy="91440"/>
          </a:xfrm>
          <a:custGeom>
            <a:avLst/>
            <a:gdLst>
              <a:gd name="connsiteX0" fmla="*/ 0 w 10160"/>
              <a:gd name="connsiteY0" fmla="*/ 0 h 91440"/>
              <a:gd name="connsiteX1" fmla="*/ 10160 w 10160"/>
              <a:gd name="connsiteY1" fmla="*/ 91440 h 91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160" h="91440">
                <a:moveTo>
                  <a:pt x="0" y="0"/>
                </a:moveTo>
                <a:lnTo>
                  <a:pt x="10160" y="91440"/>
                </a:lnTo>
              </a:path>
            </a:pathLst>
          </a:cu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олилиния 41"/>
          <p:cNvSpPr/>
          <p:nvPr/>
        </p:nvSpPr>
        <p:spPr>
          <a:xfrm>
            <a:off x="7877763" y="2842452"/>
            <a:ext cx="10160" cy="91440"/>
          </a:xfrm>
          <a:custGeom>
            <a:avLst/>
            <a:gdLst>
              <a:gd name="connsiteX0" fmla="*/ 0 w 10160"/>
              <a:gd name="connsiteY0" fmla="*/ 0 h 91440"/>
              <a:gd name="connsiteX1" fmla="*/ 10160 w 10160"/>
              <a:gd name="connsiteY1" fmla="*/ 91440 h 91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160" h="91440">
                <a:moveTo>
                  <a:pt x="0" y="0"/>
                </a:moveTo>
                <a:lnTo>
                  <a:pt x="10160" y="91440"/>
                </a:lnTo>
              </a:path>
            </a:pathLst>
          </a:cu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олилиния 42"/>
          <p:cNvSpPr/>
          <p:nvPr/>
        </p:nvSpPr>
        <p:spPr>
          <a:xfrm>
            <a:off x="7916731" y="2848162"/>
            <a:ext cx="10160" cy="91440"/>
          </a:xfrm>
          <a:custGeom>
            <a:avLst/>
            <a:gdLst>
              <a:gd name="connsiteX0" fmla="*/ 0 w 10160"/>
              <a:gd name="connsiteY0" fmla="*/ 0 h 91440"/>
              <a:gd name="connsiteX1" fmla="*/ 10160 w 10160"/>
              <a:gd name="connsiteY1" fmla="*/ 91440 h 91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160" h="91440">
                <a:moveTo>
                  <a:pt x="0" y="0"/>
                </a:moveTo>
                <a:lnTo>
                  <a:pt x="10160" y="91440"/>
                </a:lnTo>
              </a:path>
            </a:pathLst>
          </a:cu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4" name="Прямая соединительная линия 43"/>
          <p:cNvCxnSpPr>
            <a:stCxn id="38" idx="0"/>
            <a:endCxn id="31" idx="0"/>
          </p:cNvCxnSpPr>
          <p:nvPr/>
        </p:nvCxnSpPr>
        <p:spPr>
          <a:xfrm>
            <a:off x="7235842" y="2885238"/>
            <a:ext cx="551027" cy="714372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179512" y="942333"/>
                <a:ext cx="19089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/>
                  <a:t>а)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charset="0"/>
                      </a:rPr>
                      <m:t>𝐴𝐻</m:t>
                    </m:r>
                    <m:r>
                      <a:rPr lang="en-US" sz="1200" b="0" i="1" dirty="0" smtClean="0">
                        <a:latin typeface="Cambria Math" charset="0"/>
                      </a:rPr>
                      <m:t>=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𝐵𝐻</m:t>
                    </m:r>
                  </m:oMath>
                </a14:m>
                <a:r>
                  <a:rPr lang="en-US" sz="1200" dirty="0" smtClean="0"/>
                  <a:t> - </a:t>
                </a:r>
                <a:r>
                  <a:rPr lang="ru-RU" sz="1200" dirty="0" smtClean="0"/>
                  <a:t>по условию;</a:t>
                </a:r>
                <a:endParaRPr lang="ru-RU" sz="12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942333"/>
                <a:ext cx="1908984" cy="276999"/>
              </a:xfrm>
              <a:prstGeom prst="rect">
                <a:avLst/>
              </a:prstGeom>
              <a:blipFill rotWithShape="0">
                <a:blip r:embed="rId8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257646" y="1219332"/>
                <a:ext cx="41909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/>
                  <a:t>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charset="0"/>
                      </a:rPr>
                      <m:t>𝐴𝐻</m:t>
                    </m:r>
                    <m:r>
                      <a:rPr lang="en-US" sz="1200" b="0" i="1" dirty="0" smtClean="0">
                        <a:latin typeface="Cambria Math" charset="0"/>
                      </a:rPr>
                      <m:t>=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𝐵𝐻</m:t>
                    </m:r>
                    <m:r>
                      <a:rPr lang="ru-RU" sz="1200" b="0" i="1" dirty="0" smtClean="0">
                        <a:latin typeface="Cambria Math" charset="0"/>
                      </a:rPr>
                      <m:t>=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𝐶𝐻</m:t>
                    </m:r>
                  </m:oMath>
                </a14:m>
                <a:r>
                  <a:rPr lang="en-US" sz="1200" dirty="0" smtClean="0"/>
                  <a:t> - </a:t>
                </a:r>
                <a:r>
                  <a:rPr lang="ru-RU" sz="1200" dirty="0" smtClean="0"/>
                  <a:t>по свойству прямоугольного треугольника </a:t>
                </a:r>
                <a:endParaRPr lang="ru-RU" sz="120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646" y="1219332"/>
                <a:ext cx="4190955" cy="276999"/>
              </a:xfrm>
              <a:prstGeom prst="rect">
                <a:avLst/>
              </a:prstGeom>
              <a:blipFill rotWithShape="0">
                <a:blip r:embed="rId9"/>
                <a:stretch>
                  <a:fillRect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275384" y="1456606"/>
                <a:ext cx="320190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  <m:r>
                      <m:rPr>
                        <m:sty m:val="p"/>
                      </m:rPr>
                      <a:rPr lang="el-GR" sz="120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Δ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𝐴𝐻𝐷</m:t>
                    </m:r>
                    <m:r>
                      <a:rPr lang="en-US" sz="1200" b="0" i="1" dirty="0" smtClean="0">
                        <a:latin typeface="Cambria Math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Δ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𝐵𝐻𝐷</m:t>
                    </m:r>
                    <m:r>
                      <a:rPr lang="ru-RU" sz="1200" b="0" i="1" dirty="0" smtClean="0">
                        <a:latin typeface="Cambria Math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Δ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𝐶𝐻𝐷</m:t>
                    </m:r>
                  </m:oMath>
                </a14:m>
                <a:r>
                  <a:rPr lang="en-US" sz="1200" dirty="0" smtClean="0"/>
                  <a:t> </a:t>
                </a:r>
                <a:r>
                  <a:rPr lang="ru-RU" sz="1200" dirty="0" smtClean="0"/>
                  <a:t>по двум катетам.</a:t>
                </a:r>
                <a:endParaRPr lang="ru-RU" sz="120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84" y="1456606"/>
                <a:ext cx="3201902" cy="276999"/>
              </a:xfrm>
              <a:prstGeom prst="rect">
                <a:avLst/>
              </a:prstGeom>
              <a:blipFill rotWithShape="0">
                <a:blip r:embed="rId10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232991" y="1693880"/>
                <a:ext cx="21464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⟹∠</m:t>
                      </m:r>
                      <m:r>
                        <a:rPr lang="en-US" sz="1200" i="1" dirty="0">
                          <a:latin typeface="Cambria Math" charset="0"/>
                        </a:rPr>
                        <m:t>𝐷𝐴𝐻</m:t>
                      </m:r>
                      <m:r>
                        <a:rPr lang="en-US" sz="1200" i="1" dirty="0">
                          <a:latin typeface="Cambria Math" charset="0"/>
                        </a:rPr>
                        <m:t>=∠</m:t>
                      </m:r>
                      <m:r>
                        <a:rPr lang="en-US" sz="1200" i="1" dirty="0">
                          <a:latin typeface="Cambria Math" charset="0"/>
                        </a:rPr>
                        <m:t>𝐷𝐵𝐻</m:t>
                      </m:r>
                      <m:r>
                        <a:rPr lang="ru-RU" sz="1200" b="0" i="1" dirty="0" smtClean="0">
                          <a:latin typeface="Cambria Math" charset="0"/>
                        </a:rPr>
                        <m:t>=</m:t>
                      </m:r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∠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𝐷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𝐶𝐻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91" y="1693880"/>
                <a:ext cx="2146420" cy="276999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228601" y="1925584"/>
                <a:ext cx="2114490" cy="2943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>
                    <a:solidFill>
                      <a:schemeClr val="tx1"/>
                    </a:solidFill>
                  </a:rPr>
                  <a:t>б) Пусть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𝐵𝐶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3</m:t>
                        </m:r>
                      </m:e>
                    </m:rad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;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𝐴𝐶</m:t>
                    </m:r>
                    <m:r>
                      <a:rPr lang="ru-RU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1</m:t>
                    </m:r>
                    <m:r>
                      <a:rPr lang="ru-RU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. 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1" y="1925584"/>
                <a:ext cx="2114490" cy="294376"/>
              </a:xfrm>
              <a:prstGeom prst="rect">
                <a:avLst/>
              </a:prstGeom>
              <a:blipFill rotWithShape="0">
                <a:blip r:embed="rId12"/>
                <a:stretch>
                  <a:fillRect l="-289" t="-68750" b="-958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8296784" y="3101347"/>
                <a:ext cx="442044" cy="3331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ru-RU" sz="14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6784" y="3101347"/>
                <a:ext cx="442044" cy="333168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6084778" y="3029156"/>
                <a:ext cx="3241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778" y="3029156"/>
                <a:ext cx="324128" cy="307777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2232495" y="1693880"/>
                <a:ext cx="128176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>
                          <a:latin typeface="Cambria Math" charset="0"/>
                        </a:rPr>
                        <m:t>𝐷𝐴</m:t>
                      </m:r>
                      <m:r>
                        <a:rPr lang="en-US" sz="1200" i="1" dirty="0">
                          <a:latin typeface="Cambria Math" charset="0"/>
                        </a:rPr>
                        <m:t>=</m:t>
                      </m:r>
                      <m:r>
                        <a:rPr lang="en-US" sz="1200" i="1" dirty="0">
                          <a:latin typeface="Cambria Math" charset="0"/>
                        </a:rPr>
                        <m:t>𝐷𝐵</m:t>
                      </m:r>
                      <m:r>
                        <a:rPr lang="ru-RU" sz="1200" b="0" i="1" dirty="0" smtClean="0">
                          <a:latin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𝐷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𝐶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2495" y="1693880"/>
                <a:ext cx="1281761" cy="276999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Полилиния 55"/>
          <p:cNvSpPr/>
          <p:nvPr/>
        </p:nvSpPr>
        <p:spPr>
          <a:xfrm>
            <a:off x="6427443" y="2132140"/>
            <a:ext cx="91440" cy="71120"/>
          </a:xfrm>
          <a:custGeom>
            <a:avLst/>
            <a:gdLst>
              <a:gd name="connsiteX0" fmla="*/ 0 w 91440"/>
              <a:gd name="connsiteY0" fmla="*/ 0 h 71120"/>
              <a:gd name="connsiteX1" fmla="*/ 91440 w 91440"/>
              <a:gd name="connsiteY1" fmla="*/ 71120 h 71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" h="71120">
                <a:moveTo>
                  <a:pt x="0" y="0"/>
                </a:moveTo>
                <a:lnTo>
                  <a:pt x="91440" y="7112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Полилиния 56"/>
          <p:cNvSpPr/>
          <p:nvPr/>
        </p:nvSpPr>
        <p:spPr>
          <a:xfrm>
            <a:off x="7951443" y="2111820"/>
            <a:ext cx="81280" cy="81280"/>
          </a:xfrm>
          <a:custGeom>
            <a:avLst/>
            <a:gdLst>
              <a:gd name="connsiteX0" fmla="*/ 81280 w 81280"/>
              <a:gd name="connsiteY0" fmla="*/ 0 h 81280"/>
              <a:gd name="connsiteX1" fmla="*/ 0 w 81280"/>
              <a:gd name="connsiteY1" fmla="*/ 81280 h 81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1280" h="81280">
                <a:moveTo>
                  <a:pt x="81280" y="0"/>
                </a:moveTo>
                <a:lnTo>
                  <a:pt x="0" y="8128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Полилиния 57"/>
          <p:cNvSpPr/>
          <p:nvPr/>
        </p:nvSpPr>
        <p:spPr>
          <a:xfrm>
            <a:off x="7484083" y="2528380"/>
            <a:ext cx="111760" cy="20320"/>
          </a:xfrm>
          <a:custGeom>
            <a:avLst/>
            <a:gdLst>
              <a:gd name="connsiteX0" fmla="*/ 0 w 111760"/>
              <a:gd name="connsiteY0" fmla="*/ 20320 h 20320"/>
              <a:gd name="connsiteX1" fmla="*/ 111760 w 111760"/>
              <a:gd name="connsiteY1" fmla="*/ 0 h 2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1760" h="20320">
                <a:moveTo>
                  <a:pt x="0" y="20320"/>
                </a:moveTo>
                <a:lnTo>
                  <a:pt x="111760" y="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Овал 58"/>
          <p:cNvSpPr/>
          <p:nvPr/>
        </p:nvSpPr>
        <p:spPr>
          <a:xfrm>
            <a:off x="8206899" y="3239568"/>
            <a:ext cx="45719" cy="457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1" name="Прямая соединительная линия 60"/>
          <p:cNvCxnSpPr>
            <a:stCxn id="32" idx="2"/>
            <a:endCxn id="59" idx="5"/>
          </p:cNvCxnSpPr>
          <p:nvPr/>
        </p:nvCxnSpPr>
        <p:spPr>
          <a:xfrm>
            <a:off x="7244787" y="1367359"/>
            <a:ext cx="1001136" cy="1911244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Полилиния 64"/>
          <p:cNvSpPr/>
          <p:nvPr/>
        </p:nvSpPr>
        <p:spPr>
          <a:xfrm>
            <a:off x="8166258" y="3045248"/>
            <a:ext cx="172720" cy="203200"/>
          </a:xfrm>
          <a:custGeom>
            <a:avLst/>
            <a:gdLst>
              <a:gd name="connsiteX0" fmla="*/ 0 w 172720"/>
              <a:gd name="connsiteY0" fmla="*/ 71120 h 203200"/>
              <a:gd name="connsiteX1" fmla="*/ 71120 w 172720"/>
              <a:gd name="connsiteY1" fmla="*/ 203200 h 203200"/>
              <a:gd name="connsiteX2" fmla="*/ 172720 w 172720"/>
              <a:gd name="connsiteY2" fmla="*/ 111760 h 203200"/>
              <a:gd name="connsiteX3" fmla="*/ 101600 w 172720"/>
              <a:gd name="connsiteY3" fmla="*/ 0 h 203200"/>
              <a:gd name="connsiteX4" fmla="*/ 0 w 172720"/>
              <a:gd name="connsiteY4" fmla="*/ 7112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720" h="203200">
                <a:moveTo>
                  <a:pt x="0" y="71120"/>
                </a:moveTo>
                <a:lnTo>
                  <a:pt x="71120" y="203200"/>
                </a:lnTo>
                <a:lnTo>
                  <a:pt x="172720" y="111760"/>
                </a:lnTo>
                <a:lnTo>
                  <a:pt x="101600" y="0"/>
                </a:lnTo>
                <a:lnTo>
                  <a:pt x="0" y="71120"/>
                </a:lnTo>
                <a:close/>
              </a:path>
            </a:pathLst>
          </a:custGeom>
          <a:solidFill>
            <a:schemeClr val="bg1">
              <a:lumMod val="85000"/>
              <a:alpha val="44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8100018" y="3271059"/>
                <a:ext cx="340413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charset="0"/>
                        </a:rPr>
                        <m:t>𝑀</m:t>
                      </m:r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0018" y="3271059"/>
                <a:ext cx="340413" cy="261610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Прямая соединительная линия 66"/>
          <p:cNvCxnSpPr>
            <a:stCxn id="36" idx="1"/>
            <a:endCxn id="66" idx="0"/>
          </p:cNvCxnSpPr>
          <p:nvPr/>
        </p:nvCxnSpPr>
        <p:spPr>
          <a:xfrm>
            <a:off x="7229355" y="2863361"/>
            <a:ext cx="1040870" cy="407698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Полилиния 69"/>
          <p:cNvSpPr/>
          <p:nvPr/>
        </p:nvSpPr>
        <p:spPr>
          <a:xfrm>
            <a:off x="7936474" y="3209090"/>
            <a:ext cx="282850" cy="164177"/>
          </a:xfrm>
          <a:custGeom>
            <a:avLst/>
            <a:gdLst>
              <a:gd name="connsiteX0" fmla="*/ 325120 w 325120"/>
              <a:gd name="connsiteY0" fmla="*/ 50800 h 182880"/>
              <a:gd name="connsiteX1" fmla="*/ 152400 w 325120"/>
              <a:gd name="connsiteY1" fmla="*/ 182880 h 182880"/>
              <a:gd name="connsiteX2" fmla="*/ 0 w 325120"/>
              <a:gd name="connsiteY2" fmla="*/ 132080 h 182880"/>
              <a:gd name="connsiteX3" fmla="*/ 172720 w 325120"/>
              <a:gd name="connsiteY3" fmla="*/ 0 h 182880"/>
              <a:gd name="connsiteX4" fmla="*/ 325120 w 325120"/>
              <a:gd name="connsiteY4" fmla="*/ 50800 h 182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5120" h="182880">
                <a:moveTo>
                  <a:pt x="325120" y="50800"/>
                </a:moveTo>
                <a:lnTo>
                  <a:pt x="152400" y="182880"/>
                </a:lnTo>
                <a:lnTo>
                  <a:pt x="0" y="132080"/>
                </a:lnTo>
                <a:lnTo>
                  <a:pt x="172720" y="0"/>
                </a:lnTo>
                <a:lnTo>
                  <a:pt x="325120" y="50800"/>
                </a:lnTo>
                <a:close/>
              </a:path>
            </a:pathLst>
          </a:custGeom>
          <a:solidFill>
            <a:schemeClr val="bg1">
              <a:lumMod val="85000"/>
              <a:alpha val="44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Сектор 70"/>
          <p:cNvSpPr/>
          <p:nvPr/>
        </p:nvSpPr>
        <p:spPr>
          <a:xfrm>
            <a:off x="7783729" y="2805439"/>
            <a:ext cx="914400" cy="914400"/>
          </a:xfrm>
          <a:prstGeom prst="pie">
            <a:avLst>
              <a:gd name="adj1" fmla="val 12067354"/>
              <a:gd name="adj2" fmla="val 14541241"/>
            </a:avLst>
          </a:prstGeom>
          <a:solidFill>
            <a:schemeClr val="accent1">
              <a:alpha val="28000"/>
            </a:schemeClr>
          </a:solidFill>
          <a:ln w="63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7770051" y="2916099"/>
                <a:ext cx="42672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charset="0"/>
                        </a:rPr>
                        <m:t>60</m:t>
                      </m:r>
                      <m:r>
                        <a:rPr lang="en-US" sz="11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°</m:t>
                      </m:r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0051" y="2916099"/>
                <a:ext cx="426720" cy="261610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238633" y="2172041"/>
                <a:ext cx="416088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𝐷𝑀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-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высота и медиана равнобедренного треугольника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𝐶𝐷𝐵</m:t>
                    </m:r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;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633" y="2172041"/>
                <a:ext cx="4160883" cy="276999"/>
              </a:xfrm>
              <a:prstGeom prst="rect">
                <a:avLst/>
              </a:prstGeom>
              <a:blipFill rotWithShape="0">
                <a:blip r:embed="rId18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238633" y="2375241"/>
                <a:ext cx="42050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𝐻</m:t>
                    </m:r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𝑀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-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высота и медиана равнобедренного треугольника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𝐶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𝐻</m:t>
                    </m:r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𝐵</m:t>
                    </m:r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;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633" y="2375241"/>
                <a:ext cx="4205062" cy="276999"/>
              </a:xfrm>
              <a:prstGeom prst="rect">
                <a:avLst/>
              </a:prstGeom>
              <a:blipFill rotWithShape="0">
                <a:blip r:embed="rId19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250592" y="2600619"/>
                <a:ext cx="51407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𝐻</m:t>
                    </m:r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𝑀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𝐷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=60°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- 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угол между боковой гранью </a:t>
                </a:r>
                <a14:m>
                  <m:oMath xmlns:m="http://schemas.openxmlformats.org/officeDocument/2006/math">
                    <m:r>
                      <a:rPr lang="en-US" sz="1200" b="0" i="1">
                        <a:solidFill>
                          <a:schemeClr val="tx1"/>
                        </a:solidFill>
                        <a:latin typeface="Cambria Math" charset="0"/>
                      </a:rPr>
                      <m:t>𝐵𝐷𝐶</m:t>
                    </m:r>
                    <m:r>
                      <a:rPr lang="en-US" sz="1200" b="0" i="1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dirty="0">
                    <a:solidFill>
                      <a:schemeClr val="tx1"/>
                    </a:solidFill>
                  </a:rPr>
                  <a:t>и плоскостью 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основания</a:t>
                </a:r>
                <a:r>
                  <a:rPr lang="en-US" sz="1200" dirty="0"/>
                  <a:t>.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92" y="2600619"/>
                <a:ext cx="5140766" cy="276999"/>
              </a:xfrm>
              <a:prstGeom prst="rect">
                <a:avLst/>
              </a:prstGeom>
              <a:blipFill rotWithShape="0">
                <a:blip r:embed="rId20"/>
                <a:stretch>
                  <a:fillRect t="-82222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Прямая соединительная линия 76"/>
          <p:cNvCxnSpPr/>
          <p:nvPr/>
        </p:nvCxnSpPr>
        <p:spPr>
          <a:xfrm flipH="1">
            <a:off x="6778803" y="1357199"/>
            <a:ext cx="455824" cy="1895075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Овал 82"/>
          <p:cNvSpPr/>
          <p:nvPr/>
        </p:nvSpPr>
        <p:spPr>
          <a:xfrm>
            <a:off x="6761343" y="3220485"/>
            <a:ext cx="41563" cy="4573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6565316" y="3241030"/>
                <a:ext cx="322781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charset="0"/>
                        </a:rPr>
                        <m:t>𝑁</m:t>
                      </m:r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316" y="3241030"/>
                <a:ext cx="322781" cy="261610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Полилиния 85"/>
          <p:cNvSpPr/>
          <p:nvPr/>
        </p:nvSpPr>
        <p:spPr>
          <a:xfrm>
            <a:off x="6646447" y="3038696"/>
            <a:ext cx="172720" cy="193040"/>
          </a:xfrm>
          <a:custGeom>
            <a:avLst/>
            <a:gdLst>
              <a:gd name="connsiteX0" fmla="*/ 172720 w 172720"/>
              <a:gd name="connsiteY0" fmla="*/ 40640 h 193040"/>
              <a:gd name="connsiteX1" fmla="*/ 40640 w 172720"/>
              <a:gd name="connsiteY1" fmla="*/ 0 h 193040"/>
              <a:gd name="connsiteX2" fmla="*/ 0 w 172720"/>
              <a:gd name="connsiteY2" fmla="*/ 142240 h 193040"/>
              <a:gd name="connsiteX3" fmla="*/ 132080 w 172720"/>
              <a:gd name="connsiteY3" fmla="*/ 193040 h 193040"/>
              <a:gd name="connsiteX4" fmla="*/ 172720 w 172720"/>
              <a:gd name="connsiteY4" fmla="*/ 40640 h 19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720" h="193040">
                <a:moveTo>
                  <a:pt x="172720" y="40640"/>
                </a:moveTo>
                <a:lnTo>
                  <a:pt x="40640" y="0"/>
                </a:lnTo>
                <a:lnTo>
                  <a:pt x="0" y="142240"/>
                </a:lnTo>
                <a:lnTo>
                  <a:pt x="132080" y="193040"/>
                </a:lnTo>
                <a:lnTo>
                  <a:pt x="172720" y="40640"/>
                </a:lnTo>
                <a:close/>
              </a:path>
            </a:pathLst>
          </a:custGeom>
          <a:solidFill>
            <a:schemeClr val="bg1">
              <a:lumMod val="85000"/>
              <a:alpha val="43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248346" y="2844560"/>
                <a:ext cx="416088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𝐷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𝑁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-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высота и медиана равнобедренного треугольника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𝐴</m:t>
                    </m:r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𝐷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𝐶</m:t>
                    </m:r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;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46" y="2844560"/>
                <a:ext cx="4160883" cy="276999"/>
              </a:xfrm>
              <a:prstGeom prst="rect">
                <a:avLst/>
              </a:prstGeom>
              <a:blipFill rotWithShape="0">
                <a:blip r:embed="rId22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Прямая соединительная линия 90"/>
          <p:cNvCxnSpPr>
            <a:stCxn id="36" idx="0"/>
            <a:endCxn id="83" idx="6"/>
          </p:cNvCxnSpPr>
          <p:nvPr/>
        </p:nvCxnSpPr>
        <p:spPr>
          <a:xfrm flipH="1">
            <a:off x="6802906" y="2856664"/>
            <a:ext cx="442614" cy="386687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Полилиния 94"/>
          <p:cNvSpPr/>
          <p:nvPr/>
        </p:nvSpPr>
        <p:spPr>
          <a:xfrm>
            <a:off x="6807200" y="3129280"/>
            <a:ext cx="294640" cy="162560"/>
          </a:xfrm>
          <a:custGeom>
            <a:avLst/>
            <a:gdLst>
              <a:gd name="connsiteX0" fmla="*/ 0 w 294640"/>
              <a:gd name="connsiteY0" fmla="*/ 111760 h 162560"/>
              <a:gd name="connsiteX1" fmla="*/ 142240 w 294640"/>
              <a:gd name="connsiteY1" fmla="*/ 0 h 162560"/>
              <a:gd name="connsiteX2" fmla="*/ 294640 w 294640"/>
              <a:gd name="connsiteY2" fmla="*/ 50800 h 162560"/>
              <a:gd name="connsiteX3" fmla="*/ 162560 w 294640"/>
              <a:gd name="connsiteY3" fmla="*/ 162560 h 162560"/>
              <a:gd name="connsiteX4" fmla="*/ 0 w 294640"/>
              <a:gd name="connsiteY4" fmla="*/ 111760 h 1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" h="162560">
                <a:moveTo>
                  <a:pt x="0" y="111760"/>
                </a:moveTo>
                <a:lnTo>
                  <a:pt x="142240" y="0"/>
                </a:lnTo>
                <a:lnTo>
                  <a:pt x="294640" y="50800"/>
                </a:lnTo>
                <a:lnTo>
                  <a:pt x="162560" y="162560"/>
                </a:lnTo>
                <a:lnTo>
                  <a:pt x="0" y="111760"/>
                </a:lnTo>
                <a:close/>
              </a:path>
            </a:pathLst>
          </a:custGeom>
          <a:solidFill>
            <a:schemeClr val="bg1">
              <a:lumMod val="85000"/>
              <a:alpha val="41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238186" y="3059934"/>
                <a:ext cx="416088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𝐻𝑁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-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высота и медиана равнобедренного треугольника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𝐴𝐻𝐶</m:t>
                    </m:r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;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186" y="3059934"/>
                <a:ext cx="4160883" cy="276999"/>
              </a:xfrm>
              <a:prstGeom prst="rect">
                <a:avLst/>
              </a:prstGeom>
              <a:blipFill rotWithShape="0">
                <a:blip r:embed="rId23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/>
              <p:cNvSpPr txBox="1"/>
              <p:nvPr/>
            </p:nvSpPr>
            <p:spPr>
              <a:xfrm>
                <a:off x="206915" y="3310240"/>
                <a:ext cx="458555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𝐻𝑁𝐷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- 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угол между боковой гранью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𝐴</m:t>
                    </m:r>
                    <m:r>
                      <a:rPr lang="en-US" sz="1200" b="0" i="1">
                        <a:solidFill>
                          <a:schemeClr val="tx1"/>
                        </a:solidFill>
                        <a:latin typeface="Cambria Math" charset="0"/>
                      </a:rPr>
                      <m:t>𝐷𝐶</m:t>
                    </m:r>
                    <m:r>
                      <a:rPr lang="en-US" sz="1200" b="0" i="1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dirty="0">
                    <a:solidFill>
                      <a:schemeClr val="tx1"/>
                    </a:solidFill>
                  </a:rPr>
                  <a:t>и плоскостью 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основания</a:t>
                </a:r>
                <a:r>
                  <a:rPr lang="en-US" sz="1200" dirty="0"/>
                  <a:t>.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7" name="TextBox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915" y="3310240"/>
                <a:ext cx="4585551" cy="276999"/>
              </a:xfrm>
              <a:prstGeom prst="rect">
                <a:avLst/>
              </a:prstGeom>
              <a:blipFill rotWithShape="0">
                <a:blip r:embed="rId24"/>
                <a:stretch>
                  <a:fillRect t="-80000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/>
              <p:cNvSpPr txBox="1"/>
              <p:nvPr/>
            </p:nvSpPr>
            <p:spPr>
              <a:xfrm>
                <a:off x="207185" y="3513440"/>
                <a:ext cx="1445139" cy="4795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𝐻𝑁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𝐵𝐶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0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; 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8" name="TextBox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185" y="3513440"/>
                <a:ext cx="1445139" cy="479555"/>
              </a:xfrm>
              <a:prstGeom prst="rect">
                <a:avLst/>
              </a:prstGeom>
              <a:blipFill rotWithShape="0">
                <a:blip r:embed="rId25"/>
                <a:stretch>
                  <a:fillRect t="-16456" b="-443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1476048" y="3565416"/>
                <a:ext cx="1360116" cy="4380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𝐻𝑀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𝐴𝐶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0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; 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6048" y="3565416"/>
                <a:ext cx="1360116" cy="438005"/>
              </a:xfrm>
              <a:prstGeom prst="rect">
                <a:avLst/>
              </a:prstGeom>
              <a:blipFill rotWithShape="0">
                <a:blip r:embed="rId26"/>
                <a:stretch>
                  <a:fillRect t="-27778" b="-486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/>
              <p:cNvSpPr txBox="1"/>
              <p:nvPr/>
            </p:nvSpPr>
            <p:spPr>
              <a:xfrm>
                <a:off x="2689204" y="3665050"/>
                <a:ext cx="189551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</a:rPr>
                        <m:t>𝐻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𝐷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𝐻𝑀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𝑡𝑔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(∠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𝐻𝑀𝐷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)=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0" name="TextBox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204" y="3665050"/>
                <a:ext cx="1895519" cy="276999"/>
              </a:xfrm>
              <a:prstGeom prst="rect">
                <a:avLst/>
              </a:prstGeom>
              <a:blipFill rotWithShape="0">
                <a:blip r:embed="rId27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/>
              <p:cNvSpPr txBox="1"/>
              <p:nvPr/>
            </p:nvSpPr>
            <p:spPr>
              <a:xfrm>
                <a:off x="4421818" y="3520367"/>
                <a:ext cx="1416863" cy="4795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𝑡𝑔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(60°)=</m:t>
                      </m:r>
                      <m:f>
                        <m:f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0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; 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1" name="TextBox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818" y="3520367"/>
                <a:ext cx="1416863" cy="479555"/>
              </a:xfrm>
              <a:prstGeom prst="rect">
                <a:avLst/>
              </a:prstGeom>
              <a:blipFill rotWithShape="0">
                <a:blip r:embed="rId28"/>
                <a:stretch>
                  <a:fillRect t="-16456" b="-443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/>
              <p:cNvSpPr txBox="1"/>
              <p:nvPr/>
            </p:nvSpPr>
            <p:spPr>
              <a:xfrm>
                <a:off x="179512" y="3998553"/>
                <a:ext cx="1370632" cy="436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𝑡𝑔</m:t>
                      </m:r>
                      <m:d>
                        <m:d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120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∠</m:t>
                          </m:r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𝐻𝑁𝐷</m:t>
                          </m:r>
                        </m:e>
                      </m:d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i="1" dirty="0">
                              <a:latin typeface="Cambria Math" charset="0"/>
                            </a:rPr>
                            <m:t>𝐻𝐷</m:t>
                          </m:r>
                        </m:num>
                        <m:den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𝐻𝑁</m:t>
                          </m:r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3998553"/>
                <a:ext cx="1370632" cy="436851"/>
              </a:xfrm>
              <a:prstGeom prst="rect">
                <a:avLst/>
              </a:prstGeom>
              <a:blipFill rotWithShape="0"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/>
              <p:cNvSpPr txBox="1"/>
              <p:nvPr/>
            </p:nvSpPr>
            <p:spPr>
              <a:xfrm>
                <a:off x="1372842" y="3844976"/>
                <a:ext cx="579518" cy="7897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sz="1200" i="1" dirty="0">
                                  <a:latin typeface="Cambria Math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1200" i="1" dirty="0">
                                      <a:latin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200" i="1" dirty="0">
                                      <a:latin typeface="Cambria Math" charset="0"/>
                                    </a:rPr>
                                    <m:t>3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1200" i="1" dirty="0">
                                  <a:latin typeface="Cambria Math" charset="0"/>
                                </a:rPr>
                                <m:t>2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US" sz="1200" i="1" dirty="0">
                                  <a:latin typeface="Cambria Math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1200" i="1" dirty="0">
                                      <a:latin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200" i="1" dirty="0">
                                      <a:latin typeface="Cambria Math" charset="0"/>
                                    </a:rPr>
                                    <m:t>3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1200" i="1" dirty="0">
                                  <a:latin typeface="Cambria Math" charset="0"/>
                                </a:rPr>
                                <m:t>2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842" y="3844976"/>
                <a:ext cx="579518" cy="789703"/>
              </a:xfrm>
              <a:prstGeom prst="rect">
                <a:avLst/>
              </a:prstGeom>
              <a:blipFill rotWithShape="0"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/>
              <p:cNvSpPr txBox="1"/>
              <p:nvPr/>
            </p:nvSpPr>
            <p:spPr>
              <a:xfrm>
                <a:off x="1769420" y="4097184"/>
                <a:ext cx="50315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=1;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4" name="TextBox 1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9420" y="4097184"/>
                <a:ext cx="503151" cy="276999"/>
              </a:xfrm>
              <a:prstGeom prst="rect">
                <a:avLst/>
              </a:prstGeom>
              <a:blipFill rotWithShape="0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/>
              <p:cNvSpPr txBox="1"/>
              <p:nvPr/>
            </p:nvSpPr>
            <p:spPr>
              <a:xfrm>
                <a:off x="2200405" y="4091073"/>
                <a:ext cx="111626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∠</m:t>
                      </m:r>
                      <m:r>
                        <a:rPr lang="en-US" sz="1200" i="1" dirty="0">
                          <a:latin typeface="Cambria Math" charset="0"/>
                        </a:rPr>
                        <m:t>𝐻𝑁𝐷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=45</m:t>
                      </m:r>
                      <m:r>
                        <a:rPr lang="it-IT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°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.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5" name="Text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0405" y="4091073"/>
                <a:ext cx="1116268" cy="276999"/>
              </a:xfrm>
              <a:prstGeom prst="rect">
                <a:avLst/>
              </a:prstGeom>
              <a:blipFill rotWithShape="0"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/>
              <p:cNvSpPr txBox="1"/>
              <p:nvPr/>
            </p:nvSpPr>
            <p:spPr>
              <a:xfrm>
                <a:off x="3316673" y="4092768"/>
                <a:ext cx="105567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𝐷𝐻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⊥(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𝐴𝐵𝐶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)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" name="TextBox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6673" y="4092768"/>
                <a:ext cx="1055674" cy="276999"/>
              </a:xfrm>
              <a:prstGeom prst="rect">
                <a:avLst/>
              </a:prstGeom>
              <a:blipFill rotWithShape="0">
                <a:blip r:embed="rId3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/>
              <p:cNvSpPr txBox="1"/>
              <p:nvPr/>
            </p:nvSpPr>
            <p:spPr>
              <a:xfrm>
                <a:off x="4218050" y="4091073"/>
                <a:ext cx="508658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⟹ 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угол между боковой гранью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𝐴</m:t>
                    </m:r>
                    <m:r>
                      <a:rPr lang="en-US" sz="1200" b="0" i="1">
                        <a:solidFill>
                          <a:schemeClr val="tx1"/>
                        </a:solidFill>
                        <a:latin typeface="Cambria Math" charset="0"/>
                      </a:rPr>
                      <m:t>𝐷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𝐵</m:t>
                    </m:r>
                    <m:r>
                      <a:rPr lang="en-US" sz="1200" b="0" i="1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dirty="0">
                    <a:solidFill>
                      <a:schemeClr val="tx1"/>
                    </a:solidFill>
                  </a:rPr>
                  <a:t>и плоскостью 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основания</a:t>
                </a:r>
                <a:r>
                  <a:rPr lang="en-US" sz="1200" dirty="0" smtClean="0"/>
                  <a:t> </a:t>
                </a:r>
                <a:r>
                  <a:rPr lang="ru-RU" sz="1200" dirty="0" smtClean="0"/>
                  <a:t>равен </a:t>
                </a:r>
                <a14:m>
                  <m:oMath xmlns:m="http://schemas.openxmlformats.org/officeDocument/2006/math">
                    <m:r>
                      <a:rPr lang="ru-RU" sz="1200" b="0" i="1" dirty="0" smtClean="0">
                        <a:latin typeface="Cambria Math" charset="0"/>
                      </a:rPr>
                      <m:t>90</m:t>
                    </m:r>
                    <m:r>
                      <a:rPr lang="it-IT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°</m:t>
                    </m:r>
                    <m:r>
                      <a:rPr lang="ru-RU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.</m:t>
                    </m:r>
                  </m:oMath>
                </a14:m>
                <a:r>
                  <a:rPr lang="ru-RU" sz="1200" dirty="0" smtClean="0"/>
                  <a:t>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7" name="TextBox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8050" y="4091073"/>
                <a:ext cx="5086585" cy="276999"/>
              </a:xfrm>
              <a:prstGeom prst="rect">
                <a:avLst/>
              </a:prstGeom>
              <a:blipFill rotWithShape="0">
                <a:blip r:embed="rId34"/>
                <a:stretch>
                  <a:fillRect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/>
              <p:cNvSpPr txBox="1"/>
              <p:nvPr/>
            </p:nvSpPr>
            <p:spPr>
              <a:xfrm>
                <a:off x="3727281" y="4459843"/>
                <a:ext cx="16894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b="1" dirty="0" smtClean="0">
                    <a:solidFill>
                      <a:srgbClr val="FF0000"/>
                    </a:solidFill>
                  </a:rPr>
                  <a:t>Ответ: </a:t>
                </a:r>
                <a14:m>
                  <m:oMath xmlns:m="http://schemas.openxmlformats.org/officeDocument/2006/math">
                    <m:r>
                      <a:rPr lang="ru-RU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𝟒𝟓</m:t>
                    </m:r>
                    <m:r>
                      <a:rPr lang="it-IT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°</m:t>
                    </m:r>
                    <m:r>
                      <a:rPr lang="ru-RU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;</m:t>
                    </m:r>
                    <m:r>
                      <a:rPr lang="ru-RU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𝟗𝟎</m:t>
                    </m:r>
                    <m:r>
                      <a:rPr lang="it-IT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°</m:t>
                    </m:r>
                  </m:oMath>
                </a14:m>
                <a:endParaRPr lang="ru-RU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8" name="TextBox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281" y="4459843"/>
                <a:ext cx="1689437" cy="369332"/>
              </a:xfrm>
              <a:prstGeom prst="rect">
                <a:avLst/>
              </a:prstGeom>
              <a:blipFill rotWithShape="0">
                <a:blip r:embed="rId35"/>
                <a:stretch>
                  <a:fillRect l="-2878" t="-10000" b="-2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Сектор 108"/>
          <p:cNvSpPr/>
          <p:nvPr/>
        </p:nvSpPr>
        <p:spPr>
          <a:xfrm>
            <a:off x="6331302" y="2791248"/>
            <a:ext cx="914400" cy="914400"/>
          </a:xfrm>
          <a:prstGeom prst="pie">
            <a:avLst>
              <a:gd name="adj1" fmla="val 16942845"/>
              <a:gd name="adj2" fmla="val 19174435"/>
            </a:avLst>
          </a:prstGeom>
          <a:solidFill>
            <a:srgbClr val="006600">
              <a:alpha val="19000"/>
            </a:srgbClr>
          </a:solidFill>
          <a:ln w="63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10" name="Полилиния 109"/>
          <p:cNvSpPr/>
          <p:nvPr/>
        </p:nvSpPr>
        <p:spPr>
          <a:xfrm>
            <a:off x="7386320" y="3129280"/>
            <a:ext cx="101600" cy="50800"/>
          </a:xfrm>
          <a:custGeom>
            <a:avLst/>
            <a:gdLst>
              <a:gd name="connsiteX0" fmla="*/ 0 w 101600"/>
              <a:gd name="connsiteY0" fmla="*/ 50800 h 50800"/>
              <a:gd name="connsiteX1" fmla="*/ 101600 w 101600"/>
              <a:gd name="connsiteY1" fmla="*/ 0 h 5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1600" h="50800">
                <a:moveTo>
                  <a:pt x="0" y="50800"/>
                </a:moveTo>
                <a:lnTo>
                  <a:pt x="101600" y="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1" name="Полилиния 110"/>
          <p:cNvSpPr/>
          <p:nvPr/>
        </p:nvSpPr>
        <p:spPr>
          <a:xfrm>
            <a:off x="7406276" y="3160616"/>
            <a:ext cx="101600" cy="50800"/>
          </a:xfrm>
          <a:custGeom>
            <a:avLst/>
            <a:gdLst>
              <a:gd name="connsiteX0" fmla="*/ 0 w 101600"/>
              <a:gd name="connsiteY0" fmla="*/ 50800 h 50800"/>
              <a:gd name="connsiteX1" fmla="*/ 101600 w 101600"/>
              <a:gd name="connsiteY1" fmla="*/ 0 h 5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1600" h="50800">
                <a:moveTo>
                  <a:pt x="0" y="50800"/>
                </a:moveTo>
                <a:lnTo>
                  <a:pt x="101600" y="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2044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29" grpId="0"/>
      <p:bldP spid="30" grpId="0"/>
      <p:bldP spid="31" grpId="0"/>
      <p:bldP spid="32" grpId="0"/>
      <p:bldP spid="34" grpId="0" animBg="1"/>
      <p:bldP spid="35" grpId="0" animBg="1"/>
      <p:bldP spid="36" grpId="0" animBg="1"/>
      <p:bldP spid="38" grpId="0"/>
      <p:bldP spid="40" grpId="1" animBg="1"/>
      <p:bldP spid="41" grpId="1" animBg="1"/>
      <p:bldP spid="42" grpId="1" animBg="1"/>
      <p:bldP spid="43" grpId="1" animBg="1"/>
      <p:bldP spid="47" grpId="0"/>
      <p:bldP spid="48" grpId="0"/>
      <p:bldP spid="49" grpId="0"/>
      <p:bldP spid="50" grpId="0"/>
      <p:bldP spid="52" grpId="0"/>
      <p:bldP spid="53" grpId="0"/>
      <p:bldP spid="54" grpId="0"/>
      <p:bldP spid="55" grpId="0"/>
      <p:bldP spid="56" grpId="0" animBg="1"/>
      <p:bldP spid="57" grpId="0" animBg="1"/>
      <p:bldP spid="58" grpId="0" animBg="1"/>
      <p:bldP spid="59" grpId="0" animBg="1"/>
      <p:bldP spid="65" grpId="0" animBg="1"/>
      <p:bldP spid="66" grpId="0"/>
      <p:bldP spid="70" grpId="0" animBg="1"/>
      <p:bldP spid="71" grpId="0" animBg="1"/>
      <p:bldP spid="72" grpId="0"/>
      <p:bldP spid="73" grpId="0"/>
      <p:bldP spid="74" grpId="0"/>
      <p:bldP spid="75" grpId="0"/>
      <p:bldP spid="83" grpId="0" animBg="1"/>
      <p:bldP spid="85" grpId="0"/>
      <p:bldP spid="86" grpId="0" animBg="1"/>
      <p:bldP spid="90" grpId="0"/>
      <p:bldP spid="95" grpId="0" animBg="1"/>
      <p:bldP spid="96" grpId="0"/>
      <p:bldP spid="97" grpId="0"/>
      <p:bldP spid="98" grpId="0"/>
      <p:bldP spid="99" grpId="0"/>
      <p:bldP spid="100" grpId="0"/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09" grpId="0" animBg="1"/>
      <p:bldP spid="110" grpId="0" animBg="1"/>
      <p:bldP spid="1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8</a:t>
            </a:fld>
            <a:endParaRPr kumimoji="0" lang="ru-RU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0" y="-22136"/>
                <a:ext cx="9144000" cy="93770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dirty="0" smtClean="0">
                    <a:solidFill>
                      <a:srgbClr val="7030A0"/>
                    </a:solidFill>
                  </a:rPr>
                  <a:t>5.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В</a:t>
                </a:r>
                <a14:m>
                  <m:oMath xmlns:m="http://schemas.openxmlformats.org/officeDocument/2006/math">
                    <m:r>
                      <a:rPr lang="ru-RU" sz="1200" b="1" i="0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правильной треугольной призме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𝑨𝑩𝑪</m:t>
                    </m:r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стороны основания равны 5, боковые ребра равны 2, точка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𝑫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−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середина ребра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𝑪</m:t>
                    </m:r>
                    <m:sSub>
                      <m:sSubPr>
                        <m:ctrlP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</a:t>
                </a: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а) Постройте прямую пересечения плоскостей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𝑨𝑩𝑪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𝑨𝑫</m:t>
                    </m:r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б) Найдите угол между плоскостями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𝑨𝑩𝑪</m:t>
                    </m:r>
                  </m:oMath>
                </a14:m>
                <a:r>
                  <a:rPr lang="en-US" sz="1200" b="1" dirty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>
                    <a:solidFill>
                      <a:srgbClr val="002060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𝑨𝑫</m:t>
                    </m:r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6"/>
                <a:ext cx="9144000" cy="93770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Прямая соединительная линия 5"/>
          <p:cNvCxnSpPr/>
          <p:nvPr/>
        </p:nvCxnSpPr>
        <p:spPr>
          <a:xfrm>
            <a:off x="5311685" y="2686991"/>
            <a:ext cx="3049539" cy="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 flipV="1">
            <a:off x="7664546" y="2682149"/>
            <a:ext cx="696678" cy="591066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5311684" y="2697150"/>
            <a:ext cx="2352862" cy="576065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 flipH="1" flipV="1">
            <a:off x="5307492" y="1680653"/>
            <a:ext cx="8384" cy="1016496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5301525" y="1675571"/>
            <a:ext cx="304953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 flipV="1">
            <a:off x="7664546" y="1680414"/>
            <a:ext cx="686518" cy="583565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5301524" y="1687914"/>
            <a:ext cx="2352862" cy="576065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H="1" flipV="1">
            <a:off x="7664546" y="2264220"/>
            <a:ext cx="8384" cy="1016496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 flipH="1" flipV="1">
            <a:off x="8342680" y="1674029"/>
            <a:ext cx="8384" cy="1016496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986956" y="2640376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6956" y="2640376"/>
                <a:ext cx="340286" cy="3077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8244408" y="2624013"/>
                <a:ext cx="3829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4408" y="2624013"/>
                <a:ext cx="382989" cy="3077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7611580" y="3231921"/>
                <a:ext cx="3481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1580" y="3231921"/>
                <a:ext cx="348172" cy="3077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4971398" y="1437151"/>
                <a:ext cx="41716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1398" y="1437151"/>
                <a:ext cx="417165" cy="3077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8313874" y="1427307"/>
                <a:ext cx="4140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3874" y="1427307"/>
                <a:ext cx="414088" cy="30777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7411461" y="1975941"/>
                <a:ext cx="4002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1461" y="1975941"/>
                <a:ext cx="400238" cy="30777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Овал 30"/>
          <p:cNvSpPr/>
          <p:nvPr/>
        </p:nvSpPr>
        <p:spPr>
          <a:xfrm flipH="1" flipV="1">
            <a:off x="7647321" y="2713935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7616841" y="2622550"/>
                <a:ext cx="31861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charset="0"/>
                        </a:rPr>
                        <m:t>𝐷</m:t>
                      </m:r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6841" y="2622550"/>
                <a:ext cx="318612" cy="26161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Прямая соединительная линия 33"/>
          <p:cNvCxnSpPr/>
          <p:nvPr/>
        </p:nvCxnSpPr>
        <p:spPr>
          <a:xfrm>
            <a:off x="5323281" y="2697149"/>
            <a:ext cx="2335297" cy="43098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/>
          <p:nvPr/>
        </p:nvCxnSpPr>
        <p:spPr>
          <a:xfrm flipV="1">
            <a:off x="7678898" y="1675330"/>
            <a:ext cx="670791" cy="104834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/>
          <p:cNvCxnSpPr/>
          <p:nvPr/>
        </p:nvCxnSpPr>
        <p:spPr>
          <a:xfrm flipV="1">
            <a:off x="5306117" y="1675331"/>
            <a:ext cx="3033196" cy="1014318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Полилиния 49"/>
          <p:cNvSpPr/>
          <p:nvPr/>
        </p:nvSpPr>
        <p:spPr>
          <a:xfrm>
            <a:off x="5351791" y="1679766"/>
            <a:ext cx="3007360" cy="1056640"/>
          </a:xfrm>
          <a:custGeom>
            <a:avLst/>
            <a:gdLst>
              <a:gd name="connsiteX0" fmla="*/ 0 w 3007360"/>
              <a:gd name="connsiteY0" fmla="*/ 1005840 h 1056640"/>
              <a:gd name="connsiteX1" fmla="*/ 3007360 w 3007360"/>
              <a:gd name="connsiteY1" fmla="*/ 0 h 1056640"/>
              <a:gd name="connsiteX2" fmla="*/ 2336800 w 3007360"/>
              <a:gd name="connsiteY2" fmla="*/ 1056640 h 1056640"/>
              <a:gd name="connsiteX3" fmla="*/ 0 w 3007360"/>
              <a:gd name="connsiteY3" fmla="*/ 1005840 h 1056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07360" h="1056640">
                <a:moveTo>
                  <a:pt x="0" y="1005840"/>
                </a:moveTo>
                <a:lnTo>
                  <a:pt x="3007360" y="0"/>
                </a:lnTo>
                <a:lnTo>
                  <a:pt x="2336800" y="1056640"/>
                </a:lnTo>
                <a:lnTo>
                  <a:pt x="0" y="1005840"/>
                </a:lnTo>
                <a:close/>
              </a:path>
            </a:pathLst>
          </a:custGeom>
          <a:solidFill>
            <a:srgbClr val="FF0000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2" name="Прямая соединительная линия 51"/>
          <p:cNvCxnSpPr/>
          <p:nvPr/>
        </p:nvCxnSpPr>
        <p:spPr>
          <a:xfrm flipH="1">
            <a:off x="6487529" y="3263055"/>
            <a:ext cx="1185401" cy="989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 flipH="1">
            <a:off x="6754686" y="2736406"/>
            <a:ext cx="913742" cy="1408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Овал 57"/>
          <p:cNvSpPr/>
          <p:nvPr/>
        </p:nvSpPr>
        <p:spPr>
          <a:xfrm flipH="1" flipV="1">
            <a:off x="6865631" y="3908534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6760354" y="3979381"/>
                <a:ext cx="3481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𝑃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0354" y="3979381"/>
                <a:ext cx="348172" cy="30777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234247" y="993090"/>
                <a:ext cx="128580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/>
                  <a:t>а)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charset="0"/>
                      </a:rPr>
                      <m:t>𝑃</m:t>
                    </m:r>
                    <m:r>
                      <a:rPr lang="en-US" sz="1200" b="0" i="1" dirty="0" smtClean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sz="12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dirty="0" smtClean="0">
                        <a:latin typeface="Cambria Math" charset="0"/>
                      </a:rPr>
                      <m:t>𝐷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∩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𝐵𝐶</m:t>
                    </m:r>
                  </m:oMath>
                </a14:m>
                <a:endParaRPr lang="ru-RU" sz="1200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247" y="993090"/>
                <a:ext cx="1285801" cy="276999"/>
              </a:xfrm>
              <a:prstGeom prst="rect">
                <a:avLst/>
              </a:prstGeom>
              <a:blipFill rotWithShape="0">
                <a:blip r:embed="rId11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1423968" y="986686"/>
                <a:ext cx="177433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𝑃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∈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𝐴𝐷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 </m:t>
                      </m:r>
                      <m:r>
                        <a:rPr lang="en-US" sz="1200" i="1" dirty="0">
                          <a:latin typeface="Cambria Math" charset="0"/>
                        </a:rPr>
                        <m:t>𝑃</m:t>
                      </m:r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∈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𝐴𝐵𝐶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968" y="986686"/>
                <a:ext cx="1774332" cy="276999"/>
              </a:xfrm>
              <a:prstGeom prst="rect">
                <a:avLst/>
              </a:prstGeom>
              <a:blipFill rotWithShape="0">
                <a:blip r:embed="rId12"/>
                <a:stretch>
                  <a:fillRect t="-80000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234247" y="1259920"/>
                <a:ext cx="391915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𝐴𝑃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ru-RU" sz="1200" dirty="0">
                          <a:solidFill>
                            <a:schemeClr val="tx1"/>
                          </a:solidFill>
                        </a:rPr>
                        <m:t>прям</m:t>
                      </m:r>
                      <m:r>
                        <m:rPr>
                          <m:nor/>
                        </m:rPr>
                        <a:rPr lang="ru-RU" sz="1200" i="0" dirty="0" smtClean="0">
                          <a:solidFill>
                            <a:schemeClr val="tx1"/>
                          </a:solidFill>
                        </a:rPr>
                        <m:t>ая</m:t>
                      </m:r>
                      <m:r>
                        <m:rPr>
                          <m:nor/>
                        </m:rPr>
                        <a:rPr lang="ru-RU" sz="1200" dirty="0">
                          <a:solidFill>
                            <a:schemeClr val="tx1"/>
                          </a:solidFill>
                        </a:rPr>
                        <m:t> пересечения плоскостей </m:t>
                      </m:r>
                      <m:r>
                        <a:rPr lang="en-US" sz="1200" b="0" i="1" dirty="0">
                          <a:solidFill>
                            <a:schemeClr val="tx1"/>
                          </a:solidFill>
                          <a:latin typeface="Cambria Math" charset="0"/>
                        </a:rPr>
                        <m:t>𝐴𝐵𝐶</m:t>
                      </m:r>
                      <m:r>
                        <m:rPr>
                          <m:nor/>
                        </m:rPr>
                        <a:rPr lang="en-US" sz="1200" dirty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ru-RU" sz="1200" dirty="0">
                          <a:solidFill>
                            <a:schemeClr val="tx1"/>
                          </a:solidFill>
                        </a:rPr>
                        <m:t>и </m:t>
                      </m:r>
                      <m:r>
                        <a:rPr lang="en-US" sz="1200" b="0" i="1" dirty="0">
                          <a:solidFill>
                            <a:schemeClr val="tx1"/>
                          </a:solidFill>
                          <a:latin typeface="Cambria Math" charset="0"/>
                        </a:rPr>
                        <m:t>𝐴𝐷</m:t>
                      </m:r>
                      <m:sSub>
                        <m:sSubPr>
                          <m:ctrlPr>
                            <a:rPr lang="en-US" sz="1200" i="1" dirty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dirty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dirty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247" y="1259920"/>
                <a:ext cx="3919150" cy="276999"/>
              </a:xfrm>
              <a:prstGeom prst="rect">
                <a:avLst/>
              </a:prstGeom>
              <a:blipFill rotWithShape="0">
                <a:blip r:embed="rId1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Прямая соединительная линия 63"/>
          <p:cNvCxnSpPr/>
          <p:nvPr/>
        </p:nvCxnSpPr>
        <p:spPr>
          <a:xfrm flipH="1" flipV="1">
            <a:off x="5018681" y="2451095"/>
            <a:ext cx="2296276" cy="18360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224087" y="1530588"/>
                <a:ext cx="382617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>
                    <a:solidFill>
                      <a:schemeClr val="tx1"/>
                    </a:solidFill>
                  </a:rPr>
                  <a:t>б) </a:t>
                </a:r>
                <a:r>
                  <a:rPr lang="ru-RU" sz="1200" i="0" dirty="0" smtClean="0">
                    <a:solidFill>
                      <a:schemeClr val="tx1"/>
                    </a:solidFill>
                    <a:latin typeface="+mj-lt"/>
                  </a:rPr>
                  <a:t>Пусть угол между плоскостями </a:t>
                </a:r>
                <a14:m>
                  <m:oMath xmlns:m="http://schemas.openxmlformats.org/officeDocument/2006/math"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charset="0"/>
                      </a:rPr>
                      <m:t>𝐴𝐵𝐶</m:t>
                    </m:r>
                    <m:r>
                      <m:rPr>
                        <m:nor/>
                      </m:rPr>
                      <a:rPr lang="en-US" sz="1200" dirty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ru-RU" sz="1200" dirty="0">
                        <a:solidFill>
                          <a:schemeClr val="tx1"/>
                        </a:solidFill>
                      </a:rPr>
                      <m:t>и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charset="0"/>
                      </a:rPr>
                      <m:t>𝐴𝐷</m:t>
                    </m:r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равен </a:t>
                </a:r>
                <a14:m>
                  <m:oMath xmlns:m="http://schemas.openxmlformats.org/officeDocument/2006/math">
                    <m:r>
                      <a:rPr lang="ru-RU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.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087" y="1530588"/>
                <a:ext cx="3826176" cy="276999"/>
              </a:xfrm>
              <a:prstGeom prst="rect">
                <a:avLst/>
              </a:prstGeom>
              <a:blipFill rotWithShape="0">
                <a:blip r:embed="rId14"/>
                <a:stretch>
                  <a:fillRect l="-159"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234247" y="1797418"/>
                <a:ext cx="2822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>
                    <a:solidFill>
                      <a:schemeClr val="tx1"/>
                    </a:solidFill>
                  </a:rPr>
                  <a:t>Рассмотрим треугольники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charset="0"/>
                      </a:rPr>
                      <m:t>𝐴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𝐵</m:t>
                    </m:r>
                    <m:r>
                      <a:rPr lang="en-US" sz="1200" i="1" dirty="0">
                        <a:latin typeface="Cambria Math" charset="0"/>
                      </a:rPr>
                      <m:t>𝑃</m:t>
                    </m:r>
                    <m:r>
                      <a:rPr lang="en-US" sz="1200" b="0" i="1" dirty="0" smtClean="0"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0" i="0" dirty="0" smtClean="0">
                    <a:latin typeface="+mj-lt"/>
                  </a:rPr>
                  <a:t>и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charset="0"/>
                      </a:rPr>
                      <m:t>𝐴</m:t>
                    </m:r>
                    <m:sSub>
                      <m:sSubPr>
                        <m:ctrlPr>
                          <a:rPr lang="en-US" sz="12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sz="1200" i="1" dirty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i="1" dirty="0">
                        <a:latin typeface="Cambria Math" charset="0"/>
                      </a:rPr>
                      <m:t>𝑃</m:t>
                    </m:r>
                    <m:r>
                      <a:rPr lang="en-US" sz="1200" b="0" i="1" dirty="0" smtClean="0">
                        <a:latin typeface="Cambria Math" charset="0"/>
                      </a:rPr>
                      <m:t>. </m:t>
                    </m:r>
                    <m:r>
                      <a:rPr lang="en-US" sz="1200" i="1" dirty="0">
                        <a:latin typeface="Cambria Math" charset="0"/>
                      </a:rPr>
                      <m:t> 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247" y="1797418"/>
                <a:ext cx="2822760" cy="276999"/>
              </a:xfrm>
              <a:prstGeom prst="rect">
                <a:avLst/>
              </a:prstGeom>
              <a:blipFill rotWithShape="0">
                <a:blip r:embed="rId15"/>
                <a:stretch>
                  <a:fillRect t="-80000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Полилиния 71"/>
          <p:cNvSpPr/>
          <p:nvPr/>
        </p:nvSpPr>
        <p:spPr>
          <a:xfrm>
            <a:off x="5334459" y="2692047"/>
            <a:ext cx="3037840" cy="1249680"/>
          </a:xfrm>
          <a:custGeom>
            <a:avLst/>
            <a:gdLst>
              <a:gd name="connsiteX0" fmla="*/ 0 w 3037840"/>
              <a:gd name="connsiteY0" fmla="*/ 0 h 1249680"/>
              <a:gd name="connsiteX1" fmla="*/ 3037840 w 3037840"/>
              <a:gd name="connsiteY1" fmla="*/ 0 h 1249680"/>
              <a:gd name="connsiteX2" fmla="*/ 1554480 w 3037840"/>
              <a:gd name="connsiteY2" fmla="*/ 1249680 h 1249680"/>
              <a:gd name="connsiteX3" fmla="*/ 0 w 3037840"/>
              <a:gd name="connsiteY3" fmla="*/ 0 h 1249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7840" h="1249680">
                <a:moveTo>
                  <a:pt x="0" y="0"/>
                </a:moveTo>
                <a:lnTo>
                  <a:pt x="3037840" y="0"/>
                </a:lnTo>
                <a:lnTo>
                  <a:pt x="1554480" y="124968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Полилиния 72"/>
          <p:cNvSpPr/>
          <p:nvPr/>
        </p:nvSpPr>
        <p:spPr>
          <a:xfrm>
            <a:off x="5319331" y="1701524"/>
            <a:ext cx="3007360" cy="2245360"/>
          </a:xfrm>
          <a:custGeom>
            <a:avLst/>
            <a:gdLst>
              <a:gd name="connsiteX0" fmla="*/ 0 w 3007360"/>
              <a:gd name="connsiteY0" fmla="*/ 1005840 h 2245360"/>
              <a:gd name="connsiteX1" fmla="*/ 3007360 w 3007360"/>
              <a:gd name="connsiteY1" fmla="*/ 0 h 2245360"/>
              <a:gd name="connsiteX2" fmla="*/ 1564640 w 3007360"/>
              <a:gd name="connsiteY2" fmla="*/ 2245360 h 2245360"/>
              <a:gd name="connsiteX3" fmla="*/ 0 w 3007360"/>
              <a:gd name="connsiteY3" fmla="*/ 1005840 h 2245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07360" h="2245360">
                <a:moveTo>
                  <a:pt x="0" y="1005840"/>
                </a:moveTo>
                <a:lnTo>
                  <a:pt x="3007360" y="0"/>
                </a:lnTo>
                <a:lnTo>
                  <a:pt x="1564640" y="2245360"/>
                </a:lnTo>
                <a:lnTo>
                  <a:pt x="0" y="1005840"/>
                </a:lnTo>
                <a:close/>
              </a:path>
            </a:pathLst>
          </a:custGeom>
          <a:solidFill>
            <a:srgbClr val="FF00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6681544" y="1373376"/>
                <a:ext cx="3241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5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1544" y="1373376"/>
                <a:ext cx="324128" cy="307777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8352328" y="2047949"/>
                <a:ext cx="3241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2328" y="2047949"/>
                <a:ext cx="324128" cy="307777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Прямая соединительная линия 89"/>
          <p:cNvCxnSpPr/>
          <p:nvPr/>
        </p:nvCxnSpPr>
        <p:spPr>
          <a:xfrm flipH="1">
            <a:off x="6681544" y="1685903"/>
            <a:ext cx="1657071" cy="1034880"/>
          </a:xfrm>
          <a:prstGeom prst="line">
            <a:avLst/>
          </a:prstGeom>
          <a:ln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Прямая соединительная линия 91"/>
          <p:cNvCxnSpPr/>
          <p:nvPr/>
        </p:nvCxnSpPr>
        <p:spPr>
          <a:xfrm flipH="1">
            <a:off x="5968476" y="2733125"/>
            <a:ext cx="713069" cy="476675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Овал 93"/>
          <p:cNvSpPr/>
          <p:nvPr/>
        </p:nvSpPr>
        <p:spPr>
          <a:xfrm flipH="1" flipV="1">
            <a:off x="5949470" y="3187788"/>
            <a:ext cx="41563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/>
              <p:cNvSpPr txBox="1"/>
              <p:nvPr/>
            </p:nvSpPr>
            <p:spPr>
              <a:xfrm>
                <a:off x="5680031" y="3155796"/>
                <a:ext cx="3614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𝐻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97" name="TextBox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031" y="3155796"/>
                <a:ext cx="361446" cy="307777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Полилиния 99"/>
          <p:cNvSpPr/>
          <p:nvPr/>
        </p:nvSpPr>
        <p:spPr>
          <a:xfrm>
            <a:off x="5831840" y="2997200"/>
            <a:ext cx="264160" cy="203200"/>
          </a:xfrm>
          <a:custGeom>
            <a:avLst/>
            <a:gdLst>
              <a:gd name="connsiteX0" fmla="*/ 0 w 264160"/>
              <a:gd name="connsiteY0" fmla="*/ 91440 h 203200"/>
              <a:gd name="connsiteX1" fmla="*/ 132080 w 264160"/>
              <a:gd name="connsiteY1" fmla="*/ 0 h 203200"/>
              <a:gd name="connsiteX2" fmla="*/ 264160 w 264160"/>
              <a:gd name="connsiteY2" fmla="*/ 111760 h 203200"/>
              <a:gd name="connsiteX3" fmla="*/ 132080 w 264160"/>
              <a:gd name="connsiteY3" fmla="*/ 203200 h 203200"/>
              <a:gd name="connsiteX4" fmla="*/ 0 w 264160"/>
              <a:gd name="connsiteY4" fmla="*/ 9144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160" h="203200">
                <a:moveTo>
                  <a:pt x="0" y="91440"/>
                </a:moveTo>
                <a:lnTo>
                  <a:pt x="132080" y="0"/>
                </a:lnTo>
                <a:lnTo>
                  <a:pt x="264160" y="111760"/>
                </a:lnTo>
                <a:lnTo>
                  <a:pt x="132080" y="203200"/>
                </a:lnTo>
                <a:lnTo>
                  <a:pt x="0" y="91440"/>
                </a:lnTo>
                <a:close/>
              </a:path>
            </a:pathLst>
          </a:custGeom>
          <a:solidFill>
            <a:schemeClr val="bg1">
              <a:lumMod val="85000"/>
              <a:alpha val="90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1" name="Прямая соединительная линия 100"/>
          <p:cNvCxnSpPr/>
          <p:nvPr/>
        </p:nvCxnSpPr>
        <p:spPr>
          <a:xfrm flipH="1">
            <a:off x="5995362" y="3049917"/>
            <a:ext cx="750712" cy="176720"/>
          </a:xfrm>
          <a:prstGeom prst="line">
            <a:avLst/>
          </a:prstGeom>
          <a:ln>
            <a:solidFill>
              <a:srgbClr val="7030A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Прямая соединительная линия 103"/>
          <p:cNvCxnSpPr/>
          <p:nvPr/>
        </p:nvCxnSpPr>
        <p:spPr>
          <a:xfrm flipH="1">
            <a:off x="6778028" y="2694413"/>
            <a:ext cx="1531082" cy="346680"/>
          </a:xfrm>
          <a:prstGeom prst="line">
            <a:avLst/>
          </a:prstGeom>
          <a:ln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Полилиния 108"/>
          <p:cNvSpPr/>
          <p:nvPr/>
        </p:nvSpPr>
        <p:spPr>
          <a:xfrm>
            <a:off x="5994400" y="3190240"/>
            <a:ext cx="314960" cy="132080"/>
          </a:xfrm>
          <a:custGeom>
            <a:avLst/>
            <a:gdLst>
              <a:gd name="connsiteX0" fmla="*/ 0 w 314960"/>
              <a:gd name="connsiteY0" fmla="*/ 40640 h 132080"/>
              <a:gd name="connsiteX1" fmla="*/ 182880 w 314960"/>
              <a:gd name="connsiteY1" fmla="*/ 0 h 132080"/>
              <a:gd name="connsiteX2" fmla="*/ 314960 w 314960"/>
              <a:gd name="connsiteY2" fmla="*/ 101600 h 132080"/>
              <a:gd name="connsiteX3" fmla="*/ 142240 w 314960"/>
              <a:gd name="connsiteY3" fmla="*/ 132080 h 132080"/>
              <a:gd name="connsiteX4" fmla="*/ 0 w 314960"/>
              <a:gd name="connsiteY4" fmla="*/ 40640 h 132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4960" h="132080">
                <a:moveTo>
                  <a:pt x="0" y="40640"/>
                </a:moveTo>
                <a:lnTo>
                  <a:pt x="182880" y="0"/>
                </a:lnTo>
                <a:lnTo>
                  <a:pt x="314960" y="101600"/>
                </a:lnTo>
                <a:lnTo>
                  <a:pt x="142240" y="132080"/>
                </a:lnTo>
                <a:lnTo>
                  <a:pt x="0" y="40640"/>
                </a:lnTo>
                <a:close/>
              </a:path>
            </a:pathLst>
          </a:custGeom>
          <a:solidFill>
            <a:schemeClr val="bg1">
              <a:lumMod val="85000"/>
              <a:alpha val="49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/>
              <p:cNvSpPr txBox="1"/>
              <p:nvPr/>
            </p:nvSpPr>
            <p:spPr>
              <a:xfrm>
                <a:off x="234247" y="2061002"/>
                <a:ext cx="199298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sz="1200" i="1" dirty="0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dirty="0" smtClean="0">
                        <a:latin typeface="Cambria Math" charset="0"/>
                      </a:rPr>
                      <m:t>𝐻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⊥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𝐴𝑃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1200" b="0" i="0" dirty="0" smtClean="0">
                    <a:latin typeface="+mj-lt"/>
                    <a:ea typeface="Cambria Math" charset="0"/>
                    <a:cs typeface="Cambria Math" charset="0"/>
                  </a:rPr>
                  <a:t>(</a:t>
                </a:r>
                <a:r>
                  <a:rPr lang="ru-RU" sz="1200" b="0" i="0" dirty="0" smtClean="0">
                    <a:latin typeface="+mj-lt"/>
                    <a:ea typeface="Cambria Math" charset="0"/>
                    <a:cs typeface="Cambria Math" charset="0"/>
                  </a:rPr>
                  <a:t>по построению)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0" name="TextBox 1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247" y="2061002"/>
                <a:ext cx="1992981" cy="276999"/>
              </a:xfrm>
              <a:prstGeom prst="rect">
                <a:avLst/>
              </a:prstGeom>
              <a:blipFill rotWithShape="0">
                <a:blip r:embed="rId19"/>
                <a:stretch>
                  <a:fillRect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/>
              <p:cNvSpPr txBox="1"/>
              <p:nvPr/>
            </p:nvSpPr>
            <p:spPr>
              <a:xfrm>
                <a:off x="322547" y="2325372"/>
                <a:ext cx="351121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𝐵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𝐻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⊥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𝐴𝑃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1200" b="0" i="0" dirty="0" smtClean="0">
                    <a:latin typeface="+mj-lt"/>
                    <a:ea typeface="Cambria Math" charset="0"/>
                    <a:cs typeface="Cambria Math" charset="0"/>
                  </a:rPr>
                  <a:t>(</a:t>
                </a:r>
                <a:r>
                  <a:rPr lang="ru-RU" sz="1200" b="0" i="0" dirty="0" smtClean="0">
                    <a:latin typeface="+mj-lt"/>
                    <a:ea typeface="Cambria Math" charset="0"/>
                    <a:cs typeface="Cambria Math" charset="0"/>
                  </a:rPr>
                  <a:t>по теореме о трех перпендикулярах)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1" name="TextBox 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547" y="2325372"/>
                <a:ext cx="3511218" cy="276999"/>
              </a:xfrm>
              <a:prstGeom prst="rect">
                <a:avLst/>
              </a:prstGeom>
              <a:blipFill rotWithShape="0">
                <a:blip r:embed="rId20"/>
                <a:stretch>
                  <a:fillRect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/>
              <p:cNvSpPr txBox="1"/>
              <p:nvPr/>
            </p:nvSpPr>
            <p:spPr>
              <a:xfrm>
                <a:off x="296123" y="2560777"/>
                <a:ext cx="12239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ru-RU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𝛼</m:t>
                      </m:r>
                      <m:r>
                        <a:rPr lang="ru-RU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=∠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𝐵𝐻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2" name="TextBox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23" y="2560777"/>
                <a:ext cx="1223925" cy="276999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/>
              <p:cNvSpPr txBox="1"/>
              <p:nvPr/>
            </p:nvSpPr>
            <p:spPr>
              <a:xfrm>
                <a:off x="296123" y="2819400"/>
                <a:ext cx="435600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∆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𝐶𝐷𝑃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=∆</m:t>
                    </m:r>
                    <m:sSub>
                      <m:sSubPr>
                        <m:ctrlPr>
                          <a:rPr lang="en-US" sz="1200" b="0" i="1" dirty="0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𝐶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𝐷</m:t>
                    </m:r>
                    <m:sSub>
                      <m:sSubPr>
                        <m:ctrlPr>
                          <a:rPr lang="en-US" sz="1200" b="0" i="1" dirty="0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1200" b="0" i="0" dirty="0" smtClean="0">
                    <a:latin typeface="+mj-lt"/>
                    <a:ea typeface="Cambria Math" charset="0"/>
                    <a:cs typeface="Cambria Math" charset="0"/>
                  </a:rPr>
                  <a:t>(</a:t>
                </a:r>
                <a:r>
                  <a:rPr lang="ru-RU" sz="1200" b="0" i="0" dirty="0" smtClean="0">
                    <a:latin typeface="+mj-lt"/>
                    <a:ea typeface="Cambria Math" charset="0"/>
                    <a:cs typeface="Cambria Math" charset="0"/>
                  </a:rPr>
                  <a:t>по катету и острому углу)</a:t>
                </a:r>
                <a:r>
                  <a:rPr lang="en-US" sz="1200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𝐵𝑃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=2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𝐵𝐶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=10;</m:t>
                    </m:r>
                  </m:oMath>
                </a14:m>
                <a:endParaRPr lang="en-US" sz="1200" b="0" dirty="0" smtClean="0"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113" name="TextBox 1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23" y="2819400"/>
                <a:ext cx="4356001" cy="276999"/>
              </a:xfrm>
              <a:prstGeom prst="rect">
                <a:avLst/>
              </a:prstGeom>
              <a:blipFill rotWithShape="0">
                <a:blip r:embed="rId22"/>
                <a:stretch>
                  <a:fillRect t="-82222" b="-10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/>
              <p:cNvSpPr txBox="1"/>
              <p:nvPr/>
            </p:nvSpPr>
            <p:spPr>
              <a:xfrm>
                <a:off x="234247" y="3124555"/>
                <a:ext cx="29340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</m:t>
                      </m:r>
                      <m:sSup>
                        <m:sSup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𝑃</m:t>
                          </m:r>
                        </m:e>
                        <m:sup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</m:t>
                      </m:r>
                      <m:sSup>
                        <m:sSup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</m:t>
                          </m:r>
                        </m:e>
                        <m:sup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+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</m:t>
                      </m:r>
                      <m:sSup>
                        <m:sSup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𝑃</m:t>
                          </m:r>
                        </m:e>
                        <m:sup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−2∙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𝐴𝐵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𝐵𝑃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𝑐𝑜𝑠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60°</m:t>
                      </m:r>
                    </m:oMath>
                  </m:oMathPara>
                </a14:m>
                <a:endParaRPr lang="en-US" sz="1200" b="0" dirty="0" smtClean="0"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114" name="TextBox 1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247" y="3124555"/>
                <a:ext cx="2934072" cy="276999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/>
              <p:cNvSpPr txBox="1"/>
              <p:nvPr/>
            </p:nvSpPr>
            <p:spPr>
              <a:xfrm>
                <a:off x="2952035" y="3014504"/>
                <a:ext cx="1910908" cy="4380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sSup>
                        <m:sSup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5</m:t>
                          </m:r>
                        </m:e>
                        <m:sup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+</m:t>
                      </m:r>
                      <m:sSup>
                        <m:sSup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10</m:t>
                          </m:r>
                        </m:e>
                        <m:sup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−2∙5∙10∙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200" b="0" dirty="0" smtClean="0"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115" name="TextBox 1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2035" y="3014504"/>
                <a:ext cx="1910908" cy="438005"/>
              </a:xfrm>
              <a:prstGeom prst="rect">
                <a:avLst/>
              </a:prstGeom>
              <a:blipFill rotWithShape="0">
                <a:blip r:embed="rId24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/>
              <p:cNvSpPr txBox="1"/>
              <p:nvPr/>
            </p:nvSpPr>
            <p:spPr>
              <a:xfrm>
                <a:off x="4692400" y="3131038"/>
                <a:ext cx="5544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=75</m:t>
                      </m:r>
                    </m:oMath>
                  </m:oMathPara>
                </a14:m>
                <a:endParaRPr lang="en-US" sz="1200" b="0" dirty="0" smtClean="0"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116" name="TextBox 1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2400" y="3131038"/>
                <a:ext cx="554447" cy="276999"/>
              </a:xfrm>
              <a:prstGeom prst="rect">
                <a:avLst/>
              </a:prstGeom>
              <a:blipFill rotWithShape="0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Сектор 116"/>
          <p:cNvSpPr/>
          <p:nvPr/>
        </p:nvSpPr>
        <p:spPr>
          <a:xfrm>
            <a:off x="5500131" y="2776834"/>
            <a:ext cx="914400" cy="914400"/>
          </a:xfrm>
          <a:prstGeom prst="pie">
            <a:avLst>
              <a:gd name="adj1" fmla="val 19535422"/>
              <a:gd name="adj2" fmla="val 20821849"/>
            </a:avLst>
          </a:prstGeom>
          <a:solidFill>
            <a:srgbClr val="7030A0">
              <a:alpha val="49000"/>
            </a:srgbClr>
          </a:solidFill>
          <a:ln w="63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/>
              <p:cNvSpPr txBox="1"/>
              <p:nvPr/>
            </p:nvSpPr>
            <p:spPr>
              <a:xfrm>
                <a:off x="243008" y="3370614"/>
                <a:ext cx="31815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</m:t>
                      </m:r>
                      <m:sSup>
                        <m:sSup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</m:t>
                          </m:r>
                        </m:e>
                        <m:sup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</m:t>
                      </m:r>
                      <m:sSup>
                        <m:sSup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𝑃</m:t>
                          </m:r>
                        </m:e>
                        <m:sup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+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</m:t>
                      </m:r>
                      <m:sSup>
                        <m:sSup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𝑃</m:t>
                          </m:r>
                        </m:e>
                        <m:sup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−2∙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𝐴𝑃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𝐵𝑃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sz="1200" b="0" i="0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cos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⁡(</m:t>
                      </m:r>
                      <m:r>
                        <a:rPr lang="ru-RU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∠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𝐴𝑃𝐵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)</m:t>
                      </m:r>
                    </m:oMath>
                  </m:oMathPara>
                </a14:m>
                <a:endParaRPr lang="en-US" sz="1200" b="0" dirty="0" smtClean="0"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119" name="TextBox 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008" y="3370614"/>
                <a:ext cx="3181512" cy="276999"/>
              </a:xfrm>
              <a:prstGeom prst="rect">
                <a:avLst/>
              </a:prstGeom>
              <a:blipFill rotWithShape="0">
                <a:blip r:embed="rId26"/>
                <a:stretch>
                  <a:fillRect t="-77778" b="-1044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/>
              <p:cNvSpPr txBox="1"/>
              <p:nvPr/>
            </p:nvSpPr>
            <p:spPr>
              <a:xfrm>
                <a:off x="234247" y="3644829"/>
                <a:ext cx="3032945" cy="2987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sz="120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5</m:t>
                          </m:r>
                        </m:e>
                        <m:sup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=75+</m:t>
                      </m:r>
                      <m:sSup>
                        <m:sSup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10</m:t>
                          </m:r>
                        </m:e>
                        <m:sup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−2∙5</m:t>
                      </m:r>
                      <m:rad>
                        <m:radPr>
                          <m:degHide m:val="on"/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e>
                      </m:rad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∙10∙</m:t>
                      </m:r>
                      <m:func>
                        <m:func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b="0" i="0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ru-RU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∠</m:t>
                              </m:r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𝐴𝑃𝐵</m:t>
                              </m:r>
                            </m:e>
                          </m:d>
                        </m:e>
                      </m:func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en-US" sz="1200" b="0" dirty="0" smtClean="0"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120" name="TextBox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247" y="3644829"/>
                <a:ext cx="3032945" cy="298736"/>
              </a:xfrm>
              <a:prstGeom prst="rect">
                <a:avLst/>
              </a:prstGeom>
              <a:blipFill rotWithShape="0"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/>
              <p:cNvSpPr txBox="1"/>
              <p:nvPr/>
            </p:nvSpPr>
            <p:spPr>
              <a:xfrm>
                <a:off x="3125742" y="3557305"/>
                <a:ext cx="1610762" cy="4737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b="0" i="0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ru-RU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∠</m:t>
                              </m:r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𝐴𝑃𝐵</m:t>
                              </m:r>
                            </m:e>
                          </m:d>
                        </m:e>
                      </m:func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150</m:t>
                          </m:r>
                        </m:num>
                        <m:den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100</m:t>
                          </m:r>
                          <m:rad>
                            <m:radPr>
                              <m:degHide m:val="on"/>
                              <m:ctrlPr>
                                <a:rPr lang="en-US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1200" b="0" dirty="0" smtClean="0"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5742" y="3557305"/>
                <a:ext cx="1610762" cy="473784"/>
              </a:xfrm>
              <a:prstGeom prst="rect">
                <a:avLst/>
              </a:prstGeom>
              <a:blipFill rotWithShape="0"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/>
              <p:cNvSpPr txBox="1"/>
              <p:nvPr/>
            </p:nvSpPr>
            <p:spPr>
              <a:xfrm>
                <a:off x="4572329" y="3553966"/>
                <a:ext cx="655500" cy="4737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num>
                        <m:den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1200" b="0" dirty="0" smtClean="0"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329" y="3553966"/>
                <a:ext cx="655500" cy="473784"/>
              </a:xfrm>
              <a:prstGeom prst="rect">
                <a:avLst/>
              </a:prstGeom>
              <a:blipFill rotWithShape="0"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200106" y="3867842"/>
                <a:ext cx="2056717" cy="637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b="0" i="0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ru-RU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∠</m:t>
                              </m:r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𝐴𝑃𝐵</m:t>
                              </m:r>
                            </m:e>
                          </m:d>
                        </m:e>
                      </m:func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200" b="0" i="1" smtClean="0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mr-IN" sz="1200" i="1">
                                          <a:latin typeface="Cambria Math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200" i="1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US" sz="1200" i="1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2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sz="1200" i="1">
                                              <a:latin typeface="Cambria Math"/>
                                              <a:ea typeface="Cambria Math" charset="0"/>
                                              <a:cs typeface="Cambria Math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1200" i="1"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3</m:t>
                                          </m:r>
                                        </m:e>
                                      </m:rad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200" b="0" dirty="0" smtClean="0"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106" y="3867842"/>
                <a:ext cx="2056717" cy="637995"/>
              </a:xfrm>
              <a:prstGeom prst="rect">
                <a:avLst/>
              </a:prstGeom>
              <a:blipFill rotWithShape="0"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/>
              <p:cNvSpPr txBox="1"/>
              <p:nvPr/>
            </p:nvSpPr>
            <p:spPr>
              <a:xfrm>
                <a:off x="2058487" y="3867842"/>
                <a:ext cx="672107" cy="637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12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1200" b="0" dirty="0" smtClean="0"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124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8487" y="3867842"/>
                <a:ext cx="672107" cy="637995"/>
              </a:xfrm>
              <a:prstGeom prst="rect">
                <a:avLst/>
              </a:prstGeom>
              <a:blipFill rotWithShape="0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/>
              <p:cNvSpPr txBox="1"/>
              <p:nvPr/>
            </p:nvSpPr>
            <p:spPr>
              <a:xfrm>
                <a:off x="2587520" y="3995793"/>
                <a:ext cx="535211" cy="4380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en-US" sz="1200" b="0" dirty="0" smtClean="0"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7520" y="3995793"/>
                <a:ext cx="535211" cy="438005"/>
              </a:xfrm>
              <a:prstGeom prst="rect">
                <a:avLst/>
              </a:prstGeom>
              <a:blipFill rotWithShape="0">
                <a:blip r:embed="rId3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/>
              <p:cNvSpPr txBox="1"/>
              <p:nvPr/>
            </p:nvSpPr>
            <p:spPr>
              <a:xfrm>
                <a:off x="3048873" y="4100563"/>
                <a:ext cx="174663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𝐵𝐻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𝐵𝑃</m:t>
                      </m:r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func>
                        <m:funcPr>
                          <m:ctrlPr>
                            <a:rPr lang="en-US" sz="1200" i="1" dirty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1200" i="1" dirty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ru-RU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∠</m:t>
                              </m:r>
                              <m:r>
                                <a:rPr lang="en-US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𝐴𝑃𝐵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1200" b="0" dirty="0" smtClean="0"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873" y="4100563"/>
                <a:ext cx="1746632" cy="276999"/>
              </a:xfrm>
              <a:prstGeom prst="rect">
                <a:avLst/>
              </a:prstGeom>
              <a:blipFill rotWithShape="0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/>
              <p:cNvSpPr txBox="1"/>
              <p:nvPr/>
            </p:nvSpPr>
            <p:spPr>
              <a:xfrm>
                <a:off x="4579741" y="3986803"/>
                <a:ext cx="1036951" cy="4380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=10</m:t>
                      </m:r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=5</m:t>
                      </m:r>
                    </m:oMath>
                  </m:oMathPara>
                </a14:m>
                <a:endParaRPr lang="en-US" sz="1200" b="0" dirty="0" smtClean="0"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9741" y="3986803"/>
                <a:ext cx="1036951" cy="438005"/>
              </a:xfrm>
              <a:prstGeom prst="rect">
                <a:avLst/>
              </a:prstGeom>
              <a:blipFill rotWithShape="0">
                <a:blip r:embed="rId34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/>
              <p:cNvSpPr txBox="1"/>
              <p:nvPr/>
            </p:nvSpPr>
            <p:spPr>
              <a:xfrm>
                <a:off x="194301" y="4407814"/>
                <a:ext cx="1456104" cy="436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𝑡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𝑔</m:t>
                      </m:r>
                      <m:d>
                        <m:d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ru-RU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∠</m:t>
                          </m:r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𝐵𝐻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𝐵𝐻</m:t>
                          </m:r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8" name="TextBox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01" y="4407814"/>
                <a:ext cx="1456104" cy="436851"/>
              </a:xfrm>
              <a:prstGeom prst="rect">
                <a:avLst/>
              </a:prstGeom>
              <a:blipFill rotWithShape="0">
                <a:blip r:embed="rId3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/>
              <p:cNvSpPr txBox="1"/>
              <p:nvPr/>
            </p:nvSpPr>
            <p:spPr>
              <a:xfrm>
                <a:off x="1485592" y="4407814"/>
                <a:ext cx="46307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9" name="TextBox 1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592" y="4407814"/>
                <a:ext cx="463075" cy="439223"/>
              </a:xfrm>
              <a:prstGeom prst="rect">
                <a:avLst/>
              </a:prstGeom>
              <a:blipFill rotWithShape="0">
                <a:blip r:embed="rId36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/>
              <p:cNvSpPr txBox="1"/>
              <p:nvPr/>
            </p:nvSpPr>
            <p:spPr>
              <a:xfrm>
                <a:off x="6099904" y="2922734"/>
                <a:ext cx="3481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𝛼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30" name="TextBox 1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904" y="2922734"/>
                <a:ext cx="348172" cy="307777"/>
              </a:xfrm>
              <a:prstGeom prst="rect">
                <a:avLst/>
              </a:prstGeom>
              <a:blipFill rotWithShape="0"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/>
              <p:cNvSpPr txBox="1"/>
              <p:nvPr/>
            </p:nvSpPr>
            <p:spPr>
              <a:xfrm>
                <a:off x="3310955" y="4440041"/>
                <a:ext cx="1721497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b="1" dirty="0" smtClean="0">
                    <a:solidFill>
                      <a:srgbClr val="FF0000"/>
                    </a:solidFill>
                  </a:rPr>
                  <a:t>Ответ: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charset="0"/>
                      </a:rPr>
                      <m:t>𝐚𝐫𝐜𝐭𝐠</m:t>
                    </m:r>
                    <m:r>
                      <a:rPr lang="ru-RU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⁡(</m:t>
                    </m:r>
                    <m:f>
                      <m:fPr>
                        <m:ctrlPr>
                          <a:rPr lang="mr-IN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𝟐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𝟓</m:t>
                        </m:r>
                      </m:den>
                    </m:f>
                    <m:r>
                      <a:rPr lang="ru-RU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)</m:t>
                    </m:r>
                  </m:oMath>
                </a14:m>
                <a:endParaRPr lang="ru-RU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1" name="TextBox 1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0955" y="4440041"/>
                <a:ext cx="1721497" cy="492443"/>
              </a:xfrm>
              <a:prstGeom prst="rect">
                <a:avLst/>
              </a:prstGeom>
              <a:blipFill rotWithShape="0">
                <a:blip r:embed="rId38"/>
                <a:stretch>
                  <a:fillRect l="-2827" t="-58025" r="-353" b="-802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Полилиния 131"/>
          <p:cNvSpPr/>
          <p:nvPr/>
        </p:nvSpPr>
        <p:spPr>
          <a:xfrm>
            <a:off x="7620000" y="2458720"/>
            <a:ext cx="111760" cy="0"/>
          </a:xfrm>
          <a:custGeom>
            <a:avLst/>
            <a:gdLst>
              <a:gd name="connsiteX0" fmla="*/ 0 w 111760"/>
              <a:gd name="connsiteY0" fmla="*/ 0 h 0"/>
              <a:gd name="connsiteX1" fmla="*/ 111760 w 11176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1760">
                <a:moveTo>
                  <a:pt x="0" y="0"/>
                </a:moveTo>
                <a:lnTo>
                  <a:pt x="111760" y="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3" name="Полилиния 132"/>
          <p:cNvSpPr/>
          <p:nvPr/>
        </p:nvSpPr>
        <p:spPr>
          <a:xfrm>
            <a:off x="7616656" y="2983478"/>
            <a:ext cx="111760" cy="0"/>
          </a:xfrm>
          <a:custGeom>
            <a:avLst/>
            <a:gdLst>
              <a:gd name="connsiteX0" fmla="*/ 0 w 111760"/>
              <a:gd name="connsiteY0" fmla="*/ 0 h 0"/>
              <a:gd name="connsiteX1" fmla="*/ 111760 w 11176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1760">
                <a:moveTo>
                  <a:pt x="0" y="0"/>
                </a:moveTo>
                <a:lnTo>
                  <a:pt x="111760" y="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6679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5" grpId="0"/>
      <p:bldP spid="26" grpId="0"/>
      <p:bldP spid="27" grpId="0"/>
      <p:bldP spid="28" grpId="0"/>
      <p:bldP spid="29" grpId="0"/>
      <p:bldP spid="30" grpId="0"/>
      <p:bldP spid="31" grpId="0" animBg="1"/>
      <p:bldP spid="33" grpId="0"/>
      <p:bldP spid="50" grpId="0" animBg="1"/>
      <p:bldP spid="50" grpId="1" animBg="1"/>
      <p:bldP spid="58" grpId="0" animBg="1"/>
      <p:bldP spid="60" grpId="0"/>
      <p:bldP spid="61" grpId="0"/>
      <p:bldP spid="62" grpId="0"/>
      <p:bldP spid="63" grpId="0"/>
      <p:bldP spid="70" grpId="0"/>
      <p:bldP spid="71" grpId="0"/>
      <p:bldP spid="72" grpId="0" animBg="1"/>
      <p:bldP spid="73" grpId="0" animBg="1"/>
      <p:bldP spid="75" grpId="0"/>
      <p:bldP spid="76" grpId="0"/>
      <p:bldP spid="94" grpId="0" animBg="1"/>
      <p:bldP spid="97" grpId="0"/>
      <p:bldP spid="100" grpId="0" animBg="1"/>
      <p:bldP spid="109" grpId="0" animBg="1"/>
      <p:bldP spid="110" grpId="0"/>
      <p:bldP spid="111" grpId="0"/>
      <p:bldP spid="112" grpId="0"/>
      <p:bldP spid="113" grpId="0"/>
      <p:bldP spid="114" grpId="0"/>
      <p:bldP spid="115" grpId="0"/>
      <p:bldP spid="116" grpId="0"/>
      <p:bldP spid="117" grpId="0" animBg="1"/>
      <p:bldP spid="119" grpId="0"/>
      <p:bldP spid="120" grpId="0"/>
      <p:bldP spid="121" grpId="0"/>
      <p:bldP spid="122" grpId="0"/>
      <p:bldP spid="123" grpId="0"/>
      <p:bldP spid="124" grpId="0"/>
      <p:bldP spid="125" grpId="0"/>
      <p:bldP spid="126" grpId="0"/>
      <p:bldP spid="127" grpId="0"/>
      <p:bldP spid="128" grpId="0"/>
      <p:bldP spid="129" grpId="0"/>
      <p:bldP spid="130" grpId="0"/>
      <p:bldP spid="132" grpId="0" animBg="1"/>
      <p:bldP spid="13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9</a:t>
            </a:fld>
            <a:endParaRPr kumimoji="0" lang="ru-RU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/>
              <p:cNvSpPr/>
              <p:nvPr/>
            </p:nvSpPr>
            <p:spPr>
              <a:xfrm>
                <a:off x="0" y="-22136"/>
                <a:ext cx="9144000" cy="93770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dirty="0" smtClean="0">
                    <a:solidFill>
                      <a:srgbClr val="7030A0"/>
                    </a:solidFill>
                  </a:rPr>
                  <a:t>6.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В</a:t>
                </a:r>
                <a14:m>
                  <m:oMath xmlns:m="http://schemas.openxmlformats.org/officeDocument/2006/math">
                    <m:r>
                      <a:rPr lang="ru-RU" sz="1200" b="1" i="0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основании</a:t>
                </a:r>
                <a14:m>
                  <m:oMath xmlns:m="http://schemas.openxmlformats.org/officeDocument/2006/math">
                    <m:r>
                      <a:rPr lang="ru-RU" sz="1200" b="1" i="0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прямой призмы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𝑨𝑩𝑪</m:t>
                    </m:r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𝑫𝑨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𝑫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лежит квадрат</a:t>
                </a:r>
                <a14:m>
                  <m:oMath xmlns:m="http://schemas.openxmlformats.org/officeDocument/2006/math">
                    <m:r>
                      <a:rPr lang="ru-RU" sz="1200" b="1" i="0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𝑨𝑩𝑪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𝑫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со стороной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𝟐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, а высота призмы равна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𝟏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. Точка 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𝑬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лежит на диагонали 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𝑩</m:t>
                    </m:r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𝑫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,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причем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𝑩𝑬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𝟏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а) Постройте </a:t>
                </a:r>
                <a:r>
                  <a:rPr lang="ru-RU" sz="1200" b="1" dirty="0">
                    <a:solidFill>
                      <a:srgbClr val="002060"/>
                    </a:solidFill>
                  </a:rPr>
                  <a:t>с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ечение призмы плоскостью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ru-RU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𝑬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б) Найдите угол между плоскостью сечения и плоскостью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𝑨𝑩𝑪</m:t>
                    </m:r>
                    <m:r>
                      <a:rPr lang="ru-RU" sz="1200" b="1" i="0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6"/>
                <a:ext cx="9144000" cy="93770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Прямая соединительная линия 5"/>
          <p:cNvCxnSpPr/>
          <p:nvPr/>
        </p:nvCxnSpPr>
        <p:spPr>
          <a:xfrm>
            <a:off x="6296271" y="2533874"/>
            <a:ext cx="2448272" cy="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5720207" y="3613994"/>
            <a:ext cx="2448272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 flipV="1">
            <a:off x="5720207" y="2533874"/>
            <a:ext cx="576064" cy="108012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 flipV="1">
            <a:off x="8168479" y="2533874"/>
            <a:ext cx="576064" cy="108012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 flipV="1">
            <a:off x="5720207" y="2245842"/>
            <a:ext cx="0" cy="1368152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 flipV="1">
            <a:off x="6296271" y="1165722"/>
            <a:ext cx="0" cy="1368152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 flipV="1">
            <a:off x="8168479" y="2245842"/>
            <a:ext cx="0" cy="1368152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 flipV="1">
            <a:off x="8744543" y="1165722"/>
            <a:ext cx="0" cy="1368152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6296871" y="1165721"/>
            <a:ext cx="2448272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5720807" y="2245841"/>
            <a:ext cx="2448272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 flipV="1">
            <a:off x="5720807" y="1165721"/>
            <a:ext cx="576064" cy="108012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169079" y="1165721"/>
            <a:ext cx="576064" cy="108012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439640" y="3466469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9640" y="3466469"/>
                <a:ext cx="340286" cy="3077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964928" y="2298105"/>
                <a:ext cx="3829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4928" y="2298105"/>
                <a:ext cx="382989" cy="3077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8719511" y="2395501"/>
                <a:ext cx="3481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9511" y="2395501"/>
                <a:ext cx="348172" cy="3077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8133154" y="3525691"/>
                <a:ext cx="35503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𝐷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3154" y="3525691"/>
                <a:ext cx="355033" cy="3077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337206" y="2072331"/>
                <a:ext cx="41716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7206" y="2072331"/>
                <a:ext cx="417165" cy="30777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5964928" y="939831"/>
                <a:ext cx="4140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4928" y="939831"/>
                <a:ext cx="414088" cy="30777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8709427" y="960151"/>
                <a:ext cx="4002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9427" y="960151"/>
                <a:ext cx="400238" cy="30777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8155074" y="2093237"/>
                <a:ext cx="34534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5074" y="2093237"/>
                <a:ext cx="345348" cy="30777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Прямая соединительная линия 31"/>
          <p:cNvCxnSpPr/>
          <p:nvPr/>
        </p:nvCxnSpPr>
        <p:spPr>
          <a:xfrm flipV="1">
            <a:off x="6294160" y="2257275"/>
            <a:ext cx="1877989" cy="276598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Овал 36"/>
          <p:cNvSpPr/>
          <p:nvPr/>
        </p:nvSpPr>
        <p:spPr>
          <a:xfrm>
            <a:off x="6841535" y="2434257"/>
            <a:ext cx="41574" cy="4157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6692682" y="2227922"/>
                <a:ext cx="32213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𝐸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2682" y="2227922"/>
                <a:ext cx="322139" cy="276999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6498168" y="3632125"/>
                <a:ext cx="3241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8168" y="3632125"/>
                <a:ext cx="324128" cy="307777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5412926" y="2719107"/>
                <a:ext cx="3241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926" y="2719107"/>
                <a:ext cx="324128" cy="307777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6388441" y="2303042"/>
                <a:ext cx="27443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b="0" i="1" smtClean="0"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ru-RU" sz="900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441" y="2303042"/>
                <a:ext cx="274434" cy="230832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130096" y="956142"/>
                <a:ext cx="418338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>
                    <a:solidFill>
                      <a:schemeClr val="tx1"/>
                    </a:solidFill>
                  </a:rPr>
                  <a:t>а) </a:t>
                </a:r>
                <a:r>
                  <a:rPr lang="ru-RU" sz="1200" i="0" dirty="0" smtClean="0">
                    <a:solidFill>
                      <a:schemeClr val="tx1"/>
                    </a:solidFill>
                    <a:latin typeface="+mj-lt"/>
                  </a:rPr>
                  <a:t>Найдем, в каком отношении точка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𝐸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  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делит отрезок </a:t>
                </a:r>
                <a14:m>
                  <m:oMath xmlns:m="http://schemas.openxmlformats.org/officeDocument/2006/math"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charset="0"/>
                      </a:rPr>
                      <m:t>𝐵</m:t>
                    </m:r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𝐷</m:t>
                        </m:r>
                      </m:e>
                      <m:sub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0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96" y="956142"/>
                <a:ext cx="4183389" cy="276999"/>
              </a:xfrm>
              <a:prstGeom prst="rect">
                <a:avLst/>
              </a:prstGeom>
              <a:blipFill rotWithShape="0">
                <a:blip r:embed="rId15"/>
                <a:stretch>
                  <a:fillRect t="-80000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130096" y="1162021"/>
                <a:ext cx="2025170" cy="4681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𝐵</m:t>
                      </m:r>
                      <m:sSub>
                        <m:sSubPr>
                          <m:ctrlPr>
                            <a:rPr lang="en-US" sz="1200" i="1" dirty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dirty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𝐷</m:t>
                          </m:r>
                        </m:e>
                        <m:sub>
                          <m:r>
                            <a:rPr lang="en-US" sz="1200" b="0" i="1" dirty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0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𝐴</m:t>
                          </m:r>
                          <m:sSup>
                            <m:sSupPr>
                              <m:ctrlP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+</m:t>
                          </m:r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𝐴</m:t>
                          </m:r>
                          <m:sSup>
                            <m:sSupPr>
                              <m:ctrlP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+</m:t>
                          </m:r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𝐷</m:t>
                          </m:r>
                          <m:sSubSup>
                            <m:sSubSupPr>
                              <m:ctrlP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96" y="1162021"/>
                <a:ext cx="2025170" cy="468141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996444" y="1247608"/>
                <a:ext cx="564129" cy="2987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444" y="1247608"/>
                <a:ext cx="564129" cy="298736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2432418" y="1267928"/>
                <a:ext cx="46307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=3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2418" y="1267928"/>
                <a:ext cx="463075" cy="276999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146723" y="1563637"/>
                <a:ext cx="773353" cy="4694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mr-IN" sz="12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𝐵𝐸</m:t>
                          </m:r>
                        </m:num>
                        <m:den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𝐸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723" y="1563637"/>
                <a:ext cx="773353" cy="469424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Прямая соединительная линия 51"/>
          <p:cNvCxnSpPr/>
          <p:nvPr/>
        </p:nvCxnSpPr>
        <p:spPr>
          <a:xfrm flipV="1">
            <a:off x="5720207" y="1175606"/>
            <a:ext cx="3008548" cy="1064717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/>
          <p:cNvCxnSpPr/>
          <p:nvPr/>
        </p:nvCxnSpPr>
        <p:spPr>
          <a:xfrm>
            <a:off x="6306566" y="2543746"/>
            <a:ext cx="1847496" cy="1073696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 flipH="1">
            <a:off x="6861855" y="2475830"/>
            <a:ext cx="467" cy="418084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Полилиния 66"/>
          <p:cNvSpPr/>
          <p:nvPr/>
        </p:nvSpPr>
        <p:spPr>
          <a:xfrm>
            <a:off x="6867791" y="2731364"/>
            <a:ext cx="111760" cy="193040"/>
          </a:xfrm>
          <a:custGeom>
            <a:avLst/>
            <a:gdLst>
              <a:gd name="connsiteX0" fmla="*/ 0 w 111760"/>
              <a:gd name="connsiteY0" fmla="*/ 0 h 193040"/>
              <a:gd name="connsiteX1" fmla="*/ 0 w 111760"/>
              <a:gd name="connsiteY1" fmla="*/ 142240 h 193040"/>
              <a:gd name="connsiteX2" fmla="*/ 111760 w 111760"/>
              <a:gd name="connsiteY2" fmla="*/ 193040 h 193040"/>
              <a:gd name="connsiteX3" fmla="*/ 111760 w 111760"/>
              <a:gd name="connsiteY3" fmla="*/ 50800 h 193040"/>
              <a:gd name="connsiteX4" fmla="*/ 0 w 111760"/>
              <a:gd name="connsiteY4" fmla="*/ 0 h 19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760" h="193040">
                <a:moveTo>
                  <a:pt x="0" y="0"/>
                </a:moveTo>
                <a:lnTo>
                  <a:pt x="0" y="142240"/>
                </a:lnTo>
                <a:lnTo>
                  <a:pt x="111760" y="193040"/>
                </a:lnTo>
                <a:lnTo>
                  <a:pt x="111760" y="508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72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6643167" y="2929297"/>
                <a:ext cx="3320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𝐾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3167" y="2929297"/>
                <a:ext cx="332014" cy="276999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Овал 68"/>
          <p:cNvSpPr/>
          <p:nvPr/>
        </p:nvSpPr>
        <p:spPr>
          <a:xfrm>
            <a:off x="6841535" y="2870772"/>
            <a:ext cx="41574" cy="4157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1" name="Прямая соединительная линия 70"/>
          <p:cNvCxnSpPr/>
          <p:nvPr/>
        </p:nvCxnSpPr>
        <p:spPr>
          <a:xfrm flipV="1">
            <a:off x="6027489" y="1175593"/>
            <a:ext cx="2710710" cy="1866509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единительная линия 73"/>
          <p:cNvCxnSpPr/>
          <p:nvPr/>
        </p:nvCxnSpPr>
        <p:spPr>
          <a:xfrm flipV="1">
            <a:off x="6021145" y="2550826"/>
            <a:ext cx="2717054" cy="496169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Овал 78"/>
          <p:cNvSpPr/>
          <p:nvPr/>
        </p:nvSpPr>
        <p:spPr>
          <a:xfrm flipH="1" flipV="1">
            <a:off x="6015131" y="3018377"/>
            <a:ext cx="45719" cy="474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5689427" y="2919560"/>
                <a:ext cx="3359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𝑁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9427" y="2919560"/>
                <a:ext cx="335926" cy="276999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162970" y="1975021"/>
                <a:ext cx="122475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mr-IN" sz="120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∆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𝐵𝐸𝐾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~</m:t>
                    </m:r>
                  </m:oMath>
                </a14:m>
                <a:r>
                  <a:rPr lang="mr-IN" sz="1200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mr-IN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∆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𝐵𝐷</m:t>
                    </m:r>
                    <m:sSub>
                      <m:sSubPr>
                        <m:ctrlPr>
                          <a:rPr lang="en-US" sz="1200" b="0" i="1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𝐷</m:t>
                        </m:r>
                      </m:e>
                      <m:sub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: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70" y="1975021"/>
                <a:ext cx="1224759" cy="276999"/>
              </a:xfrm>
              <a:prstGeom prst="rect">
                <a:avLst/>
              </a:prstGeom>
              <a:blipFill rotWithShape="0">
                <a:blip r:embed="rId22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1328695" y="1878808"/>
                <a:ext cx="847155" cy="4694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𝐸𝐾</m:t>
                          </m:r>
                        </m:num>
                        <m:den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𝐷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den>
                      </m:f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695" y="1878808"/>
                <a:ext cx="847155" cy="469424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145502" y="2365096"/>
                <a:ext cx="123341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mr-IN" sz="120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∆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𝑁𝐸𝐾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~∆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𝑁𝐶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: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02" y="2365096"/>
                <a:ext cx="1233415" cy="276999"/>
              </a:xfrm>
              <a:prstGeom prst="rect">
                <a:avLst/>
              </a:prstGeom>
              <a:blipFill rotWithShape="0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1317002" y="2315128"/>
                <a:ext cx="820546" cy="4694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𝐸𝐾</m:t>
                          </m:r>
                        </m:num>
                        <m:den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𝐶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002" y="2315128"/>
                <a:ext cx="820546" cy="469424"/>
              </a:xfrm>
              <a:prstGeom prst="rect">
                <a:avLst/>
              </a:prstGeom>
              <a:blipFill rotWithShape="0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2044580" y="1878808"/>
                <a:ext cx="78463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𝐵𝐾</m:t>
                          </m:r>
                        </m:num>
                        <m:den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𝐾𝐷</m:t>
                          </m:r>
                        </m:den>
                      </m:f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4580" y="1878808"/>
                <a:ext cx="784637" cy="439223"/>
              </a:xfrm>
              <a:prstGeom prst="rect">
                <a:avLst/>
              </a:prstGeom>
              <a:blipFill rotWithShape="0">
                <a:blip r:embed="rId26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2017710" y="2315128"/>
                <a:ext cx="795859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𝑁𝐾</m:t>
                          </m:r>
                        </m:num>
                        <m:den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𝐾𝐶</m:t>
                          </m:r>
                        </m:den>
                      </m:f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710" y="2315128"/>
                <a:ext cx="795859" cy="439223"/>
              </a:xfrm>
              <a:prstGeom prst="rect">
                <a:avLst/>
              </a:prstGeom>
              <a:blipFill rotWithShape="0"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145502" y="2784552"/>
                <a:ext cx="140910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mr-IN" sz="120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∆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𝐵𝐾𝑁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~</m:t>
                      </m:r>
                      <m:r>
                        <a:rPr lang="mr-IN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∆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𝐶𝐾𝐷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02" y="2784552"/>
                <a:ext cx="1409104" cy="276999"/>
              </a:xfrm>
              <a:prstGeom prst="rect">
                <a:avLst/>
              </a:prstGeom>
              <a:blipFill rotWithShape="0"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1363992" y="2784552"/>
                <a:ext cx="9444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𝑁</m:t>
                      </m:r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∈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𝐴𝐵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992" y="2784552"/>
                <a:ext cx="944426" cy="276999"/>
              </a:xfrm>
              <a:prstGeom prst="rect">
                <a:avLst/>
              </a:prstGeom>
              <a:blipFill rotWithShape="0"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2137548" y="2683225"/>
                <a:ext cx="1364668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</m:t>
                          </m:r>
                          <m:r>
                            <a:rPr lang="en-US" sz="120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𝑁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𝐶𝐷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0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i="1" dirty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𝐵𝑁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𝐴𝐵</m:t>
                          </m:r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7548" y="2683225"/>
                <a:ext cx="1364668" cy="439223"/>
              </a:xfrm>
              <a:prstGeom prst="rect">
                <a:avLst/>
              </a:prstGeom>
              <a:blipFill rotWithShape="0">
                <a:blip r:embed="rId30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Полилиния 90"/>
          <p:cNvSpPr/>
          <p:nvPr/>
        </p:nvSpPr>
        <p:spPr>
          <a:xfrm>
            <a:off x="6115951" y="2731364"/>
            <a:ext cx="121920" cy="50800"/>
          </a:xfrm>
          <a:custGeom>
            <a:avLst/>
            <a:gdLst>
              <a:gd name="connsiteX0" fmla="*/ 0 w 121920"/>
              <a:gd name="connsiteY0" fmla="*/ 0 h 50800"/>
              <a:gd name="connsiteX1" fmla="*/ 0 w 121920"/>
              <a:gd name="connsiteY1" fmla="*/ 0 h 50800"/>
              <a:gd name="connsiteX2" fmla="*/ 81280 w 121920"/>
              <a:gd name="connsiteY2" fmla="*/ 30480 h 50800"/>
              <a:gd name="connsiteX3" fmla="*/ 121920 w 121920"/>
              <a:gd name="connsiteY3" fmla="*/ 50800 h 50800"/>
              <a:gd name="connsiteX4" fmla="*/ 121920 w 121920"/>
              <a:gd name="connsiteY4" fmla="*/ 50800 h 5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" h="50800">
                <a:moveTo>
                  <a:pt x="0" y="0"/>
                </a:moveTo>
                <a:lnTo>
                  <a:pt x="0" y="0"/>
                </a:lnTo>
                <a:lnTo>
                  <a:pt x="81280" y="30480"/>
                </a:lnTo>
                <a:cubicBezTo>
                  <a:pt x="117971" y="43822"/>
                  <a:pt x="103441" y="32321"/>
                  <a:pt x="121920" y="50800"/>
                </a:cubicBezTo>
                <a:lnTo>
                  <a:pt x="121920" y="5080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2" name="Полилиния 91"/>
          <p:cNvSpPr/>
          <p:nvPr/>
        </p:nvSpPr>
        <p:spPr>
          <a:xfrm>
            <a:off x="5802375" y="3337010"/>
            <a:ext cx="121920" cy="50800"/>
          </a:xfrm>
          <a:custGeom>
            <a:avLst/>
            <a:gdLst>
              <a:gd name="connsiteX0" fmla="*/ 0 w 121920"/>
              <a:gd name="connsiteY0" fmla="*/ 0 h 50800"/>
              <a:gd name="connsiteX1" fmla="*/ 0 w 121920"/>
              <a:gd name="connsiteY1" fmla="*/ 0 h 50800"/>
              <a:gd name="connsiteX2" fmla="*/ 81280 w 121920"/>
              <a:gd name="connsiteY2" fmla="*/ 30480 h 50800"/>
              <a:gd name="connsiteX3" fmla="*/ 121920 w 121920"/>
              <a:gd name="connsiteY3" fmla="*/ 50800 h 50800"/>
              <a:gd name="connsiteX4" fmla="*/ 121920 w 121920"/>
              <a:gd name="connsiteY4" fmla="*/ 50800 h 5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" h="50800">
                <a:moveTo>
                  <a:pt x="0" y="0"/>
                </a:moveTo>
                <a:lnTo>
                  <a:pt x="0" y="0"/>
                </a:lnTo>
                <a:lnTo>
                  <a:pt x="81280" y="30480"/>
                </a:lnTo>
                <a:cubicBezTo>
                  <a:pt x="117971" y="43822"/>
                  <a:pt x="103441" y="32321"/>
                  <a:pt x="121920" y="50800"/>
                </a:cubicBezTo>
                <a:lnTo>
                  <a:pt x="121920" y="5080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3" name="Прямая соединительная линия 92"/>
          <p:cNvCxnSpPr/>
          <p:nvPr/>
        </p:nvCxnSpPr>
        <p:spPr>
          <a:xfrm>
            <a:off x="5711835" y="2255872"/>
            <a:ext cx="1808572" cy="291507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Овал 96"/>
          <p:cNvSpPr/>
          <p:nvPr/>
        </p:nvSpPr>
        <p:spPr>
          <a:xfrm flipH="1" flipV="1">
            <a:off x="7437677" y="2518452"/>
            <a:ext cx="45719" cy="474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/>
              <p:cNvSpPr txBox="1"/>
              <p:nvPr/>
            </p:nvSpPr>
            <p:spPr>
              <a:xfrm>
                <a:off x="7331104" y="2530323"/>
                <a:ext cx="3048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𝐿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8" name="TextBox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1104" y="2530323"/>
                <a:ext cx="304827" cy="276999"/>
              </a:xfrm>
              <a:prstGeom prst="rect">
                <a:avLst/>
              </a:prstGeom>
              <a:blipFill rotWithShape="0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Полилиния 98"/>
          <p:cNvSpPr/>
          <p:nvPr/>
        </p:nvSpPr>
        <p:spPr>
          <a:xfrm>
            <a:off x="8076831" y="2497684"/>
            <a:ext cx="0" cy="91440"/>
          </a:xfrm>
          <a:custGeom>
            <a:avLst/>
            <a:gdLst>
              <a:gd name="connsiteX0" fmla="*/ 0 w 0"/>
              <a:gd name="connsiteY0" fmla="*/ 0 h 91440"/>
              <a:gd name="connsiteX1" fmla="*/ 0 w 0"/>
              <a:gd name="connsiteY1" fmla="*/ 91440 h 91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91440">
                <a:moveTo>
                  <a:pt x="0" y="0"/>
                </a:moveTo>
                <a:lnTo>
                  <a:pt x="0" y="9144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0" name="Полилиния 99"/>
          <p:cNvSpPr/>
          <p:nvPr/>
        </p:nvSpPr>
        <p:spPr>
          <a:xfrm>
            <a:off x="6985871" y="2503394"/>
            <a:ext cx="0" cy="91440"/>
          </a:xfrm>
          <a:custGeom>
            <a:avLst/>
            <a:gdLst>
              <a:gd name="connsiteX0" fmla="*/ 0 w 0"/>
              <a:gd name="connsiteY0" fmla="*/ 0 h 91440"/>
              <a:gd name="connsiteX1" fmla="*/ 0 w 0"/>
              <a:gd name="connsiteY1" fmla="*/ 91440 h 91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91440">
                <a:moveTo>
                  <a:pt x="0" y="0"/>
                </a:moveTo>
                <a:lnTo>
                  <a:pt x="0" y="9144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/>
              <p:cNvSpPr txBox="1"/>
              <p:nvPr/>
            </p:nvSpPr>
            <p:spPr>
              <a:xfrm>
                <a:off x="150639" y="3069345"/>
                <a:ext cx="276210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/>
                  <a:t>Аналогично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charset="0"/>
                      </a:rPr>
                      <m:t>𝐿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∈</m:t>
                    </m:r>
                    <m:sSub>
                      <m:sSubPr>
                        <m:ctrlPr>
                          <a:rPr lang="en-US" sz="1200" b="0" i="1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𝐸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;</m:t>
                    </m:r>
                    <m:r>
                      <a:rPr lang="en-US" sz="1200" i="1">
                        <a:latin typeface="Cambria Math" charset="0"/>
                      </a:rPr>
                      <m:t>𝐿</m:t>
                    </m:r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∈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𝐵𝐶</m:t>
                    </m:r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;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𝐵𝐿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𝐿𝐶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. </m:t>
                    </m:r>
                  </m:oMath>
                </a14:m>
                <a:endParaRPr lang="ru-RU" sz="1200" dirty="0"/>
              </a:p>
            </p:txBody>
          </p:sp>
        </mc:Choice>
        <mc:Fallback xmlns="">
          <p:sp>
            <p:nvSpPr>
              <p:cNvPr id="101" name="TextBox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639" y="3069345"/>
                <a:ext cx="2762103" cy="276999"/>
              </a:xfrm>
              <a:prstGeom prst="rect">
                <a:avLst/>
              </a:prstGeom>
              <a:blipFill rotWithShape="0">
                <a:blip r:embed="rId32"/>
                <a:stretch>
                  <a:fillRect l="-221" t="-82222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Прямая соединительная линия 102"/>
          <p:cNvCxnSpPr/>
          <p:nvPr/>
        </p:nvCxnSpPr>
        <p:spPr>
          <a:xfrm>
            <a:off x="5729768" y="2245217"/>
            <a:ext cx="302218" cy="813660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Прямая соединительная линия 105"/>
          <p:cNvCxnSpPr/>
          <p:nvPr/>
        </p:nvCxnSpPr>
        <p:spPr>
          <a:xfrm flipV="1">
            <a:off x="6037990" y="2538772"/>
            <a:ext cx="1422546" cy="499925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Прямая соединительная линия 109"/>
          <p:cNvCxnSpPr>
            <a:stCxn id="97" idx="3"/>
          </p:cNvCxnSpPr>
          <p:nvPr/>
        </p:nvCxnSpPr>
        <p:spPr>
          <a:xfrm flipV="1">
            <a:off x="7476701" y="1183579"/>
            <a:ext cx="1252054" cy="1341822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Полилиния 119"/>
          <p:cNvSpPr/>
          <p:nvPr/>
        </p:nvSpPr>
        <p:spPr>
          <a:xfrm>
            <a:off x="5731139" y="1168738"/>
            <a:ext cx="3007360" cy="1879600"/>
          </a:xfrm>
          <a:custGeom>
            <a:avLst/>
            <a:gdLst>
              <a:gd name="connsiteX0" fmla="*/ 0 w 3007360"/>
              <a:gd name="connsiteY0" fmla="*/ 1076960 h 1879600"/>
              <a:gd name="connsiteX1" fmla="*/ 304800 w 3007360"/>
              <a:gd name="connsiteY1" fmla="*/ 1879600 h 1879600"/>
              <a:gd name="connsiteX2" fmla="*/ 1737360 w 3007360"/>
              <a:gd name="connsiteY2" fmla="*/ 1351280 h 1879600"/>
              <a:gd name="connsiteX3" fmla="*/ 3007360 w 3007360"/>
              <a:gd name="connsiteY3" fmla="*/ 0 h 1879600"/>
              <a:gd name="connsiteX4" fmla="*/ 0 w 3007360"/>
              <a:gd name="connsiteY4" fmla="*/ 1076960 h 187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07360" h="1879600">
                <a:moveTo>
                  <a:pt x="0" y="1076960"/>
                </a:moveTo>
                <a:lnTo>
                  <a:pt x="304800" y="1879600"/>
                </a:lnTo>
                <a:lnTo>
                  <a:pt x="1737360" y="1351280"/>
                </a:lnTo>
                <a:lnTo>
                  <a:pt x="3007360" y="0"/>
                </a:lnTo>
                <a:lnTo>
                  <a:pt x="0" y="1076960"/>
                </a:lnTo>
                <a:close/>
              </a:path>
            </a:pathLst>
          </a:custGeom>
          <a:solidFill>
            <a:srgbClr val="FF000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/>
              <p:cNvSpPr txBox="1"/>
              <p:nvPr/>
            </p:nvSpPr>
            <p:spPr>
              <a:xfrm>
                <a:off x="111425" y="3384339"/>
                <a:ext cx="249837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>
                    <a:solidFill>
                      <a:schemeClr val="tx1"/>
                    </a:solidFill>
                  </a:rPr>
                  <a:t>б) 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𝑁𝐿</m:t>
                    </m:r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∥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𝐴𝐶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;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𝐴𝐶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⊥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𝐵𝐷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𝑁𝐿</m:t>
                    </m:r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⊥</m:t>
                    </m:r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𝐵𝐷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;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25" y="3384339"/>
                <a:ext cx="2498376" cy="276999"/>
              </a:xfrm>
              <a:prstGeom prst="rect">
                <a:avLst/>
              </a:prstGeom>
              <a:blipFill rotWithShape="0">
                <a:blip r:embed="rId33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/>
              <p:cNvSpPr txBox="1"/>
              <p:nvPr/>
            </p:nvSpPr>
            <p:spPr>
              <a:xfrm>
                <a:off x="2428333" y="3384339"/>
                <a:ext cx="91313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𝑁𝐿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⊥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333" y="3384339"/>
                <a:ext cx="913135" cy="276999"/>
              </a:xfrm>
              <a:prstGeom prst="rect">
                <a:avLst/>
              </a:prstGeom>
              <a:blipFill rotWithShape="0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266700" y="3646608"/>
                <a:ext cx="1430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𝑁𝐿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⊥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(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𝐷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)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" y="3646608"/>
                <a:ext cx="1430584" cy="276999"/>
              </a:xfrm>
              <a:prstGeom prst="rect">
                <a:avLst/>
              </a:prstGeom>
              <a:blipFill rotWithShape="0">
                <a:blip r:embed="rId35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/>
              <p:cNvSpPr txBox="1"/>
              <p:nvPr/>
            </p:nvSpPr>
            <p:spPr>
              <a:xfrm>
                <a:off x="2773096" y="3077139"/>
                <a:ext cx="16821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𝑁</m:t>
                    </m:r>
                    <m:sSub>
                      <m:sSubPr>
                        <m:ctrlPr>
                          <a:rPr lang="en-US" sz="1200" b="0" i="1" dirty="0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b="0" i="1" dirty="0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𝐶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𝐿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−</m:t>
                    </m:r>
                  </m:oMath>
                </a14:m>
                <a:r>
                  <a:rPr lang="ru-RU" sz="1200" b="0" i="0" dirty="0" smtClean="0">
                    <a:latin typeface="+mj-lt"/>
                    <a:ea typeface="Cambria Math" charset="0"/>
                    <a:cs typeface="Cambria Math" charset="0"/>
                  </a:rPr>
                  <a:t>сечение.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096" y="3077139"/>
                <a:ext cx="1682192" cy="276999"/>
              </a:xfrm>
              <a:prstGeom prst="rect">
                <a:avLst/>
              </a:prstGeom>
              <a:blipFill rotWithShape="0">
                <a:blip r:embed="rId36"/>
                <a:stretch>
                  <a:fillRect t="-80000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Овал 125"/>
          <p:cNvSpPr/>
          <p:nvPr/>
        </p:nvSpPr>
        <p:spPr>
          <a:xfrm flipH="1" flipV="1">
            <a:off x="7215385" y="1692193"/>
            <a:ext cx="41563" cy="4313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/>
              <p:cNvSpPr txBox="1"/>
              <p:nvPr/>
            </p:nvSpPr>
            <p:spPr>
              <a:xfrm>
                <a:off x="7081609" y="1379692"/>
                <a:ext cx="4172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𝑂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28" name="TextBox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1609" y="1379692"/>
                <a:ext cx="417294" cy="307777"/>
              </a:xfrm>
              <a:prstGeom prst="rect">
                <a:avLst/>
              </a:prstGeom>
              <a:blipFill rotWithShape="0"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" name="Овал 128"/>
          <p:cNvSpPr/>
          <p:nvPr/>
        </p:nvSpPr>
        <p:spPr>
          <a:xfrm flipH="1" flipV="1">
            <a:off x="6717293" y="2769195"/>
            <a:ext cx="41563" cy="4313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/>
              <p:cNvSpPr txBox="1"/>
              <p:nvPr/>
            </p:nvSpPr>
            <p:spPr>
              <a:xfrm>
                <a:off x="6547350" y="2530134"/>
                <a:ext cx="34990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charset="0"/>
                            </a:rPr>
                            <m:t>𝐾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000" dirty="0"/>
              </a:p>
            </p:txBody>
          </p:sp>
        </mc:Choice>
        <mc:Fallback xmlns="">
          <p:sp>
            <p:nvSpPr>
              <p:cNvPr id="130" name="TextBox 1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7350" y="2530134"/>
                <a:ext cx="349904" cy="246221"/>
              </a:xfrm>
              <a:prstGeom prst="rect">
                <a:avLst/>
              </a:prstGeom>
              <a:blipFill rotWithShape="0"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1" name="Прямая соединительная линия 130"/>
          <p:cNvCxnSpPr>
            <a:stCxn id="126" idx="7"/>
            <a:endCxn id="129" idx="7"/>
          </p:cNvCxnSpPr>
          <p:nvPr/>
        </p:nvCxnSpPr>
        <p:spPr>
          <a:xfrm flipH="1">
            <a:off x="6723380" y="1729011"/>
            <a:ext cx="498092" cy="1077002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Сектор 134"/>
          <p:cNvSpPr/>
          <p:nvPr/>
        </p:nvSpPr>
        <p:spPr>
          <a:xfrm>
            <a:off x="6280962" y="2328012"/>
            <a:ext cx="914400" cy="914400"/>
          </a:xfrm>
          <a:prstGeom prst="pie">
            <a:avLst>
              <a:gd name="adj1" fmla="val 17654882"/>
              <a:gd name="adj2" fmla="val 1832394"/>
            </a:avLst>
          </a:prstGeom>
          <a:solidFill>
            <a:srgbClr val="006600">
              <a:alpha val="15000"/>
            </a:srgbClr>
          </a:solidFill>
          <a:ln w="6350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36" name="Прямоугольник 135"/>
          <p:cNvSpPr/>
          <p:nvPr/>
        </p:nvSpPr>
        <p:spPr>
          <a:xfrm>
            <a:off x="3510983" y="3699105"/>
            <a:ext cx="1663005" cy="914400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/>
              <p:cNvSpPr txBox="1"/>
              <p:nvPr/>
            </p:nvSpPr>
            <p:spPr>
              <a:xfrm>
                <a:off x="3354865" y="4594050"/>
                <a:ext cx="3250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37" name="TextBox 1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4865" y="4594050"/>
                <a:ext cx="325024" cy="276999"/>
              </a:xfrm>
              <a:prstGeom prst="rect">
                <a:avLst/>
              </a:prstGeom>
              <a:blipFill rotWithShape="0"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/>
              <p:cNvSpPr txBox="1"/>
              <p:nvPr/>
            </p:nvSpPr>
            <p:spPr>
              <a:xfrm>
                <a:off x="3316965" y="3456224"/>
                <a:ext cx="38273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38" name="TextBox 1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6965" y="3456224"/>
                <a:ext cx="382732" cy="276999"/>
              </a:xfrm>
              <a:prstGeom prst="rect">
                <a:avLst/>
              </a:prstGeom>
              <a:blipFill rotWithShape="0"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/>
              <p:cNvSpPr txBox="1"/>
              <p:nvPr/>
            </p:nvSpPr>
            <p:spPr>
              <a:xfrm>
                <a:off x="5093024" y="3486888"/>
                <a:ext cx="38273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𝐷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39" name="TextBox 1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3024" y="3486888"/>
                <a:ext cx="382732" cy="276999"/>
              </a:xfrm>
              <a:prstGeom prst="rect">
                <a:avLst/>
              </a:prstGeom>
              <a:blipFill rotWithShape="0"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/>
              <p:cNvSpPr txBox="1"/>
              <p:nvPr/>
            </p:nvSpPr>
            <p:spPr>
              <a:xfrm>
                <a:off x="5138740" y="4517945"/>
                <a:ext cx="33021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𝐷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40" name="TextBox 1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8740" y="4517945"/>
                <a:ext cx="330219" cy="276999"/>
              </a:xfrm>
              <a:prstGeom prst="rect">
                <a:avLst/>
              </a:prstGeom>
              <a:blipFill rotWithShape="0"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" name="Овал 140"/>
          <p:cNvSpPr/>
          <p:nvPr/>
        </p:nvSpPr>
        <p:spPr>
          <a:xfrm flipH="1" flipV="1">
            <a:off x="4329195" y="3670127"/>
            <a:ext cx="41563" cy="4313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/>
              <p:cNvSpPr txBox="1"/>
              <p:nvPr/>
            </p:nvSpPr>
            <p:spPr>
              <a:xfrm>
                <a:off x="4112676" y="3391067"/>
                <a:ext cx="3859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𝑂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42" name="TextBox 1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2676" y="3391067"/>
                <a:ext cx="385938" cy="276999"/>
              </a:xfrm>
              <a:prstGeom prst="rect">
                <a:avLst/>
              </a:prstGeom>
              <a:blipFill rotWithShape="0"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Овал 142"/>
          <p:cNvSpPr/>
          <p:nvPr/>
        </p:nvSpPr>
        <p:spPr>
          <a:xfrm flipH="1" flipV="1">
            <a:off x="3948611" y="4595227"/>
            <a:ext cx="41563" cy="4313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/>
              <p:cNvSpPr txBox="1"/>
              <p:nvPr/>
            </p:nvSpPr>
            <p:spPr>
              <a:xfrm>
                <a:off x="3756203" y="4653829"/>
                <a:ext cx="22454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44" name="TextBox 1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6203" y="4653829"/>
                <a:ext cx="224544" cy="276999"/>
              </a:xfrm>
              <a:prstGeom prst="rect">
                <a:avLst/>
              </a:prstGeom>
              <a:blipFill rotWithShape="0">
                <a:blip r:embed="rId44"/>
                <a:stretch>
                  <a:fillRect r="-243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Прямая соединительная линия 145"/>
          <p:cNvCxnSpPr/>
          <p:nvPr/>
        </p:nvCxnSpPr>
        <p:spPr>
          <a:xfrm flipH="1">
            <a:off x="3965790" y="3665305"/>
            <a:ext cx="380584" cy="955601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Сектор 147"/>
          <p:cNvSpPr/>
          <p:nvPr/>
        </p:nvSpPr>
        <p:spPr>
          <a:xfrm>
            <a:off x="3647374" y="4285305"/>
            <a:ext cx="636594" cy="656399"/>
          </a:xfrm>
          <a:prstGeom prst="pie">
            <a:avLst>
              <a:gd name="adj1" fmla="val 17483553"/>
              <a:gd name="adj2" fmla="val 21590372"/>
            </a:avLst>
          </a:prstGeom>
          <a:solidFill>
            <a:srgbClr val="006600">
              <a:alpha val="15000"/>
            </a:srgbClr>
          </a:solidFill>
          <a:ln w="6350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149" name="Прямая соединительная линия 148"/>
          <p:cNvCxnSpPr>
            <a:stCxn id="136" idx="0"/>
            <a:endCxn id="136" idx="2"/>
          </p:cNvCxnSpPr>
          <p:nvPr/>
        </p:nvCxnSpPr>
        <p:spPr>
          <a:xfrm>
            <a:off x="4342486" y="3699105"/>
            <a:ext cx="0" cy="91440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Овал 151"/>
          <p:cNvSpPr/>
          <p:nvPr/>
        </p:nvSpPr>
        <p:spPr>
          <a:xfrm flipH="1" flipV="1">
            <a:off x="4329304" y="4593401"/>
            <a:ext cx="41563" cy="4313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extBox 152"/>
              <p:cNvSpPr txBox="1"/>
              <p:nvPr/>
            </p:nvSpPr>
            <p:spPr>
              <a:xfrm>
                <a:off x="4181480" y="4630375"/>
                <a:ext cx="3366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𝐻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53" name="TextBox 1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480" y="4630375"/>
                <a:ext cx="336631" cy="276999"/>
              </a:xfrm>
              <a:prstGeom prst="rect">
                <a:avLst/>
              </a:prstGeom>
              <a:blipFill rotWithShape="0"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/>
              <p:cNvSpPr txBox="1"/>
              <p:nvPr/>
            </p:nvSpPr>
            <p:spPr>
              <a:xfrm>
                <a:off x="204784" y="3942095"/>
                <a:ext cx="8622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𝑂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𝐻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=1; 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6" name="TextBox 1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784" y="3942095"/>
                <a:ext cx="862287" cy="276999"/>
              </a:xfrm>
              <a:prstGeom prst="rect">
                <a:avLst/>
              </a:prstGeom>
              <a:blipFill rotWithShape="0">
                <a:blip r:embed="rId46"/>
                <a:stretch>
                  <a:fillRect t="-82222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/>
              <p:cNvSpPr txBox="1"/>
              <p:nvPr/>
            </p:nvSpPr>
            <p:spPr>
              <a:xfrm>
                <a:off x="918881" y="3805109"/>
                <a:ext cx="1509452" cy="4801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𝐾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𝐻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4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𝐵𝐷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 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7" name="TextBox 1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881" y="3805109"/>
                <a:ext cx="1509452" cy="480196"/>
              </a:xfrm>
              <a:prstGeom prst="rect">
                <a:avLst/>
              </a:prstGeom>
              <a:blipFill rotWithShape="0">
                <a:blip r:embed="rId47"/>
                <a:stretch>
                  <a:fillRect t="-16456" b="-443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/>
              <p:cNvSpPr txBox="1"/>
              <p:nvPr/>
            </p:nvSpPr>
            <p:spPr>
              <a:xfrm>
                <a:off x="183118" y="4285305"/>
                <a:ext cx="1530354" cy="4694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𝑡𝑔</m:t>
                      </m:r>
                      <m:d>
                        <m:d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ru-RU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∠</m:t>
                          </m:r>
                          <m:sSub>
                            <m:sSub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𝐷</m:t>
                          </m:r>
                        </m:e>
                      </m:d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i="1" dirty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sz="12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𝐻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i="1" dirty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2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𝐻</m:t>
                          </m:r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8" name="TextBox 1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118" y="4285305"/>
                <a:ext cx="1530354" cy="469424"/>
              </a:xfrm>
              <a:prstGeom prst="rect">
                <a:avLst/>
              </a:prstGeom>
              <a:blipFill rotWithShape="0"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/>
              <p:cNvSpPr txBox="1"/>
              <p:nvPr/>
            </p:nvSpPr>
            <p:spPr>
              <a:xfrm>
                <a:off x="1624791" y="4285305"/>
                <a:ext cx="966482" cy="6291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f>
                            <m:fPr>
                              <m:ctrlPr>
                                <a:rPr lang="en-US" sz="1200" i="1" dirty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1200" i="1" dirty="0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200" i="1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2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12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den>
                          </m:f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9" name="TextBox 1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4791" y="4285305"/>
                <a:ext cx="966482" cy="629147"/>
              </a:xfrm>
              <a:prstGeom prst="rect">
                <a:avLst/>
              </a:prstGeom>
              <a:blipFill rotWithShape="0"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/>
              <p:cNvSpPr txBox="1"/>
              <p:nvPr/>
            </p:nvSpPr>
            <p:spPr>
              <a:xfrm>
                <a:off x="6068626" y="4156305"/>
                <a:ext cx="1983685" cy="4082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b="1" dirty="0" smtClean="0">
                    <a:solidFill>
                      <a:srgbClr val="FF0000"/>
                    </a:solidFill>
                  </a:rPr>
                  <a:t>Ответ: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charset="0"/>
                      </a:rPr>
                      <m:t>𝐚𝐫𝐜𝐭𝐠</m:t>
                    </m:r>
                    <m:r>
                      <a:rPr lang="ru-RU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⁡(</m:t>
                    </m:r>
                    <m:rad>
                      <m:radPr>
                        <m:degHide m:val="on"/>
                        <m:ctrlPr>
                          <a:rPr lang="ru-RU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𝟐</m:t>
                        </m:r>
                      </m:e>
                    </m:rad>
                    <m:r>
                      <a:rPr lang="ru-RU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)</m:t>
                    </m:r>
                  </m:oMath>
                </a14:m>
                <a:endParaRPr lang="ru-RU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0" name="TextBox 1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8626" y="4156305"/>
                <a:ext cx="1983685" cy="408253"/>
              </a:xfrm>
              <a:prstGeom prst="rect">
                <a:avLst/>
              </a:prstGeom>
              <a:blipFill rotWithShape="0">
                <a:blip r:embed="rId50"/>
                <a:stretch>
                  <a:fillRect l="-2769" t="-80597" b="-1074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2" name="Прямая соединительная линия 161"/>
          <p:cNvCxnSpPr/>
          <p:nvPr/>
        </p:nvCxnSpPr>
        <p:spPr>
          <a:xfrm>
            <a:off x="6286827" y="1172145"/>
            <a:ext cx="1891213" cy="1081006"/>
          </a:xfrm>
          <a:prstGeom prst="line">
            <a:avLst/>
          </a:prstGeom>
          <a:ln w="12700">
            <a:solidFill>
              <a:srgbClr val="00206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Полилиния 162"/>
          <p:cNvSpPr/>
          <p:nvPr/>
        </p:nvSpPr>
        <p:spPr>
          <a:xfrm>
            <a:off x="6299200" y="2265680"/>
            <a:ext cx="1889760" cy="1351280"/>
          </a:xfrm>
          <a:custGeom>
            <a:avLst/>
            <a:gdLst>
              <a:gd name="connsiteX0" fmla="*/ 1889760 w 1889760"/>
              <a:gd name="connsiteY0" fmla="*/ 0 h 1351280"/>
              <a:gd name="connsiteX1" fmla="*/ 0 w 1889760"/>
              <a:gd name="connsiteY1" fmla="*/ 274320 h 1351280"/>
              <a:gd name="connsiteX2" fmla="*/ 1879600 w 1889760"/>
              <a:gd name="connsiteY2" fmla="*/ 1351280 h 1351280"/>
              <a:gd name="connsiteX3" fmla="*/ 1889760 w 1889760"/>
              <a:gd name="connsiteY3" fmla="*/ 0 h 1351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89760" h="1351280">
                <a:moveTo>
                  <a:pt x="1889760" y="0"/>
                </a:moveTo>
                <a:lnTo>
                  <a:pt x="0" y="274320"/>
                </a:lnTo>
                <a:lnTo>
                  <a:pt x="1879600" y="1351280"/>
                </a:lnTo>
                <a:cubicBezTo>
                  <a:pt x="1876213" y="911013"/>
                  <a:pt x="1872827" y="470747"/>
                  <a:pt x="1889760" y="0"/>
                </a:cubicBezTo>
                <a:close/>
              </a:path>
            </a:pathLst>
          </a:cu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4" name="Полилиния 163"/>
          <p:cNvSpPr/>
          <p:nvPr/>
        </p:nvSpPr>
        <p:spPr>
          <a:xfrm>
            <a:off x="6045200" y="1188720"/>
            <a:ext cx="2712720" cy="1859280"/>
          </a:xfrm>
          <a:custGeom>
            <a:avLst/>
            <a:gdLst>
              <a:gd name="connsiteX0" fmla="*/ 2702560 w 2712720"/>
              <a:gd name="connsiteY0" fmla="*/ 0 h 1859280"/>
              <a:gd name="connsiteX1" fmla="*/ 0 w 2712720"/>
              <a:gd name="connsiteY1" fmla="*/ 1859280 h 1859280"/>
              <a:gd name="connsiteX2" fmla="*/ 2712720 w 2712720"/>
              <a:gd name="connsiteY2" fmla="*/ 1361440 h 1859280"/>
              <a:gd name="connsiteX3" fmla="*/ 2702560 w 2712720"/>
              <a:gd name="connsiteY3" fmla="*/ 0 h 1859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720" h="1859280">
                <a:moveTo>
                  <a:pt x="2702560" y="0"/>
                </a:moveTo>
                <a:lnTo>
                  <a:pt x="0" y="1859280"/>
                </a:lnTo>
                <a:lnTo>
                  <a:pt x="2712720" y="1361440"/>
                </a:lnTo>
                <a:cubicBezTo>
                  <a:pt x="2709333" y="917787"/>
                  <a:pt x="2705947" y="474133"/>
                  <a:pt x="2702560" y="0"/>
                </a:cubicBezTo>
                <a:close/>
              </a:path>
            </a:pathLst>
          </a:cu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67" name="Прямая соединительная линия 166"/>
          <p:cNvCxnSpPr>
            <a:endCxn id="26" idx="1"/>
          </p:cNvCxnSpPr>
          <p:nvPr/>
        </p:nvCxnSpPr>
        <p:spPr>
          <a:xfrm flipV="1">
            <a:off x="5725532" y="2549390"/>
            <a:ext cx="2993979" cy="1060612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9191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5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9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4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3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8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indefinite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2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>
                      <p:stCondLst>
                        <p:cond delay="indefinite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indefinite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7" grpId="0" animBg="1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67" grpId="0" animBg="1"/>
      <p:bldP spid="68" grpId="0"/>
      <p:bldP spid="69" grpId="0" animBg="1"/>
      <p:bldP spid="79" grpId="0" animBg="1"/>
      <p:bldP spid="80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 animBg="1"/>
      <p:bldP spid="92" grpId="0" animBg="1"/>
      <p:bldP spid="97" grpId="0" animBg="1"/>
      <p:bldP spid="98" grpId="0"/>
      <p:bldP spid="99" grpId="0" animBg="1"/>
      <p:bldP spid="100" grpId="0" animBg="1"/>
      <p:bldP spid="101" grpId="0"/>
      <p:bldP spid="120" grpId="0" animBg="1"/>
      <p:bldP spid="121" grpId="0"/>
      <p:bldP spid="122" grpId="0"/>
      <p:bldP spid="123" grpId="0"/>
      <p:bldP spid="125" grpId="0"/>
      <p:bldP spid="126" grpId="0" animBg="1"/>
      <p:bldP spid="128" grpId="0"/>
      <p:bldP spid="129" grpId="0" animBg="1"/>
      <p:bldP spid="130" grpId="0"/>
      <p:bldP spid="135" grpId="0" animBg="1"/>
      <p:bldP spid="136" grpId="0" animBg="1"/>
      <p:bldP spid="137" grpId="0"/>
      <p:bldP spid="138" grpId="0"/>
      <p:bldP spid="139" grpId="0"/>
      <p:bldP spid="140" grpId="0"/>
      <p:bldP spid="141" grpId="0" animBg="1"/>
      <p:bldP spid="142" grpId="0"/>
      <p:bldP spid="143" grpId="0" animBg="1"/>
      <p:bldP spid="144" grpId="0"/>
      <p:bldP spid="148" grpId="0" animBg="1"/>
      <p:bldP spid="152" grpId="0" animBg="1"/>
      <p:bldP spid="153" grpId="0"/>
      <p:bldP spid="156" grpId="0"/>
      <p:bldP spid="157" grpId="0"/>
      <p:bldP spid="158" grpId="0"/>
      <p:bldP spid="159" grpId="0"/>
      <p:bldP spid="163" grpId="0" animBg="1"/>
      <p:bldP spid="163" grpId="1" animBg="1"/>
      <p:bldP spid="164" grpId="0" animBg="1"/>
      <p:bldP spid="164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10</a:t>
            </a:fld>
            <a:endParaRPr kumimoji="0" lang="ru-RU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0" y="-22136"/>
                <a:ext cx="9144000" cy="93770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dirty="0" smtClean="0">
                    <a:solidFill>
                      <a:srgbClr val="7030A0"/>
                    </a:solidFill>
                  </a:rPr>
                  <a:t>6.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В</a:t>
                </a:r>
                <a14:m>
                  <m:oMath xmlns:m="http://schemas.openxmlformats.org/officeDocument/2006/math">
                    <m:r>
                      <a:rPr lang="ru-RU" sz="1200" b="1" i="0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основании</a:t>
                </a:r>
                <a14:m>
                  <m:oMath xmlns:m="http://schemas.openxmlformats.org/officeDocument/2006/math">
                    <m:r>
                      <a:rPr lang="ru-RU" sz="1200" b="1" i="0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прямой призмы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𝑨𝑩𝑪</m:t>
                    </m:r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𝑫𝑨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𝑫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лежит квадрат</a:t>
                </a:r>
                <a14:m>
                  <m:oMath xmlns:m="http://schemas.openxmlformats.org/officeDocument/2006/math">
                    <m:r>
                      <a:rPr lang="ru-RU" sz="1200" b="1" i="0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𝑨𝑩𝑪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𝑫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со стороной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𝟐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, а высота призмы равна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𝟏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. Точка 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𝑬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лежит на диагонали 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𝑩</m:t>
                    </m:r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𝑫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,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причем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𝑩𝑬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𝟏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а) Постройте </a:t>
                </a:r>
                <a:r>
                  <a:rPr lang="ru-RU" sz="1200" b="1" dirty="0">
                    <a:solidFill>
                      <a:srgbClr val="002060"/>
                    </a:solidFill>
                  </a:rPr>
                  <a:t>с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ечение призмы плосксостью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ru-RU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𝑬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б) Найдите угол между плоскостью сечения и плоскостью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𝑨𝑩𝑪</m:t>
                    </m:r>
                    <m:r>
                      <a:rPr lang="ru-RU" sz="1200" b="1" i="0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6"/>
                <a:ext cx="9144000" cy="93770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Прямая соединительная линия 4"/>
          <p:cNvCxnSpPr/>
          <p:nvPr/>
        </p:nvCxnSpPr>
        <p:spPr>
          <a:xfrm>
            <a:off x="6107129" y="2533874"/>
            <a:ext cx="2448272" cy="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>
            <a:off x="5531065" y="3613994"/>
            <a:ext cx="2448272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flipV="1">
            <a:off x="5531065" y="2533874"/>
            <a:ext cx="576064" cy="108012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 flipV="1">
            <a:off x="7979337" y="2533874"/>
            <a:ext cx="576064" cy="108012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 flipV="1">
            <a:off x="5531065" y="2245842"/>
            <a:ext cx="0" cy="1368152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 flipV="1">
            <a:off x="6107129" y="1165722"/>
            <a:ext cx="0" cy="1368152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 flipV="1">
            <a:off x="7979337" y="2245842"/>
            <a:ext cx="0" cy="1368152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 flipV="1">
            <a:off x="8555401" y="1165722"/>
            <a:ext cx="0" cy="1368152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6107729" y="1165721"/>
            <a:ext cx="2448272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5531665" y="2245841"/>
            <a:ext cx="2448272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 flipV="1">
            <a:off x="5531665" y="1165721"/>
            <a:ext cx="576064" cy="108012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 flipV="1">
            <a:off x="7979937" y="1165721"/>
            <a:ext cx="576064" cy="108012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232786" y="3486888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786" y="3486888"/>
                <a:ext cx="340286" cy="3077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775786" y="2298105"/>
                <a:ext cx="3829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5786" y="2298105"/>
                <a:ext cx="382989" cy="3077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8462021" y="2589124"/>
                <a:ext cx="3481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2021" y="2589124"/>
                <a:ext cx="348172" cy="3077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944012" y="3525691"/>
                <a:ext cx="35503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𝐷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4012" y="3525691"/>
                <a:ext cx="355033" cy="3077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148064" y="2072331"/>
                <a:ext cx="41716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064" y="2072331"/>
                <a:ext cx="417165" cy="30777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775786" y="939831"/>
                <a:ext cx="4140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5786" y="939831"/>
                <a:ext cx="414088" cy="30777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8520285" y="960151"/>
                <a:ext cx="4002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0285" y="960151"/>
                <a:ext cx="400238" cy="30777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7965932" y="2093237"/>
                <a:ext cx="34534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5932" y="2093237"/>
                <a:ext cx="345348" cy="30777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Прямая соединительная линия 24"/>
          <p:cNvCxnSpPr/>
          <p:nvPr/>
        </p:nvCxnSpPr>
        <p:spPr>
          <a:xfrm flipV="1">
            <a:off x="6105018" y="2257275"/>
            <a:ext cx="1877989" cy="276598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Овал 25"/>
          <p:cNvSpPr/>
          <p:nvPr/>
        </p:nvSpPr>
        <p:spPr>
          <a:xfrm>
            <a:off x="6652393" y="2434257"/>
            <a:ext cx="41574" cy="4157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6412100" y="2227922"/>
                <a:ext cx="32213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𝐸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100" y="2227922"/>
                <a:ext cx="322139" cy="276999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309026" y="3632125"/>
                <a:ext cx="3241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026" y="3632125"/>
                <a:ext cx="324128" cy="307777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5223784" y="2719107"/>
                <a:ext cx="3241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3784" y="2719107"/>
                <a:ext cx="324128" cy="307777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6199299" y="2303042"/>
                <a:ext cx="37061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b="0" i="1" smtClean="0">
                          <a:latin typeface="Cambria Math" charset="0"/>
                        </a:rPr>
                        <m:t>(1)</m:t>
                      </m:r>
                    </m:oMath>
                  </m:oMathPara>
                </a14:m>
                <a:endParaRPr lang="ru-RU" sz="9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9299" y="2303042"/>
                <a:ext cx="370614" cy="230832"/>
              </a:xfrm>
              <a:prstGeom prst="rect">
                <a:avLst/>
              </a:prstGeom>
              <a:blipFill rotWithShape="0">
                <a:blip r:embed="rId14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Прямая соединительная линия 35"/>
          <p:cNvCxnSpPr/>
          <p:nvPr/>
        </p:nvCxnSpPr>
        <p:spPr>
          <a:xfrm flipV="1">
            <a:off x="5531065" y="1175606"/>
            <a:ext cx="3008548" cy="1064717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Овал 44"/>
          <p:cNvSpPr/>
          <p:nvPr/>
        </p:nvSpPr>
        <p:spPr>
          <a:xfrm flipH="1" flipV="1">
            <a:off x="5825989" y="3018377"/>
            <a:ext cx="45719" cy="474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5500285" y="2919560"/>
                <a:ext cx="3359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𝑁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0285" y="2919560"/>
                <a:ext cx="335926" cy="276999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Полилиния 55"/>
          <p:cNvSpPr/>
          <p:nvPr/>
        </p:nvSpPr>
        <p:spPr>
          <a:xfrm>
            <a:off x="5926809" y="2731364"/>
            <a:ext cx="121920" cy="50800"/>
          </a:xfrm>
          <a:custGeom>
            <a:avLst/>
            <a:gdLst>
              <a:gd name="connsiteX0" fmla="*/ 0 w 121920"/>
              <a:gd name="connsiteY0" fmla="*/ 0 h 50800"/>
              <a:gd name="connsiteX1" fmla="*/ 0 w 121920"/>
              <a:gd name="connsiteY1" fmla="*/ 0 h 50800"/>
              <a:gd name="connsiteX2" fmla="*/ 81280 w 121920"/>
              <a:gd name="connsiteY2" fmla="*/ 30480 h 50800"/>
              <a:gd name="connsiteX3" fmla="*/ 121920 w 121920"/>
              <a:gd name="connsiteY3" fmla="*/ 50800 h 50800"/>
              <a:gd name="connsiteX4" fmla="*/ 121920 w 121920"/>
              <a:gd name="connsiteY4" fmla="*/ 50800 h 5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" h="50800">
                <a:moveTo>
                  <a:pt x="0" y="0"/>
                </a:moveTo>
                <a:lnTo>
                  <a:pt x="0" y="0"/>
                </a:lnTo>
                <a:lnTo>
                  <a:pt x="81280" y="30480"/>
                </a:lnTo>
                <a:cubicBezTo>
                  <a:pt x="117971" y="43822"/>
                  <a:pt x="103441" y="32321"/>
                  <a:pt x="121920" y="50800"/>
                </a:cubicBezTo>
                <a:lnTo>
                  <a:pt x="121920" y="5080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Полилиния 56"/>
          <p:cNvSpPr/>
          <p:nvPr/>
        </p:nvSpPr>
        <p:spPr>
          <a:xfrm>
            <a:off x="5613233" y="3337010"/>
            <a:ext cx="121920" cy="50800"/>
          </a:xfrm>
          <a:custGeom>
            <a:avLst/>
            <a:gdLst>
              <a:gd name="connsiteX0" fmla="*/ 0 w 121920"/>
              <a:gd name="connsiteY0" fmla="*/ 0 h 50800"/>
              <a:gd name="connsiteX1" fmla="*/ 0 w 121920"/>
              <a:gd name="connsiteY1" fmla="*/ 0 h 50800"/>
              <a:gd name="connsiteX2" fmla="*/ 81280 w 121920"/>
              <a:gd name="connsiteY2" fmla="*/ 30480 h 50800"/>
              <a:gd name="connsiteX3" fmla="*/ 121920 w 121920"/>
              <a:gd name="connsiteY3" fmla="*/ 50800 h 50800"/>
              <a:gd name="connsiteX4" fmla="*/ 121920 w 121920"/>
              <a:gd name="connsiteY4" fmla="*/ 50800 h 5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" h="50800">
                <a:moveTo>
                  <a:pt x="0" y="0"/>
                </a:moveTo>
                <a:lnTo>
                  <a:pt x="0" y="0"/>
                </a:lnTo>
                <a:lnTo>
                  <a:pt x="81280" y="30480"/>
                </a:lnTo>
                <a:cubicBezTo>
                  <a:pt x="117971" y="43822"/>
                  <a:pt x="103441" y="32321"/>
                  <a:pt x="121920" y="50800"/>
                </a:cubicBezTo>
                <a:lnTo>
                  <a:pt x="121920" y="5080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Овал 58"/>
          <p:cNvSpPr/>
          <p:nvPr/>
        </p:nvSpPr>
        <p:spPr>
          <a:xfrm flipH="1" flipV="1">
            <a:off x="7248535" y="2518452"/>
            <a:ext cx="45719" cy="474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7141962" y="2530323"/>
                <a:ext cx="3048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𝐿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1962" y="2530323"/>
                <a:ext cx="304827" cy="276999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Полилиния 60"/>
          <p:cNvSpPr/>
          <p:nvPr/>
        </p:nvSpPr>
        <p:spPr>
          <a:xfrm>
            <a:off x="7887689" y="2497684"/>
            <a:ext cx="0" cy="91440"/>
          </a:xfrm>
          <a:custGeom>
            <a:avLst/>
            <a:gdLst>
              <a:gd name="connsiteX0" fmla="*/ 0 w 0"/>
              <a:gd name="connsiteY0" fmla="*/ 0 h 91440"/>
              <a:gd name="connsiteX1" fmla="*/ 0 w 0"/>
              <a:gd name="connsiteY1" fmla="*/ 91440 h 91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91440">
                <a:moveTo>
                  <a:pt x="0" y="0"/>
                </a:moveTo>
                <a:lnTo>
                  <a:pt x="0" y="9144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Полилиния 61"/>
          <p:cNvSpPr/>
          <p:nvPr/>
        </p:nvSpPr>
        <p:spPr>
          <a:xfrm>
            <a:off x="6796729" y="2503394"/>
            <a:ext cx="0" cy="91440"/>
          </a:xfrm>
          <a:custGeom>
            <a:avLst/>
            <a:gdLst>
              <a:gd name="connsiteX0" fmla="*/ 0 w 0"/>
              <a:gd name="connsiteY0" fmla="*/ 0 h 91440"/>
              <a:gd name="connsiteX1" fmla="*/ 0 w 0"/>
              <a:gd name="connsiteY1" fmla="*/ 91440 h 91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91440">
                <a:moveTo>
                  <a:pt x="0" y="0"/>
                </a:moveTo>
                <a:lnTo>
                  <a:pt x="0" y="9144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4" name="Прямая соединительная линия 63"/>
          <p:cNvCxnSpPr/>
          <p:nvPr/>
        </p:nvCxnSpPr>
        <p:spPr>
          <a:xfrm>
            <a:off x="5540626" y="2245217"/>
            <a:ext cx="302218" cy="813660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V="1">
            <a:off x="5848848" y="2538772"/>
            <a:ext cx="1422546" cy="499925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/>
          <p:nvPr/>
        </p:nvCxnSpPr>
        <p:spPr>
          <a:xfrm flipV="1">
            <a:off x="7287559" y="1183579"/>
            <a:ext cx="1252054" cy="1341822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Полилиния 66"/>
          <p:cNvSpPr/>
          <p:nvPr/>
        </p:nvSpPr>
        <p:spPr>
          <a:xfrm>
            <a:off x="5540147" y="1172913"/>
            <a:ext cx="3007360" cy="1879600"/>
          </a:xfrm>
          <a:custGeom>
            <a:avLst/>
            <a:gdLst>
              <a:gd name="connsiteX0" fmla="*/ 0 w 3007360"/>
              <a:gd name="connsiteY0" fmla="*/ 1076960 h 1879600"/>
              <a:gd name="connsiteX1" fmla="*/ 304800 w 3007360"/>
              <a:gd name="connsiteY1" fmla="*/ 1879600 h 1879600"/>
              <a:gd name="connsiteX2" fmla="*/ 1737360 w 3007360"/>
              <a:gd name="connsiteY2" fmla="*/ 1351280 h 1879600"/>
              <a:gd name="connsiteX3" fmla="*/ 3007360 w 3007360"/>
              <a:gd name="connsiteY3" fmla="*/ 0 h 1879600"/>
              <a:gd name="connsiteX4" fmla="*/ 0 w 3007360"/>
              <a:gd name="connsiteY4" fmla="*/ 1076960 h 187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07360" h="1879600">
                <a:moveTo>
                  <a:pt x="0" y="1076960"/>
                </a:moveTo>
                <a:lnTo>
                  <a:pt x="304800" y="1879600"/>
                </a:lnTo>
                <a:lnTo>
                  <a:pt x="1737360" y="1351280"/>
                </a:lnTo>
                <a:lnTo>
                  <a:pt x="3007360" y="0"/>
                </a:lnTo>
                <a:lnTo>
                  <a:pt x="0" y="1076960"/>
                </a:lnTo>
                <a:close/>
              </a:path>
            </a:pathLst>
          </a:custGeom>
          <a:solidFill>
            <a:srgbClr val="FF000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204784" y="1039562"/>
                <a:ext cx="224176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>
                    <a:solidFill>
                      <a:schemeClr val="tx1"/>
                    </a:solidFill>
                  </a:rPr>
                  <a:t>б</a:t>
                </a:r>
                <a:r>
                  <a:rPr lang="ru-RU" sz="1200" smtClean="0">
                    <a:solidFill>
                      <a:schemeClr val="tx1"/>
                    </a:solidFill>
                  </a:rPr>
                  <a:t>)  </a:t>
                </a:r>
                <a:r>
                  <a:rPr lang="ru-RU" sz="1200" b="0" i="0" smtClean="0">
                    <a:solidFill>
                      <a:schemeClr val="tx1"/>
                    </a:solidFill>
                    <a:latin typeface="+mj-lt"/>
                  </a:rPr>
                  <a:t>2</a:t>
                </a:r>
                <a:r>
                  <a:rPr lang="en-US" sz="1200" b="0" i="0" dirty="0" smtClean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ru-RU" sz="1200" b="0" i="0" dirty="0" smtClean="0">
                    <a:solidFill>
                      <a:schemeClr val="tx1"/>
                    </a:solidFill>
                    <a:latin typeface="+mj-lt"/>
                  </a:rPr>
                  <a:t>способ: метод координат.</a:t>
                </a:r>
                <a14:m>
                  <m:oMath xmlns:m="http://schemas.openxmlformats.org/officeDocument/2006/math">
                    <m:r>
                      <a:rPr lang="ru-RU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784" y="1039562"/>
                <a:ext cx="2241768" cy="276999"/>
              </a:xfrm>
              <a:prstGeom prst="rect">
                <a:avLst/>
              </a:prstGeom>
              <a:blipFill rotWithShape="0">
                <a:blip r:embed="rId17"/>
                <a:stretch>
                  <a:fillRect l="-272" t="-82222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" name="Прямая со стрелкой 97"/>
          <p:cNvCxnSpPr/>
          <p:nvPr/>
        </p:nvCxnSpPr>
        <p:spPr>
          <a:xfrm flipV="1">
            <a:off x="6112109" y="1061927"/>
            <a:ext cx="10808" cy="1473355"/>
          </a:xfrm>
          <a:prstGeom prst="straightConnector1">
            <a:avLst/>
          </a:prstGeom>
          <a:ln w="1905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6111050" y="915566"/>
                <a:ext cx="25846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smtClean="0">
                          <a:solidFill>
                            <a:srgbClr val="006600"/>
                          </a:solidFill>
                          <a:latin typeface="Cambria Math" charset="0"/>
                        </a:rPr>
                        <m:t>𝒛</m:t>
                      </m:r>
                    </m:oMath>
                  </m:oMathPara>
                </a14:m>
                <a:endParaRPr lang="ru-RU" sz="1100" b="1" dirty="0">
                  <a:solidFill>
                    <a:srgbClr val="006600"/>
                  </a:solidFill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1050" y="915566"/>
                <a:ext cx="258463" cy="261610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0" name="Прямая со стрелкой 99"/>
          <p:cNvCxnSpPr/>
          <p:nvPr/>
        </p:nvCxnSpPr>
        <p:spPr>
          <a:xfrm flipV="1">
            <a:off x="6089245" y="2538260"/>
            <a:ext cx="2831278" cy="3585"/>
          </a:xfrm>
          <a:prstGeom prst="straightConnector1">
            <a:avLst/>
          </a:prstGeom>
          <a:ln w="1905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/>
              <p:cNvSpPr txBox="1"/>
              <p:nvPr/>
            </p:nvSpPr>
            <p:spPr>
              <a:xfrm>
                <a:off x="8631916" y="2287504"/>
                <a:ext cx="25846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smtClean="0">
                          <a:solidFill>
                            <a:srgbClr val="006600"/>
                          </a:solidFill>
                          <a:latin typeface="Cambria Math" charset="0"/>
                        </a:rPr>
                        <m:t>𝒚</m:t>
                      </m:r>
                    </m:oMath>
                  </m:oMathPara>
                </a14:m>
                <a:endParaRPr lang="ru-RU" sz="1100" b="1" dirty="0">
                  <a:solidFill>
                    <a:srgbClr val="006600"/>
                  </a:solidFill>
                </a:endParaRPr>
              </a:p>
            </p:txBody>
          </p:sp>
        </mc:Choice>
        <mc:Fallback xmlns="">
          <p:sp>
            <p:nvSpPr>
              <p:cNvPr id="101" name="TextBox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916" y="2287504"/>
                <a:ext cx="258463" cy="261610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" name="Прямая со стрелкой 103"/>
          <p:cNvCxnSpPr/>
          <p:nvPr/>
        </p:nvCxnSpPr>
        <p:spPr>
          <a:xfrm flipH="1">
            <a:off x="5364809" y="2530172"/>
            <a:ext cx="755401" cy="1409730"/>
          </a:xfrm>
          <a:prstGeom prst="straightConnector1">
            <a:avLst/>
          </a:prstGeom>
          <a:ln w="1905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/>
              <p:cNvSpPr txBox="1"/>
              <p:nvPr/>
            </p:nvSpPr>
            <p:spPr>
              <a:xfrm>
                <a:off x="5371053" y="3790098"/>
                <a:ext cx="25846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smtClean="0">
                          <a:solidFill>
                            <a:srgbClr val="006600"/>
                          </a:solidFill>
                          <a:latin typeface="Cambria Math" charset="0"/>
                        </a:rPr>
                        <m:t>𝒙</m:t>
                      </m:r>
                    </m:oMath>
                  </m:oMathPara>
                </a14:m>
                <a:endParaRPr lang="ru-RU" sz="1100" b="1" dirty="0">
                  <a:solidFill>
                    <a:srgbClr val="006600"/>
                  </a:solidFill>
                </a:endParaRPr>
              </a:p>
            </p:txBody>
          </p:sp>
        </mc:Choice>
        <mc:Fallback xmlns="">
          <p:sp>
            <p:nvSpPr>
              <p:cNvPr id="107" name="TextBox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1053" y="3790098"/>
                <a:ext cx="258463" cy="261610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/>
              <p:cNvSpPr txBox="1"/>
              <p:nvPr/>
            </p:nvSpPr>
            <p:spPr>
              <a:xfrm>
                <a:off x="73007" y="1215825"/>
                <a:ext cx="1003223" cy="4431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𝐸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;</m:t>
                          </m:r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;</m:t>
                          </m:r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8" name="TextBox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7" y="1215825"/>
                <a:ext cx="1003223" cy="443135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/>
              <p:cNvSpPr txBox="1"/>
              <p:nvPr/>
            </p:nvSpPr>
            <p:spPr>
              <a:xfrm>
                <a:off x="1103224" y="1325936"/>
                <a:ext cx="92493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0;2;1</m:t>
                          </m:r>
                        </m:e>
                      </m:d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9" name="TextBox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224" y="1325936"/>
                <a:ext cx="924932" cy="276999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/>
              <p:cNvSpPr txBox="1"/>
              <p:nvPr/>
            </p:nvSpPr>
            <p:spPr>
              <a:xfrm>
                <a:off x="1928909" y="1326602"/>
                <a:ext cx="94038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2;0;1</m:t>
                          </m:r>
                        </m:e>
                      </m:d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0" name="TextBox 1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8909" y="1326602"/>
                <a:ext cx="940386" cy="276999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/>
              <p:cNvSpPr txBox="1"/>
              <p:nvPr/>
            </p:nvSpPr>
            <p:spPr>
              <a:xfrm>
                <a:off x="204784" y="1554039"/>
                <a:ext cx="35573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Уравнение плоскости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𝑁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𝐿𝐴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𝑎𝑥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+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𝑏𝑦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+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𝑐𝑧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+1=0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1" name="TextBox 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784" y="1554039"/>
                <a:ext cx="3557320" cy="276999"/>
              </a:xfrm>
              <a:prstGeom prst="rect">
                <a:avLst/>
              </a:prstGeom>
              <a:blipFill rotWithShape="0">
                <a:blip r:embed="rId24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/>
              <p:cNvSpPr txBox="1"/>
              <p:nvPr/>
            </p:nvSpPr>
            <p:spPr>
              <a:xfrm>
                <a:off x="197060" y="1798604"/>
                <a:ext cx="1838580" cy="7761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12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𝑎</m:t>
                            </m:r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𝑏</m:t>
                            </m:r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𝑐</m:t>
                            </m:r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+1=0</m:t>
                            </m:r>
                          </m:e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2</m:t>
                            </m:r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𝑏</m:t>
                            </m:r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+</m:t>
                            </m:r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𝑐</m:t>
                            </m:r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+1=0</m:t>
                            </m:r>
                          </m:e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2</m:t>
                            </m:r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𝑎</m:t>
                            </m:r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+</m:t>
                            </m:r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𝑐</m:t>
                            </m:r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+1=0</m:t>
                            </m:r>
                          </m:e>
                        </m:eqArr>
                      </m:e>
                    </m:d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;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2" name="TextBox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060" y="1798604"/>
                <a:ext cx="1838580" cy="776175"/>
              </a:xfrm>
              <a:prstGeom prst="rect">
                <a:avLst/>
              </a:prstGeom>
              <a:blipFill rotWithShape="0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/>
              <p:cNvSpPr txBox="1"/>
              <p:nvPr/>
            </p:nvSpPr>
            <p:spPr>
              <a:xfrm>
                <a:off x="305038" y="2619902"/>
                <a:ext cx="99475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0" i="0" smtClean="0">
                        <a:solidFill>
                          <a:schemeClr val="tx1"/>
                        </a:solidFill>
                        <a:latin typeface="Cambria Math" charset="0"/>
                      </a:rPr>
                      <m:t>2</m:t>
                    </m:r>
                    <m:r>
                      <a:rPr lang="en-US" sz="12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𝑎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+2=0;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3" name="TextBox 1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038" y="2619902"/>
                <a:ext cx="994759" cy="276999"/>
              </a:xfrm>
              <a:prstGeom prst="rect">
                <a:avLst/>
              </a:prstGeom>
              <a:blipFill rotWithShape="0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/>
              <p:cNvSpPr txBox="1"/>
              <p:nvPr/>
            </p:nvSpPr>
            <p:spPr>
              <a:xfrm>
                <a:off x="147744" y="2931790"/>
                <a:ext cx="43325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smtClean="0">
                    <a:solidFill>
                      <a:schemeClr val="tx1"/>
                    </a:solidFill>
                  </a:rPr>
                  <a:t>  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Координаты вектора нормали</a:t>
                </a:r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:r>
                  <a:rPr lang="ru-RU" sz="1200" dirty="0"/>
                  <a:t>плоскости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charset="0"/>
                      </a:rPr>
                      <m:t>𝑁</m:t>
                    </m:r>
                    <m:sSub>
                      <m:sSubPr>
                        <m:ctrlPr>
                          <a:rPr lang="en-US" sz="12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charset="0"/>
                          </a:rPr>
                          <m:t>𝐿𝐴</m:t>
                        </m:r>
                      </m:e>
                      <m:sub>
                        <m:r>
                          <a:rPr lang="en-US" sz="1200" i="1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2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(−1;−1;1)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4" name="TextBox 1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44" y="2931790"/>
                <a:ext cx="4332596" cy="276999"/>
              </a:xfrm>
              <a:prstGeom prst="rect">
                <a:avLst/>
              </a:prstGeom>
              <a:blipFill rotWithShape="0">
                <a:blip r:embed="rId27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/>
              <p:cNvSpPr txBox="1"/>
              <p:nvPr/>
            </p:nvSpPr>
            <p:spPr>
              <a:xfrm>
                <a:off x="156729" y="3194892"/>
                <a:ext cx="406380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smtClean="0">
                    <a:solidFill>
                      <a:schemeClr val="tx1"/>
                    </a:solidFill>
                  </a:rPr>
                  <a:t>  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Координаты вектора нормали</a:t>
                </a:r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:r>
                  <a:rPr lang="ru-RU" sz="1200" dirty="0"/>
                  <a:t>плоскости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charset="0"/>
                      </a:rPr>
                      <m:t>𝐴𝐵𝐶</m:t>
                    </m:r>
                    <m:r>
                      <a:rPr lang="en-US" sz="1200" b="0" i="1" smtClean="0">
                        <a:latin typeface="Cambria Math" charset="0"/>
                      </a:rPr>
                      <m:t>  </m:t>
                    </m:r>
                    <m:acc>
                      <m:accPr>
                        <m:chr m:val="⃗"/>
                        <m:ctrlPr>
                          <a:rPr lang="en-US" sz="12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(0;0;1)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5" name="TextBox 1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729" y="3194892"/>
                <a:ext cx="4063805" cy="276999"/>
              </a:xfrm>
              <a:prstGeom prst="rect">
                <a:avLst/>
              </a:prstGeom>
              <a:blipFill rotWithShape="0">
                <a:blip r:embed="rId28"/>
                <a:stretch>
                  <a:fillRect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/>
              <p:cNvSpPr txBox="1"/>
              <p:nvPr/>
            </p:nvSpPr>
            <p:spPr>
              <a:xfrm>
                <a:off x="369307" y="3516564"/>
                <a:ext cx="1350754" cy="4876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cos</m:t>
                      </m:r>
                      <m:r>
                        <a:rPr lang="en-US" sz="120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𝛼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|</m:t>
                          </m:r>
                          <m:acc>
                            <m:accPr>
                              <m:chr m:val="⃗"/>
                              <m:ctrlPr>
                                <a:rPr lang="en-US" sz="1200" i="1">
                                  <a:latin typeface="Cambria Math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acc>
                            <m:accPr>
                              <m:chr m:val="⃗"/>
                              <m:ctrlPr>
                                <a:rPr lang="en-US" sz="1200" i="1">
                                  <a:latin typeface="Cambria Math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1200" b="0" i="1" smtClean="0">
                              <a:latin typeface="Cambria Math" charset="0"/>
                            </a:rPr>
                            <m:t>|</m:t>
                          </m:r>
                        </m:num>
                        <m:den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|</m:t>
                          </m:r>
                          <m:acc>
                            <m:accPr>
                              <m:chr m:val="⃗"/>
                              <m:ctrlPr>
                                <a:rPr lang="en-US" sz="1200" i="1">
                                  <a:latin typeface="Cambria Math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1200" b="0" i="1" smtClean="0">
                              <a:latin typeface="Cambria Math" charset="0"/>
                            </a:rPr>
                            <m:t>|</m:t>
                          </m:r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∙|</m:t>
                          </m:r>
                          <m:acc>
                            <m:accPr>
                              <m:chr m:val="⃗"/>
                              <m:ctrlPr>
                                <a:rPr lang="en-US" sz="1200" i="1">
                                  <a:latin typeface="Cambria Math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1200" b="0" i="1" smtClean="0">
                              <a:latin typeface="Cambria Math" charset="0"/>
                            </a:rPr>
                            <m:t>|</m:t>
                          </m:r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6" name="TextBox 1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307" y="3516564"/>
                <a:ext cx="1350754" cy="487698"/>
              </a:xfrm>
              <a:prstGeom prst="rect">
                <a:avLst/>
              </a:prstGeom>
              <a:blipFill rotWithShape="0">
                <a:blip r:embed="rId29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/>
              <p:cNvSpPr txBox="1"/>
              <p:nvPr/>
            </p:nvSpPr>
            <p:spPr>
              <a:xfrm>
                <a:off x="1557513" y="3506007"/>
                <a:ext cx="2173800" cy="5215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|</m:t>
                          </m:r>
                          <m:r>
                            <a:rPr lang="en-US" sz="1200" i="1" smtClean="0">
                              <a:latin typeface="Cambria Math" charset="0"/>
                            </a:rPr>
                            <m:t>(</m:t>
                          </m:r>
                          <m:r>
                            <a:rPr lang="en-US" sz="1200" b="0" i="1" smtClean="0">
                              <a:latin typeface="Cambria Math" charset="0"/>
                            </a:rPr>
                            <m:t>−1)</m:t>
                          </m:r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∙0+(−1)∙0+1∙1</m:t>
                          </m:r>
                          <m:r>
                            <a:rPr lang="en-US" sz="1200" b="0" i="1" smtClean="0">
                              <a:latin typeface="Cambria Math" charset="0"/>
                            </a:rPr>
                            <m:t>|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mr-IN" sz="12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200" i="1" dirty="0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i="1" dirty="0">
                                          <a:latin typeface="Cambria Math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1" dirty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200" i="1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+1</m:t>
                              </m:r>
                            </m:e>
                          </m:rad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∙1</m:t>
                          </m:r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7" name="TextBox 1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7513" y="3506007"/>
                <a:ext cx="2173800" cy="521553"/>
              </a:xfrm>
              <a:prstGeom prst="rect">
                <a:avLst/>
              </a:prstGeom>
              <a:blipFill rotWithShape="0"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/>
              <p:cNvSpPr txBox="1"/>
              <p:nvPr/>
            </p:nvSpPr>
            <p:spPr>
              <a:xfrm>
                <a:off x="3570374" y="3506007"/>
                <a:ext cx="641586" cy="4737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mr-IN" sz="12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e>
                          </m:rad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8" name="TextBox 1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0374" y="3506007"/>
                <a:ext cx="641586" cy="473784"/>
              </a:xfrm>
              <a:prstGeom prst="rect">
                <a:avLst/>
              </a:prstGeom>
              <a:blipFill rotWithShape="0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/>
              <p:cNvSpPr txBox="1"/>
              <p:nvPr/>
            </p:nvSpPr>
            <p:spPr>
              <a:xfrm>
                <a:off x="2314042" y="4259244"/>
                <a:ext cx="2018117" cy="5051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b="1" dirty="0" smtClean="0">
                    <a:solidFill>
                      <a:srgbClr val="FF0000"/>
                    </a:solidFill>
                  </a:rPr>
                  <a:t>Ответ: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𝒂𝒓𝒄𝒄𝒐𝒔</m:t>
                    </m:r>
                    <m:r>
                      <a:rPr lang="ru-RU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(</m:t>
                    </m:r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ru-RU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𝟑</m:t>
                            </m:r>
                          </m:e>
                        </m:rad>
                      </m:den>
                    </m:f>
                    <m:r>
                      <a:rPr lang="ru-RU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)</m:t>
                    </m:r>
                  </m:oMath>
                </a14:m>
                <a:endParaRPr lang="ru-RU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9" name="TextBox 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042" y="4259244"/>
                <a:ext cx="2018117" cy="505138"/>
              </a:xfrm>
              <a:prstGeom prst="rect">
                <a:avLst/>
              </a:prstGeom>
              <a:blipFill rotWithShape="0">
                <a:blip r:embed="rId32"/>
                <a:stretch>
                  <a:fillRect l="-2719" r="-302" b="-48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/>
              <p:cNvSpPr txBox="1"/>
              <p:nvPr/>
            </p:nvSpPr>
            <p:spPr>
              <a:xfrm>
                <a:off x="7003287" y="2333599"/>
                <a:ext cx="37061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b="0" i="1" smtClean="0">
                          <a:latin typeface="Cambria Math" charset="0"/>
                        </a:rPr>
                        <m:t>(2)</m:t>
                      </m:r>
                    </m:oMath>
                  </m:oMathPara>
                </a14:m>
                <a:endParaRPr lang="ru-RU" sz="900" dirty="0"/>
              </a:p>
            </p:txBody>
          </p:sp>
        </mc:Choice>
        <mc:Fallback xmlns="">
          <p:sp>
            <p:nvSpPr>
              <p:cNvPr id="120" name="TextBox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287" y="2333599"/>
                <a:ext cx="370614" cy="230832"/>
              </a:xfrm>
              <a:prstGeom prst="rect">
                <a:avLst/>
              </a:prstGeom>
              <a:blipFill rotWithShape="0">
                <a:blip r:embed="rId33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/>
              <p:cNvSpPr txBox="1"/>
              <p:nvPr/>
            </p:nvSpPr>
            <p:spPr>
              <a:xfrm>
                <a:off x="1986196" y="1863897"/>
                <a:ext cx="1726563" cy="6819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12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eqArr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2</m:t>
                            </m:r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𝑎</m:t>
                            </m:r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+2</m:t>
                            </m:r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𝑏</m:t>
                            </m:r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+</m:t>
                            </m:r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𝑐</m:t>
                            </m:r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+3=0</m:t>
                            </m:r>
                          </m:e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2</m:t>
                            </m:r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𝑏</m:t>
                            </m:r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+</m:t>
                            </m:r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𝑐</m:t>
                            </m:r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+1=0</m:t>
                            </m:r>
                          </m:e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𝑎</m:t>
                            </m:r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=</m:t>
                            </m:r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𝑏</m:t>
                            </m:r>
                          </m:e>
                        </m:eqArr>
                      </m:e>
                    </m:d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;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196" y="1863897"/>
                <a:ext cx="1726563" cy="681918"/>
              </a:xfrm>
              <a:prstGeom prst="rect">
                <a:avLst/>
              </a:prstGeom>
              <a:blipFill rotWithShape="0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/>
              <p:cNvSpPr txBox="1"/>
              <p:nvPr/>
            </p:nvSpPr>
            <p:spPr>
              <a:xfrm>
                <a:off x="1186787" y="2619902"/>
                <a:ext cx="75648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𝑎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=−1;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787" y="2619902"/>
                <a:ext cx="756489" cy="276999"/>
              </a:xfrm>
              <a:prstGeom prst="rect">
                <a:avLst/>
              </a:prstGeom>
              <a:blipFill rotWithShape="0"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1846779" y="2619902"/>
                <a:ext cx="75648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𝑏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=−1;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779" y="2619902"/>
                <a:ext cx="756489" cy="276999"/>
              </a:xfrm>
              <a:prstGeom prst="rect">
                <a:avLst/>
              </a:prstGeom>
              <a:blipFill rotWithShape="0"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/>
              <p:cNvSpPr txBox="1"/>
              <p:nvPr/>
            </p:nvSpPr>
            <p:spPr>
              <a:xfrm>
                <a:off x="2466365" y="2619902"/>
                <a:ext cx="62773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𝑐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=1;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4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6365" y="2619902"/>
                <a:ext cx="627736" cy="276999"/>
              </a:xfrm>
              <a:prstGeom prst="rect">
                <a:avLst/>
              </a:prstGeom>
              <a:blipFill rotWithShape="0"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3403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  <p:bldP spid="99" grpId="0"/>
      <p:bldP spid="101" grpId="0"/>
      <p:bldP spid="107" grpId="0"/>
      <p:bldP spid="108" grpId="0"/>
      <p:bldP spid="109" grpId="0"/>
      <p:bldP spid="110" grpId="0"/>
      <p:bldP spid="111" grpId="0"/>
      <p:bldP spid="112" grpId="0"/>
      <p:bldP spid="113" grpId="0"/>
      <p:bldP spid="114" grpId="0"/>
      <p:bldP spid="115" grpId="0"/>
      <p:bldP spid="116" grpId="0"/>
      <p:bldP spid="117" grpId="0"/>
      <p:bldP spid="118" grpId="0"/>
      <p:bldP spid="121" grpId="0"/>
      <p:bldP spid="122" grpId="0"/>
      <p:bldP spid="123" grpId="0"/>
      <p:bldP spid="1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11</a:t>
            </a:fld>
            <a:endParaRPr kumimoji="0" lang="ru-RU">
              <a:solidFill>
                <a:schemeClr val="tx2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27584" y="1851670"/>
            <a:ext cx="7416824" cy="627534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rgbClr val="FF0000"/>
                </a:solidFill>
              </a:rPr>
              <a:t>Расстояние от точки до плоскости</a:t>
            </a:r>
            <a:endParaRPr lang="ru-R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5538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12</a:t>
            </a:fld>
            <a:endParaRPr kumimoji="0" lang="ru-RU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/>
              <p:cNvSpPr/>
              <p:nvPr/>
            </p:nvSpPr>
            <p:spPr>
              <a:xfrm>
                <a:off x="0" y="-22136"/>
                <a:ext cx="9144000" cy="93770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smtClean="0">
                    <a:solidFill>
                      <a:srgbClr val="7030A0"/>
                    </a:solidFill>
                  </a:rPr>
                  <a:t>7.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О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снование пирамиды </a:t>
                </a:r>
                <a14:m>
                  <m:oMath xmlns:m="http://schemas.openxmlformats.org/officeDocument/2006/math">
                    <m:r>
                      <a:rPr lang="ru-RU" sz="1200" b="1" i="0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 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𝑺𝑨𝑩𝑪𝑫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− 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равнобедренная трапеция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𝑨𝑩𝑪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𝑫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с основаниями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𝑨𝑫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𝑩𝑪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,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причем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𝑨𝑫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𝟐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𝑩𝑪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𝟐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Высота</a:t>
                </a:r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𝑺𝑯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пирамиды проходит через точку пересечения прямых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 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𝑪𝑫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а) Докажите, что треугольник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𝑺𝑩𝑫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прямоугольный.</a:t>
                </a:r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б) Найдите расстояние от точки 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𝑪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до плоскости 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𝑨𝑺𝑫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,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если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𝑺𝑯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𝑩𝑪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𝟒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6"/>
                <a:ext cx="9144000" cy="93770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Прямая соединительная линия 5"/>
          <p:cNvCxnSpPr/>
          <p:nvPr/>
        </p:nvCxnSpPr>
        <p:spPr>
          <a:xfrm flipV="1">
            <a:off x="5435353" y="2571750"/>
            <a:ext cx="2880320" cy="864096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 flipV="1">
            <a:off x="6731497" y="3363838"/>
            <a:ext cx="1224136" cy="36004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 flipV="1">
            <a:off x="7955633" y="2571750"/>
            <a:ext cx="376128" cy="792088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5435353" y="3435846"/>
            <a:ext cx="1296144" cy="288032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6731497" y="3719924"/>
            <a:ext cx="1296144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 flipV="1">
            <a:off x="7579505" y="3363838"/>
            <a:ext cx="376128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157481" y="3384836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7481" y="3384836"/>
                <a:ext cx="340286" cy="3077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940951" y="3272085"/>
                <a:ext cx="3481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0951" y="3272085"/>
                <a:ext cx="348172" cy="3077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321423" y="2441728"/>
                <a:ext cx="35503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𝐷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1423" y="2441728"/>
                <a:ext cx="355033" cy="3077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 flipH="1">
                <a:off x="6529424" y="3741659"/>
                <a:ext cx="2465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529424" y="3741659"/>
                <a:ext cx="246540" cy="307777"/>
              </a:xfrm>
              <a:prstGeom prst="rect">
                <a:avLst/>
              </a:prstGeom>
              <a:blipFill rotWithShape="0">
                <a:blip r:embed="rId6"/>
                <a:stretch>
                  <a:fillRect r="-73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Прямая соединительная линия 24"/>
          <p:cNvCxnSpPr/>
          <p:nvPr/>
        </p:nvCxnSpPr>
        <p:spPr>
          <a:xfrm>
            <a:off x="7617621" y="1460053"/>
            <a:ext cx="60140" cy="2474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/>
          <p:nvPr/>
        </p:nvCxnSpPr>
        <p:spPr>
          <a:xfrm flipV="1">
            <a:off x="5435353" y="1460057"/>
            <a:ext cx="2182268" cy="1963343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/>
          <p:nvPr/>
        </p:nvCxnSpPr>
        <p:spPr>
          <a:xfrm flipH="1" flipV="1">
            <a:off x="7617621" y="1460052"/>
            <a:ext cx="714140" cy="1111697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/>
          <p:cNvCxnSpPr/>
          <p:nvPr/>
        </p:nvCxnSpPr>
        <p:spPr>
          <a:xfrm flipH="1" flipV="1">
            <a:off x="7617621" y="1460051"/>
            <a:ext cx="332966" cy="1904767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/>
          <p:cNvCxnSpPr/>
          <p:nvPr/>
        </p:nvCxnSpPr>
        <p:spPr>
          <a:xfrm flipV="1">
            <a:off x="6731497" y="1460052"/>
            <a:ext cx="891170" cy="2259871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7442628" y="1164124"/>
                <a:ext cx="32284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𝑆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2628" y="1164124"/>
                <a:ext cx="322844" cy="30777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7579505" y="3921028"/>
                <a:ext cx="3614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𝐻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9505" y="3921028"/>
                <a:ext cx="361446" cy="30777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Полилиния 45"/>
          <p:cNvSpPr/>
          <p:nvPr/>
        </p:nvSpPr>
        <p:spPr>
          <a:xfrm>
            <a:off x="7682881" y="3566160"/>
            <a:ext cx="91440" cy="355600"/>
          </a:xfrm>
          <a:custGeom>
            <a:avLst/>
            <a:gdLst>
              <a:gd name="connsiteX0" fmla="*/ 0 w 91440"/>
              <a:gd name="connsiteY0" fmla="*/ 172720 h 355600"/>
              <a:gd name="connsiteX1" fmla="*/ 91440 w 91440"/>
              <a:gd name="connsiteY1" fmla="*/ 0 h 355600"/>
              <a:gd name="connsiteX2" fmla="*/ 91440 w 91440"/>
              <a:gd name="connsiteY2" fmla="*/ 182880 h 355600"/>
              <a:gd name="connsiteX3" fmla="*/ 10160 w 91440"/>
              <a:gd name="connsiteY3" fmla="*/ 355600 h 355600"/>
              <a:gd name="connsiteX4" fmla="*/ 0 w 91440"/>
              <a:gd name="connsiteY4" fmla="*/ 172720 h 35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" h="355600">
                <a:moveTo>
                  <a:pt x="0" y="172720"/>
                </a:moveTo>
                <a:lnTo>
                  <a:pt x="91440" y="0"/>
                </a:lnTo>
                <a:lnTo>
                  <a:pt x="91440" y="182880"/>
                </a:lnTo>
                <a:lnTo>
                  <a:pt x="10160" y="355600"/>
                </a:lnTo>
                <a:lnTo>
                  <a:pt x="0" y="172720"/>
                </a:lnTo>
                <a:close/>
              </a:path>
            </a:pathLst>
          </a:custGeom>
          <a:solidFill>
            <a:schemeClr val="bg1">
              <a:lumMod val="85000"/>
              <a:alpha val="4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олилиния 46"/>
          <p:cNvSpPr/>
          <p:nvPr/>
        </p:nvSpPr>
        <p:spPr>
          <a:xfrm>
            <a:off x="7520321" y="3718560"/>
            <a:ext cx="162560" cy="203200"/>
          </a:xfrm>
          <a:custGeom>
            <a:avLst/>
            <a:gdLst>
              <a:gd name="connsiteX0" fmla="*/ 0 w 162560"/>
              <a:gd name="connsiteY0" fmla="*/ 0 h 203200"/>
              <a:gd name="connsiteX1" fmla="*/ 20320 w 162560"/>
              <a:gd name="connsiteY1" fmla="*/ 182880 h 203200"/>
              <a:gd name="connsiteX2" fmla="*/ 162560 w 162560"/>
              <a:gd name="connsiteY2" fmla="*/ 203200 h 203200"/>
              <a:gd name="connsiteX3" fmla="*/ 162560 w 162560"/>
              <a:gd name="connsiteY3" fmla="*/ 30480 h 203200"/>
              <a:gd name="connsiteX4" fmla="*/ 0 w 162560"/>
              <a:gd name="connsiteY4" fmla="*/ 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2560" h="203200">
                <a:moveTo>
                  <a:pt x="0" y="0"/>
                </a:moveTo>
                <a:lnTo>
                  <a:pt x="20320" y="182880"/>
                </a:lnTo>
                <a:lnTo>
                  <a:pt x="162560" y="203200"/>
                </a:lnTo>
                <a:lnTo>
                  <a:pt x="162560" y="3048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54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1" name="Прямая соединительная линия 50"/>
          <p:cNvCxnSpPr>
            <a:endCxn id="21" idx="1"/>
          </p:cNvCxnSpPr>
          <p:nvPr/>
        </p:nvCxnSpPr>
        <p:spPr>
          <a:xfrm flipV="1">
            <a:off x="6731497" y="2595617"/>
            <a:ext cx="1589926" cy="1122942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Полилиния 56"/>
          <p:cNvSpPr/>
          <p:nvPr/>
        </p:nvSpPr>
        <p:spPr>
          <a:xfrm>
            <a:off x="6753738" y="1483745"/>
            <a:ext cx="1584960" cy="2235200"/>
          </a:xfrm>
          <a:custGeom>
            <a:avLst/>
            <a:gdLst>
              <a:gd name="connsiteX0" fmla="*/ 0 w 1584960"/>
              <a:gd name="connsiteY0" fmla="*/ 2235200 h 2235200"/>
              <a:gd name="connsiteX1" fmla="*/ 863600 w 1584960"/>
              <a:gd name="connsiteY1" fmla="*/ 0 h 2235200"/>
              <a:gd name="connsiteX2" fmla="*/ 1584960 w 1584960"/>
              <a:gd name="connsiteY2" fmla="*/ 1107440 h 2235200"/>
              <a:gd name="connsiteX3" fmla="*/ 0 w 1584960"/>
              <a:gd name="connsiteY3" fmla="*/ 2235200 h 223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4960" h="2235200">
                <a:moveTo>
                  <a:pt x="0" y="2235200"/>
                </a:moveTo>
                <a:lnTo>
                  <a:pt x="863600" y="0"/>
                </a:lnTo>
                <a:lnTo>
                  <a:pt x="1584960" y="1107440"/>
                </a:lnTo>
                <a:lnTo>
                  <a:pt x="0" y="2235200"/>
                </a:lnTo>
                <a:close/>
              </a:path>
            </a:pathLst>
          </a:custGeom>
          <a:solidFill>
            <a:srgbClr val="00660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204784" y="1039562"/>
                <a:ext cx="30295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/>
                  <a:t>а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)  </a:t>
                </a:r>
                <a:r>
                  <a:rPr lang="ru-RU" sz="1200" b="0" i="0" dirty="0" smtClean="0">
                    <a:solidFill>
                      <a:schemeClr val="tx1"/>
                    </a:solidFill>
                    <a:latin typeface="+mj-lt"/>
                  </a:rPr>
                  <a:t>По условию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𝐴𝐵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𝐵𝐶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𝐶𝐷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;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𝐴𝐷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=2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𝐴𝐵</m:t>
                    </m:r>
                    <m:r>
                      <a:rPr lang="en-US" sz="1200" b="0" i="0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;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784" y="1039562"/>
                <a:ext cx="3029547" cy="276999"/>
              </a:xfrm>
              <a:prstGeom prst="rect">
                <a:avLst/>
              </a:prstGeom>
              <a:blipFill rotWithShape="0">
                <a:blip r:embed="rId9"/>
                <a:stretch>
                  <a:fillRect l="-201" t="-82222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Прямая соединительная линия 58"/>
          <p:cNvCxnSpPr/>
          <p:nvPr/>
        </p:nvCxnSpPr>
        <p:spPr>
          <a:xfrm>
            <a:off x="7016947" y="2279770"/>
            <a:ext cx="1296144" cy="288032"/>
          </a:xfrm>
          <a:prstGeom prst="line">
            <a:avLst/>
          </a:prstGeom>
          <a:ln w="12700">
            <a:solidFill>
              <a:srgbClr val="0066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единительная линия 59"/>
          <p:cNvCxnSpPr/>
          <p:nvPr/>
        </p:nvCxnSpPr>
        <p:spPr>
          <a:xfrm flipV="1">
            <a:off x="5788641" y="2279469"/>
            <a:ext cx="1224136" cy="360040"/>
          </a:xfrm>
          <a:prstGeom prst="line">
            <a:avLst/>
          </a:prstGeom>
          <a:ln w="12700">
            <a:solidFill>
              <a:srgbClr val="0066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/>
          <p:nvPr/>
        </p:nvCxnSpPr>
        <p:spPr>
          <a:xfrm flipV="1">
            <a:off x="5416923" y="2645427"/>
            <a:ext cx="376128" cy="792088"/>
          </a:xfrm>
          <a:prstGeom prst="line">
            <a:avLst/>
          </a:prstGeom>
          <a:ln w="12700">
            <a:solidFill>
              <a:srgbClr val="0066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293650" y="1272441"/>
                <a:ext cx="8622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</a:rPr>
                        <m:t>𝐵𝐷</m:t>
                      </m:r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⊥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𝐴𝐵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50" y="1272441"/>
                <a:ext cx="862287" cy="276999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Полилиния 62"/>
          <p:cNvSpPr/>
          <p:nvPr/>
        </p:nvSpPr>
        <p:spPr>
          <a:xfrm>
            <a:off x="6555121" y="3566160"/>
            <a:ext cx="314960" cy="152400"/>
          </a:xfrm>
          <a:custGeom>
            <a:avLst/>
            <a:gdLst>
              <a:gd name="connsiteX0" fmla="*/ 0 w 314960"/>
              <a:gd name="connsiteY0" fmla="*/ 111760 h 152400"/>
              <a:gd name="connsiteX1" fmla="*/ 162560 w 314960"/>
              <a:gd name="connsiteY1" fmla="*/ 0 h 152400"/>
              <a:gd name="connsiteX2" fmla="*/ 314960 w 314960"/>
              <a:gd name="connsiteY2" fmla="*/ 30480 h 152400"/>
              <a:gd name="connsiteX3" fmla="*/ 152400 w 314960"/>
              <a:gd name="connsiteY3" fmla="*/ 152400 h 152400"/>
              <a:gd name="connsiteX4" fmla="*/ 0 w 314960"/>
              <a:gd name="connsiteY4" fmla="*/ 111760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4960" h="152400">
                <a:moveTo>
                  <a:pt x="0" y="111760"/>
                </a:moveTo>
                <a:lnTo>
                  <a:pt x="162560" y="0"/>
                </a:lnTo>
                <a:lnTo>
                  <a:pt x="314960" y="30480"/>
                </a:lnTo>
                <a:lnTo>
                  <a:pt x="152400" y="152400"/>
                </a:lnTo>
                <a:lnTo>
                  <a:pt x="0" y="111760"/>
                </a:lnTo>
                <a:close/>
              </a:path>
            </a:pathLst>
          </a:custGeom>
          <a:solidFill>
            <a:schemeClr val="bg1">
              <a:lumMod val="85000"/>
              <a:alpha val="53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1076755" y="1272441"/>
                <a:ext cx="136319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</a:rPr>
                      <m:t>𝐵</m:t>
                    </m:r>
                    <m:r>
                      <a:rPr lang="en-US" sz="1200" b="0" i="1" dirty="0" smtClean="0">
                        <a:latin typeface="Cambria Math" charset="0"/>
                      </a:rPr>
                      <m:t>𝑆</m:t>
                    </m:r>
                    <m:r>
                      <a:rPr lang="en-US" sz="1200" b="0" i="1" dirty="0" smtClean="0">
                        <a:latin typeface="Cambria Math" charset="0"/>
                      </a:rPr>
                      <m:t> − 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наклонная;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755" y="1272441"/>
                <a:ext cx="1363194" cy="276999"/>
              </a:xfrm>
              <a:prstGeom prst="rect">
                <a:avLst/>
              </a:prstGeom>
              <a:blipFill rotWithShape="0">
                <a:blip r:embed="rId11"/>
                <a:stretch>
                  <a:fillRect t="-82222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292752" y="1490120"/>
                <a:ext cx="8370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</a:rPr>
                        <m:t>𝐵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𝐻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⊥</m:t>
                      </m:r>
                      <m:r>
                        <a:rPr lang="en-US" sz="1200" i="1" dirty="0">
                          <a:latin typeface="Cambria Math" charset="0"/>
                        </a:rPr>
                        <m:t>𝐵𝐷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752" y="1490120"/>
                <a:ext cx="837024" cy="276999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993319" y="1484279"/>
                <a:ext cx="34928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𝐵𝑆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⊥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𝐵𝐷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1200" b="0" i="0" dirty="0" smtClean="0">
                    <a:latin typeface="+mj-lt"/>
                    <a:ea typeface="Cambria Math" charset="0"/>
                    <a:cs typeface="Cambria Math" charset="0"/>
                  </a:rPr>
                  <a:t>(</a:t>
                </a:r>
                <a:r>
                  <a:rPr lang="ru-RU" sz="1200" b="0" i="0" dirty="0" smtClean="0">
                    <a:latin typeface="+mj-lt"/>
                    <a:ea typeface="Cambria Math" charset="0"/>
                    <a:cs typeface="Cambria Math" charset="0"/>
                  </a:rPr>
                  <a:t>по теореме о трех перпендикулярах)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319" y="1484279"/>
                <a:ext cx="3492816" cy="276999"/>
              </a:xfrm>
              <a:prstGeom prst="rect">
                <a:avLst/>
              </a:prstGeom>
              <a:blipFill rotWithShape="0">
                <a:blip r:embed="rId13"/>
                <a:stretch>
                  <a:fillRect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2303882" y="1272441"/>
                <a:ext cx="12893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</a:rPr>
                      <m:t>𝐵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𝐻</m:t>
                    </m:r>
                    <m:r>
                      <a:rPr lang="en-US" sz="1200" b="0" i="1" dirty="0" smtClean="0">
                        <a:latin typeface="Cambria Math" charset="0"/>
                      </a:rPr>
                      <m:t> − 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проекция.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3882" y="1272441"/>
                <a:ext cx="1289327" cy="276999"/>
              </a:xfrm>
              <a:prstGeom prst="rect">
                <a:avLst/>
              </a:prstGeom>
              <a:blipFill rotWithShape="0">
                <a:blip r:embed="rId14"/>
                <a:stretch>
                  <a:fillRect t="-82222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266700" y="1717158"/>
                <a:ext cx="278743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m:rPr>
                          <m:nor/>
                        </m:rPr>
                        <a:rPr lang="ru-RU" sz="1200" dirty="0">
                          <a:solidFill>
                            <a:schemeClr val="tx1"/>
                          </a:solidFill>
                        </a:rPr>
                        <m:t>треугольник </m:t>
                      </m:r>
                      <m:r>
                        <a:rPr lang="en-US" sz="1200" b="0" i="1" dirty="0">
                          <a:solidFill>
                            <a:schemeClr val="tx1"/>
                          </a:solidFill>
                          <a:latin typeface="Cambria Math" charset="0"/>
                        </a:rPr>
                        <m:t>𝑆𝐵𝐷</m:t>
                      </m:r>
                      <m:r>
                        <m:rPr>
                          <m:nor/>
                        </m:rPr>
                        <a:rPr lang="en-US" sz="1200" dirty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ru-RU" sz="1200" dirty="0">
                          <a:solidFill>
                            <a:schemeClr val="tx1"/>
                          </a:solidFill>
                        </a:rPr>
                        <m:t>прямоугольный.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" y="1717158"/>
                <a:ext cx="2787430" cy="276999"/>
              </a:xfrm>
              <a:prstGeom prst="rect">
                <a:avLst/>
              </a:prstGeom>
              <a:blipFill rotWithShape="0">
                <a:blip r:embed="rId15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Овал 68"/>
          <p:cNvSpPr/>
          <p:nvPr/>
        </p:nvSpPr>
        <p:spPr>
          <a:xfrm flipH="1" flipV="1">
            <a:off x="7932306" y="3348759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Полилиния 70"/>
          <p:cNvSpPr/>
          <p:nvPr/>
        </p:nvSpPr>
        <p:spPr>
          <a:xfrm>
            <a:off x="5456655" y="1464015"/>
            <a:ext cx="2885440" cy="1950720"/>
          </a:xfrm>
          <a:custGeom>
            <a:avLst/>
            <a:gdLst>
              <a:gd name="connsiteX0" fmla="*/ 0 w 2885440"/>
              <a:gd name="connsiteY0" fmla="*/ 1950720 h 1950720"/>
              <a:gd name="connsiteX1" fmla="*/ 2174240 w 2885440"/>
              <a:gd name="connsiteY1" fmla="*/ 0 h 1950720"/>
              <a:gd name="connsiteX2" fmla="*/ 2885440 w 2885440"/>
              <a:gd name="connsiteY2" fmla="*/ 1097280 h 1950720"/>
              <a:gd name="connsiteX3" fmla="*/ 0 w 2885440"/>
              <a:gd name="connsiteY3" fmla="*/ 1950720 h 1950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85440" h="1950720">
                <a:moveTo>
                  <a:pt x="0" y="1950720"/>
                </a:moveTo>
                <a:lnTo>
                  <a:pt x="2174240" y="0"/>
                </a:lnTo>
                <a:lnTo>
                  <a:pt x="2885440" y="1097280"/>
                </a:lnTo>
                <a:lnTo>
                  <a:pt x="0" y="1950720"/>
                </a:lnTo>
                <a:close/>
              </a:path>
            </a:pathLst>
          </a:cu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222269" y="1973116"/>
                <a:ext cx="41401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/>
                  <a:t>б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)  </a:t>
                </a:r>
                <a:r>
                  <a:rPr lang="ru-RU" sz="1200" b="0" i="0" dirty="0" smtClean="0">
                    <a:solidFill>
                      <a:schemeClr val="tx1"/>
                    </a:solidFill>
                    <a:latin typeface="+mj-lt"/>
                  </a:rPr>
                  <a:t>Построим плоскость, перпендикулярную </a:t>
                </a:r>
                <a:r>
                  <a:rPr lang="ru-RU" sz="1200" i="0" dirty="0" smtClean="0">
                    <a:solidFill>
                      <a:schemeClr val="tx1"/>
                    </a:solidFill>
                    <a:latin typeface="+mj-lt"/>
                  </a:rPr>
                  <a:t>плоскости</a:t>
                </a:r>
                <a14:m>
                  <m:oMath xmlns:m="http://schemas.openxmlformats.org/officeDocument/2006/math">
                    <m:r>
                      <a:rPr lang="ru-RU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charset="0"/>
                      </a:rPr>
                      <m:t>𝐴𝑆𝐷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.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69" y="1973116"/>
                <a:ext cx="4140172" cy="276999"/>
              </a:xfrm>
              <a:prstGeom prst="rect">
                <a:avLst/>
              </a:prstGeom>
              <a:blipFill rotWithShape="0">
                <a:blip r:embed="rId16"/>
                <a:stretch>
                  <a:fillRect t="-82222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222269" y="2250115"/>
                <a:ext cx="47466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∆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𝐴𝐷𝐻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− </m:t>
                    </m:r>
                  </m:oMath>
                </a14:m>
                <a:r>
                  <a:rPr lang="ru-RU" sz="1200" dirty="0" smtClean="0"/>
                  <a:t>равнобедренный (т.к. </a:t>
                </a:r>
                <a14:m>
                  <m:oMath xmlns:m="http://schemas.openxmlformats.org/officeDocument/2006/math">
                    <m:r>
                      <a:rPr lang="ru-RU" sz="12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∠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𝐷𝐴𝐻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=∠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𝐴𝐷𝐻</m:t>
                    </m:r>
                    <m:r>
                      <a:rPr lang="ru-RU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=60</m:t>
                    </m:r>
                    <m:r>
                      <a:rPr lang="it-IT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°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r>
                  <a:rPr lang="en-US" sz="1200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⟹ </m:t>
                    </m:r>
                    <m:r>
                      <a:rPr lang="en-US" sz="1200" i="1" dirty="0" smtClean="0">
                        <a:latin typeface="Cambria Math" charset="0"/>
                      </a:rPr>
                      <m:t>𝐴𝐻</m:t>
                    </m:r>
                    <m:r>
                      <a:rPr lang="en-US" sz="1200" i="1" dirty="0" smtClean="0">
                        <a:latin typeface="Cambria Math" charset="0"/>
                      </a:rPr>
                      <m:t>=</m:t>
                    </m:r>
                    <m:r>
                      <a:rPr lang="en-US" sz="1200" i="1" dirty="0" smtClean="0">
                        <a:latin typeface="Cambria Math" charset="0"/>
                      </a:rPr>
                      <m:t>𝐷𝐻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69" y="2250115"/>
                <a:ext cx="4746684" cy="276999"/>
              </a:xfrm>
              <a:prstGeom prst="rect">
                <a:avLst/>
              </a:prstGeom>
              <a:blipFill rotWithShape="0">
                <a:blip r:embed="rId17"/>
                <a:stretch>
                  <a:fillRect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308697" y="2492433"/>
                <a:ext cx="14280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∆</m:t>
                      </m:r>
                      <m:r>
                        <a:rPr lang="en-US" sz="1200" i="1" dirty="0" smtClean="0">
                          <a:latin typeface="Cambria Math" charset="0"/>
                        </a:rPr>
                        <m:t>𝐴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𝑆</m:t>
                      </m:r>
                      <m:r>
                        <a:rPr lang="en-US" sz="1200" i="1" dirty="0" smtClean="0">
                          <a:latin typeface="Cambria Math" charset="0"/>
                        </a:rPr>
                        <m:t>𝐻</m:t>
                      </m:r>
                      <m:r>
                        <a:rPr lang="en-US" sz="1200" i="1" dirty="0" smtClean="0">
                          <a:latin typeface="Cambria Math" charset="0"/>
                        </a:rPr>
                        <m:t>=∆</m:t>
                      </m:r>
                      <m:r>
                        <a:rPr lang="en-US" sz="1200" i="1" dirty="0" smtClean="0">
                          <a:latin typeface="Cambria Math" charset="0"/>
                        </a:rPr>
                        <m:t>𝐷𝑆𝐻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97" y="2492433"/>
                <a:ext cx="1428020" cy="276999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1542427" y="2481967"/>
                <a:ext cx="101790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i="1" dirty="0" smtClean="0">
                          <a:latin typeface="Cambria Math" charset="0"/>
                        </a:rPr>
                        <m:t>𝐴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𝑆</m:t>
                      </m:r>
                      <m:r>
                        <a:rPr lang="en-US" sz="1200" i="1" dirty="0" smtClean="0">
                          <a:latin typeface="Cambria Math" charset="0"/>
                        </a:rPr>
                        <m:t>=</m:t>
                      </m:r>
                      <m:r>
                        <a:rPr lang="en-US" sz="1200" i="1" dirty="0" smtClean="0">
                          <a:latin typeface="Cambria Math" charset="0"/>
                        </a:rPr>
                        <m:t>𝐷𝑆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2427" y="2481967"/>
                <a:ext cx="1017907" cy="276999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2428124" y="2481967"/>
                <a:ext cx="218540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∆</m:t>
                      </m:r>
                      <m:r>
                        <a:rPr lang="en-US" sz="1200" i="1" dirty="0">
                          <a:latin typeface="Cambria Math" charset="0"/>
                        </a:rPr>
                        <m:t>𝐴𝑆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𝐷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 −</m:t>
                      </m:r>
                      <m:r>
                        <m:rPr>
                          <m:nor/>
                        </m:rPr>
                        <a:rPr lang="ru-RU" sz="1200" dirty="0"/>
                        <m:t>равнобедренный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124" y="2481967"/>
                <a:ext cx="2185406" cy="276999"/>
              </a:xfrm>
              <a:prstGeom prst="rect">
                <a:avLst/>
              </a:prstGeom>
              <a:blipFill rotWithShape="0">
                <a:blip r:embed="rId20"/>
                <a:stretch>
                  <a:fillRect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6677355" y="2984351"/>
                <a:ext cx="3320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𝐾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7355" y="2984351"/>
                <a:ext cx="332014" cy="276999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Овал 77"/>
          <p:cNvSpPr/>
          <p:nvPr/>
        </p:nvSpPr>
        <p:spPr>
          <a:xfrm flipH="1" flipV="1">
            <a:off x="6864502" y="2988311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9" name="Прямая соединительная линия 78"/>
          <p:cNvCxnSpPr>
            <a:stCxn id="78" idx="3"/>
            <a:endCxn id="44" idx="2"/>
          </p:cNvCxnSpPr>
          <p:nvPr/>
        </p:nvCxnSpPr>
        <p:spPr>
          <a:xfrm flipV="1">
            <a:off x="6903526" y="1471901"/>
            <a:ext cx="700524" cy="1523105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Полилиния 81"/>
          <p:cNvSpPr/>
          <p:nvPr/>
        </p:nvSpPr>
        <p:spPr>
          <a:xfrm>
            <a:off x="6717681" y="2804160"/>
            <a:ext cx="264160" cy="233680"/>
          </a:xfrm>
          <a:custGeom>
            <a:avLst/>
            <a:gdLst>
              <a:gd name="connsiteX0" fmla="*/ 264160 w 264160"/>
              <a:gd name="connsiteY0" fmla="*/ 0 h 233680"/>
              <a:gd name="connsiteX1" fmla="*/ 91440 w 264160"/>
              <a:gd name="connsiteY1" fmla="*/ 60960 h 233680"/>
              <a:gd name="connsiteX2" fmla="*/ 0 w 264160"/>
              <a:gd name="connsiteY2" fmla="*/ 233680 h 233680"/>
              <a:gd name="connsiteX3" fmla="*/ 162560 w 264160"/>
              <a:gd name="connsiteY3" fmla="*/ 193040 h 233680"/>
              <a:gd name="connsiteX4" fmla="*/ 264160 w 264160"/>
              <a:gd name="connsiteY4" fmla="*/ 0 h 233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160" h="233680">
                <a:moveTo>
                  <a:pt x="264160" y="0"/>
                </a:moveTo>
                <a:lnTo>
                  <a:pt x="91440" y="60960"/>
                </a:lnTo>
                <a:lnTo>
                  <a:pt x="0" y="233680"/>
                </a:lnTo>
                <a:lnTo>
                  <a:pt x="162560" y="193040"/>
                </a:lnTo>
                <a:lnTo>
                  <a:pt x="264160" y="0"/>
                </a:lnTo>
                <a:close/>
              </a:path>
            </a:pathLst>
          </a:custGeom>
          <a:solidFill>
            <a:schemeClr val="bg1">
              <a:lumMod val="85000"/>
              <a:alpha val="40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3" name="Прямая соединительная линия 82"/>
          <p:cNvCxnSpPr/>
          <p:nvPr/>
        </p:nvCxnSpPr>
        <p:spPr>
          <a:xfrm>
            <a:off x="6918988" y="3047480"/>
            <a:ext cx="434513" cy="511389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Прямая соединительная линия 85"/>
          <p:cNvCxnSpPr/>
          <p:nvPr/>
        </p:nvCxnSpPr>
        <p:spPr>
          <a:xfrm>
            <a:off x="7339531" y="3537831"/>
            <a:ext cx="333190" cy="383929"/>
          </a:xfrm>
          <a:prstGeom prst="line">
            <a:avLst/>
          </a:prstGeom>
          <a:ln w="12700">
            <a:solidFill>
              <a:srgbClr val="00206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7331055" y="3443340"/>
                <a:ext cx="3048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𝐿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1055" y="3443340"/>
                <a:ext cx="304827" cy="276999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Овал 96"/>
          <p:cNvSpPr/>
          <p:nvPr/>
        </p:nvSpPr>
        <p:spPr>
          <a:xfrm flipH="1" flipV="1">
            <a:off x="7322410" y="3520014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8" name="Полилиния 97"/>
          <p:cNvSpPr/>
          <p:nvPr/>
        </p:nvSpPr>
        <p:spPr>
          <a:xfrm>
            <a:off x="6727841" y="3007360"/>
            <a:ext cx="254000" cy="142240"/>
          </a:xfrm>
          <a:custGeom>
            <a:avLst/>
            <a:gdLst>
              <a:gd name="connsiteX0" fmla="*/ 0 w 254000"/>
              <a:gd name="connsiteY0" fmla="*/ 50800 h 142240"/>
              <a:gd name="connsiteX1" fmla="*/ 162560 w 254000"/>
              <a:gd name="connsiteY1" fmla="*/ 0 h 142240"/>
              <a:gd name="connsiteX2" fmla="*/ 254000 w 254000"/>
              <a:gd name="connsiteY2" fmla="*/ 101600 h 142240"/>
              <a:gd name="connsiteX3" fmla="*/ 101600 w 254000"/>
              <a:gd name="connsiteY3" fmla="*/ 142240 h 142240"/>
              <a:gd name="connsiteX4" fmla="*/ 0 w 254000"/>
              <a:gd name="connsiteY4" fmla="*/ 50800 h 142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4000" h="142240">
                <a:moveTo>
                  <a:pt x="0" y="50800"/>
                </a:moveTo>
                <a:lnTo>
                  <a:pt x="162560" y="0"/>
                </a:lnTo>
                <a:lnTo>
                  <a:pt x="254000" y="101600"/>
                </a:lnTo>
                <a:lnTo>
                  <a:pt x="101600" y="142240"/>
                </a:lnTo>
                <a:lnTo>
                  <a:pt x="0" y="50800"/>
                </a:lnTo>
                <a:close/>
              </a:path>
            </a:pathLst>
          </a:custGeom>
          <a:solidFill>
            <a:schemeClr val="bg1">
              <a:lumMod val="85000"/>
              <a:alpha val="3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1" name="Полилиния 100"/>
          <p:cNvSpPr/>
          <p:nvPr/>
        </p:nvSpPr>
        <p:spPr>
          <a:xfrm>
            <a:off x="6898964" y="1478691"/>
            <a:ext cx="802640" cy="2489200"/>
          </a:xfrm>
          <a:custGeom>
            <a:avLst/>
            <a:gdLst>
              <a:gd name="connsiteX0" fmla="*/ 0 w 802640"/>
              <a:gd name="connsiteY0" fmla="*/ 1534160 h 2489200"/>
              <a:gd name="connsiteX1" fmla="*/ 721360 w 802640"/>
              <a:gd name="connsiteY1" fmla="*/ 0 h 2489200"/>
              <a:gd name="connsiteX2" fmla="*/ 802640 w 802640"/>
              <a:gd name="connsiteY2" fmla="*/ 2489200 h 2489200"/>
              <a:gd name="connsiteX3" fmla="*/ 0 w 802640"/>
              <a:gd name="connsiteY3" fmla="*/ 1534160 h 248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2640" h="2489200">
                <a:moveTo>
                  <a:pt x="0" y="1534160"/>
                </a:moveTo>
                <a:lnTo>
                  <a:pt x="721360" y="0"/>
                </a:lnTo>
                <a:lnTo>
                  <a:pt x="802640" y="2489200"/>
                </a:lnTo>
                <a:lnTo>
                  <a:pt x="0" y="1534160"/>
                </a:lnTo>
                <a:close/>
              </a:path>
            </a:pathLst>
          </a:custGeom>
          <a:solidFill>
            <a:schemeClr val="accent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2" name="Прямая соединительная линия 101"/>
          <p:cNvCxnSpPr/>
          <p:nvPr/>
        </p:nvCxnSpPr>
        <p:spPr>
          <a:xfrm>
            <a:off x="7075376" y="2609236"/>
            <a:ext cx="248710" cy="873772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/>
              <p:cNvSpPr txBox="1"/>
              <p:nvPr/>
            </p:nvSpPr>
            <p:spPr>
              <a:xfrm>
                <a:off x="6770806" y="2398771"/>
                <a:ext cx="3551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𝑀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5" name="Text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0806" y="2398771"/>
                <a:ext cx="355162" cy="276999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Овал 105"/>
          <p:cNvSpPr/>
          <p:nvPr/>
        </p:nvSpPr>
        <p:spPr>
          <a:xfrm flipH="1" flipV="1">
            <a:off x="7049099" y="2576815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7" name="Полилиния 106"/>
          <p:cNvSpPr/>
          <p:nvPr/>
        </p:nvSpPr>
        <p:spPr>
          <a:xfrm>
            <a:off x="7073281" y="2458720"/>
            <a:ext cx="152400" cy="345440"/>
          </a:xfrm>
          <a:custGeom>
            <a:avLst/>
            <a:gdLst>
              <a:gd name="connsiteX0" fmla="*/ 91440 w 152400"/>
              <a:gd name="connsiteY0" fmla="*/ 0 h 345440"/>
              <a:gd name="connsiteX1" fmla="*/ 152400 w 152400"/>
              <a:gd name="connsiteY1" fmla="*/ 182880 h 345440"/>
              <a:gd name="connsiteX2" fmla="*/ 71120 w 152400"/>
              <a:gd name="connsiteY2" fmla="*/ 345440 h 345440"/>
              <a:gd name="connsiteX3" fmla="*/ 0 w 152400"/>
              <a:gd name="connsiteY3" fmla="*/ 162560 h 345440"/>
              <a:gd name="connsiteX4" fmla="*/ 91440 w 152400"/>
              <a:gd name="connsiteY4" fmla="*/ 0 h 34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" h="345440">
                <a:moveTo>
                  <a:pt x="91440" y="0"/>
                </a:moveTo>
                <a:lnTo>
                  <a:pt x="152400" y="182880"/>
                </a:lnTo>
                <a:lnTo>
                  <a:pt x="71120" y="345440"/>
                </a:lnTo>
                <a:lnTo>
                  <a:pt x="0" y="162560"/>
                </a:lnTo>
                <a:lnTo>
                  <a:pt x="91440" y="0"/>
                </a:lnTo>
                <a:close/>
              </a:path>
            </a:pathLst>
          </a:custGeom>
          <a:solidFill>
            <a:schemeClr val="bg1">
              <a:lumMod val="85000"/>
              <a:alpha val="33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8" name="Прямая соединительная линия 107"/>
          <p:cNvCxnSpPr/>
          <p:nvPr/>
        </p:nvCxnSpPr>
        <p:spPr>
          <a:xfrm>
            <a:off x="7234326" y="2287699"/>
            <a:ext cx="446958" cy="1629392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/>
              <p:cNvSpPr txBox="1"/>
              <p:nvPr/>
            </p:nvSpPr>
            <p:spPr>
              <a:xfrm>
                <a:off x="6975893" y="2033757"/>
                <a:ext cx="3198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𝑃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12" name="TextBox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5893" y="2033757"/>
                <a:ext cx="319896" cy="276999"/>
              </a:xfrm>
              <a:prstGeom prst="rect">
                <a:avLst/>
              </a:prstGeom>
              <a:blipFill rotWithShape="0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Овал 112"/>
          <p:cNvSpPr/>
          <p:nvPr/>
        </p:nvSpPr>
        <p:spPr>
          <a:xfrm flipH="1" flipV="1">
            <a:off x="7212102" y="225236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4" name="Полилиния 113"/>
          <p:cNvSpPr/>
          <p:nvPr/>
        </p:nvSpPr>
        <p:spPr>
          <a:xfrm>
            <a:off x="7225681" y="2093699"/>
            <a:ext cx="173504" cy="388267"/>
          </a:xfrm>
          <a:custGeom>
            <a:avLst/>
            <a:gdLst>
              <a:gd name="connsiteX0" fmla="*/ 91440 w 152400"/>
              <a:gd name="connsiteY0" fmla="*/ 0 h 345440"/>
              <a:gd name="connsiteX1" fmla="*/ 152400 w 152400"/>
              <a:gd name="connsiteY1" fmla="*/ 182880 h 345440"/>
              <a:gd name="connsiteX2" fmla="*/ 71120 w 152400"/>
              <a:gd name="connsiteY2" fmla="*/ 345440 h 345440"/>
              <a:gd name="connsiteX3" fmla="*/ 0 w 152400"/>
              <a:gd name="connsiteY3" fmla="*/ 162560 h 345440"/>
              <a:gd name="connsiteX4" fmla="*/ 91440 w 152400"/>
              <a:gd name="connsiteY4" fmla="*/ 0 h 34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" h="345440">
                <a:moveTo>
                  <a:pt x="91440" y="0"/>
                </a:moveTo>
                <a:lnTo>
                  <a:pt x="152400" y="182880"/>
                </a:lnTo>
                <a:lnTo>
                  <a:pt x="71120" y="345440"/>
                </a:lnTo>
                <a:lnTo>
                  <a:pt x="0" y="162560"/>
                </a:lnTo>
                <a:lnTo>
                  <a:pt x="91440" y="0"/>
                </a:lnTo>
                <a:close/>
              </a:path>
            </a:pathLst>
          </a:custGeom>
          <a:solidFill>
            <a:schemeClr val="bg1">
              <a:lumMod val="85000"/>
              <a:alpha val="33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/>
              <p:cNvSpPr txBox="1"/>
              <p:nvPr/>
            </p:nvSpPr>
            <p:spPr>
              <a:xfrm>
                <a:off x="266700" y="2787275"/>
                <a:ext cx="35137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>
                    <a:solidFill>
                      <a:schemeClr val="tx1"/>
                    </a:solidFill>
                  </a:rPr>
                  <a:t>Плоскость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𝑆𝐾𝐻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 </a:t>
                </a:r>
                <a:r>
                  <a:rPr lang="ru-RU" sz="1200" dirty="0" smtClean="0"/>
                  <a:t>перпендикулярна </a:t>
                </a:r>
                <a:r>
                  <a:rPr lang="ru-RU" sz="1200" dirty="0"/>
                  <a:t>плоскости</a:t>
                </a:r>
                <a14:m>
                  <m:oMath xmlns:m="http://schemas.openxmlformats.org/officeDocument/2006/math">
                    <m:r>
                      <a:rPr lang="ru-RU" sz="1200" i="1" dirty="0">
                        <a:latin typeface="Cambria Math" charset="0"/>
                      </a:rPr>
                      <m:t> </m:t>
                    </m:r>
                    <m:r>
                      <a:rPr lang="en-US" sz="1200" i="1" dirty="0">
                        <a:latin typeface="Cambria Math" charset="0"/>
                      </a:rPr>
                      <m:t>𝐴𝑆𝐷</m:t>
                    </m:r>
                  </m:oMath>
                </a14:m>
                <a:r>
                  <a:rPr lang="ru-RU" sz="1200" dirty="0" smtClean="0"/>
                  <a:t>.</a:t>
                </a:r>
                <a:endParaRPr lang="ru-RU" sz="1200" dirty="0"/>
              </a:p>
            </p:txBody>
          </p:sp>
        </mc:Choice>
        <mc:Fallback xmlns="">
          <p:sp>
            <p:nvSpPr>
              <p:cNvPr id="115" name="TextBox 1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" y="2787275"/>
                <a:ext cx="3513782" cy="276999"/>
              </a:xfrm>
              <a:prstGeom prst="rect">
                <a:avLst/>
              </a:prstGeom>
              <a:blipFill rotWithShape="0">
                <a:blip r:embed="rId25"/>
                <a:stretch>
                  <a:fillRect l="-174"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255100" y="3030583"/>
                <a:ext cx="35838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/>
                  <a:t>Расстояние от точки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charset="0"/>
                      </a:rPr>
                      <m:t>𝐶</m:t>
                    </m:r>
                  </m:oMath>
                </a14:m>
                <a:r>
                  <a:rPr lang="ru-RU" sz="1200" dirty="0" smtClean="0"/>
                  <a:t> до плоскости </a:t>
                </a:r>
                <a:r>
                  <a:rPr lang="en-US" sz="1200" dirty="0" smtClean="0"/>
                  <a:t>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charset="0"/>
                      </a:rPr>
                      <m:t>𝐴𝑆𝐷</m:t>
                    </m:r>
                  </m:oMath>
                </a14:m>
                <a:r>
                  <a:rPr lang="ru-RU" sz="1200" dirty="0" smtClean="0"/>
                  <a:t> равно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</a:rPr>
                      <m:t>𝐿𝑀</m:t>
                    </m:r>
                    <m:r>
                      <a:rPr lang="ru-RU" sz="1200" i="1" dirty="0" smtClean="0">
                        <a:latin typeface="Cambria Math" charset="0"/>
                      </a:rPr>
                      <m:t>.</m:t>
                    </m:r>
                  </m:oMath>
                </a14:m>
                <a:endParaRPr lang="ru-RU" sz="1200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100" y="3030583"/>
                <a:ext cx="3583866" cy="276999"/>
              </a:xfrm>
              <a:prstGeom prst="rect">
                <a:avLst/>
              </a:prstGeom>
              <a:blipFill rotWithShape="0">
                <a:blip r:embed="rId26"/>
                <a:stretch>
                  <a:fillRect l="-170"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234968" y="3316674"/>
                <a:ext cx="177349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</a:rPr>
                        <m:t>𝐿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𝐾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𝐿𝐻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,  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𝐿𝑀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∥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𝐻𝑃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968" y="3316674"/>
                <a:ext cx="1773499" cy="276999"/>
              </a:xfrm>
              <a:prstGeom prst="rect">
                <a:avLst/>
              </a:prstGeom>
              <a:blipFill rotWithShape="0">
                <a:blip r:embed="rId27"/>
                <a:stretch>
                  <a:fillRect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1864238" y="3212706"/>
                <a:ext cx="1184555" cy="4380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𝐿𝑀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𝐻𝑃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4238" y="3212706"/>
                <a:ext cx="1184555" cy="438005"/>
              </a:xfrm>
              <a:prstGeom prst="rect">
                <a:avLst/>
              </a:prstGeom>
              <a:blipFill rotWithShape="0">
                <a:blip r:embed="rId2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231734" y="3569951"/>
                <a:ext cx="1232966" cy="4392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𝐻𝑃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𝐾𝐻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𝑆𝐻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𝐾𝑆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734" y="3569951"/>
                <a:ext cx="1232966" cy="439287"/>
              </a:xfrm>
              <a:prstGeom prst="rect">
                <a:avLst/>
              </a:prstGeom>
              <a:blipFill rotWithShape="0"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1384168" y="3651094"/>
                <a:ext cx="7443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𝑆𝐻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=4;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168" y="3651094"/>
                <a:ext cx="744371" cy="276999"/>
              </a:xfrm>
              <a:prstGeom prst="rect">
                <a:avLst/>
              </a:prstGeom>
              <a:blipFill rotWithShape="0"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1995256" y="3515668"/>
                <a:ext cx="1150700" cy="4795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𝐾𝐻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𝐴𝐷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5256" y="3515668"/>
                <a:ext cx="1150700" cy="479555"/>
              </a:xfrm>
              <a:prstGeom prst="rect">
                <a:avLst/>
              </a:prstGeom>
              <a:blipFill rotWithShape="0">
                <a:blip r:embed="rId31"/>
                <a:stretch>
                  <a:fillRect b="-12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2988158" y="3640225"/>
                <a:ext cx="649087" cy="2987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=4</m:t>
                      </m:r>
                      <m:rad>
                        <m:radPr>
                          <m:degHide m:val="on"/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8158" y="3640225"/>
                <a:ext cx="649087" cy="298736"/>
              </a:xfrm>
              <a:prstGeom prst="rect">
                <a:avLst/>
              </a:prstGeom>
              <a:blipFill rotWithShape="0"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247724" y="3976078"/>
                <a:ext cx="1477905" cy="3211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𝐾𝑆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mr-IN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mr-IN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𝐾𝐻</m:t>
                              </m:r>
                            </m:e>
                            <m:sup>
                              <m:r>
                                <a:rPr lang="mr-IN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mr-IN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mr-IN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𝑆𝐻</m:t>
                              </m:r>
                            </m:e>
                            <m:sup>
                              <m:r>
                                <a:rPr lang="mr-IN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724" y="3976078"/>
                <a:ext cx="1477905" cy="321114"/>
              </a:xfrm>
              <a:prstGeom prst="rect">
                <a:avLst/>
              </a:prstGeom>
              <a:blipFill rotWithShape="0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1578115" y="3865936"/>
                <a:ext cx="1237454" cy="4681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mr-IN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mr-IN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(4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200" i="1" dirty="0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200" i="1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3</m:t>
                                  </m:r>
                                </m:e>
                              </m:rad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mr-IN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mr-IN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mr-IN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mr-IN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115" y="3865936"/>
                <a:ext cx="1237454" cy="468141"/>
              </a:xfrm>
              <a:prstGeom prst="rect">
                <a:avLst/>
              </a:prstGeom>
              <a:blipFill rotWithShape="0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2679763" y="3989565"/>
                <a:ext cx="649088" cy="2987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mr-IN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64</m:t>
                          </m:r>
                        </m:e>
                      </m:ra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763" y="3989565"/>
                <a:ext cx="649088" cy="298736"/>
              </a:xfrm>
              <a:prstGeom prst="rect">
                <a:avLst/>
              </a:prstGeom>
              <a:blipFill rotWithShape="0"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3203848" y="4007955"/>
                <a:ext cx="46307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=8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4007955"/>
                <a:ext cx="463075" cy="276999"/>
              </a:xfrm>
              <a:prstGeom prst="rect">
                <a:avLst/>
              </a:prstGeom>
              <a:blipFill rotWithShape="0"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/>
              <p:cNvSpPr txBox="1"/>
              <p:nvPr/>
            </p:nvSpPr>
            <p:spPr>
              <a:xfrm>
                <a:off x="225032" y="4205441"/>
                <a:ext cx="1100622" cy="4807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𝐻𝑃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4</m:t>
                          </m:r>
                          <m:rad>
                            <m:radPr>
                              <m:degHide m:val="on"/>
                              <m:ctrlPr>
                                <a:rPr lang="en-US" sz="1200" i="1" dirty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e>
                          </m:rad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∙4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032" y="4205441"/>
                <a:ext cx="1100622" cy="480773"/>
              </a:xfrm>
              <a:prstGeom prst="rect">
                <a:avLst/>
              </a:prstGeom>
              <a:blipFill rotWithShape="0"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/>
              <p:cNvSpPr txBox="1"/>
              <p:nvPr/>
            </p:nvSpPr>
            <p:spPr>
              <a:xfrm>
                <a:off x="1172729" y="4319696"/>
                <a:ext cx="649088" cy="2987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=2</m:t>
                      </m:r>
                      <m:rad>
                        <m:radPr>
                          <m:degHide m:val="on"/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729" y="4319696"/>
                <a:ext cx="649088" cy="298736"/>
              </a:xfrm>
              <a:prstGeom prst="rect">
                <a:avLst/>
              </a:prstGeom>
              <a:blipFill rotWithShape="0"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1760486" y="4233731"/>
                <a:ext cx="1571520" cy="4380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𝐿𝑀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𝐻𝑃</m:t>
                      </m:r>
                      <m:r>
                        <a:rPr lang="ru-RU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200" i="1" dirty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0486" y="4233731"/>
                <a:ext cx="1571520" cy="438005"/>
              </a:xfrm>
              <a:prstGeom prst="rect">
                <a:avLst/>
              </a:prstGeom>
              <a:blipFill rotWithShape="0">
                <a:blip r:embed="rId39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/>
              <p:cNvSpPr txBox="1"/>
              <p:nvPr/>
            </p:nvSpPr>
            <p:spPr>
              <a:xfrm>
                <a:off x="4132369" y="4292033"/>
                <a:ext cx="1154932" cy="3954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b="1" dirty="0" smtClean="0">
                    <a:solidFill>
                      <a:srgbClr val="FF0000"/>
                    </a:solidFill>
                  </a:rPr>
                  <a:t>Ответ: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ru-RU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ru-RU" b="1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𝟑</m:t>
                        </m:r>
                      </m:e>
                    </m:rad>
                  </m:oMath>
                </a14:m>
                <a:endParaRPr lang="ru-RU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0" name="TextBox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2369" y="4292033"/>
                <a:ext cx="1154932" cy="395429"/>
              </a:xfrm>
              <a:prstGeom prst="rect">
                <a:avLst/>
              </a:prstGeom>
              <a:blipFill rotWithShape="0">
                <a:blip r:embed="rId40"/>
                <a:stretch>
                  <a:fillRect l="-4762" b="-246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олилиния 3"/>
          <p:cNvSpPr/>
          <p:nvPr/>
        </p:nvSpPr>
        <p:spPr>
          <a:xfrm>
            <a:off x="6126480" y="3535680"/>
            <a:ext cx="40640" cy="132080"/>
          </a:xfrm>
          <a:custGeom>
            <a:avLst/>
            <a:gdLst>
              <a:gd name="connsiteX0" fmla="*/ 40640 w 40640"/>
              <a:gd name="connsiteY0" fmla="*/ 0 h 132080"/>
              <a:gd name="connsiteX1" fmla="*/ 0 w 40640"/>
              <a:gd name="connsiteY1" fmla="*/ 132080 h 132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640" h="132080">
                <a:moveTo>
                  <a:pt x="40640" y="0"/>
                </a:moveTo>
                <a:lnTo>
                  <a:pt x="0" y="13208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олилиния 4"/>
          <p:cNvSpPr/>
          <p:nvPr/>
        </p:nvSpPr>
        <p:spPr>
          <a:xfrm>
            <a:off x="7142480" y="3556000"/>
            <a:ext cx="60960" cy="121920"/>
          </a:xfrm>
          <a:custGeom>
            <a:avLst/>
            <a:gdLst>
              <a:gd name="connsiteX0" fmla="*/ 0 w 60960"/>
              <a:gd name="connsiteY0" fmla="*/ 0 h 121920"/>
              <a:gd name="connsiteX1" fmla="*/ 60960 w 60960"/>
              <a:gd name="connsiteY1" fmla="*/ 121920 h 121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0960" h="121920">
                <a:moveTo>
                  <a:pt x="0" y="0"/>
                </a:moveTo>
                <a:lnTo>
                  <a:pt x="60960" y="12192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олилиния 6"/>
          <p:cNvSpPr/>
          <p:nvPr/>
        </p:nvSpPr>
        <p:spPr>
          <a:xfrm>
            <a:off x="8046720" y="3037840"/>
            <a:ext cx="121920" cy="40640"/>
          </a:xfrm>
          <a:custGeom>
            <a:avLst/>
            <a:gdLst>
              <a:gd name="connsiteX0" fmla="*/ 0 w 121920"/>
              <a:gd name="connsiteY0" fmla="*/ 0 h 40640"/>
              <a:gd name="connsiteX1" fmla="*/ 121920 w 121920"/>
              <a:gd name="connsiteY1" fmla="*/ 40640 h 40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20" h="40640">
                <a:moveTo>
                  <a:pt x="0" y="0"/>
                </a:moveTo>
                <a:lnTo>
                  <a:pt x="121920" y="4064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3800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9" grpId="0"/>
      <p:bldP spid="20" grpId="0"/>
      <p:bldP spid="21" grpId="0"/>
      <p:bldP spid="23" grpId="0"/>
      <p:bldP spid="44" grpId="0"/>
      <p:bldP spid="45" grpId="0"/>
      <p:bldP spid="46" grpId="0" animBg="1"/>
      <p:bldP spid="47" grpId="0" animBg="1"/>
      <p:bldP spid="57" grpId="0" animBg="1"/>
      <p:bldP spid="57" grpId="1" animBg="1"/>
      <p:bldP spid="57" grpId="2" animBg="1"/>
      <p:bldP spid="58" grpId="0"/>
      <p:bldP spid="62" grpId="0"/>
      <p:bldP spid="63" grpId="0" animBg="1"/>
      <p:bldP spid="64" grpId="0"/>
      <p:bldP spid="65" grpId="0"/>
      <p:bldP spid="66" grpId="0"/>
      <p:bldP spid="67" grpId="0"/>
      <p:bldP spid="68" grpId="0"/>
      <p:bldP spid="69" grpId="0" animBg="1"/>
      <p:bldP spid="71" grpId="0" animBg="1"/>
      <p:bldP spid="72" grpId="0"/>
      <p:bldP spid="73" grpId="0"/>
      <p:bldP spid="74" grpId="0"/>
      <p:bldP spid="75" grpId="0"/>
      <p:bldP spid="76" grpId="0"/>
      <p:bldP spid="77" grpId="0"/>
      <p:bldP spid="78" grpId="0" animBg="1"/>
      <p:bldP spid="82" grpId="0" animBg="1"/>
      <p:bldP spid="96" grpId="0"/>
      <p:bldP spid="97" grpId="0" animBg="1"/>
      <p:bldP spid="98" grpId="0" animBg="1"/>
      <p:bldP spid="101" grpId="0" animBg="1"/>
      <p:bldP spid="105" grpId="0"/>
      <p:bldP spid="106" grpId="0" animBg="1"/>
      <p:bldP spid="107" grpId="0" animBg="1"/>
      <p:bldP spid="112" grpId="0"/>
      <p:bldP spid="113" grpId="0" animBg="1"/>
      <p:bldP spid="114" grpId="0" animBg="1"/>
      <p:bldP spid="115" grpId="0"/>
      <p:bldP spid="80" grpId="0"/>
      <p:bldP spid="81" grpId="0"/>
      <p:bldP spid="84" grpId="0"/>
      <p:bldP spid="85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9" grpId="0"/>
      <p:bldP spid="4" grpId="0" animBg="1"/>
      <p:bldP spid="5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13</a:t>
            </a:fld>
            <a:endParaRPr kumimoji="0" lang="ru-RU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0" y="-22136"/>
                <a:ext cx="9144000" cy="79368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dirty="0" smtClean="0">
                    <a:solidFill>
                      <a:srgbClr val="7030A0"/>
                    </a:solidFill>
                  </a:rPr>
                  <a:t>8.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Боковые ребра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 пирамиды </a:t>
                </a:r>
                <a14:m>
                  <m:oMath xmlns:m="http://schemas.openxmlformats.org/officeDocument/2006/math">
                    <m:r>
                      <a:rPr lang="ru-RU" sz="1200" b="1" i="0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 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𝑺𝑨𝑩𝑪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 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с вершиной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𝑺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попарно перпендикулярны. </a:t>
                </a:r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а) Докажите, что высота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𝑺𝑯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пирамиды проходит через точку пересечения высот основания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𝑨𝑩𝑪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.</a:t>
                </a: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 б) Найдите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𝑺𝑯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,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если боковые ребра равны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𝟐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, 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𝟐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,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𝟕</m:t>
                    </m:r>
                    <m:rad>
                      <m:radPr>
                        <m:degHide m:val="on"/>
                        <m:ctrlPr>
                          <a:rPr lang="ru-RU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ru-RU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𝟐</m:t>
                        </m:r>
                      </m:e>
                    </m:rad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6"/>
                <a:ext cx="9144000" cy="79368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Прямая соединительная линия 5"/>
          <p:cNvCxnSpPr/>
          <p:nvPr/>
        </p:nvCxnSpPr>
        <p:spPr>
          <a:xfrm>
            <a:off x="5222227" y="3219822"/>
            <a:ext cx="3546179" cy="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5222227" y="3219822"/>
            <a:ext cx="2745197" cy="108012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 flipV="1">
            <a:off x="7967424" y="3219822"/>
            <a:ext cx="800982" cy="108012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 flipH="1">
            <a:off x="7458921" y="1477331"/>
            <a:ext cx="2997" cy="2184411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>
            <a:off x="7458921" y="1491630"/>
            <a:ext cx="1309485" cy="1728191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/>
          <p:nvPr/>
        </p:nvCxnSpPr>
        <p:spPr>
          <a:xfrm flipH="1">
            <a:off x="5222227" y="1491628"/>
            <a:ext cx="2236694" cy="1728193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4938753" y="3125464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8753" y="3125464"/>
                <a:ext cx="340286" cy="3077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8735255" y="3095917"/>
                <a:ext cx="3481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5255" y="3095917"/>
                <a:ext cx="348172" cy="3077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 flipH="1">
                <a:off x="7811820" y="4293397"/>
                <a:ext cx="2465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811820" y="4293397"/>
                <a:ext cx="246540" cy="307777"/>
              </a:xfrm>
              <a:prstGeom prst="rect">
                <a:avLst/>
              </a:prstGeom>
              <a:blipFill rotWithShape="0">
                <a:blip r:embed="rId5"/>
                <a:stretch>
                  <a:fillRect r="-73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7327074" y="1217381"/>
                <a:ext cx="32284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𝑆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7074" y="1217381"/>
                <a:ext cx="322844" cy="3077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Полилиния 35"/>
          <p:cNvSpPr/>
          <p:nvPr/>
        </p:nvSpPr>
        <p:spPr>
          <a:xfrm>
            <a:off x="7317986" y="1502561"/>
            <a:ext cx="282176" cy="285565"/>
          </a:xfrm>
          <a:custGeom>
            <a:avLst/>
            <a:gdLst>
              <a:gd name="connsiteX0" fmla="*/ 0 w 314960"/>
              <a:gd name="connsiteY0" fmla="*/ 121920 h 314960"/>
              <a:gd name="connsiteX1" fmla="*/ 182880 w 314960"/>
              <a:gd name="connsiteY1" fmla="*/ 314960 h 314960"/>
              <a:gd name="connsiteX2" fmla="*/ 314960 w 314960"/>
              <a:gd name="connsiteY2" fmla="*/ 193040 h 314960"/>
              <a:gd name="connsiteX3" fmla="*/ 162560 w 314960"/>
              <a:gd name="connsiteY3" fmla="*/ 0 h 314960"/>
              <a:gd name="connsiteX4" fmla="*/ 0 w 314960"/>
              <a:gd name="connsiteY4" fmla="*/ 121920 h 314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4960" h="314960">
                <a:moveTo>
                  <a:pt x="0" y="121920"/>
                </a:moveTo>
                <a:lnTo>
                  <a:pt x="182880" y="314960"/>
                </a:lnTo>
                <a:lnTo>
                  <a:pt x="314960" y="193040"/>
                </a:lnTo>
                <a:lnTo>
                  <a:pt x="162560" y="0"/>
                </a:lnTo>
                <a:lnTo>
                  <a:pt x="0" y="121920"/>
                </a:lnTo>
                <a:close/>
              </a:path>
            </a:pathLst>
          </a:custGeom>
          <a:solidFill>
            <a:schemeClr val="bg1">
              <a:lumMod val="85000"/>
              <a:alpha val="42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олилиния 36"/>
          <p:cNvSpPr/>
          <p:nvPr/>
        </p:nvSpPr>
        <p:spPr>
          <a:xfrm>
            <a:off x="7317986" y="1509935"/>
            <a:ext cx="195294" cy="341735"/>
          </a:xfrm>
          <a:custGeom>
            <a:avLst/>
            <a:gdLst>
              <a:gd name="connsiteX0" fmla="*/ 0 w 223520"/>
              <a:gd name="connsiteY0" fmla="*/ 121920 h 365760"/>
              <a:gd name="connsiteX1" fmla="*/ 71120 w 223520"/>
              <a:gd name="connsiteY1" fmla="*/ 365760 h 365760"/>
              <a:gd name="connsiteX2" fmla="*/ 223520 w 223520"/>
              <a:gd name="connsiteY2" fmla="*/ 233680 h 365760"/>
              <a:gd name="connsiteX3" fmla="*/ 172720 w 223520"/>
              <a:gd name="connsiteY3" fmla="*/ 0 h 365760"/>
              <a:gd name="connsiteX4" fmla="*/ 0 w 223520"/>
              <a:gd name="connsiteY4" fmla="*/ 121920 h 36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520" h="365760">
                <a:moveTo>
                  <a:pt x="0" y="121920"/>
                </a:moveTo>
                <a:lnTo>
                  <a:pt x="71120" y="365760"/>
                </a:lnTo>
                <a:lnTo>
                  <a:pt x="223520" y="233680"/>
                </a:lnTo>
                <a:lnTo>
                  <a:pt x="172720" y="0"/>
                </a:lnTo>
                <a:lnTo>
                  <a:pt x="0" y="121920"/>
                </a:lnTo>
                <a:close/>
              </a:path>
            </a:pathLst>
          </a:custGeom>
          <a:solidFill>
            <a:schemeClr val="bg1">
              <a:lumMod val="85000"/>
              <a:alpha val="30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олилиния 37"/>
          <p:cNvSpPr/>
          <p:nvPr/>
        </p:nvSpPr>
        <p:spPr>
          <a:xfrm>
            <a:off x="7482799" y="1544205"/>
            <a:ext cx="131847" cy="335343"/>
          </a:xfrm>
          <a:custGeom>
            <a:avLst/>
            <a:gdLst>
              <a:gd name="connsiteX0" fmla="*/ 30480 w 142240"/>
              <a:gd name="connsiteY0" fmla="*/ 284480 h 426720"/>
              <a:gd name="connsiteX1" fmla="*/ 142240 w 142240"/>
              <a:gd name="connsiteY1" fmla="*/ 426720 h 426720"/>
              <a:gd name="connsiteX2" fmla="*/ 111760 w 142240"/>
              <a:gd name="connsiteY2" fmla="*/ 162560 h 426720"/>
              <a:gd name="connsiteX3" fmla="*/ 0 w 142240"/>
              <a:gd name="connsiteY3" fmla="*/ 0 h 426720"/>
              <a:gd name="connsiteX4" fmla="*/ 30480 w 142240"/>
              <a:gd name="connsiteY4" fmla="*/ 284480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240" h="426720">
                <a:moveTo>
                  <a:pt x="30480" y="284480"/>
                </a:moveTo>
                <a:lnTo>
                  <a:pt x="142240" y="426720"/>
                </a:lnTo>
                <a:lnTo>
                  <a:pt x="111760" y="162560"/>
                </a:lnTo>
                <a:lnTo>
                  <a:pt x="0" y="0"/>
                </a:lnTo>
                <a:lnTo>
                  <a:pt x="30480" y="284480"/>
                </a:lnTo>
                <a:close/>
              </a:path>
            </a:pathLst>
          </a:custGeom>
          <a:solidFill>
            <a:schemeClr val="bg1">
              <a:lumMod val="85000"/>
              <a:alpha val="3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9" name="Прямая соединительная линия 38"/>
          <p:cNvCxnSpPr/>
          <p:nvPr/>
        </p:nvCxnSpPr>
        <p:spPr>
          <a:xfrm>
            <a:off x="7458921" y="1491629"/>
            <a:ext cx="508503" cy="2808313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107504" y="882780"/>
                <a:ext cx="18715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/>
                  <a:t>а) </a:t>
                </a:r>
                <a:r>
                  <a:rPr lang="ru-RU" sz="1200" i="0" dirty="0" smtClean="0">
                    <a:solidFill>
                      <a:schemeClr val="tx1"/>
                    </a:solidFill>
                    <a:latin typeface="+mj-lt"/>
                  </a:rPr>
                  <a:t>Д</a:t>
                </a:r>
                <a:r>
                  <a:rPr lang="ru-RU" sz="1200" b="0" i="0" dirty="0" smtClean="0">
                    <a:solidFill>
                      <a:schemeClr val="tx1"/>
                    </a:solidFill>
                    <a:latin typeface="+mj-lt"/>
                  </a:rPr>
                  <a:t>окажем, что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𝑆𝐶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𝐴𝐵</m:t>
                    </m:r>
                    <m:r>
                      <a:rPr lang="en-US" sz="1200" b="0" i="0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882780"/>
                <a:ext cx="1871538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326"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107504" y="1140468"/>
                <a:ext cx="227068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𝑆𝐶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⊥</m:t>
                    </m:r>
                    <m:r>
                      <a:rPr lang="en-US" sz="1200" i="1" dirty="0">
                        <a:latin typeface="Cambria Math" charset="0"/>
                      </a:rPr>
                      <m:t>𝑆𝐴</m:t>
                    </m:r>
                    <m:r>
                      <a:rPr lang="en-US" sz="1200" i="1" dirty="0">
                        <a:latin typeface="Cambria Math" charset="0"/>
                      </a:rPr>
                      <m:t>;</m:t>
                    </m:r>
                    <m:r>
                      <a:rPr lang="en-US" sz="1200" i="1" dirty="0">
                        <a:latin typeface="Cambria Math" charset="0"/>
                      </a:rPr>
                      <m:t>𝑆𝐶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⊥</m:t>
                    </m:r>
                    <m:r>
                      <a:rPr lang="en-US" sz="1200" i="1" dirty="0">
                        <a:latin typeface="Cambria Math" charset="0"/>
                      </a:rPr>
                      <m:t>𝑆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𝐵</m:t>
                    </m:r>
                    <m:r>
                      <a:rPr lang="en-US" sz="1200" b="0" i="0" dirty="0" smtClean="0"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(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по условию)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1140468"/>
                <a:ext cx="2270686" cy="276999"/>
              </a:xfrm>
              <a:prstGeom prst="rect">
                <a:avLst/>
              </a:prstGeom>
              <a:blipFill rotWithShape="0">
                <a:blip r:embed="rId8"/>
                <a:stretch>
                  <a:fillRect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2301314" y="1140468"/>
                <a:ext cx="12647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𝑆𝐶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⊥</m:t>
                      </m:r>
                      <m:r>
                        <a:rPr lang="ru-RU" sz="1200" b="0" i="1" dirty="0" smtClean="0">
                          <a:latin typeface="Cambria Math" charset="0"/>
                        </a:rPr>
                        <m:t>(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𝐴𝑆𝐵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1314" y="1140468"/>
                <a:ext cx="1264769" cy="276999"/>
              </a:xfrm>
              <a:prstGeom prst="rect">
                <a:avLst/>
              </a:prstGeom>
              <a:blipFill rotWithShape="0">
                <a:blip r:embed="rId9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3385653" y="1140468"/>
                <a:ext cx="101470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𝑆𝐶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⊥</m:t>
                      </m:r>
                      <m:r>
                        <a:rPr lang="en-US" sz="1200" i="1" dirty="0">
                          <a:latin typeface="Cambria Math" charset="0"/>
                        </a:rPr>
                        <m:t>𝐴𝐵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5653" y="1140468"/>
                <a:ext cx="1014700" cy="276999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 flipH="1">
                <a:off x="7504860" y="3579862"/>
                <a:ext cx="2465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𝐻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504860" y="3579862"/>
                <a:ext cx="246540" cy="307777"/>
              </a:xfrm>
              <a:prstGeom prst="rect">
                <a:avLst/>
              </a:prstGeom>
              <a:blipFill rotWithShape="0">
                <a:blip r:embed="rId11"/>
                <a:stretch>
                  <a:fillRect r="-121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Прямая соединительная линия 46"/>
          <p:cNvCxnSpPr/>
          <p:nvPr/>
        </p:nvCxnSpPr>
        <p:spPr>
          <a:xfrm flipH="1">
            <a:off x="6814515" y="3234118"/>
            <a:ext cx="1953891" cy="602328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104507" y="1385385"/>
                <a:ext cx="12128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𝑆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𝐻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− 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 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высота,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7" y="1385385"/>
                <a:ext cx="1212896" cy="276999"/>
              </a:xfrm>
              <a:prstGeom prst="rect">
                <a:avLst/>
              </a:prstGeom>
              <a:blipFill rotWithShape="0">
                <a:blip r:embed="rId12"/>
                <a:stretch>
                  <a:fillRect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Полилиния 54"/>
          <p:cNvSpPr/>
          <p:nvPr/>
        </p:nvSpPr>
        <p:spPr>
          <a:xfrm>
            <a:off x="7454474" y="3392944"/>
            <a:ext cx="160172" cy="248478"/>
          </a:xfrm>
          <a:custGeom>
            <a:avLst/>
            <a:gdLst>
              <a:gd name="connsiteX0" fmla="*/ 10160 w 172720"/>
              <a:gd name="connsiteY0" fmla="*/ 50800 h 243840"/>
              <a:gd name="connsiteX1" fmla="*/ 172720 w 172720"/>
              <a:gd name="connsiteY1" fmla="*/ 0 h 243840"/>
              <a:gd name="connsiteX2" fmla="*/ 172720 w 172720"/>
              <a:gd name="connsiteY2" fmla="*/ 193040 h 243840"/>
              <a:gd name="connsiteX3" fmla="*/ 0 w 172720"/>
              <a:gd name="connsiteY3" fmla="*/ 243840 h 243840"/>
              <a:gd name="connsiteX4" fmla="*/ 10160 w 172720"/>
              <a:gd name="connsiteY4" fmla="*/ 50800 h 24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720" h="243840">
                <a:moveTo>
                  <a:pt x="10160" y="50800"/>
                </a:moveTo>
                <a:lnTo>
                  <a:pt x="172720" y="0"/>
                </a:lnTo>
                <a:lnTo>
                  <a:pt x="172720" y="193040"/>
                </a:lnTo>
                <a:lnTo>
                  <a:pt x="0" y="243840"/>
                </a:lnTo>
                <a:lnTo>
                  <a:pt x="10160" y="50800"/>
                </a:lnTo>
                <a:close/>
              </a:path>
            </a:pathLst>
          </a:custGeom>
          <a:solidFill>
            <a:schemeClr val="bg1">
              <a:lumMod val="85000"/>
              <a:alpha val="30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 flipH="1">
                <a:off x="6453518" y="3827390"/>
                <a:ext cx="44932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𝑀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453518" y="3827390"/>
                <a:ext cx="449326" cy="307777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62"/>
          <p:cNvSpPr txBox="1"/>
          <p:nvPr/>
        </p:nvSpPr>
        <p:spPr>
          <a:xfrm>
            <a:off x="83626" y="1615259"/>
            <a:ext cx="26132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 smtClean="0"/>
              <a:t>по теореме о трех перпендикулярах </a:t>
            </a:r>
            <a:endParaRPr lang="ru-RU" sz="1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1194367" y="1386877"/>
                <a:ext cx="143744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𝑆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𝐶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− 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 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наклонная,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4367" y="1386877"/>
                <a:ext cx="1437445" cy="276999"/>
              </a:xfrm>
              <a:prstGeom prst="rect">
                <a:avLst/>
              </a:prstGeom>
              <a:blipFill rotWithShape="0">
                <a:blip r:embed="rId14"/>
                <a:stretch>
                  <a:fillRect t="-82222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2493882" y="1386877"/>
                <a:ext cx="139833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𝐶𝐻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− 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 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проекция.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882" y="1386877"/>
                <a:ext cx="1398332" cy="276999"/>
              </a:xfrm>
              <a:prstGeom prst="rect">
                <a:avLst/>
              </a:prstGeom>
              <a:blipFill rotWithShape="0">
                <a:blip r:embed="rId15"/>
                <a:stretch>
                  <a:fillRect t="-82222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2508882" y="1616746"/>
                <a:ext cx="86478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>
                          <a:latin typeface="Cambria Math" charset="0"/>
                        </a:rPr>
                        <m:t>𝐶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𝑀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⊥</m:t>
                      </m:r>
                      <m:r>
                        <a:rPr lang="en-US" sz="1200" i="1" dirty="0">
                          <a:latin typeface="Cambria Math" charset="0"/>
                        </a:rPr>
                        <m:t>𝐴𝐵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.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8882" y="1616746"/>
                <a:ext cx="864789" cy="276999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Полилиния 69"/>
          <p:cNvSpPr/>
          <p:nvPr/>
        </p:nvSpPr>
        <p:spPr>
          <a:xfrm>
            <a:off x="6810752" y="3779520"/>
            <a:ext cx="426720" cy="142240"/>
          </a:xfrm>
          <a:custGeom>
            <a:avLst/>
            <a:gdLst>
              <a:gd name="connsiteX0" fmla="*/ 0 w 426720"/>
              <a:gd name="connsiteY0" fmla="*/ 71120 h 142240"/>
              <a:gd name="connsiteX1" fmla="*/ 213360 w 426720"/>
              <a:gd name="connsiteY1" fmla="*/ 0 h 142240"/>
              <a:gd name="connsiteX2" fmla="*/ 426720 w 426720"/>
              <a:gd name="connsiteY2" fmla="*/ 81280 h 142240"/>
              <a:gd name="connsiteX3" fmla="*/ 223520 w 426720"/>
              <a:gd name="connsiteY3" fmla="*/ 142240 h 142240"/>
              <a:gd name="connsiteX4" fmla="*/ 0 w 426720"/>
              <a:gd name="connsiteY4" fmla="*/ 71120 h 142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6720" h="142240">
                <a:moveTo>
                  <a:pt x="0" y="71120"/>
                </a:moveTo>
                <a:lnTo>
                  <a:pt x="213360" y="0"/>
                </a:lnTo>
                <a:lnTo>
                  <a:pt x="426720" y="81280"/>
                </a:lnTo>
                <a:lnTo>
                  <a:pt x="223520" y="142240"/>
                </a:lnTo>
                <a:lnTo>
                  <a:pt x="0" y="71120"/>
                </a:lnTo>
                <a:close/>
              </a:path>
            </a:pathLst>
          </a:custGeom>
          <a:solidFill>
            <a:schemeClr val="bg1">
              <a:lumMod val="85000"/>
              <a:alpha val="37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94067" y="1850698"/>
                <a:ext cx="404719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</m:oMath>
                </a14:m>
                <a:r>
                  <a:rPr lang="ru-RU" sz="1200" b="0" i="0" dirty="0" smtClean="0">
                    <a:latin typeface="+mj-lt"/>
                    <a:ea typeface="Cambria Math" charset="0"/>
                    <a:cs typeface="Cambria Math" charset="0"/>
                  </a:rPr>
                  <a:t> высота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𝐶𝑀</m:t>
                    </m:r>
                  </m:oMath>
                </a14:m>
                <a:r>
                  <a:rPr lang="en-US" sz="1200" b="0" i="0" dirty="0" smtClean="0">
                    <a:latin typeface="+mj-lt"/>
                    <a:ea typeface="Cambria Math" charset="0"/>
                    <a:cs typeface="Cambria Math" charset="0"/>
                  </a:rPr>
                  <a:t> </a:t>
                </a:r>
                <a:r>
                  <a:rPr lang="ru-RU" sz="1200" b="0" i="0" dirty="0" smtClean="0">
                    <a:latin typeface="+mj-lt"/>
                    <a:ea typeface="Cambria Math" charset="0"/>
                    <a:cs typeface="Cambria Math" charset="0"/>
                  </a:rPr>
                  <a:t>треугольника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𝐴𝐵𝐶</m:t>
                    </m:r>
                  </m:oMath>
                </a14:m>
                <a:r>
                  <a:rPr lang="ru-RU" sz="1200" b="0" i="0" dirty="0" smtClean="0">
                    <a:latin typeface="+mj-lt"/>
                    <a:ea typeface="Cambria Math" charset="0"/>
                    <a:cs typeface="Cambria Math" charset="0"/>
                  </a:rPr>
                  <a:t> проходит через точку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𝐻</m:t>
                    </m:r>
                  </m:oMath>
                </a14:m>
                <a:r>
                  <a:rPr lang="ru-RU" sz="1200" b="0" i="0" dirty="0" smtClean="0">
                    <a:latin typeface="+mj-lt"/>
                    <a:ea typeface="Cambria Math" charset="0"/>
                    <a:cs typeface="Cambria Math" charset="0"/>
                  </a:rPr>
                  <a:t>. 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67" y="1850698"/>
                <a:ext cx="4047198" cy="276999"/>
              </a:xfrm>
              <a:prstGeom prst="rect">
                <a:avLst/>
              </a:prstGeom>
              <a:blipFill rotWithShape="0">
                <a:blip r:embed="rId17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104508" y="2097486"/>
                <a:ext cx="42958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i="0" dirty="0" smtClean="0">
                    <a:latin typeface="+mj-lt"/>
                    <a:ea typeface="Cambria Math" charset="0"/>
                    <a:cs typeface="Cambria Math" charset="0"/>
                  </a:rPr>
                  <a:t>А</a:t>
                </a:r>
                <a:r>
                  <a:rPr lang="ru-RU" sz="1200" b="0" i="0" dirty="0" smtClean="0">
                    <a:latin typeface="+mj-lt"/>
                    <a:ea typeface="Cambria Math" charset="0"/>
                    <a:cs typeface="Cambria Math" charset="0"/>
                  </a:rPr>
                  <a:t>налогично</a:t>
                </a:r>
                <a14:m>
                  <m:oMath xmlns:m="http://schemas.openxmlformats.org/officeDocument/2006/math">
                    <m:r>
                      <a:rPr lang="ru-RU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 </m:t>
                    </m:r>
                  </m:oMath>
                </a14:m>
                <a:r>
                  <a:rPr lang="ru-RU" sz="1200" b="0" i="0" dirty="0" smtClean="0">
                    <a:latin typeface="+mj-lt"/>
                    <a:ea typeface="Cambria Math" charset="0"/>
                    <a:cs typeface="Cambria Math" charset="0"/>
                  </a:rPr>
                  <a:t>доказывается, что остальные высоты треугольника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𝐴𝐵𝐶</m:t>
                    </m:r>
                  </m:oMath>
                </a14:m>
                <a:r>
                  <a:rPr lang="ru-RU" sz="1200" b="0" i="0" dirty="0" smtClean="0">
                    <a:latin typeface="+mj-lt"/>
                    <a:ea typeface="Cambria Math" charset="0"/>
                    <a:cs typeface="Cambria Math" charset="0"/>
                  </a:rPr>
                  <a:t> проходят через точку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𝐻</m:t>
                    </m:r>
                  </m:oMath>
                </a14:m>
                <a:r>
                  <a:rPr lang="ru-RU" sz="1200" b="0" i="0" dirty="0" smtClean="0">
                    <a:latin typeface="+mj-lt"/>
                    <a:ea typeface="Cambria Math" charset="0"/>
                    <a:cs typeface="Cambria Math" charset="0"/>
                  </a:rPr>
                  <a:t>. 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8" y="2097486"/>
                <a:ext cx="4295846" cy="461665"/>
              </a:xfrm>
              <a:prstGeom prst="rect">
                <a:avLst/>
              </a:prstGeom>
              <a:blipFill rotWithShape="0">
                <a:blip r:embed="rId18"/>
                <a:stretch>
                  <a:fillRect t="-47368" b="-197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83626" y="2535830"/>
                <a:ext cx="463309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</m:oMath>
                </a14:m>
                <a:r>
                  <a:rPr lang="ru-RU" sz="1200" i="0" dirty="0" smtClean="0">
                    <a:solidFill>
                      <a:schemeClr val="tx1"/>
                    </a:solidFill>
                    <a:latin typeface="+mj-lt"/>
                    <a:ea typeface="Cambria Math" charset="0"/>
                    <a:cs typeface="Cambria Math" charset="0"/>
                  </a:rPr>
                  <a:t> </a:t>
                </a:r>
                <a:r>
                  <a:rPr lang="ru-RU" sz="1200" dirty="0">
                    <a:solidFill>
                      <a:schemeClr val="tx1"/>
                    </a:solidFill>
                  </a:rPr>
                  <a:t>высота </a:t>
                </a:r>
                <a14:m>
                  <m:oMath xmlns:m="http://schemas.openxmlformats.org/officeDocument/2006/math"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charset="0"/>
                      </a:rPr>
                      <m:t>𝑆𝐻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</a:t>
                </a:r>
                <a:r>
                  <a:rPr lang="ru-RU" sz="1200" dirty="0">
                    <a:solidFill>
                      <a:schemeClr val="tx1"/>
                    </a:solidFill>
                  </a:rPr>
                  <a:t>пирамиды проходит через точку пересечения высот основания </a:t>
                </a:r>
                <a14:m>
                  <m:oMath xmlns:m="http://schemas.openxmlformats.org/officeDocument/2006/math"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charset="0"/>
                      </a:rPr>
                      <m:t>𝐴𝐵𝐶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" y="2535830"/>
                <a:ext cx="4633095" cy="461665"/>
              </a:xfrm>
              <a:prstGeom prst="rect">
                <a:avLst/>
              </a:prstGeom>
              <a:blipFill rotWithShape="0">
                <a:blip r:embed="rId19"/>
                <a:stretch>
                  <a:fillRect l="-132" t="-47368" b="-197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7713172" y="2698482"/>
                <a:ext cx="3241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b="0" i="1" smtClean="0"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3172" y="2698482"/>
                <a:ext cx="324128" cy="307777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8092108" y="2126888"/>
                <a:ext cx="3241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b="0" i="1" smtClean="0"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2108" y="2126888"/>
                <a:ext cx="324128" cy="307777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5946328" y="2022556"/>
                <a:ext cx="541430" cy="3331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b="0" i="1" smtClean="0">
                          <a:latin typeface="Cambria Math" charset="0"/>
                        </a:rPr>
                        <m:t>7</m:t>
                      </m:r>
                      <m:rad>
                        <m:radPr>
                          <m:degHide m:val="on"/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ru-RU" sz="1400" b="0" i="1" smtClean="0">
                              <a:latin typeface="Cambria Math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6328" y="2022556"/>
                <a:ext cx="541430" cy="333168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107504" y="2967284"/>
                <a:ext cx="34265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/>
                  <a:t>б) </a:t>
                </a:r>
                <a:r>
                  <a:rPr lang="ru-RU" sz="1200" i="0" dirty="0" smtClean="0">
                    <a:solidFill>
                      <a:schemeClr val="tx1"/>
                    </a:solidFill>
                    <a:latin typeface="+mj-lt"/>
                  </a:rPr>
                  <a:t>Р</a:t>
                </a:r>
                <a:r>
                  <a:rPr lang="ru-RU" sz="1200" b="0" i="0" dirty="0" smtClean="0">
                    <a:solidFill>
                      <a:schemeClr val="tx1"/>
                    </a:solidFill>
                    <a:latin typeface="+mj-lt"/>
                  </a:rPr>
                  <a:t>ассмотрим прямоугольный треугольник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charset="0"/>
                      </a:rPr>
                      <m:t>𝑀</m:t>
                    </m:r>
                    <m:r>
                      <a:rPr lang="en-US" sz="1200" b="0" i="1" dirty="0" smtClean="0">
                        <a:latin typeface="Cambria Math" charset="0"/>
                      </a:rPr>
                      <m:t>𝑆𝐶</m:t>
                    </m:r>
                    <m:r>
                      <a:rPr lang="en-US" sz="1200" b="0" i="0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2967284"/>
                <a:ext cx="3426579" cy="276999"/>
              </a:xfrm>
              <a:prstGeom prst="rect">
                <a:avLst/>
              </a:prstGeom>
              <a:blipFill rotWithShape="0">
                <a:blip r:embed="rId23"/>
                <a:stretch>
                  <a:fillRect l="-178"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Прямая соединительная линия 78"/>
          <p:cNvCxnSpPr>
            <a:stCxn id="37" idx="3"/>
            <a:endCxn id="70" idx="0"/>
          </p:cNvCxnSpPr>
          <p:nvPr/>
        </p:nvCxnSpPr>
        <p:spPr>
          <a:xfrm flipH="1">
            <a:off x="6810752" y="1509935"/>
            <a:ext cx="658143" cy="2340705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Полилиния 81"/>
          <p:cNvSpPr/>
          <p:nvPr/>
        </p:nvSpPr>
        <p:spPr>
          <a:xfrm>
            <a:off x="6797040" y="1493520"/>
            <a:ext cx="1960880" cy="2346960"/>
          </a:xfrm>
          <a:custGeom>
            <a:avLst/>
            <a:gdLst>
              <a:gd name="connsiteX0" fmla="*/ 0 w 1960880"/>
              <a:gd name="connsiteY0" fmla="*/ 2346960 h 2346960"/>
              <a:gd name="connsiteX1" fmla="*/ 670560 w 1960880"/>
              <a:gd name="connsiteY1" fmla="*/ 0 h 2346960"/>
              <a:gd name="connsiteX2" fmla="*/ 1960880 w 1960880"/>
              <a:gd name="connsiteY2" fmla="*/ 1727200 h 2346960"/>
              <a:gd name="connsiteX3" fmla="*/ 0 w 1960880"/>
              <a:gd name="connsiteY3" fmla="*/ 2346960 h 2346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0880" h="2346960">
                <a:moveTo>
                  <a:pt x="0" y="2346960"/>
                </a:moveTo>
                <a:lnTo>
                  <a:pt x="670560" y="0"/>
                </a:lnTo>
                <a:lnTo>
                  <a:pt x="1960880" y="1727200"/>
                </a:lnTo>
                <a:lnTo>
                  <a:pt x="0" y="2346960"/>
                </a:lnTo>
                <a:close/>
              </a:path>
            </a:pathLst>
          </a:custGeom>
          <a:solidFill>
            <a:schemeClr val="accent1"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157268" y="3294463"/>
                <a:ext cx="1189043" cy="4392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𝑆𝐻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𝑀𝑆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𝐶𝑆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𝑀𝐶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68" y="3294463"/>
                <a:ext cx="1189043" cy="439287"/>
              </a:xfrm>
              <a:prstGeom prst="rect">
                <a:avLst/>
              </a:prstGeom>
              <a:blipFill rotWithShape="0">
                <a:blip r:embed="rId24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1317403" y="3279216"/>
                <a:ext cx="1117037" cy="4380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𝑀𝑆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𝐴𝑆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𝐵𝑆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𝐴𝐵</m:t>
                          </m:r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403" y="3279216"/>
                <a:ext cx="1117037" cy="438005"/>
              </a:xfrm>
              <a:prstGeom prst="rect">
                <a:avLst/>
              </a:prstGeom>
              <a:blipFill rotWithShape="0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2253081" y="3238602"/>
                <a:ext cx="1240724" cy="7110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7</m:t>
                          </m:r>
                          <m:rad>
                            <m:radPr>
                              <m:degHide m:val="on"/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e>
                          </m:rad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mr-IN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mr-IN" sz="1200" b="0" i="1" dirty="0" smtClean="0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(7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sz="1200" i="1" dirty="0">
                                          <a:latin typeface="Cambria Math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1200" i="1" dirty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  <m:r>
                                    <a:rPr lang="en-US" sz="1200" b="0" i="1" dirty="0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mr-IN" sz="1200" b="0" i="1" dirty="0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mr-IN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mr-IN" sz="1200" b="0" i="1" dirty="0" smtClean="0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dirty="0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mr-IN" sz="1200" b="0" i="1" dirty="0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3081" y="3238602"/>
                <a:ext cx="1240724" cy="711092"/>
              </a:xfrm>
              <a:prstGeom prst="rect">
                <a:avLst/>
              </a:prstGeom>
              <a:blipFill rotWithShape="0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3324570" y="3234118"/>
                <a:ext cx="734047" cy="515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14</m:t>
                          </m:r>
                          <m:rad>
                            <m:radPr>
                              <m:degHide m:val="on"/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mr-IN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102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4570" y="3234118"/>
                <a:ext cx="734047" cy="515975"/>
              </a:xfrm>
              <a:prstGeom prst="rect">
                <a:avLst/>
              </a:prstGeom>
              <a:blipFill rotWithShape="0"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3896901" y="3285130"/>
                <a:ext cx="649088" cy="4737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14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mr-IN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51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6901" y="3285130"/>
                <a:ext cx="649088" cy="473784"/>
              </a:xfrm>
              <a:prstGeom prst="rect">
                <a:avLst/>
              </a:prstGeom>
              <a:blipFill rotWithShape="0"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83626" y="3915158"/>
                <a:ext cx="1494833" cy="3211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𝑀𝐶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mr-IN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mr-IN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𝑀𝑆</m:t>
                              </m:r>
                            </m:e>
                            <m:sup>
                              <m:r>
                                <a:rPr lang="mr-IN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mr-IN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mr-IN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𝐶𝑆</m:t>
                              </m:r>
                            </m:e>
                            <m:sup>
                              <m:r>
                                <a:rPr lang="mr-IN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" y="3915158"/>
                <a:ext cx="1494833" cy="321114"/>
              </a:xfrm>
              <a:prstGeom prst="rect">
                <a:avLst/>
              </a:prstGeom>
              <a:blipFill rotWithShape="0"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1377835" y="3768626"/>
                <a:ext cx="1239634" cy="637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mr-IN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mr-IN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mr-IN" sz="1200" i="1" dirty="0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i="1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14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mr-IN" sz="1200" i="1" dirty="0">
                                          <a:latin typeface="Cambria Math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1200" i="1" dirty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51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mr-IN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mr-IN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mr-IN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mr-IN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7835" y="3768626"/>
                <a:ext cx="1239634" cy="637995"/>
              </a:xfrm>
              <a:prstGeom prst="rect">
                <a:avLst/>
              </a:prstGeom>
              <a:blipFill rotWithShape="0"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2466910" y="3850731"/>
                <a:ext cx="714811" cy="4737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ru-RU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20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mr-IN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51</m:t>
                              </m:r>
                            </m:e>
                          </m:rad>
                        </m:den>
                      </m:f>
                      <m:r>
                        <a:rPr lang="ru-RU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6910" y="3850731"/>
                <a:ext cx="714811" cy="473784"/>
              </a:xfrm>
              <a:prstGeom prst="rect">
                <a:avLst/>
              </a:prstGeom>
              <a:blipFill rotWithShape="0">
                <a:blip r:embed="rId31"/>
                <a:stretch>
                  <a:fillRect b="-129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3177681" y="3860655"/>
                <a:ext cx="1123321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𝑆𝐻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𝑀𝑆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𝐶𝑆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𝑀𝐶</m:t>
                          </m:r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681" y="3860655"/>
                <a:ext cx="1123321" cy="439223"/>
              </a:xfrm>
              <a:prstGeom prst="rect">
                <a:avLst/>
              </a:prstGeom>
              <a:blipFill rotWithShape="0">
                <a:blip r:embed="rId3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/>
              <p:cNvSpPr txBox="1"/>
              <p:nvPr/>
            </p:nvSpPr>
            <p:spPr>
              <a:xfrm>
                <a:off x="4185491" y="3689916"/>
                <a:ext cx="845680" cy="8100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mr-IN" sz="1200" i="1" dirty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sz="12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14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mr-IN" sz="1200" i="1" dirty="0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200" i="1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51</m:t>
                                  </m:r>
                                </m:e>
                              </m:rad>
                            </m:den>
                          </m:f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r>
                            <a:rPr lang="ru-RU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num>
                        <m:den>
                          <m:f>
                            <m:fPr>
                              <m:ctrlPr>
                                <a:rPr lang="mr-IN" sz="1200" i="1" dirty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>
                                <a:rPr lang="ru-RU" sz="12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20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mr-IN" sz="1200" i="1" dirty="0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200" i="1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51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491" y="3689916"/>
                <a:ext cx="845680" cy="810094"/>
              </a:xfrm>
              <a:prstGeom prst="rect">
                <a:avLst/>
              </a:prstGeom>
              <a:blipFill rotWithShape="0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/>
              <p:cNvSpPr txBox="1"/>
              <p:nvPr/>
            </p:nvSpPr>
            <p:spPr>
              <a:xfrm>
                <a:off x="4896946" y="3954437"/>
                <a:ext cx="5800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ru-RU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1,4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6946" y="3954437"/>
                <a:ext cx="580095" cy="276999"/>
              </a:xfrm>
              <a:prstGeom prst="rect">
                <a:avLst/>
              </a:prstGeom>
              <a:blipFill rotWithShape="0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3262182" y="4481994"/>
                <a:ext cx="12277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b="1" dirty="0" smtClean="0">
                    <a:solidFill>
                      <a:srgbClr val="FF0000"/>
                    </a:solidFill>
                  </a:rPr>
                  <a:t>Ответ: </a:t>
                </a:r>
                <a14:m>
                  <m:oMath xmlns:m="http://schemas.openxmlformats.org/officeDocument/2006/math">
                    <m:r>
                      <a:rPr lang="ru-RU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𝟏</m:t>
                    </m:r>
                    <m:r>
                      <a:rPr lang="ru-RU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,</m:t>
                    </m:r>
                    <m:r>
                      <a:rPr lang="ru-RU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𝟒</m:t>
                    </m:r>
                  </m:oMath>
                </a14:m>
                <a:endParaRPr lang="ru-RU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182" y="4481994"/>
                <a:ext cx="1227772" cy="369332"/>
              </a:xfrm>
              <a:prstGeom prst="rect">
                <a:avLst/>
              </a:prstGeom>
              <a:blipFill rotWithShape="0">
                <a:blip r:embed="rId35"/>
                <a:stretch>
                  <a:fillRect l="-3960" t="-8197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Овал 96"/>
          <p:cNvSpPr/>
          <p:nvPr/>
        </p:nvSpPr>
        <p:spPr>
          <a:xfrm flipH="1" flipV="1">
            <a:off x="7452320" y="3606151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9642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2" grpId="0"/>
      <p:bldP spid="33" grpId="0"/>
      <p:bldP spid="34" grpId="0"/>
      <p:bldP spid="35" grpId="0"/>
      <p:bldP spid="36" grpId="0" animBg="1"/>
      <p:bldP spid="37" grpId="0" animBg="1"/>
      <p:bldP spid="38" grpId="0" animBg="1"/>
      <p:bldP spid="40" grpId="0"/>
      <p:bldP spid="41" grpId="0"/>
      <p:bldP spid="42" grpId="0"/>
      <p:bldP spid="43" grpId="0"/>
      <p:bldP spid="44" grpId="0"/>
      <p:bldP spid="53" grpId="0"/>
      <p:bldP spid="55" grpId="0" animBg="1"/>
      <p:bldP spid="57" grpId="0"/>
      <p:bldP spid="63" grpId="0"/>
      <p:bldP spid="64" grpId="0"/>
      <p:bldP spid="65" grpId="0"/>
      <p:bldP spid="69" grpId="0"/>
      <p:bldP spid="70" grpId="0" animBg="1"/>
      <p:bldP spid="71" grpId="0"/>
      <p:bldP spid="72" grpId="0"/>
      <p:bldP spid="73" grpId="0"/>
      <p:bldP spid="75" grpId="0"/>
      <p:bldP spid="76" grpId="0"/>
      <p:bldP spid="77" grpId="0"/>
      <p:bldP spid="78" grpId="0"/>
      <p:bldP spid="82" grpId="0" animBg="1"/>
      <p:bldP spid="83" grpId="0"/>
      <p:bldP spid="84" grpId="0"/>
      <p:bldP spid="85" grpId="0"/>
      <p:bldP spid="86" grpId="0"/>
      <p:bldP spid="87" grpId="0"/>
      <p:bldP spid="88" grpId="0"/>
      <p:bldP spid="90" grpId="0"/>
      <p:bldP spid="92" grpId="0"/>
      <p:bldP spid="93" grpId="0"/>
      <p:bldP spid="94" grpId="0"/>
      <p:bldP spid="95" grpId="0"/>
      <p:bldP spid="9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14</a:t>
            </a:fld>
            <a:endParaRPr kumimoji="0" lang="ru-RU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0" y="-22136"/>
                <a:ext cx="9144000" cy="89373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dirty="0" smtClean="0">
                    <a:solidFill>
                      <a:srgbClr val="7030A0"/>
                    </a:solidFill>
                  </a:rPr>
                  <a:t>9.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Основание шестиугольной пирамиды  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𝑺𝑨𝑩𝑪𝑫𝑬𝑭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−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правильный шестиугольник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𝑨𝑩𝑪𝑫𝑬𝑭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. Высота пирамиды втрое больше стороны основания и проходит через точку 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𝑬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.</a:t>
                </a:r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а) Докажите, что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угол между боковой гранью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</m:t>
                    </m:r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𝑩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и плоскостью основания равен </a:t>
                </a:r>
                <a14:m>
                  <m:oMath xmlns:m="http://schemas.openxmlformats.org/officeDocument/2006/math"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𝟔𝟎</m:t>
                    </m:r>
                    <m:r>
                      <a:rPr lang="it-IT" sz="1200" b="1" i="1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°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.</a:t>
                </a: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 б) Найдите расстояние от точки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𝑪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до плоскости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𝑨𝑺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𝑩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,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если сторона основания пирамиды равна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𝟒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6"/>
                <a:ext cx="9144000" cy="89373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Прямая соединительная линия 5"/>
          <p:cNvCxnSpPr/>
          <p:nvPr/>
        </p:nvCxnSpPr>
        <p:spPr>
          <a:xfrm flipV="1">
            <a:off x="7093078" y="4370003"/>
            <a:ext cx="1224136" cy="36004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flipV="1">
            <a:off x="8317214" y="3577915"/>
            <a:ext cx="376128" cy="792088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5778504" y="4442011"/>
            <a:ext cx="1314574" cy="288032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 flipV="1">
            <a:off x="6147702" y="3300043"/>
            <a:ext cx="1224136" cy="36004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 flipV="1">
            <a:off x="5778504" y="3651592"/>
            <a:ext cx="376128" cy="792088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7381998" y="3289883"/>
            <a:ext cx="1296144" cy="288032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 flipH="1" flipV="1">
            <a:off x="5775274" y="1057635"/>
            <a:ext cx="3230" cy="3378558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 flipH="1" flipV="1">
            <a:off x="5778504" y="1057635"/>
            <a:ext cx="1311344" cy="3672409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 flipH="1" flipV="1">
            <a:off x="5778505" y="1057635"/>
            <a:ext cx="2538709" cy="3304881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 flipH="1" flipV="1">
            <a:off x="5772044" y="1057634"/>
            <a:ext cx="2916258" cy="2520282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/>
          <p:nvPr/>
        </p:nvCxnSpPr>
        <p:spPr>
          <a:xfrm flipH="1" flipV="1">
            <a:off x="5767004" y="1070216"/>
            <a:ext cx="1614994" cy="2229827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/>
          <p:nvPr/>
        </p:nvCxnSpPr>
        <p:spPr>
          <a:xfrm flipH="1" flipV="1">
            <a:off x="5783544" y="1065136"/>
            <a:ext cx="371088" cy="2578969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8207089" y="4353260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7089" y="4353260"/>
                <a:ext cx="340286" cy="3077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8653507" y="3420283"/>
                <a:ext cx="3829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3507" y="3420283"/>
                <a:ext cx="382989" cy="3077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6979331" y="3104688"/>
                <a:ext cx="3481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9331" y="3104688"/>
                <a:ext cx="348172" cy="3077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5492016" y="895222"/>
                <a:ext cx="32284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𝑆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2016" y="895222"/>
                <a:ext cx="322845" cy="3077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5464850" y="4371039"/>
                <a:ext cx="3481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𝐸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4850" y="4371039"/>
                <a:ext cx="348172" cy="30777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5845804" y="3479509"/>
                <a:ext cx="3550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𝐷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5804" y="3479509"/>
                <a:ext cx="355034" cy="30777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6829662" y="4712245"/>
                <a:ext cx="3407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𝐹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9662" y="4712245"/>
                <a:ext cx="340734" cy="30777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Полилиния 42"/>
          <p:cNvSpPr/>
          <p:nvPr/>
        </p:nvSpPr>
        <p:spPr>
          <a:xfrm>
            <a:off x="5810750" y="1086061"/>
            <a:ext cx="2885440" cy="3281680"/>
          </a:xfrm>
          <a:custGeom>
            <a:avLst/>
            <a:gdLst>
              <a:gd name="connsiteX0" fmla="*/ 2519680 w 2885440"/>
              <a:gd name="connsiteY0" fmla="*/ 3281680 h 3281680"/>
              <a:gd name="connsiteX1" fmla="*/ 0 w 2885440"/>
              <a:gd name="connsiteY1" fmla="*/ 0 h 3281680"/>
              <a:gd name="connsiteX2" fmla="*/ 2885440 w 2885440"/>
              <a:gd name="connsiteY2" fmla="*/ 2509520 h 3281680"/>
              <a:gd name="connsiteX3" fmla="*/ 2519680 w 2885440"/>
              <a:gd name="connsiteY3" fmla="*/ 3281680 h 328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85440" h="3281680">
                <a:moveTo>
                  <a:pt x="2519680" y="3281680"/>
                </a:moveTo>
                <a:lnTo>
                  <a:pt x="0" y="0"/>
                </a:lnTo>
                <a:lnTo>
                  <a:pt x="2885440" y="2509520"/>
                </a:lnTo>
                <a:lnTo>
                  <a:pt x="2519680" y="3281680"/>
                </a:lnTo>
                <a:close/>
              </a:path>
            </a:pathLst>
          </a:custGeom>
          <a:solidFill>
            <a:schemeClr val="accent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346597" y="953900"/>
                <a:ext cx="9586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/>
                  <a:t>а)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𝐸𝐴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𝐴𝐵</m:t>
                    </m:r>
                    <m:r>
                      <a:rPr lang="en-US" sz="1200" b="0" i="0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97" y="953900"/>
                <a:ext cx="958660" cy="276999"/>
              </a:xfrm>
              <a:prstGeom prst="rect">
                <a:avLst/>
              </a:prstGeom>
              <a:blipFill rotWithShape="0">
                <a:blip r:embed="rId10"/>
                <a:stretch>
                  <a:fillRect l="-637"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Прямая соединительная линия 44"/>
          <p:cNvCxnSpPr>
            <a:endCxn id="43" idx="0"/>
          </p:cNvCxnSpPr>
          <p:nvPr/>
        </p:nvCxnSpPr>
        <p:spPr>
          <a:xfrm flipV="1">
            <a:off x="5806628" y="4367741"/>
            <a:ext cx="2523802" cy="68452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Полилиния 49"/>
          <p:cNvSpPr/>
          <p:nvPr/>
        </p:nvSpPr>
        <p:spPr>
          <a:xfrm>
            <a:off x="8096750" y="4174701"/>
            <a:ext cx="304800" cy="193040"/>
          </a:xfrm>
          <a:custGeom>
            <a:avLst/>
            <a:gdLst>
              <a:gd name="connsiteX0" fmla="*/ 0 w 304800"/>
              <a:gd name="connsiteY0" fmla="*/ 193040 h 193040"/>
              <a:gd name="connsiteX1" fmla="*/ 111760 w 304800"/>
              <a:gd name="connsiteY1" fmla="*/ 0 h 193040"/>
              <a:gd name="connsiteX2" fmla="*/ 304800 w 304800"/>
              <a:gd name="connsiteY2" fmla="*/ 0 h 193040"/>
              <a:gd name="connsiteX3" fmla="*/ 223520 w 304800"/>
              <a:gd name="connsiteY3" fmla="*/ 172720 h 193040"/>
              <a:gd name="connsiteX4" fmla="*/ 0 w 304800"/>
              <a:gd name="connsiteY4" fmla="*/ 193040 h 19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800" h="193040">
                <a:moveTo>
                  <a:pt x="0" y="193040"/>
                </a:moveTo>
                <a:lnTo>
                  <a:pt x="111760" y="0"/>
                </a:lnTo>
                <a:lnTo>
                  <a:pt x="304800" y="0"/>
                </a:lnTo>
                <a:lnTo>
                  <a:pt x="223520" y="172720"/>
                </a:lnTo>
                <a:lnTo>
                  <a:pt x="0" y="193040"/>
                </a:lnTo>
                <a:close/>
              </a:path>
            </a:pathLst>
          </a:custGeom>
          <a:solidFill>
            <a:schemeClr val="bg1">
              <a:lumMod val="85000"/>
              <a:alpha val="34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/>
          <p:cNvSpPr txBox="1"/>
          <p:nvPr/>
        </p:nvSpPr>
        <p:spPr>
          <a:xfrm>
            <a:off x="347502" y="1203629"/>
            <a:ext cx="26132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П</a:t>
            </a:r>
            <a:r>
              <a:rPr lang="ru-RU" sz="1200" dirty="0" smtClean="0"/>
              <a:t>о теореме о трех перпендикулярах </a:t>
            </a:r>
            <a:endParaRPr lang="ru-RU" sz="1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2803311" y="1203629"/>
                <a:ext cx="81919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i="1" dirty="0" smtClean="0">
                          <a:latin typeface="Cambria Math" charset="0"/>
                        </a:rPr>
                        <m:t>S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𝐴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⊥</m:t>
                      </m:r>
                      <m:r>
                        <a:rPr lang="en-US" sz="1200" i="1" dirty="0">
                          <a:latin typeface="Cambria Math" charset="0"/>
                        </a:rPr>
                        <m:t>𝐴𝐵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.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3311" y="1203629"/>
                <a:ext cx="819199" cy="276999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Полилиния 53"/>
          <p:cNvSpPr/>
          <p:nvPr/>
        </p:nvSpPr>
        <p:spPr>
          <a:xfrm>
            <a:off x="8238990" y="4103581"/>
            <a:ext cx="152400" cy="264160"/>
          </a:xfrm>
          <a:custGeom>
            <a:avLst/>
            <a:gdLst>
              <a:gd name="connsiteX0" fmla="*/ 0 w 152400"/>
              <a:gd name="connsiteY0" fmla="*/ 132080 h 264160"/>
              <a:gd name="connsiteX1" fmla="*/ 81280 w 152400"/>
              <a:gd name="connsiteY1" fmla="*/ 0 h 264160"/>
              <a:gd name="connsiteX2" fmla="*/ 152400 w 152400"/>
              <a:gd name="connsiteY2" fmla="*/ 121920 h 264160"/>
              <a:gd name="connsiteX3" fmla="*/ 81280 w 152400"/>
              <a:gd name="connsiteY3" fmla="*/ 264160 h 264160"/>
              <a:gd name="connsiteX4" fmla="*/ 0 w 152400"/>
              <a:gd name="connsiteY4" fmla="*/ 132080 h 264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" h="264160">
                <a:moveTo>
                  <a:pt x="0" y="132080"/>
                </a:moveTo>
                <a:lnTo>
                  <a:pt x="81280" y="0"/>
                </a:lnTo>
                <a:lnTo>
                  <a:pt x="152400" y="121920"/>
                </a:lnTo>
                <a:lnTo>
                  <a:pt x="81280" y="264160"/>
                </a:lnTo>
                <a:lnTo>
                  <a:pt x="0" y="132080"/>
                </a:lnTo>
                <a:close/>
              </a:path>
            </a:pathLst>
          </a:custGeom>
          <a:solidFill>
            <a:schemeClr val="bg1">
              <a:lumMod val="85000"/>
              <a:alpha val="44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239093" y="1432924"/>
                <a:ext cx="49809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⟹∠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𝑆𝐴𝐸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 −</m:t>
                      </m:r>
                      <m:r>
                        <m:rPr>
                          <m:nor/>
                        </m:rPr>
                        <a:rPr lang="ru-RU" sz="1200" dirty="0">
                          <a:solidFill>
                            <a:schemeClr val="tx1"/>
                          </a:solidFill>
                        </a:rPr>
                        <m:t>угол между боковой гранью </m:t>
                      </m:r>
                      <m:r>
                        <a:rPr lang="en-US" sz="1200" b="0" i="1" dirty="0">
                          <a:solidFill>
                            <a:schemeClr val="tx1"/>
                          </a:solidFill>
                          <a:latin typeface="Cambria Math" charset="0"/>
                        </a:rPr>
                        <m:t>𝐴𝑆𝐵</m:t>
                      </m:r>
                      <m:r>
                        <m:rPr>
                          <m:nor/>
                        </m:rPr>
                        <a:rPr lang="en-US" sz="1200" dirty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ru-RU" sz="1200" dirty="0">
                          <a:solidFill>
                            <a:schemeClr val="tx1"/>
                          </a:solidFill>
                        </a:rPr>
                        <m:t>и плоскостью основания</m:t>
                      </m:r>
                      <m:r>
                        <m:rPr>
                          <m:nor/>
                        </m:rPr>
                        <a:rPr lang="en-US" sz="1200" b="0" i="0" dirty="0" smtClean="0">
                          <a:solidFill>
                            <a:schemeClr val="tx1"/>
                          </a:solidFill>
                        </a:rPr>
                        <m:t>.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093" y="1432924"/>
                <a:ext cx="4980979" cy="276999"/>
              </a:xfrm>
              <a:prstGeom prst="rect">
                <a:avLst/>
              </a:prstGeom>
              <a:blipFill rotWithShape="0">
                <a:blip r:embed="rId12"/>
                <a:stretch>
                  <a:fillRect t="-80000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326277" y="1684799"/>
                <a:ext cx="244496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>
                    <a:solidFill>
                      <a:schemeClr val="tx1"/>
                    </a:solidFill>
                  </a:rPr>
                  <a:t>Пусть сторона основания равна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. 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7" y="1684799"/>
                <a:ext cx="2444965" cy="276999"/>
              </a:xfrm>
              <a:prstGeom prst="rect">
                <a:avLst/>
              </a:prstGeom>
              <a:blipFill rotWithShape="0">
                <a:blip r:embed="rId13"/>
                <a:stretch>
                  <a:fillRect l="-249"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313061" y="1939218"/>
                <a:ext cx="81862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𝑆𝐸</m:t>
                      </m:r>
                      <m:r>
                        <a:rPr lang="en-US" sz="120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=3</m:t>
                      </m:r>
                      <m:r>
                        <a:rPr lang="en-US" sz="120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𝑎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061" y="1939218"/>
                <a:ext cx="818621" cy="276999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5311006" y="2721821"/>
                <a:ext cx="42787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3</m:t>
                      </m:r>
                      <m:r>
                        <a:rPr lang="en-US" sz="1400" b="0" i="1" smtClean="0">
                          <a:latin typeface="Cambria Math" charset="0"/>
                        </a:rPr>
                        <m:t>𝑎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1006" y="2721821"/>
                <a:ext cx="427874" cy="307777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1020310" y="1911354"/>
                <a:ext cx="931152" cy="2987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𝐸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𝐴</m:t>
                      </m:r>
                      <m:r>
                        <a:rPr lang="en-US" sz="120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𝑎</m:t>
                      </m:r>
                      <m:rad>
                        <m:radPr>
                          <m:degHide m:val="on"/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3</m:t>
                          </m:r>
                        </m:e>
                      </m:rad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10" y="1911354"/>
                <a:ext cx="931152" cy="298736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6354844" y="4073357"/>
                <a:ext cx="545790" cy="3331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𝑎</m:t>
                      </m:r>
                      <m:rad>
                        <m:radPr>
                          <m:degHide m:val="on"/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4844" y="4073357"/>
                <a:ext cx="545790" cy="333168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Сектор 60"/>
          <p:cNvSpPr/>
          <p:nvPr/>
        </p:nvSpPr>
        <p:spPr>
          <a:xfrm>
            <a:off x="7863137" y="3911672"/>
            <a:ext cx="914400" cy="914400"/>
          </a:xfrm>
          <a:prstGeom prst="pie">
            <a:avLst>
              <a:gd name="adj1" fmla="val 10721964"/>
              <a:gd name="adj2" fmla="val 13949751"/>
            </a:avLst>
          </a:prstGeom>
          <a:solidFill>
            <a:srgbClr val="FFC000">
              <a:alpha val="36000"/>
            </a:srgbClr>
          </a:solidFill>
          <a:ln w="63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1873134" y="1820302"/>
                <a:ext cx="1284903" cy="4380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𝑡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𝑔</m:t>
                      </m:r>
                      <m:d>
                        <m:d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∠</m:t>
                          </m:r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𝑆𝐴𝐸</m:t>
                          </m:r>
                        </m:e>
                      </m:d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i="1" dirty="0">
                              <a:latin typeface="Cambria Math" charset="0"/>
                            </a:rPr>
                            <m:t>𝑆𝐸</m:t>
                          </m:r>
                        </m:num>
                        <m:den>
                          <m:r>
                            <a:rPr lang="en-US" sz="1200" i="1" dirty="0">
                              <a:latin typeface="Cambria Math" charset="0"/>
                            </a:rPr>
                            <m:t>𝐸𝐴</m:t>
                          </m:r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3134" y="1820302"/>
                <a:ext cx="1284903" cy="438005"/>
              </a:xfrm>
              <a:prstGeom prst="rect">
                <a:avLst/>
              </a:prstGeom>
              <a:blipFill rotWithShape="0">
                <a:blip r:embed="rId18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2972773" y="1820283"/>
                <a:ext cx="652871" cy="4737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</a:rPr>
                            <m:t>3</m:t>
                          </m:r>
                          <m:r>
                            <a:rPr lang="en-US" sz="1200" b="0" i="1" dirty="0" smtClean="0">
                              <a:latin typeface="Cambria Math" charset="0"/>
                            </a:rPr>
                            <m:t>𝑎</m:t>
                          </m:r>
                        </m:num>
                        <m:den>
                          <m:r>
                            <a:rPr lang="en-US" sz="1200" i="1" dirty="0">
                              <a:latin typeface="Cambria Math" charset="0"/>
                            </a:rPr>
                            <m:t>𝑎</m:t>
                          </m:r>
                          <m:rad>
                            <m:radPr>
                              <m:degHide m:val="on"/>
                              <m:ctrlPr>
                                <a:rPr lang="en-US" sz="1200" i="1" dirty="0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i="1" dirty="0">
                                  <a:latin typeface="Cambria Math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2773" y="1820283"/>
                <a:ext cx="652871" cy="473784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3461531" y="1893821"/>
                <a:ext cx="621659" cy="298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200" i="1" dirty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i="1" dirty="0">
                              <a:latin typeface="Cambria Math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1531" y="1893821"/>
                <a:ext cx="621659" cy="298736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285468" y="2217179"/>
                <a:ext cx="125515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⟹∠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𝑆𝐴𝐸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=60°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68" y="2217179"/>
                <a:ext cx="1255152" cy="276999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346597" y="2498532"/>
                <a:ext cx="23187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/>
                  <a:t>б) Рассмотрим пирамиду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charset="0"/>
                      </a:rPr>
                      <m:t>𝑆𝐴𝐵𝐶</m:t>
                    </m:r>
                    <m:r>
                      <a:rPr lang="en-US" sz="1200" b="0" i="1" smtClean="0">
                        <a:latin typeface="Cambria Math" charset="0"/>
                      </a:rPr>
                      <m:t>. 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97" y="2498532"/>
                <a:ext cx="2318712" cy="276999"/>
              </a:xfrm>
              <a:prstGeom prst="rect">
                <a:avLst/>
              </a:prstGeom>
              <a:blipFill rotWithShape="0">
                <a:blip r:embed="rId22"/>
                <a:stretch>
                  <a:fillRect l="-263" t="-80000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Прямая соединительная линия 67"/>
          <p:cNvCxnSpPr/>
          <p:nvPr/>
        </p:nvCxnSpPr>
        <p:spPr>
          <a:xfrm>
            <a:off x="7379707" y="3279722"/>
            <a:ext cx="950790" cy="109090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Полилиния 70"/>
          <p:cNvSpPr/>
          <p:nvPr/>
        </p:nvSpPr>
        <p:spPr>
          <a:xfrm>
            <a:off x="5800590" y="1075901"/>
            <a:ext cx="2885440" cy="3291840"/>
          </a:xfrm>
          <a:custGeom>
            <a:avLst/>
            <a:gdLst>
              <a:gd name="connsiteX0" fmla="*/ 2529840 w 2885440"/>
              <a:gd name="connsiteY0" fmla="*/ 3291840 h 3291840"/>
              <a:gd name="connsiteX1" fmla="*/ 1574800 w 2885440"/>
              <a:gd name="connsiteY1" fmla="*/ 2214880 h 3291840"/>
              <a:gd name="connsiteX2" fmla="*/ 0 w 2885440"/>
              <a:gd name="connsiteY2" fmla="*/ 0 h 3291840"/>
              <a:gd name="connsiteX3" fmla="*/ 2885440 w 2885440"/>
              <a:gd name="connsiteY3" fmla="*/ 2509520 h 3291840"/>
              <a:gd name="connsiteX4" fmla="*/ 2529840 w 2885440"/>
              <a:gd name="connsiteY4" fmla="*/ 3291840 h 3291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5440" h="3291840">
                <a:moveTo>
                  <a:pt x="2529840" y="3291840"/>
                </a:moveTo>
                <a:lnTo>
                  <a:pt x="1574800" y="2214880"/>
                </a:lnTo>
                <a:lnTo>
                  <a:pt x="0" y="0"/>
                </a:lnTo>
                <a:lnTo>
                  <a:pt x="2885440" y="2509520"/>
                </a:lnTo>
                <a:lnTo>
                  <a:pt x="2529840" y="329184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355269" y="2805554"/>
                <a:ext cx="4482702" cy="3540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charset="0"/>
                          </a:rPr>
                          <m:t>𝑉</m:t>
                        </m:r>
                      </m:e>
                      <m:sub>
                        <m:r>
                          <a:rPr lang="en-US" sz="1200" b="0" i="1" smtClean="0">
                            <a:latin typeface="Cambria Math" charset="0"/>
                          </a:rPr>
                          <m:t>𝑆𝐴𝐵𝐶</m:t>
                        </m:r>
                      </m:sub>
                    </m:sSub>
                    <m:r>
                      <a:rPr lang="en-US" sz="1200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sz="1200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1200" b="0" i="1" smtClean="0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sz="1200" b="0" i="1" smtClean="0">
                            <a:latin typeface="Cambria Math" charset="0"/>
                          </a:rPr>
                          <m:t>3</m:t>
                        </m:r>
                      </m:den>
                    </m:f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∙</m:t>
                    </m:r>
                    <m:sSub>
                      <m:sSubPr>
                        <m:ctrlPr>
                          <a:rPr lang="en-US" sz="1200" b="0" i="1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∆</m:t>
                        </m:r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𝐴𝑆𝐵</m:t>
                        </m:r>
                      </m:sub>
                    </m:sSub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∙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𝐶𝐻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(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𝐶𝐻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−</m:t>
                    </m:r>
                  </m:oMath>
                </a14:m>
                <a:r>
                  <a:rPr lang="ru-RU" sz="1200" b="0" i="0" dirty="0" smtClean="0">
                    <a:latin typeface="+mj-lt"/>
                    <a:ea typeface="Cambria Math" charset="0"/>
                    <a:cs typeface="Cambria Math" charset="0"/>
                  </a:rPr>
                  <a:t>высота проведенная из вершины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𝐶</m:t>
                    </m:r>
                    <m:r>
                      <a:rPr lang="en-US" sz="1200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269" y="2805554"/>
                <a:ext cx="4482702" cy="354008"/>
              </a:xfrm>
              <a:prstGeom prst="rect">
                <a:avLst/>
              </a:prstGeom>
              <a:blipFill rotWithShape="0">
                <a:blip r:embed="rId23"/>
                <a:stretch>
                  <a:fillRect t="-50000" b="-689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341986" y="3088169"/>
                <a:ext cx="164801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</a:rPr>
                            <m:t>𝑆𝐴𝐵𝐶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</a:rPr>
                            <m:t>3</m:t>
                          </m:r>
                        </m:den>
                      </m:f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∆</m:t>
                          </m:r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𝐴𝐵𝐶</m:t>
                          </m:r>
                        </m:sub>
                      </m:sSub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𝑆𝐸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86" y="3088169"/>
                <a:ext cx="1648015" cy="439223"/>
              </a:xfrm>
              <a:prstGeom prst="rect">
                <a:avLst/>
              </a:prstGeom>
              <a:blipFill rotWithShape="0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324786" y="3425552"/>
                <a:ext cx="220611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i="1">
                              <a:latin typeface="Cambria Math" charset="0"/>
                            </a:rPr>
                            <m:t>3</m:t>
                          </m:r>
                        </m:den>
                      </m:f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sSub>
                        <m:sSubPr>
                          <m:ctrlPr>
                            <a:rPr lang="en-US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∆</m:t>
                          </m:r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𝐴𝑆𝐵</m:t>
                          </m:r>
                        </m:sub>
                      </m:sSub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𝐶𝐻</m:t>
                      </m:r>
                      <m:r>
                        <a:rPr lang="en-US" sz="1200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</a:rPr>
                            <m:t>3</m:t>
                          </m:r>
                        </m:den>
                      </m:f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∆</m:t>
                          </m:r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𝐴𝐵𝐶</m:t>
                          </m:r>
                        </m:sub>
                      </m:sSub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𝑆𝐸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786" y="3425552"/>
                <a:ext cx="2206117" cy="439223"/>
              </a:xfrm>
              <a:prstGeom prst="rect">
                <a:avLst/>
              </a:prstGeom>
              <a:blipFill rotWithShape="0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2380807" y="3425640"/>
                <a:ext cx="1296252" cy="4706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𝐶𝐻</m:t>
                      </m:r>
                      <m:r>
                        <a:rPr lang="en-US" sz="1200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∆</m:t>
                              </m:r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𝐴𝐵𝐶</m:t>
                              </m:r>
                            </m:sub>
                          </m:sSub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𝑆𝐸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∆</m:t>
                              </m:r>
                              <m:r>
                                <a:rPr lang="en-US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𝐴𝑆𝐵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0807" y="3425640"/>
                <a:ext cx="1296252" cy="470642"/>
              </a:xfrm>
              <a:prstGeom prst="rect">
                <a:avLst/>
              </a:prstGeom>
              <a:blipFill rotWithShape="0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311503" y="3806915"/>
                <a:ext cx="1772537" cy="4795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∆</m:t>
                          </m:r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𝐴𝐵𝐶</m:t>
                          </m:r>
                        </m:sub>
                      </m:sSub>
                      <m:r>
                        <a:rPr lang="ru-RU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ru-RU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rad>
                            <m:radPr>
                              <m:degHide m:val="on"/>
                              <m:ctrlPr>
                                <a:rPr lang="en-US" sz="120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4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=4</m:t>
                      </m:r>
                      <m:rad>
                        <m:radPr>
                          <m:degHide m:val="on"/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e>
                      </m:rad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503" y="3806915"/>
                <a:ext cx="1772537" cy="479555"/>
              </a:xfrm>
              <a:prstGeom prst="rect">
                <a:avLst/>
              </a:prstGeom>
              <a:blipFill rotWithShape="0">
                <a:blip r:embed="rId27"/>
                <a:stretch>
                  <a:fillRect b="-12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1990001" y="3935190"/>
                <a:ext cx="8148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𝑆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𝐸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=12;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001" y="3935190"/>
                <a:ext cx="814838" cy="276999"/>
              </a:xfrm>
              <a:prstGeom prst="rect">
                <a:avLst/>
              </a:prstGeom>
              <a:blipFill rotWithShape="0"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2686084" y="3915864"/>
                <a:ext cx="1111073" cy="2987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𝑆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=2∙4</m:t>
                      </m:r>
                      <m:rad>
                        <m:radPr>
                          <m:degHide m:val="on"/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084" y="3915864"/>
                <a:ext cx="1111073" cy="298736"/>
              </a:xfrm>
              <a:prstGeom prst="rect">
                <a:avLst/>
              </a:prstGeom>
              <a:blipFill rotWithShape="0"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3632467" y="3905704"/>
                <a:ext cx="689163" cy="2987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=8</m:t>
                      </m:r>
                      <m:rad>
                        <m:radPr>
                          <m:degHide m:val="on"/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e>
                      </m:rad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2467" y="3905704"/>
                <a:ext cx="689163" cy="298736"/>
              </a:xfrm>
              <a:prstGeom prst="rect">
                <a:avLst/>
              </a:prstGeom>
              <a:blipFill rotWithShape="0"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311503" y="4295793"/>
                <a:ext cx="1282915" cy="4380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∆</m:t>
                          </m:r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𝐴𝑆𝐵</m:t>
                          </m:r>
                        </m:sub>
                      </m:sSub>
                      <m:r>
                        <a:rPr lang="ru-RU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𝐴𝑆</m:t>
                          </m:r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𝐴𝐵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503" y="4295793"/>
                <a:ext cx="1282915" cy="438005"/>
              </a:xfrm>
              <a:prstGeom prst="rect">
                <a:avLst/>
              </a:prstGeom>
              <a:blipFill rotWithShape="0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1416125" y="4260131"/>
                <a:ext cx="845681" cy="4795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8</m:t>
                          </m:r>
                          <m:rad>
                            <m:radPr>
                              <m:degHide m:val="on"/>
                              <m:ctrlPr>
                                <a:rPr lang="en-US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e>
                          </m:rad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∙4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125" y="4260131"/>
                <a:ext cx="845681" cy="479555"/>
              </a:xfrm>
              <a:prstGeom prst="rect">
                <a:avLst/>
              </a:prstGeom>
              <a:blipFill rotWithShape="0"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2127253" y="4381139"/>
                <a:ext cx="774123" cy="2987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=16</m:t>
                      </m:r>
                      <m:rad>
                        <m:radPr>
                          <m:degHide m:val="on"/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e>
                      </m:rad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7253" y="4381139"/>
                <a:ext cx="774123" cy="298736"/>
              </a:xfrm>
              <a:prstGeom prst="rect">
                <a:avLst/>
              </a:prstGeom>
              <a:blipFill rotWithShape="0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2787329" y="4263415"/>
                <a:ext cx="1181477" cy="5121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𝐶𝐻</m:t>
                      </m:r>
                      <m:r>
                        <a:rPr lang="en-US" sz="1200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4</m:t>
                          </m:r>
                          <m:rad>
                            <m:radPr>
                              <m:degHide m:val="on"/>
                              <m:ctrlPr>
                                <a:rPr lang="en-US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e>
                          </m:rad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12</m:t>
                          </m:r>
                        </m:num>
                        <m:den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16</m:t>
                          </m:r>
                          <m:rad>
                            <m:radPr>
                              <m:degHide m:val="on"/>
                              <m:ctrlPr>
                                <a:rPr lang="en-US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329" y="4263415"/>
                <a:ext cx="1181477" cy="512191"/>
              </a:xfrm>
              <a:prstGeom prst="rect">
                <a:avLst/>
              </a:prstGeom>
              <a:blipFill rotWithShape="0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3826601" y="4412582"/>
                <a:ext cx="46307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3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6601" y="4412582"/>
                <a:ext cx="463075" cy="276999"/>
              </a:xfrm>
              <a:prstGeom prst="rect">
                <a:avLst/>
              </a:prstGeom>
              <a:blipFill rotWithShape="0"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4598878" y="4588248"/>
                <a:ext cx="10033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b="1" dirty="0" smtClean="0">
                    <a:solidFill>
                      <a:srgbClr val="FF0000"/>
                    </a:solidFill>
                  </a:rPr>
                  <a:t>Ответ: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𝟑</m:t>
                    </m:r>
                  </m:oMath>
                </a14:m>
                <a:endParaRPr lang="ru-RU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8878" y="4588248"/>
                <a:ext cx="1003352" cy="369332"/>
              </a:xfrm>
              <a:prstGeom prst="rect">
                <a:avLst/>
              </a:prstGeom>
              <a:blipFill rotWithShape="0">
                <a:blip r:embed="rId36"/>
                <a:stretch>
                  <a:fillRect l="-4848" t="-10000" b="-2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Овал 85"/>
          <p:cNvSpPr/>
          <p:nvPr/>
        </p:nvSpPr>
        <p:spPr>
          <a:xfrm flipH="1" flipV="1">
            <a:off x="7365073" y="327151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207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 animBg="1"/>
      <p:bldP spid="44" grpId="0"/>
      <p:bldP spid="50" grpId="0" animBg="1"/>
      <p:bldP spid="52" grpId="0"/>
      <p:bldP spid="53" grpId="0"/>
      <p:bldP spid="54" grpId="0" animBg="1"/>
      <p:bldP spid="55" grpId="0"/>
      <p:bldP spid="56" grpId="0"/>
      <p:bldP spid="57" grpId="0"/>
      <p:bldP spid="58" grpId="0"/>
      <p:bldP spid="59" grpId="0"/>
      <p:bldP spid="60" grpId="0"/>
      <p:bldP spid="61" grpId="0" animBg="1"/>
      <p:bldP spid="61" grpId="1" animBg="1"/>
      <p:bldP spid="62" grpId="0"/>
      <p:bldP spid="63" grpId="0"/>
      <p:bldP spid="64" grpId="0"/>
      <p:bldP spid="65" grpId="0"/>
      <p:bldP spid="66" grpId="0"/>
      <p:bldP spid="71" grpId="0" animBg="1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15</a:t>
            </a:fld>
            <a:endParaRPr kumimoji="0" lang="ru-RU">
              <a:solidFill>
                <a:schemeClr val="tx2"/>
              </a:solidFill>
            </a:endParaRPr>
          </a:p>
        </p:txBody>
      </p:sp>
      <p:sp>
        <p:nvSpPr>
          <p:cNvPr id="3" name="Номер слайда 1"/>
          <p:cNvSpPr txBox="1">
            <a:spLocks/>
          </p:cNvSpPr>
          <p:nvPr/>
        </p:nvSpPr>
        <p:spPr>
          <a:xfrm>
            <a:off x="0" y="4686300"/>
            <a:ext cx="533400" cy="285750"/>
          </a:xfrm>
          <a:prstGeom prst="rect">
            <a:avLst/>
          </a:prstGeom>
        </p:spPr>
        <p:txBody>
          <a:bodyPr vert="horz" anchor="ctr" anchorCtr="0">
            <a:normAutofit lnSpcReduction="10000"/>
          </a:bodyPr>
          <a:lstStyle>
            <a:lvl1pPr marL="0" algn="ctr" rtl="0" eaLnBrk="1" latinLnBrk="0" hangingPunct="1">
              <a:defRPr kumimoji="0" lang="ru-RU"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fld id="{A3F7CB7D-F184-43C7-B6FD-03D728E1BBFF}" type="slidenum">
              <a:rPr lang="ru-RU" smtClean="0"/>
              <a:pPr/>
              <a:t>15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0" y="-22136"/>
                <a:ext cx="9144000" cy="89373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dirty="0" smtClean="0">
                    <a:solidFill>
                      <a:srgbClr val="7030A0"/>
                    </a:solidFill>
                  </a:rPr>
                  <a:t>9.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Основание шестиугольной пирамиды  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𝑺𝑨𝑩𝑪𝑫𝑬𝑭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−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правильный шестиугольник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𝑨𝑩𝑪𝑫𝑬𝑭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. Высота пирамиды втрое больше стороны основания и проходит через точку 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𝑬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.</a:t>
                </a:r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а) Докажите, что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угол между боковой гранью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</m:t>
                    </m:r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𝑩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и плоскостью основания равен </a:t>
                </a:r>
                <a14:m>
                  <m:oMath xmlns:m="http://schemas.openxmlformats.org/officeDocument/2006/math"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𝟔𝟎</m:t>
                    </m:r>
                    <m:r>
                      <a:rPr lang="it-IT" sz="1200" b="1" i="1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°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.</a:t>
                </a: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 б) Найдите расстояние от точки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𝑪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до плоскости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𝑨𝑺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𝑩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,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если сторона основания пирамиды равна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𝟒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6"/>
                <a:ext cx="9144000" cy="89373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Прямая соединительная линия 4"/>
          <p:cNvCxnSpPr/>
          <p:nvPr/>
        </p:nvCxnSpPr>
        <p:spPr>
          <a:xfrm flipV="1">
            <a:off x="7093078" y="4372838"/>
            <a:ext cx="1224136" cy="36004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 flipV="1">
            <a:off x="8317214" y="3568480"/>
            <a:ext cx="252903" cy="801524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>
            <a:off x="5885977" y="4448310"/>
            <a:ext cx="1207101" cy="281733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 flipV="1">
            <a:off x="6147702" y="3300043"/>
            <a:ext cx="1224136" cy="36004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 flipV="1">
            <a:off x="5893317" y="3651592"/>
            <a:ext cx="261315" cy="789681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7381998" y="3289883"/>
            <a:ext cx="1195705" cy="282923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 flipH="1" flipV="1">
            <a:off x="5848939" y="1113043"/>
            <a:ext cx="42882" cy="3335267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 flipH="1" flipV="1">
            <a:off x="5863995" y="1113042"/>
            <a:ext cx="1247444" cy="3628584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 flipH="1" flipV="1">
            <a:off x="5870380" y="1122247"/>
            <a:ext cx="2460051" cy="3250064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 flipH="1" flipV="1">
            <a:off x="5844023" y="1113042"/>
            <a:ext cx="2733681" cy="2455438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 flipH="1" flipV="1">
            <a:off x="5858042" y="1127537"/>
            <a:ext cx="1567137" cy="2250933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 flipH="1" flipV="1">
            <a:off x="5870586" y="1165984"/>
            <a:ext cx="267325" cy="2484848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8207089" y="4353260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7089" y="4353260"/>
                <a:ext cx="340286" cy="3077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8511360" y="3400683"/>
                <a:ext cx="3829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1360" y="3400683"/>
                <a:ext cx="382989" cy="3077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979331" y="3104688"/>
                <a:ext cx="3481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9331" y="3104688"/>
                <a:ext cx="348172" cy="3077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610187" y="903746"/>
                <a:ext cx="3299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𝑆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187" y="903746"/>
                <a:ext cx="329965" cy="3077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596254" y="4371464"/>
                <a:ext cx="3481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𝐸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254" y="4371464"/>
                <a:ext cx="348172" cy="30777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845804" y="3479509"/>
                <a:ext cx="3550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𝐷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5804" y="3479509"/>
                <a:ext cx="355034" cy="30777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6808964" y="4683980"/>
                <a:ext cx="3407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𝐹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8964" y="4683980"/>
                <a:ext cx="340734" cy="30777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346597" y="953900"/>
                <a:ext cx="9586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/>
                  <a:t>а)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𝐸𝐴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𝐴𝐵</m:t>
                    </m:r>
                    <m:r>
                      <a:rPr lang="en-US" sz="1200" b="0" i="0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97" y="953900"/>
                <a:ext cx="958660" cy="276999"/>
              </a:xfrm>
              <a:prstGeom prst="rect">
                <a:avLst/>
              </a:prstGeom>
              <a:blipFill rotWithShape="0">
                <a:blip r:embed="rId10"/>
                <a:stretch>
                  <a:fillRect l="-637"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Прямая соединительная линия 25"/>
          <p:cNvCxnSpPr/>
          <p:nvPr/>
        </p:nvCxnSpPr>
        <p:spPr>
          <a:xfrm flipV="1">
            <a:off x="5899738" y="4357581"/>
            <a:ext cx="2420532" cy="95405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Полилиния 26"/>
          <p:cNvSpPr/>
          <p:nvPr/>
        </p:nvSpPr>
        <p:spPr>
          <a:xfrm>
            <a:off x="8117070" y="4169850"/>
            <a:ext cx="266699" cy="197891"/>
          </a:xfrm>
          <a:custGeom>
            <a:avLst/>
            <a:gdLst>
              <a:gd name="connsiteX0" fmla="*/ 0 w 304800"/>
              <a:gd name="connsiteY0" fmla="*/ 193040 h 193040"/>
              <a:gd name="connsiteX1" fmla="*/ 111760 w 304800"/>
              <a:gd name="connsiteY1" fmla="*/ 0 h 193040"/>
              <a:gd name="connsiteX2" fmla="*/ 304800 w 304800"/>
              <a:gd name="connsiteY2" fmla="*/ 0 h 193040"/>
              <a:gd name="connsiteX3" fmla="*/ 223520 w 304800"/>
              <a:gd name="connsiteY3" fmla="*/ 172720 h 193040"/>
              <a:gd name="connsiteX4" fmla="*/ 0 w 304800"/>
              <a:gd name="connsiteY4" fmla="*/ 193040 h 19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800" h="193040">
                <a:moveTo>
                  <a:pt x="0" y="193040"/>
                </a:moveTo>
                <a:lnTo>
                  <a:pt x="111760" y="0"/>
                </a:lnTo>
                <a:lnTo>
                  <a:pt x="304800" y="0"/>
                </a:lnTo>
                <a:lnTo>
                  <a:pt x="223520" y="172720"/>
                </a:lnTo>
                <a:lnTo>
                  <a:pt x="0" y="193040"/>
                </a:lnTo>
                <a:close/>
              </a:path>
            </a:pathLst>
          </a:custGeom>
          <a:solidFill>
            <a:schemeClr val="bg1">
              <a:lumMod val="85000"/>
              <a:alpha val="34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/>
          <p:cNvSpPr txBox="1"/>
          <p:nvPr/>
        </p:nvSpPr>
        <p:spPr>
          <a:xfrm>
            <a:off x="347502" y="1203629"/>
            <a:ext cx="26132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П</a:t>
            </a:r>
            <a:r>
              <a:rPr lang="ru-RU" sz="1200" dirty="0" smtClean="0"/>
              <a:t>о теореме о трех перпендикулярах </a:t>
            </a:r>
            <a:endParaRPr lang="ru-RU" sz="1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2803311" y="1203629"/>
                <a:ext cx="81919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i="1" dirty="0" smtClean="0">
                          <a:latin typeface="Cambria Math" charset="0"/>
                        </a:rPr>
                        <m:t>S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𝐴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⊥</m:t>
                      </m:r>
                      <m:r>
                        <a:rPr lang="en-US" sz="1200" i="1" dirty="0">
                          <a:latin typeface="Cambria Math" charset="0"/>
                        </a:rPr>
                        <m:t>𝐴𝐵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.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3311" y="1203629"/>
                <a:ext cx="819199" cy="276999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Полилиния 29"/>
          <p:cNvSpPr/>
          <p:nvPr/>
        </p:nvSpPr>
        <p:spPr>
          <a:xfrm>
            <a:off x="8204587" y="4033596"/>
            <a:ext cx="169023" cy="299931"/>
          </a:xfrm>
          <a:custGeom>
            <a:avLst/>
            <a:gdLst>
              <a:gd name="connsiteX0" fmla="*/ 0 w 152400"/>
              <a:gd name="connsiteY0" fmla="*/ 132080 h 264160"/>
              <a:gd name="connsiteX1" fmla="*/ 81280 w 152400"/>
              <a:gd name="connsiteY1" fmla="*/ 0 h 264160"/>
              <a:gd name="connsiteX2" fmla="*/ 152400 w 152400"/>
              <a:gd name="connsiteY2" fmla="*/ 121920 h 264160"/>
              <a:gd name="connsiteX3" fmla="*/ 81280 w 152400"/>
              <a:gd name="connsiteY3" fmla="*/ 264160 h 264160"/>
              <a:gd name="connsiteX4" fmla="*/ 0 w 152400"/>
              <a:gd name="connsiteY4" fmla="*/ 132080 h 264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" h="264160">
                <a:moveTo>
                  <a:pt x="0" y="132080"/>
                </a:moveTo>
                <a:lnTo>
                  <a:pt x="81280" y="0"/>
                </a:lnTo>
                <a:lnTo>
                  <a:pt x="152400" y="121920"/>
                </a:lnTo>
                <a:lnTo>
                  <a:pt x="81280" y="264160"/>
                </a:lnTo>
                <a:lnTo>
                  <a:pt x="0" y="132080"/>
                </a:lnTo>
                <a:close/>
              </a:path>
            </a:pathLst>
          </a:custGeom>
          <a:solidFill>
            <a:schemeClr val="bg1">
              <a:lumMod val="85000"/>
              <a:alpha val="44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39093" y="1432924"/>
                <a:ext cx="49809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⟹∠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𝑆𝐴𝐸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 −</m:t>
                      </m:r>
                      <m:r>
                        <m:rPr>
                          <m:nor/>
                        </m:rPr>
                        <a:rPr lang="ru-RU" sz="1200" dirty="0">
                          <a:solidFill>
                            <a:schemeClr val="tx1"/>
                          </a:solidFill>
                        </a:rPr>
                        <m:t>угол между боковой гранью </m:t>
                      </m:r>
                      <m:r>
                        <a:rPr lang="en-US" sz="1200" b="0" i="1" dirty="0">
                          <a:solidFill>
                            <a:schemeClr val="tx1"/>
                          </a:solidFill>
                          <a:latin typeface="Cambria Math" charset="0"/>
                        </a:rPr>
                        <m:t>𝐴𝑆𝐵</m:t>
                      </m:r>
                      <m:r>
                        <m:rPr>
                          <m:nor/>
                        </m:rPr>
                        <a:rPr lang="en-US" sz="1200" dirty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ru-RU" sz="1200" dirty="0">
                          <a:solidFill>
                            <a:schemeClr val="tx1"/>
                          </a:solidFill>
                        </a:rPr>
                        <m:t>и плоскостью основания</m:t>
                      </m:r>
                      <m:r>
                        <m:rPr>
                          <m:nor/>
                        </m:rPr>
                        <a:rPr lang="en-US" sz="1200" b="0" i="0" dirty="0" smtClean="0">
                          <a:solidFill>
                            <a:schemeClr val="tx1"/>
                          </a:solidFill>
                        </a:rPr>
                        <m:t>.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093" y="1432924"/>
                <a:ext cx="4980979" cy="276999"/>
              </a:xfrm>
              <a:prstGeom prst="rect">
                <a:avLst/>
              </a:prstGeom>
              <a:blipFill rotWithShape="0">
                <a:blip r:embed="rId12"/>
                <a:stretch>
                  <a:fillRect t="-80000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326277" y="1684799"/>
                <a:ext cx="244496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>
                    <a:solidFill>
                      <a:schemeClr val="tx1"/>
                    </a:solidFill>
                  </a:rPr>
                  <a:t>Пусть сторона основания равна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𝑎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. 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77" y="1684799"/>
                <a:ext cx="2444965" cy="276999"/>
              </a:xfrm>
              <a:prstGeom prst="rect">
                <a:avLst/>
              </a:prstGeom>
              <a:blipFill rotWithShape="0">
                <a:blip r:embed="rId13"/>
                <a:stretch>
                  <a:fillRect l="-249"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313061" y="1939218"/>
                <a:ext cx="81862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𝑆𝐸</m:t>
                      </m:r>
                      <m:r>
                        <a:rPr lang="en-US" sz="120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=3</m:t>
                      </m:r>
                      <m:r>
                        <a:rPr lang="en-US" sz="120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𝑎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061" y="1939218"/>
                <a:ext cx="818621" cy="276999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5463947" y="2719763"/>
                <a:ext cx="42787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3</m:t>
                      </m:r>
                      <m:r>
                        <a:rPr lang="en-US" sz="1400" b="0" i="1" smtClean="0">
                          <a:latin typeface="Cambria Math" charset="0"/>
                        </a:rPr>
                        <m:t>𝑎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3947" y="2719763"/>
                <a:ext cx="427874" cy="307777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020310" y="1911354"/>
                <a:ext cx="931152" cy="2987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𝐸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𝐴</m:t>
                      </m:r>
                      <m:r>
                        <a:rPr lang="en-US" sz="120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𝑎</m:t>
                      </m:r>
                      <m:rad>
                        <m:radPr>
                          <m:degHide m:val="on"/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3</m:t>
                          </m:r>
                        </m:e>
                      </m:rad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10" y="1911354"/>
                <a:ext cx="931152" cy="298736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6354844" y="4073357"/>
                <a:ext cx="545790" cy="3331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𝑎</m:t>
                      </m:r>
                      <m:rad>
                        <m:radPr>
                          <m:degHide m:val="on"/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4844" y="4073357"/>
                <a:ext cx="545790" cy="333168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Сектор 36"/>
          <p:cNvSpPr/>
          <p:nvPr/>
        </p:nvSpPr>
        <p:spPr>
          <a:xfrm>
            <a:off x="7863137" y="3911672"/>
            <a:ext cx="914400" cy="914400"/>
          </a:xfrm>
          <a:prstGeom prst="pie">
            <a:avLst>
              <a:gd name="adj1" fmla="val 10721964"/>
              <a:gd name="adj2" fmla="val 13949751"/>
            </a:avLst>
          </a:prstGeom>
          <a:solidFill>
            <a:srgbClr val="FFC000">
              <a:alpha val="36000"/>
            </a:srgbClr>
          </a:solidFill>
          <a:ln w="63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1873134" y="1820302"/>
                <a:ext cx="1284903" cy="4380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𝑡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𝑔</m:t>
                      </m:r>
                      <m:d>
                        <m:d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∠</m:t>
                          </m:r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𝑆𝐴𝐸</m:t>
                          </m:r>
                        </m:e>
                      </m:d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i="1" dirty="0">
                              <a:latin typeface="Cambria Math" charset="0"/>
                            </a:rPr>
                            <m:t>𝑆𝐸</m:t>
                          </m:r>
                        </m:num>
                        <m:den>
                          <m:r>
                            <a:rPr lang="en-US" sz="1200" i="1" dirty="0">
                              <a:latin typeface="Cambria Math" charset="0"/>
                            </a:rPr>
                            <m:t>𝐸𝐴</m:t>
                          </m:r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3134" y="1820302"/>
                <a:ext cx="1284903" cy="438005"/>
              </a:xfrm>
              <a:prstGeom prst="rect">
                <a:avLst/>
              </a:prstGeom>
              <a:blipFill rotWithShape="0">
                <a:blip r:embed="rId18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972773" y="1820283"/>
                <a:ext cx="652871" cy="4737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</a:rPr>
                            <m:t>3</m:t>
                          </m:r>
                          <m:r>
                            <a:rPr lang="en-US" sz="1200" b="0" i="1" dirty="0" smtClean="0">
                              <a:latin typeface="Cambria Math" charset="0"/>
                            </a:rPr>
                            <m:t>𝑎</m:t>
                          </m:r>
                        </m:num>
                        <m:den>
                          <m:r>
                            <a:rPr lang="en-US" sz="1200" i="1" dirty="0">
                              <a:latin typeface="Cambria Math" charset="0"/>
                            </a:rPr>
                            <m:t>𝑎</m:t>
                          </m:r>
                          <m:rad>
                            <m:radPr>
                              <m:degHide m:val="on"/>
                              <m:ctrlPr>
                                <a:rPr lang="en-US" sz="1200" i="1" dirty="0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i="1" dirty="0">
                                  <a:latin typeface="Cambria Math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2773" y="1820283"/>
                <a:ext cx="652871" cy="473784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3461531" y="1893821"/>
                <a:ext cx="621659" cy="298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200" i="1" dirty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i="1" dirty="0">
                              <a:latin typeface="Cambria Math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1531" y="1893821"/>
                <a:ext cx="621659" cy="298736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285468" y="2217179"/>
                <a:ext cx="125515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⟹∠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𝑆𝐴𝐸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=60°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68" y="2217179"/>
                <a:ext cx="1255152" cy="276999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Прямая соединительная линия 42"/>
          <p:cNvCxnSpPr/>
          <p:nvPr/>
        </p:nvCxnSpPr>
        <p:spPr>
          <a:xfrm>
            <a:off x="7379707" y="3279722"/>
            <a:ext cx="950790" cy="109090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Овал 58"/>
          <p:cNvSpPr/>
          <p:nvPr/>
        </p:nvSpPr>
        <p:spPr>
          <a:xfrm flipH="1" flipV="1">
            <a:off x="7365073" y="327151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46597" y="2498532"/>
                <a:ext cx="407207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/>
                  <a:t>б)</a:t>
                </a:r>
                <a14:m>
                  <m:oMath xmlns:m="http://schemas.openxmlformats.org/officeDocument/2006/math">
                    <m:r>
                      <a:rPr lang="en-US" sz="1200" b="0" i="0" dirty="0" smtClean="0">
                        <a:latin typeface="Cambria Math" charset="0"/>
                      </a:rPr>
                      <m:t>  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𝐴𝐵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⊥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𝐸𝐴</m:t>
                    </m:r>
                    <m:r>
                      <a:rPr lang="en-US" sz="1200" b="0" i="1" dirty="0" smtClean="0">
                        <a:latin typeface="Cambria Math" charset="0"/>
                      </a:rPr>
                      <m:t>;</m:t>
                    </m:r>
                    <m:r>
                      <a:rPr lang="en-US" sz="1200" i="1" dirty="0">
                        <a:latin typeface="Cambria Math" charset="0"/>
                      </a:rPr>
                      <m:t>𝐴𝐵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⊥</m:t>
                    </m:r>
                    <m:r>
                      <a:rPr lang="en-US" sz="1200" b="0" i="1" dirty="0" smtClean="0">
                        <a:latin typeface="Cambria Math" charset="0"/>
                      </a:rPr>
                      <m:t>𝑆𝐴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  <m:r>
                      <a:rPr lang="en-US" sz="1200" i="1" dirty="0">
                        <a:latin typeface="Cambria Math" charset="0"/>
                      </a:rPr>
                      <m:t>𝐴𝐵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⊥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𝑆𝐸𝐴</m:t>
                    </m:r>
                    <m:r>
                      <a:rPr lang="en-US" sz="1200" b="0" i="1" dirty="0" smtClean="0">
                        <a:latin typeface="Cambria Math" charset="0"/>
                      </a:rPr>
                      <m:t>)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sz="1200" i="1" dirty="0">
                        <a:latin typeface="Cambria Math" charset="0"/>
                      </a:rPr>
                      <m:t>𝐴</m:t>
                    </m:r>
                    <m:r>
                      <a:rPr lang="en-US" sz="1200" b="0" i="1" dirty="0" smtClean="0">
                        <a:latin typeface="Cambria Math" charset="0"/>
                      </a:rPr>
                      <m:t>𝑆</m:t>
                    </m:r>
                    <m:r>
                      <a:rPr lang="en-US" sz="1200" i="1" dirty="0">
                        <a:latin typeface="Cambria Math" charset="0"/>
                      </a:rPr>
                      <m:t>𝐵</m:t>
                    </m:r>
                    <m:r>
                      <a:rPr lang="en-US" sz="1200" b="0" i="1" dirty="0" smtClean="0">
                        <a:latin typeface="Cambria Math" charset="0"/>
                      </a:rPr>
                      <m:t>)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⊥(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𝑆𝐸𝐴</m:t>
                    </m:r>
                    <m:r>
                      <a:rPr lang="en-US" sz="1200" i="1" dirty="0">
                        <a:latin typeface="Cambria Math" charset="0"/>
                      </a:rPr>
                      <m:t>)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97" y="2498532"/>
                <a:ext cx="4072077" cy="276999"/>
              </a:xfrm>
              <a:prstGeom prst="rect">
                <a:avLst/>
              </a:prstGeom>
              <a:blipFill rotWithShape="0">
                <a:blip r:embed="rId22"/>
                <a:stretch>
                  <a:fillRect l="-150" t="-80000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Прямая соединительная линия 62"/>
          <p:cNvCxnSpPr/>
          <p:nvPr/>
        </p:nvCxnSpPr>
        <p:spPr>
          <a:xfrm flipH="1">
            <a:off x="7104482" y="3317229"/>
            <a:ext cx="285991" cy="1421027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6886244" y="4135436"/>
                <a:ext cx="3481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𝑃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6244" y="4135436"/>
                <a:ext cx="348172" cy="307777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Овал 68"/>
          <p:cNvSpPr/>
          <p:nvPr/>
        </p:nvSpPr>
        <p:spPr>
          <a:xfrm flipH="1" flipV="1">
            <a:off x="7149350" y="4388250"/>
            <a:ext cx="45719" cy="377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0" name="Прямая соединительная линия 69"/>
          <p:cNvCxnSpPr/>
          <p:nvPr/>
        </p:nvCxnSpPr>
        <p:spPr>
          <a:xfrm flipH="1">
            <a:off x="7172209" y="3755785"/>
            <a:ext cx="690861" cy="652765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7808942" y="3537213"/>
                <a:ext cx="3320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𝐾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8942" y="3537213"/>
                <a:ext cx="332014" cy="276999"/>
              </a:xfrm>
              <a:prstGeom prst="rect">
                <a:avLst/>
              </a:prstGeom>
              <a:blipFill rotWithShape="0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Овал 73"/>
          <p:cNvSpPr/>
          <p:nvPr/>
        </p:nvSpPr>
        <p:spPr>
          <a:xfrm flipH="1" flipV="1">
            <a:off x="7840852" y="3749478"/>
            <a:ext cx="45719" cy="377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5" name="Полилиния 74"/>
          <p:cNvSpPr/>
          <p:nvPr/>
        </p:nvSpPr>
        <p:spPr>
          <a:xfrm>
            <a:off x="7630160" y="3627120"/>
            <a:ext cx="233680" cy="243840"/>
          </a:xfrm>
          <a:custGeom>
            <a:avLst/>
            <a:gdLst>
              <a:gd name="connsiteX0" fmla="*/ 111760 w 233680"/>
              <a:gd name="connsiteY0" fmla="*/ 0 h 243840"/>
              <a:gd name="connsiteX1" fmla="*/ 0 w 233680"/>
              <a:gd name="connsiteY1" fmla="*/ 111760 h 243840"/>
              <a:gd name="connsiteX2" fmla="*/ 121920 w 233680"/>
              <a:gd name="connsiteY2" fmla="*/ 243840 h 243840"/>
              <a:gd name="connsiteX3" fmla="*/ 233680 w 233680"/>
              <a:gd name="connsiteY3" fmla="*/ 142240 h 243840"/>
              <a:gd name="connsiteX4" fmla="*/ 111760 w 233680"/>
              <a:gd name="connsiteY4" fmla="*/ 0 h 24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3680" h="243840">
                <a:moveTo>
                  <a:pt x="111760" y="0"/>
                </a:moveTo>
                <a:lnTo>
                  <a:pt x="0" y="111760"/>
                </a:lnTo>
                <a:lnTo>
                  <a:pt x="121920" y="243840"/>
                </a:lnTo>
                <a:lnTo>
                  <a:pt x="233680" y="142240"/>
                </a:lnTo>
                <a:lnTo>
                  <a:pt x="111760" y="0"/>
                </a:lnTo>
                <a:close/>
              </a:path>
            </a:pathLst>
          </a:custGeom>
          <a:solidFill>
            <a:schemeClr val="bg1">
              <a:lumMod val="85000"/>
              <a:alpha val="37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346597" y="2782613"/>
                <a:ext cx="18016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</a:rPr>
                        <m:t>𝐶𝐹</m:t>
                      </m:r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∥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𝐴𝐵</m:t>
                      </m:r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i="1" dirty="0">
                          <a:latin typeface="Cambria Math" charset="0"/>
                        </a:rPr>
                        <m:t>𝐶𝐹</m:t>
                      </m:r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∥(</m:t>
                      </m:r>
                      <m:r>
                        <a:rPr lang="en-US" sz="1200" i="1" dirty="0">
                          <a:latin typeface="Cambria Math" charset="0"/>
                        </a:rPr>
                        <m:t>𝐴𝑆𝐵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97" y="2782613"/>
                <a:ext cx="1801647" cy="276999"/>
              </a:xfrm>
              <a:prstGeom prst="rect">
                <a:avLst/>
              </a:prstGeom>
              <a:blipFill rotWithShape="0">
                <a:blip r:embed="rId25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362851" y="3059612"/>
                <a:ext cx="368915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>
                    <a:solidFill>
                      <a:schemeClr val="tx1"/>
                    </a:solidFill>
                  </a:rPr>
                  <a:t>Расстояние от точки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𝐶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до плоскости</a:t>
                </a:r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charset="0"/>
                      </a:rPr>
                      <m:t>𝐴𝑆𝐵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равно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𝑃𝐾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851" y="3059612"/>
                <a:ext cx="3689151" cy="276999"/>
              </a:xfrm>
              <a:prstGeom prst="rect">
                <a:avLst/>
              </a:prstGeom>
              <a:blipFill rotWithShape="0">
                <a:blip r:embed="rId26"/>
                <a:stretch>
                  <a:fillRect l="-165"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352691" y="3336611"/>
                <a:ext cx="137294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𝑃𝐾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𝐴𝑃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𝑠𝑖𝑛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60°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691" y="3336611"/>
                <a:ext cx="1372940" cy="276999"/>
              </a:xfrm>
              <a:prstGeom prst="rect">
                <a:avLst/>
              </a:prstGeom>
              <a:blipFill rotWithShape="0"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1562688" y="3194121"/>
                <a:ext cx="946734" cy="4795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=2</m:t>
                      </m:r>
                      <m:rad>
                        <m:radPr>
                          <m:degHide m:val="on"/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3</m:t>
                          </m:r>
                        </m:e>
                      </m:rad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f>
                        <m:f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688" y="3194121"/>
                <a:ext cx="946734" cy="479555"/>
              </a:xfrm>
              <a:prstGeom prst="rect">
                <a:avLst/>
              </a:prstGeom>
              <a:blipFill rotWithShape="0"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2356108" y="3341009"/>
                <a:ext cx="46307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=3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6108" y="3341009"/>
                <a:ext cx="463075" cy="276999"/>
              </a:xfrm>
              <a:prstGeom prst="rect">
                <a:avLst/>
              </a:prstGeom>
              <a:blipFill rotWithShape="0"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2619158" y="3749040"/>
                <a:ext cx="10033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b="1" dirty="0" smtClean="0">
                    <a:solidFill>
                      <a:srgbClr val="FF0000"/>
                    </a:solidFill>
                  </a:rPr>
                  <a:t>Ответ: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𝟑</m:t>
                    </m:r>
                  </m:oMath>
                </a14:m>
                <a:endParaRPr lang="ru-RU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158" y="3749040"/>
                <a:ext cx="1003352" cy="369332"/>
              </a:xfrm>
              <a:prstGeom prst="rect">
                <a:avLst/>
              </a:prstGeom>
              <a:blipFill rotWithShape="0">
                <a:blip r:embed="rId30"/>
                <a:stretch>
                  <a:fillRect l="-5488" t="-8197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Полилиния 100"/>
          <p:cNvSpPr/>
          <p:nvPr/>
        </p:nvSpPr>
        <p:spPr>
          <a:xfrm>
            <a:off x="5881529" y="1150197"/>
            <a:ext cx="2702560" cy="3230880"/>
          </a:xfrm>
          <a:custGeom>
            <a:avLst/>
            <a:gdLst>
              <a:gd name="connsiteX0" fmla="*/ 0 w 2702560"/>
              <a:gd name="connsiteY0" fmla="*/ 0 h 3230880"/>
              <a:gd name="connsiteX1" fmla="*/ 2702560 w 2702560"/>
              <a:gd name="connsiteY1" fmla="*/ 2438400 h 3230880"/>
              <a:gd name="connsiteX2" fmla="*/ 2428240 w 2702560"/>
              <a:gd name="connsiteY2" fmla="*/ 3230880 h 3230880"/>
              <a:gd name="connsiteX3" fmla="*/ 0 w 2702560"/>
              <a:gd name="connsiteY3" fmla="*/ 0 h 3230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2560" h="3230880">
                <a:moveTo>
                  <a:pt x="0" y="0"/>
                </a:moveTo>
                <a:lnTo>
                  <a:pt x="2702560" y="2438400"/>
                </a:lnTo>
                <a:lnTo>
                  <a:pt x="2428240" y="323088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2" name="Полилиния 101"/>
          <p:cNvSpPr/>
          <p:nvPr/>
        </p:nvSpPr>
        <p:spPr>
          <a:xfrm>
            <a:off x="5852160" y="1127760"/>
            <a:ext cx="2479040" cy="3322320"/>
          </a:xfrm>
          <a:custGeom>
            <a:avLst/>
            <a:gdLst>
              <a:gd name="connsiteX0" fmla="*/ 0 w 2479040"/>
              <a:gd name="connsiteY0" fmla="*/ 0 h 3322320"/>
              <a:gd name="connsiteX1" fmla="*/ 2479040 w 2479040"/>
              <a:gd name="connsiteY1" fmla="*/ 3251200 h 3322320"/>
              <a:gd name="connsiteX2" fmla="*/ 50800 w 2479040"/>
              <a:gd name="connsiteY2" fmla="*/ 3322320 h 3322320"/>
              <a:gd name="connsiteX3" fmla="*/ 0 w 2479040"/>
              <a:gd name="connsiteY3" fmla="*/ 0 h 332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040" h="3322320">
                <a:moveTo>
                  <a:pt x="0" y="0"/>
                </a:moveTo>
                <a:lnTo>
                  <a:pt x="2479040" y="3251200"/>
                </a:lnTo>
                <a:lnTo>
                  <a:pt x="50800" y="3322320"/>
                </a:lnTo>
                <a:lnTo>
                  <a:pt x="0" y="0"/>
                </a:lnTo>
                <a:close/>
              </a:path>
            </a:pathLst>
          </a:custGeom>
          <a:solidFill>
            <a:srgbClr val="D4ECBA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815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8" grpId="1"/>
      <p:bldP spid="69" grpId="1" animBg="1"/>
      <p:bldP spid="73" grpId="0"/>
      <p:bldP spid="74" grpId="0" animBg="1"/>
      <p:bldP spid="75" grpId="0" animBg="1"/>
      <p:bldP spid="76" grpId="0"/>
      <p:bldP spid="77" grpId="0"/>
      <p:bldP spid="78" grpId="0"/>
      <p:bldP spid="79" grpId="0"/>
      <p:bldP spid="80" grpId="0"/>
      <p:bldP spid="10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16</a:t>
            </a:fld>
            <a:endParaRPr kumimoji="0" lang="ru-RU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0" y="-22136"/>
                <a:ext cx="9144000" cy="1081718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dirty="0" smtClean="0">
                    <a:solidFill>
                      <a:srgbClr val="7030A0"/>
                    </a:solidFill>
                  </a:rPr>
                  <a:t>10.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Точка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𝑲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лежит на стороне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основания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𝑨𝑩𝑪𝑫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правильной четырехугольной пирамиды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𝑺𝑨𝑩𝑪𝑫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,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все ребра которой равны. Плоскость </a:t>
                </a:r>
                <a14:m>
                  <m:oMath xmlns:m="http://schemas.openxmlformats.org/officeDocument/2006/math"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𝜶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проходит через точку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𝑲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параллельно плоскости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𝑨𝑺𝑫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Сечение пирамиды плоскостью </a:t>
                </a:r>
                <a14:m>
                  <m:oMath xmlns:m="http://schemas.openxmlformats.org/officeDocument/2006/math">
                    <m:r>
                      <a:rPr lang="ru-RU" sz="1200" b="1" i="1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𝜶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- четырехугольник, в который можно вписать окружность.</a:t>
                </a: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а) Докажите, что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𝑩𝑲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𝟐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𝑨𝑲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>
                    <a:solidFill>
                      <a:srgbClr val="002060"/>
                    </a:solidFill>
                  </a:rPr>
                  <a:t>б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) Найдите расстояние от вершины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до плоскости </a:t>
                </a:r>
                <a14:m>
                  <m:oMath xmlns:m="http://schemas.openxmlformats.org/officeDocument/2006/math">
                    <m:r>
                      <a:rPr lang="ru-RU" sz="1200" b="1" i="1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𝜶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, если все ребра пирамиды равны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𝟏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6"/>
                <a:ext cx="9144000" cy="108171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Прямая соединительная линия 5"/>
          <p:cNvCxnSpPr/>
          <p:nvPr/>
        </p:nvCxnSpPr>
        <p:spPr>
          <a:xfrm>
            <a:off x="6333679" y="2867593"/>
            <a:ext cx="2265372" cy="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5004411" y="3799958"/>
            <a:ext cx="2265372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 flipV="1">
            <a:off x="5003823" y="2867592"/>
            <a:ext cx="1329856" cy="932367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 flipV="1">
            <a:off x="7269783" y="2867592"/>
            <a:ext cx="1329268" cy="932368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6781706" y="1511382"/>
            <a:ext cx="1817345" cy="1356208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/>
          <p:nvPr/>
        </p:nvCxnSpPr>
        <p:spPr>
          <a:xfrm>
            <a:off x="6781706" y="1511380"/>
            <a:ext cx="488077" cy="2288576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/>
          <p:cNvCxnSpPr/>
          <p:nvPr/>
        </p:nvCxnSpPr>
        <p:spPr>
          <a:xfrm flipH="1">
            <a:off x="5003823" y="1511380"/>
            <a:ext cx="1777883" cy="2288576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/>
          <p:cNvCxnSpPr/>
          <p:nvPr/>
        </p:nvCxnSpPr>
        <p:spPr>
          <a:xfrm flipH="1">
            <a:off x="6333679" y="1511378"/>
            <a:ext cx="448027" cy="1356212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4725671" y="3799956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5671" y="3799956"/>
                <a:ext cx="340286" cy="3077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6054599" y="2627896"/>
                <a:ext cx="3829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4599" y="2627896"/>
                <a:ext cx="382989" cy="3077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8544308" y="2772391"/>
                <a:ext cx="3481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4308" y="2772391"/>
                <a:ext cx="348172" cy="3077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7229733" y="3799955"/>
                <a:ext cx="3550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𝐷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9733" y="3799955"/>
                <a:ext cx="355034" cy="3077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6617901" y="1203598"/>
                <a:ext cx="32284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𝑆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7901" y="1203598"/>
                <a:ext cx="322845" cy="30777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Овал 47"/>
          <p:cNvSpPr/>
          <p:nvPr/>
        </p:nvSpPr>
        <p:spPr>
          <a:xfrm flipH="1" flipV="1">
            <a:off x="5463328" y="3446465"/>
            <a:ext cx="50291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5337038" y="3469324"/>
                <a:ext cx="3320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𝐾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7038" y="3469324"/>
                <a:ext cx="332014" cy="276999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Прямая соединительная линия 55"/>
          <p:cNvCxnSpPr/>
          <p:nvPr/>
        </p:nvCxnSpPr>
        <p:spPr>
          <a:xfrm flipV="1">
            <a:off x="5503045" y="3460162"/>
            <a:ext cx="2235025" cy="4484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7670539" y="3446503"/>
                <a:ext cx="35516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𝑀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0539" y="3446503"/>
                <a:ext cx="355161" cy="276999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Прямая соединительная линия 57"/>
          <p:cNvCxnSpPr/>
          <p:nvPr/>
        </p:nvCxnSpPr>
        <p:spPr>
          <a:xfrm flipV="1">
            <a:off x="5492885" y="1975166"/>
            <a:ext cx="1125016" cy="1494158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6522223" y="1998026"/>
                <a:ext cx="3359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𝑁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2223" y="1998026"/>
                <a:ext cx="335925" cy="276999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54070" y="1174635"/>
                <a:ext cx="290335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/>
                  <a:t>а)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𝐾𝑀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∥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𝐴𝐷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;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𝐾𝑁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∥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𝐴𝑆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  <m:r>
                      <a:rPr lang="ru-RU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(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𝑁𝐾𝑀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)∥(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𝐴𝑆𝐷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70" y="1174635"/>
                <a:ext cx="2903359" cy="276999"/>
              </a:xfrm>
              <a:prstGeom prst="rect">
                <a:avLst/>
              </a:prstGeom>
              <a:blipFill rotWithShape="0">
                <a:blip r:embed="rId11"/>
                <a:stretch>
                  <a:fillRect l="-210"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Прямая соединительная линия 62"/>
          <p:cNvCxnSpPr/>
          <p:nvPr/>
        </p:nvCxnSpPr>
        <p:spPr>
          <a:xfrm flipV="1">
            <a:off x="6628165" y="1975166"/>
            <a:ext cx="779085" cy="16012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7345114" y="1796726"/>
                <a:ext cx="3048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𝐿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5114" y="1796726"/>
                <a:ext cx="304827" cy="276999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Прямая соединительная линия 65"/>
          <p:cNvCxnSpPr/>
          <p:nvPr/>
        </p:nvCxnSpPr>
        <p:spPr>
          <a:xfrm flipH="1" flipV="1">
            <a:off x="7388929" y="1963716"/>
            <a:ext cx="338981" cy="1496446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179512" y="1388913"/>
                <a:ext cx="3830408" cy="3993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/>
                  <a:t>Пусть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14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charset="0"/>
                          </a:rPr>
                          <m:t>𝐴𝐾</m:t>
                        </m:r>
                      </m:num>
                      <m:den>
                        <m:r>
                          <a:rPr lang="en-US" sz="1400" b="0" i="1" smtClean="0">
                            <a:latin typeface="Cambria Math" charset="0"/>
                          </a:rPr>
                          <m:t>𝐵𝐾</m:t>
                        </m:r>
                      </m:den>
                    </m:f>
                    <m:r>
                      <a:rPr lang="en-US" sz="1400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sz="1400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charset="0"/>
                          </a:rPr>
                          <m:t>𝑚</m:t>
                        </m:r>
                      </m:num>
                      <m:den>
                        <m:r>
                          <a:rPr lang="en-US" sz="1400" b="0" i="1" smtClean="0">
                            <a:latin typeface="Cambria Math" charset="0"/>
                          </a:rPr>
                          <m:t>𝑛</m:t>
                        </m:r>
                      </m:den>
                    </m:f>
                    <m:r>
                      <a:rPr lang="en-US" sz="1400" b="0" i="1" smtClean="0">
                        <a:latin typeface="Cambria Math" charset="0"/>
                      </a:rPr>
                      <m:t>; 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и пусть все ребра пирамиды равны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𝑎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388913"/>
                <a:ext cx="3830408" cy="399340"/>
              </a:xfrm>
              <a:prstGeom prst="rect">
                <a:avLst/>
              </a:prstGeom>
              <a:blipFill rotWithShape="0">
                <a:blip r:embed="rId13"/>
                <a:stretch>
                  <a:fillRect t="-53846" b="-723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5094057" y="3549773"/>
                <a:ext cx="47904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(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𝑚</m:t>
                      </m:r>
                      <m:r>
                        <a:rPr lang="en-US" sz="1200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4057" y="3549773"/>
                <a:ext cx="479042" cy="276999"/>
              </a:xfrm>
              <a:prstGeom prst="rect">
                <a:avLst/>
              </a:prstGeom>
              <a:blipFill rotWithShape="0">
                <a:blip r:embed="rId14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5835288" y="3067232"/>
                <a:ext cx="4389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(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𝑛</m:t>
                      </m:r>
                      <m:r>
                        <a:rPr lang="en-US" sz="1200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5288" y="3067232"/>
                <a:ext cx="438966" cy="276999"/>
              </a:xfrm>
              <a:prstGeom prst="rect">
                <a:avLst/>
              </a:prstGeom>
              <a:blipFill rotWithShape="0">
                <a:blip r:embed="rId15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155335" y="1754706"/>
                <a:ext cx="1400832" cy="4190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𝐾𝑁</m:t>
                      </m:r>
                      <m:r>
                        <a:rPr lang="en-US" sz="11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∥</m:t>
                      </m:r>
                      <m:r>
                        <a:rPr lang="en-US" sz="11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𝐴𝑆</m:t>
                      </m:r>
                      <m:r>
                        <a:rPr lang="en-US" sz="11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  </m:t>
                      </m:r>
                      <m:f>
                        <m:fPr>
                          <m:ctrlPr>
                            <a:rPr lang="mr-IN" sz="12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charset="0"/>
                            </a:rPr>
                            <m:t>𝐴𝐾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</a:rPr>
                            <m:t>𝐵𝐾</m:t>
                          </m:r>
                        </m:den>
                      </m:f>
                      <m:r>
                        <a:rPr lang="en-US" sz="1200" i="1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charset="0"/>
                            </a:rPr>
                            <m:t>𝑚</m:t>
                          </m:r>
                        </m:num>
                        <m:den>
                          <m:r>
                            <a:rPr lang="en-US" sz="1200" i="1">
                              <a:latin typeface="Cambria Math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335" y="1754706"/>
                <a:ext cx="1400832" cy="419089"/>
              </a:xfrm>
              <a:prstGeom prst="rect">
                <a:avLst/>
              </a:prstGeom>
              <a:blipFill rotWithShape="0">
                <a:blip r:embed="rId16"/>
                <a:stretch>
                  <a:fillRect t="-23188" b="-463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6405226" y="2315085"/>
                <a:ext cx="4389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(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𝑛</m:t>
                      </m:r>
                      <m:r>
                        <a:rPr lang="en-US" sz="1200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5226" y="2315085"/>
                <a:ext cx="438966" cy="276999"/>
              </a:xfrm>
              <a:prstGeom prst="rect">
                <a:avLst/>
              </a:prstGeom>
              <a:blipFill rotWithShape="0">
                <a:blip r:embed="rId17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6294726" y="1689815"/>
                <a:ext cx="47904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(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𝑚</m:t>
                      </m:r>
                      <m:r>
                        <a:rPr lang="en-US" sz="1200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4726" y="1689815"/>
                <a:ext cx="479042" cy="276999"/>
              </a:xfrm>
              <a:prstGeom prst="rect">
                <a:avLst/>
              </a:prstGeom>
              <a:blipFill rotWithShape="0">
                <a:blip r:embed="rId14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51833" y="2523645"/>
                <a:ext cx="1733551" cy="438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</a:rPr>
                        <m:t>𝐾𝑀</m:t>
                      </m:r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∥</m:t>
                      </m:r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𝐴𝐷</m:t>
                      </m:r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f>
                        <m:fPr>
                          <m:ctrlPr>
                            <a:rPr lang="mr-IN" sz="12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</a:rPr>
                            <m:t>𝐷𝑀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</a:rPr>
                            <m:t>𝑀𝐶</m:t>
                          </m:r>
                        </m:den>
                      </m:f>
                      <m:r>
                        <a:rPr lang="en-US" sz="1200" i="1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</a:rPr>
                            <m:t>𝑚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33" y="2523645"/>
                <a:ext cx="1733551" cy="438133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7379537" y="3576093"/>
                <a:ext cx="47904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(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𝑚</m:t>
                      </m:r>
                      <m:r>
                        <a:rPr lang="en-US" sz="1200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537" y="3576093"/>
                <a:ext cx="479042" cy="276999"/>
              </a:xfrm>
              <a:prstGeom prst="rect">
                <a:avLst/>
              </a:prstGeom>
              <a:blipFill rotWithShape="0">
                <a:blip r:embed="rId19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8080787" y="3080168"/>
                <a:ext cx="4389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(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𝑛</m:t>
                      </m:r>
                      <m:r>
                        <a:rPr lang="en-US" sz="1200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0787" y="3080168"/>
                <a:ext cx="438966" cy="276999"/>
              </a:xfrm>
              <a:prstGeom prst="rect">
                <a:avLst/>
              </a:prstGeom>
              <a:blipFill rotWithShape="0">
                <a:blip r:embed="rId20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1436096" y="1762899"/>
                <a:ext cx="1687641" cy="4411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i="1" smtClean="0">
                              <a:latin typeface="Cambria Math" charset="0"/>
                            </a:rPr>
                            <m:t>𝐾</m:t>
                          </m:r>
                          <m:r>
                            <a:rPr lang="en-US" sz="1200" b="0" i="1" smtClean="0">
                              <a:latin typeface="Cambria Math" charset="0"/>
                            </a:rPr>
                            <m:t>𝑁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</a:rPr>
                            <m:t>𝐴𝑆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</a:rPr>
                            <m:t>𝐵𝐾</m:t>
                          </m:r>
                        </m:num>
                        <m:den>
                          <m:r>
                            <a:rPr lang="en-US" sz="1200" i="1">
                              <a:latin typeface="Cambria Math" charset="0"/>
                            </a:rPr>
                            <m:t>𝐴</m:t>
                          </m:r>
                          <m:r>
                            <a:rPr lang="en-US" sz="1200" b="0" i="1" smtClean="0">
                              <a:latin typeface="Cambria Math" charset="0"/>
                            </a:rPr>
                            <m:t>𝐵</m:t>
                          </m:r>
                        </m:den>
                      </m:f>
                      <m:r>
                        <a:rPr lang="ru-RU" sz="1200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charset="0"/>
                            </a:rPr>
                            <m:t>𝑛</m:t>
                          </m:r>
                        </m:num>
                        <m:den>
                          <m:r>
                            <a:rPr lang="en-US" sz="1200" i="1">
                              <a:latin typeface="Cambria Math" charset="0"/>
                            </a:rPr>
                            <m:t>𝑚</m:t>
                          </m:r>
                          <m:r>
                            <a:rPr lang="en-US" sz="1200" b="0" i="1" smtClean="0">
                              <a:latin typeface="Cambria Math" charset="0"/>
                            </a:rPr>
                            <m:t>+</m:t>
                          </m:r>
                          <m:r>
                            <a:rPr lang="en-US" sz="1200" b="0" i="1" smtClean="0">
                              <a:latin typeface="Cambria Math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6096" y="1762899"/>
                <a:ext cx="1687641" cy="441146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1613402" y="2543951"/>
                <a:ext cx="1467581" cy="4116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𝐿𝑀</m:t>
                      </m:r>
                      <m:r>
                        <a:rPr lang="en-US" sz="1200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</a:rPr>
                            <m:t>𝑛</m:t>
                          </m:r>
                        </m:num>
                        <m:den>
                          <m:r>
                            <a:rPr lang="en-US" sz="1200" i="1">
                              <a:latin typeface="Cambria Math" charset="0"/>
                            </a:rPr>
                            <m:t>𝑚</m:t>
                          </m:r>
                          <m:r>
                            <a:rPr lang="en-US" sz="1200" b="0" i="1" smtClean="0">
                              <a:latin typeface="Cambria Math" charset="0"/>
                            </a:rPr>
                            <m:t>+</m:t>
                          </m:r>
                          <m:r>
                            <a:rPr lang="en-US" sz="1200" b="0" i="1" smtClean="0">
                              <a:latin typeface="Cambria Math" charset="0"/>
                            </a:rPr>
                            <m:t>𝑛</m:t>
                          </m:r>
                        </m:den>
                      </m:f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𝑎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402" y="2543951"/>
                <a:ext cx="1467581" cy="411651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78528" y="2912391"/>
                <a:ext cx="1589281" cy="438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𝑁𝐿</m:t>
                      </m:r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∥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𝐵𝐶</m:t>
                      </m:r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f>
                        <m:fPr>
                          <m:ctrlPr>
                            <a:rPr lang="mr-IN" sz="12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</a:rPr>
                            <m:t>𝐵𝑁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</a:rPr>
                            <m:t>𝑁𝑆</m:t>
                          </m:r>
                        </m:den>
                      </m:f>
                      <m:r>
                        <a:rPr lang="en-US" sz="1200" i="1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</a:rPr>
                            <m:t>𝑛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28" y="2912391"/>
                <a:ext cx="1589281" cy="438133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1536960" y="2928897"/>
                <a:ext cx="1447704" cy="4116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𝑁𝐿</m:t>
                      </m:r>
                      <m:r>
                        <a:rPr lang="en-US" sz="1200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</a:rPr>
                            <m:t>𝑚</m:t>
                          </m:r>
                        </m:num>
                        <m:den>
                          <m:r>
                            <a:rPr lang="en-US" sz="1200" i="1">
                              <a:latin typeface="Cambria Math" charset="0"/>
                            </a:rPr>
                            <m:t>𝑚</m:t>
                          </m:r>
                          <m:r>
                            <a:rPr lang="en-US" sz="1200" b="0" i="1" smtClean="0">
                              <a:latin typeface="Cambria Math" charset="0"/>
                            </a:rPr>
                            <m:t>+</m:t>
                          </m:r>
                          <m:r>
                            <a:rPr lang="en-US" sz="1200" b="0" i="1" smtClean="0">
                              <a:latin typeface="Cambria Math" charset="0"/>
                            </a:rPr>
                            <m:t>𝑛</m:t>
                          </m:r>
                        </m:den>
                      </m:f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𝑎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6960" y="2928897"/>
                <a:ext cx="1447704" cy="411651"/>
              </a:xfrm>
              <a:prstGeom prst="rect">
                <a:avLst/>
              </a:prstGeom>
              <a:blipFill rotWithShape="0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3046386" y="1852678"/>
                <a:ext cx="286802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>
                    <a:solidFill>
                      <a:schemeClr val="tx1"/>
                    </a:solidFill>
                  </a:rPr>
                  <a:t>(Из подобия треугольников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𝐾𝑁𝐵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𝐴𝑆𝐵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)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6386" y="1852678"/>
                <a:ext cx="2868029" cy="276999"/>
              </a:xfrm>
              <a:prstGeom prst="rect">
                <a:avLst/>
              </a:prstGeom>
              <a:blipFill rotWithShape="0">
                <a:blip r:embed="rId25"/>
                <a:stretch>
                  <a:fillRect l="-213"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134360" y="2135976"/>
                <a:ext cx="1473993" cy="4116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𝐾𝑁</m:t>
                      </m:r>
                      <m:r>
                        <a:rPr lang="en-US" sz="1200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charset="0"/>
                            </a:rPr>
                            <m:t>𝑛</m:t>
                          </m:r>
                        </m:num>
                        <m:den>
                          <m:r>
                            <a:rPr lang="en-US" sz="1200" i="1">
                              <a:latin typeface="Cambria Math" charset="0"/>
                            </a:rPr>
                            <m:t>𝑚</m:t>
                          </m:r>
                          <m:r>
                            <a:rPr lang="en-US" sz="1200" b="0" i="1" smtClean="0">
                              <a:latin typeface="Cambria Math" charset="0"/>
                            </a:rPr>
                            <m:t>+</m:t>
                          </m:r>
                          <m:r>
                            <a:rPr lang="en-US" sz="1200" b="0" i="1" smtClean="0">
                              <a:latin typeface="Cambria Math" charset="0"/>
                            </a:rPr>
                            <m:t>𝑛</m:t>
                          </m:r>
                        </m:den>
                      </m:f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𝑎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60" y="2135976"/>
                <a:ext cx="1473993" cy="411651"/>
              </a:xfrm>
              <a:prstGeom prst="rect">
                <a:avLst/>
              </a:prstGeom>
              <a:blipFill rotWithShape="0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61110" y="3319290"/>
                <a:ext cx="44798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>
                    <a:solidFill>
                      <a:schemeClr val="tx1"/>
                    </a:solidFill>
                  </a:rPr>
                  <a:t>По свойству описанного четырехугольника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𝐾𝑀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+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𝑁𝐿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𝐾𝑁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+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𝐿𝑀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10" y="3319290"/>
                <a:ext cx="4479816" cy="276999"/>
              </a:xfrm>
              <a:prstGeom prst="rect">
                <a:avLst/>
              </a:prstGeom>
              <a:blipFill rotWithShape="0">
                <a:blip r:embed="rId27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61110" y="3582285"/>
                <a:ext cx="2768322" cy="4116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+</m:t>
                      </m:r>
                      <m:f>
                        <m:fPr>
                          <m:ctrlPr>
                            <a:rPr lang="en-US" sz="12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charset="0"/>
                            </a:rPr>
                            <m:t>𝑚</m:t>
                          </m:r>
                        </m:num>
                        <m:den>
                          <m:r>
                            <a:rPr lang="en-US" sz="1200" i="1">
                              <a:latin typeface="Cambria Math" charset="0"/>
                            </a:rPr>
                            <m:t>𝑚</m:t>
                          </m:r>
                          <m:r>
                            <a:rPr lang="en-US" sz="1200" i="1">
                              <a:latin typeface="Cambria Math" charset="0"/>
                            </a:rPr>
                            <m:t>+</m:t>
                          </m:r>
                          <m:r>
                            <a:rPr lang="en-US" sz="1200" i="1">
                              <a:latin typeface="Cambria Math" charset="0"/>
                            </a:rPr>
                            <m:t>𝑛</m:t>
                          </m:r>
                        </m:den>
                      </m:f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charset="0"/>
                            </a:rPr>
                            <m:t>𝑛</m:t>
                          </m:r>
                        </m:num>
                        <m:den>
                          <m:r>
                            <a:rPr lang="en-US" sz="1200" i="1">
                              <a:latin typeface="Cambria Math" charset="0"/>
                            </a:rPr>
                            <m:t>𝑚</m:t>
                          </m:r>
                          <m:r>
                            <a:rPr lang="en-US" sz="1200" i="1">
                              <a:latin typeface="Cambria Math" charset="0"/>
                            </a:rPr>
                            <m:t>+</m:t>
                          </m:r>
                          <m:r>
                            <a:rPr lang="en-US" sz="1200" i="1">
                              <a:latin typeface="Cambria Math" charset="0"/>
                            </a:rPr>
                            <m:t>𝑛</m:t>
                          </m:r>
                        </m:den>
                      </m:f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+</m:t>
                      </m:r>
                      <m:f>
                        <m:fPr>
                          <m:ctrlPr>
                            <a:rPr lang="en-US" sz="12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charset="0"/>
                            </a:rPr>
                            <m:t>𝑛</m:t>
                          </m:r>
                        </m:num>
                        <m:den>
                          <m:r>
                            <a:rPr lang="en-US" sz="1200" i="1">
                              <a:latin typeface="Cambria Math" charset="0"/>
                            </a:rPr>
                            <m:t>𝑚</m:t>
                          </m:r>
                          <m:r>
                            <a:rPr lang="en-US" sz="1200" i="1">
                              <a:latin typeface="Cambria Math" charset="0"/>
                            </a:rPr>
                            <m:t>+</m:t>
                          </m:r>
                          <m:r>
                            <a:rPr lang="en-US" sz="1200" i="1">
                              <a:latin typeface="Cambria Math" charset="0"/>
                            </a:rPr>
                            <m:t>𝑛</m:t>
                          </m:r>
                        </m:den>
                      </m:f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𝑎</m:t>
                      </m:r>
                      <m:r>
                        <a:rPr lang="en-US" sz="1200" b="0" i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 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10" y="3582285"/>
                <a:ext cx="2768322" cy="411651"/>
              </a:xfrm>
              <a:prstGeom prst="rect">
                <a:avLst/>
              </a:prstGeom>
              <a:blipFill rotWithShape="0">
                <a:blip r:embed="rId28"/>
                <a:stretch>
                  <a:fillRect t="-38806" b="-5223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2652991" y="3661455"/>
                <a:ext cx="15463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</a:rPr>
                        <m:t>𝑚</m:t>
                      </m:r>
                      <m:r>
                        <a:rPr lang="en-US" sz="1200" b="0" i="1" smtClean="0">
                          <a:latin typeface="Cambria Math" charset="0"/>
                        </a:rPr>
                        <m:t>+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𝑛</m:t>
                      </m:r>
                      <m:r>
                        <a:rPr lang="en-US" sz="1200" b="0" i="1" smtClean="0">
                          <a:latin typeface="Cambria Math" charset="0"/>
                        </a:rPr>
                        <m:t>+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𝑚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sz="1200" i="1" smtClean="0">
                          <a:latin typeface="Cambria Math" charset="0"/>
                        </a:rPr>
                        <m:t>𝑛</m:t>
                      </m:r>
                      <m:r>
                        <a:rPr lang="en-US" sz="1200" b="0" i="1" smtClean="0">
                          <a:latin typeface="Cambria Math" charset="0"/>
                        </a:rPr>
                        <m:t>+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𝑛</m:t>
                      </m:r>
                      <m:r>
                        <a:rPr lang="en-US" sz="1200" b="0" i="1" smtClean="0"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2991" y="3661455"/>
                <a:ext cx="1546384" cy="276999"/>
              </a:xfrm>
              <a:prstGeom prst="rect">
                <a:avLst/>
              </a:prstGeom>
              <a:blipFill rotWithShape="0"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121425" y="4035102"/>
                <a:ext cx="76758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</a:rPr>
                        <m:t>𝑛</m:t>
                      </m:r>
                      <m:r>
                        <a:rPr lang="en-US" sz="1200" b="0" i="1" smtClean="0">
                          <a:latin typeface="Cambria Math" charset="0"/>
                        </a:rPr>
                        <m:t>=2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𝑚</m:t>
                      </m:r>
                      <m:r>
                        <a:rPr lang="en-US" sz="1200" b="0" i="1" smtClean="0"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25" y="4035102"/>
                <a:ext cx="767581" cy="276999"/>
              </a:xfrm>
              <a:prstGeom prst="rect">
                <a:avLst/>
              </a:prstGeom>
              <a:blipFill rotWithShape="0"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871356" y="3962379"/>
                <a:ext cx="76482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mr-IN" sz="12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charset="0"/>
                            </a:rPr>
                            <m:t>𝐴𝐾</m:t>
                          </m:r>
                        </m:num>
                        <m:den>
                          <m:r>
                            <a:rPr lang="en-US" sz="1200" i="1">
                              <a:latin typeface="Cambria Math" charset="0"/>
                            </a:rPr>
                            <m:t>𝐵𝐾</m:t>
                          </m:r>
                        </m:den>
                      </m:f>
                      <m:r>
                        <a:rPr lang="en-US" sz="1200" i="1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charset="0"/>
                            </a:rPr>
                            <m:t>𝑚</m:t>
                          </m:r>
                        </m:num>
                        <m:den>
                          <m:r>
                            <a:rPr lang="en-US" sz="1200" i="1">
                              <a:latin typeface="Cambria Math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56" y="3962379"/>
                <a:ext cx="764825" cy="439223"/>
              </a:xfrm>
              <a:prstGeom prst="rect">
                <a:avLst/>
              </a:prstGeom>
              <a:blipFill rotWithShape="0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1501599" y="3953801"/>
                <a:ext cx="468910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1599" y="3953801"/>
                <a:ext cx="468910" cy="439223"/>
              </a:xfrm>
              <a:prstGeom prst="rect">
                <a:avLst/>
              </a:prstGeom>
              <a:blipFill rotWithShape="0"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1879799" y="4047912"/>
                <a:ext cx="11847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i="1" smtClean="0">
                          <a:latin typeface="Cambria Math" charset="0"/>
                        </a:rPr>
                        <m:t>𝐵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𝐾</m:t>
                      </m:r>
                      <m:r>
                        <a:rPr lang="en-US" sz="1200" b="0" i="1" smtClean="0">
                          <a:latin typeface="Cambria Math" charset="0"/>
                        </a:rPr>
                        <m:t>=2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𝐴𝐾</m:t>
                      </m:r>
                      <m:r>
                        <a:rPr lang="en-US" sz="1200" b="0" i="1" smtClean="0">
                          <a:latin typeface="Cambria Math" charset="0"/>
                        </a:rPr>
                        <m:t>.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799" y="4047912"/>
                <a:ext cx="1184747" cy="276999"/>
              </a:xfrm>
              <a:prstGeom prst="rect">
                <a:avLst/>
              </a:prstGeom>
              <a:blipFill rotWithShape="0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олилиния 4"/>
          <p:cNvSpPr/>
          <p:nvPr/>
        </p:nvSpPr>
        <p:spPr>
          <a:xfrm>
            <a:off x="5496560" y="1971040"/>
            <a:ext cx="2235200" cy="1503680"/>
          </a:xfrm>
          <a:custGeom>
            <a:avLst/>
            <a:gdLst>
              <a:gd name="connsiteX0" fmla="*/ 0 w 2235200"/>
              <a:gd name="connsiteY0" fmla="*/ 1503680 h 1503680"/>
              <a:gd name="connsiteX1" fmla="*/ 1127760 w 2235200"/>
              <a:gd name="connsiteY1" fmla="*/ 20320 h 1503680"/>
              <a:gd name="connsiteX2" fmla="*/ 1910080 w 2235200"/>
              <a:gd name="connsiteY2" fmla="*/ 0 h 1503680"/>
              <a:gd name="connsiteX3" fmla="*/ 2235200 w 2235200"/>
              <a:gd name="connsiteY3" fmla="*/ 1503680 h 1503680"/>
              <a:gd name="connsiteX4" fmla="*/ 0 w 2235200"/>
              <a:gd name="connsiteY4" fmla="*/ 1503680 h 1503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5200" h="1503680">
                <a:moveTo>
                  <a:pt x="0" y="1503680"/>
                </a:moveTo>
                <a:lnTo>
                  <a:pt x="1127760" y="20320"/>
                </a:lnTo>
                <a:lnTo>
                  <a:pt x="1910080" y="0"/>
                </a:lnTo>
                <a:lnTo>
                  <a:pt x="2235200" y="1503680"/>
                </a:lnTo>
                <a:lnTo>
                  <a:pt x="0" y="1503680"/>
                </a:lnTo>
                <a:close/>
              </a:path>
            </a:pathLst>
          </a:custGeom>
          <a:solidFill>
            <a:schemeClr val="accent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2904097" y="2624270"/>
                <a:ext cx="285565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>
                    <a:solidFill>
                      <a:schemeClr val="tx1"/>
                    </a:solidFill>
                  </a:rPr>
                  <a:t>(Из подобия треугольников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𝐿𝑀𝐶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𝐷𝑆𝐶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)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4097" y="2624270"/>
                <a:ext cx="2855654" cy="276999"/>
              </a:xfrm>
              <a:prstGeom prst="rect">
                <a:avLst/>
              </a:prstGeom>
              <a:blipFill rotWithShape="0">
                <a:blip r:embed="rId34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2824232" y="3000191"/>
                <a:ext cx="236526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>
                    <a:solidFill>
                      <a:schemeClr val="tx1"/>
                    </a:solidFill>
                  </a:rPr>
                  <a:t>(Из подобия </a:t>
                </a:r>
                <a:r>
                  <a:rPr lang="ru-RU" sz="1200" dirty="0" err="1" smtClean="0">
                    <a:solidFill>
                      <a:schemeClr val="tx1"/>
                    </a:solidFill>
                  </a:rPr>
                  <a:t>тр</a:t>
                </a:r>
                <a:r>
                  <a:rPr lang="en-US" sz="1200" dirty="0" smtClean="0">
                    <a:solidFill>
                      <a:schemeClr val="tx1"/>
                    </a:solidFill>
                  </a:rPr>
                  <a:t>-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ков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𝑁𝑆𝐿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𝐵𝑆𝐶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)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4232" y="3000191"/>
                <a:ext cx="2365263" cy="276999"/>
              </a:xfrm>
              <a:prstGeom prst="rect">
                <a:avLst/>
              </a:prstGeom>
              <a:blipFill rotWithShape="0">
                <a:blip r:embed="rId35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979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3" grpId="1"/>
      <p:bldP spid="44" grpId="1"/>
      <p:bldP spid="45" grpId="1"/>
      <p:bldP spid="46" grpId="1"/>
      <p:bldP spid="47" grpId="1"/>
      <p:bldP spid="48" grpId="0" animBg="1"/>
      <p:bldP spid="49" grpId="0"/>
      <p:bldP spid="57" grpId="0"/>
      <p:bldP spid="61" grpId="0"/>
      <p:bldP spid="62" grpId="0"/>
      <p:bldP spid="65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5" grpId="0" animBg="1"/>
      <p:bldP spid="51" grpId="0"/>
      <p:bldP spid="5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107504" y="4686300"/>
            <a:ext cx="533400" cy="285750"/>
          </a:xfrm>
        </p:spPr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17</a:t>
            </a:fld>
            <a:endParaRPr kumimoji="0" lang="ru-RU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0" y="-22136"/>
                <a:ext cx="9144000" cy="1081718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dirty="0" smtClean="0">
                    <a:solidFill>
                      <a:srgbClr val="7030A0"/>
                    </a:solidFill>
                  </a:rPr>
                  <a:t>10.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Точка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𝑲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лежит на стороне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основания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𝑨𝑩𝑪𝑫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правильной четырехугольной пирамиды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𝑺𝑨𝑩𝑪𝑫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,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все ребра которой равны. Плоскость </a:t>
                </a:r>
                <a14:m>
                  <m:oMath xmlns:m="http://schemas.openxmlformats.org/officeDocument/2006/math"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𝜶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проходит через точку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𝑲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параллельно плоскости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𝑨𝑺𝑫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Сечение пирамиды плоскостью </a:t>
                </a:r>
                <a14:m>
                  <m:oMath xmlns:m="http://schemas.openxmlformats.org/officeDocument/2006/math">
                    <m:r>
                      <a:rPr lang="ru-RU" sz="1200" b="1" i="1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𝜶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- четырехугольник, в который можно вписать окружность.</a:t>
                </a: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а) Докажите, что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𝑩𝑲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𝟐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𝑨𝑲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>
                    <a:solidFill>
                      <a:srgbClr val="002060"/>
                    </a:solidFill>
                  </a:rPr>
                  <a:t>б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) Найдите расстояние от вершины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до плоскости </a:t>
                </a:r>
                <a14:m>
                  <m:oMath xmlns:m="http://schemas.openxmlformats.org/officeDocument/2006/math">
                    <m:r>
                      <a:rPr lang="ru-RU" sz="1200" b="1" i="1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𝜶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, если все ребра пирамиды равны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𝟏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6"/>
                <a:ext cx="9144000" cy="108171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Прямая соединительная линия 4"/>
          <p:cNvCxnSpPr/>
          <p:nvPr/>
        </p:nvCxnSpPr>
        <p:spPr>
          <a:xfrm>
            <a:off x="6333679" y="2867593"/>
            <a:ext cx="2265372" cy="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>
            <a:off x="5004411" y="3799958"/>
            <a:ext cx="2265372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flipV="1">
            <a:off x="5003823" y="2867592"/>
            <a:ext cx="1329856" cy="932367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 flipV="1">
            <a:off x="7269783" y="2867592"/>
            <a:ext cx="1329268" cy="932368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6781706" y="1511382"/>
            <a:ext cx="1817345" cy="1356208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6781706" y="1511380"/>
            <a:ext cx="488077" cy="2288576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 flipH="1">
            <a:off x="5003823" y="1511380"/>
            <a:ext cx="1777883" cy="2288576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 flipH="1">
            <a:off x="6333679" y="1511378"/>
            <a:ext cx="448027" cy="1356212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725671" y="3799956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5671" y="3799956"/>
                <a:ext cx="340286" cy="3077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054599" y="2627896"/>
                <a:ext cx="3829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4599" y="2627896"/>
                <a:ext cx="382989" cy="3077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8563047" y="2730274"/>
                <a:ext cx="3481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3047" y="2730274"/>
                <a:ext cx="348172" cy="3077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189093" y="3728835"/>
                <a:ext cx="3550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𝐷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093" y="3728835"/>
                <a:ext cx="355034" cy="3077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617901" y="1203598"/>
                <a:ext cx="32284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𝑆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7901" y="1203598"/>
                <a:ext cx="322845" cy="30777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Овал 17"/>
          <p:cNvSpPr/>
          <p:nvPr/>
        </p:nvSpPr>
        <p:spPr>
          <a:xfrm flipH="1" flipV="1">
            <a:off x="5463328" y="3446465"/>
            <a:ext cx="50291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347612" y="3469324"/>
                <a:ext cx="3320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𝐾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7612" y="3469324"/>
                <a:ext cx="332014" cy="276999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Прямая соединительная линия 19"/>
          <p:cNvCxnSpPr/>
          <p:nvPr/>
        </p:nvCxnSpPr>
        <p:spPr>
          <a:xfrm flipV="1">
            <a:off x="5503045" y="3460162"/>
            <a:ext cx="2235025" cy="4484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663019" y="3416516"/>
                <a:ext cx="35516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𝑀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3019" y="3416516"/>
                <a:ext cx="355161" cy="276999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Прямая соединительная линия 21"/>
          <p:cNvCxnSpPr/>
          <p:nvPr/>
        </p:nvCxnSpPr>
        <p:spPr>
          <a:xfrm flipV="1">
            <a:off x="5492885" y="1935226"/>
            <a:ext cx="1163849" cy="1534098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6522223" y="1998026"/>
                <a:ext cx="3359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𝑁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2223" y="1998026"/>
                <a:ext cx="335925" cy="276999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Прямая соединительная линия 24"/>
          <p:cNvCxnSpPr/>
          <p:nvPr/>
        </p:nvCxnSpPr>
        <p:spPr>
          <a:xfrm flipV="1">
            <a:off x="6628165" y="1975166"/>
            <a:ext cx="779085" cy="16012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7345114" y="1796726"/>
                <a:ext cx="3048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𝐿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5114" y="1796726"/>
                <a:ext cx="304827" cy="276999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Прямая соединительная линия 26"/>
          <p:cNvCxnSpPr/>
          <p:nvPr/>
        </p:nvCxnSpPr>
        <p:spPr>
          <a:xfrm flipH="1" flipV="1">
            <a:off x="7388929" y="1963716"/>
            <a:ext cx="338981" cy="1496446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5094057" y="3590413"/>
                <a:ext cx="402674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latin typeface="Cambria Math" charset="0"/>
                        </a:rPr>
                        <m:t>(</m:t>
                      </m:r>
                      <m:r>
                        <a:rPr lang="ru-RU" sz="1050" b="0" i="1" smtClean="0">
                          <a:latin typeface="Cambria Math" charset="0"/>
                        </a:rPr>
                        <m:t>1</m:t>
                      </m:r>
                      <m:r>
                        <a:rPr lang="en-US" sz="1050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ru-RU" sz="105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4057" y="3590413"/>
                <a:ext cx="402674" cy="253916"/>
              </a:xfrm>
              <a:prstGeom prst="rect">
                <a:avLst/>
              </a:prstGeom>
              <a:blipFill rotWithShape="0">
                <a:blip r:embed="rId12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835288" y="3067232"/>
                <a:ext cx="402674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latin typeface="Cambria Math" charset="0"/>
                        </a:rPr>
                        <m:t>(</m:t>
                      </m:r>
                      <m:r>
                        <a:rPr lang="ru-RU" sz="1050" b="0" i="1" smtClean="0">
                          <a:latin typeface="Cambria Math" charset="0"/>
                        </a:rPr>
                        <m:t>2</m:t>
                      </m:r>
                      <m:r>
                        <a:rPr lang="en-US" sz="1050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ru-RU" sz="105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5288" y="3067232"/>
                <a:ext cx="402674" cy="253916"/>
              </a:xfrm>
              <a:prstGeom prst="rect">
                <a:avLst/>
              </a:prstGeom>
              <a:blipFill rotWithShape="0">
                <a:blip r:embed="rId13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6163046" y="2334278"/>
                <a:ext cx="402674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latin typeface="Cambria Math" charset="0"/>
                        </a:rPr>
                        <m:t>(</m:t>
                      </m:r>
                      <m:r>
                        <a:rPr lang="ru-RU" sz="1050" b="0" i="1" smtClean="0">
                          <a:latin typeface="Cambria Math" charset="0"/>
                        </a:rPr>
                        <m:t>2</m:t>
                      </m:r>
                      <m:r>
                        <a:rPr lang="en-US" sz="1050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ru-RU" sz="105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3046" y="2334278"/>
                <a:ext cx="402674" cy="253916"/>
              </a:xfrm>
              <a:prstGeom prst="rect">
                <a:avLst/>
              </a:prstGeom>
              <a:blipFill rotWithShape="0">
                <a:blip r:embed="rId14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6413728" y="1751930"/>
                <a:ext cx="34977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charset="0"/>
                        </a:rPr>
                        <m:t>(</m:t>
                      </m:r>
                      <m:r>
                        <a:rPr lang="ru-RU" sz="800" b="0" i="1" smtClean="0">
                          <a:latin typeface="Cambria Math" charset="0"/>
                        </a:rPr>
                        <m:t>1</m:t>
                      </m:r>
                      <m:r>
                        <a:rPr lang="en-US" sz="800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ru-RU" sz="8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728" y="1751930"/>
                <a:ext cx="349776" cy="215444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7379537" y="3576093"/>
                <a:ext cx="402674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latin typeface="Cambria Math" charset="0"/>
                        </a:rPr>
                        <m:t>(</m:t>
                      </m:r>
                      <m:r>
                        <a:rPr lang="ru-RU" sz="1050" b="0" i="1" smtClean="0">
                          <a:latin typeface="Cambria Math" charset="0"/>
                        </a:rPr>
                        <m:t>2</m:t>
                      </m:r>
                      <m:r>
                        <a:rPr lang="en-US" sz="1050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ru-RU" sz="105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537" y="3576093"/>
                <a:ext cx="402674" cy="253916"/>
              </a:xfrm>
              <a:prstGeom prst="rect">
                <a:avLst/>
              </a:prstGeom>
              <a:blipFill rotWithShape="0">
                <a:blip r:embed="rId14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8080787" y="3080168"/>
                <a:ext cx="402674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latin typeface="Cambria Math" charset="0"/>
                        </a:rPr>
                        <m:t>(</m:t>
                      </m:r>
                      <m:r>
                        <a:rPr lang="ru-RU" sz="1050" b="0" i="1" smtClean="0">
                          <a:latin typeface="Cambria Math" charset="0"/>
                        </a:rPr>
                        <m:t>1</m:t>
                      </m:r>
                      <m:r>
                        <a:rPr lang="en-US" sz="1050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ru-RU" sz="105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0787" y="3080168"/>
                <a:ext cx="402674" cy="253916"/>
              </a:xfrm>
              <a:prstGeom prst="rect">
                <a:avLst/>
              </a:prstGeom>
              <a:blipFill rotWithShape="0">
                <a:blip r:embed="rId12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127616" y="1123355"/>
                <a:ext cx="212147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/>
                  <a:t>б)</a:t>
                </a:r>
                <a14:m>
                  <m:oMath xmlns:m="http://schemas.openxmlformats.org/officeDocument/2006/math">
                    <m:r>
                      <a:rPr lang="en-US" sz="1200" b="0" i="0" dirty="0" smtClean="0">
                        <a:latin typeface="Cambria Math" charset="0"/>
                      </a:rPr>
                      <m:t>  </m:t>
                    </m:r>
                    <m:r>
                      <a:rPr lang="en-US" sz="1200" b="0" i="1" dirty="0" smtClean="0">
                        <a:latin typeface="Cambria Math" charset="0"/>
                      </a:rPr>
                      <m:t>𝑆𝐻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⊥</m:t>
                    </m:r>
                    <m:r>
                      <a:rPr lang="en-US" sz="1200" b="0" i="1" dirty="0" smtClean="0">
                        <a:latin typeface="Cambria Math" charset="0"/>
                      </a:rPr>
                      <m:t>(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𝐴𝐵𝐶</m:t>
                    </m:r>
                    <m:r>
                      <a:rPr lang="en-US" sz="1200" b="0" i="1" dirty="0" smtClean="0">
                        <a:latin typeface="Cambria Math" charset="0"/>
                      </a:rPr>
                      <m:t>) ⟹</m:t>
                    </m:r>
                    <m:r>
                      <a:rPr lang="en-US" sz="1200" b="0" i="1" dirty="0" smtClean="0">
                        <a:latin typeface="Cambria Math" charset="0"/>
                      </a:rPr>
                      <m:t>𝑆𝐻</m:t>
                    </m:r>
                    <m:r>
                      <a:rPr lang="en-US" sz="1200" b="0" i="1" dirty="0" smtClean="0">
                        <a:latin typeface="Cambria Math" charset="0"/>
                      </a:rPr>
                      <m:t>⊥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𝐾𝑀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16" y="1123355"/>
                <a:ext cx="2121478" cy="276999"/>
              </a:xfrm>
              <a:prstGeom prst="rect">
                <a:avLst/>
              </a:prstGeom>
              <a:blipFill rotWithShape="0">
                <a:blip r:embed="rId16"/>
                <a:stretch>
                  <a:fillRect l="-287"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Прямая соединительная линия 50"/>
          <p:cNvCxnSpPr>
            <a:stCxn id="17" idx="2"/>
          </p:cNvCxnSpPr>
          <p:nvPr/>
        </p:nvCxnSpPr>
        <p:spPr>
          <a:xfrm flipH="1">
            <a:off x="6159620" y="1511375"/>
            <a:ext cx="619704" cy="228858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 flipV="1">
            <a:off x="6157129" y="2873074"/>
            <a:ext cx="1250121" cy="932557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>
            <a:endCxn id="17" idx="2"/>
          </p:cNvCxnSpPr>
          <p:nvPr/>
        </p:nvCxnSpPr>
        <p:spPr>
          <a:xfrm flipH="1" flipV="1">
            <a:off x="6779324" y="1511375"/>
            <a:ext cx="650717" cy="1351539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единительная линия 59"/>
          <p:cNvCxnSpPr/>
          <p:nvPr/>
        </p:nvCxnSpPr>
        <p:spPr>
          <a:xfrm flipH="1" flipV="1">
            <a:off x="6773290" y="1511375"/>
            <a:ext cx="30958" cy="1817817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6721775" y="3282543"/>
                <a:ext cx="31027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charset="0"/>
                        </a:rPr>
                        <m:t>𝐻</m:t>
                      </m:r>
                    </m:oMath>
                  </m:oMathPara>
                </a14:m>
                <a:endParaRPr lang="ru-RU" sz="1000" dirty="0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1775" y="3282543"/>
                <a:ext cx="310277" cy="246221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Овал 64"/>
          <p:cNvSpPr/>
          <p:nvPr/>
        </p:nvSpPr>
        <p:spPr>
          <a:xfrm flipH="1" flipV="1">
            <a:off x="6785325" y="3312150"/>
            <a:ext cx="50291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Полилиния 65"/>
          <p:cNvSpPr/>
          <p:nvPr/>
        </p:nvSpPr>
        <p:spPr>
          <a:xfrm>
            <a:off x="6163453" y="1522825"/>
            <a:ext cx="1249680" cy="2286000"/>
          </a:xfrm>
          <a:custGeom>
            <a:avLst/>
            <a:gdLst>
              <a:gd name="connsiteX0" fmla="*/ 0 w 1249680"/>
              <a:gd name="connsiteY0" fmla="*/ 2286000 h 2286000"/>
              <a:gd name="connsiteX1" fmla="*/ 609600 w 1249680"/>
              <a:gd name="connsiteY1" fmla="*/ 0 h 2286000"/>
              <a:gd name="connsiteX2" fmla="*/ 1249680 w 1249680"/>
              <a:gd name="connsiteY2" fmla="*/ 1330960 h 2286000"/>
              <a:gd name="connsiteX3" fmla="*/ 0 w 1249680"/>
              <a:gd name="connsiteY3" fmla="*/ 22860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49680" h="2286000">
                <a:moveTo>
                  <a:pt x="0" y="2286000"/>
                </a:moveTo>
                <a:lnTo>
                  <a:pt x="609600" y="0"/>
                </a:lnTo>
                <a:lnTo>
                  <a:pt x="1249680" y="1330960"/>
                </a:lnTo>
                <a:lnTo>
                  <a:pt x="0" y="2286000"/>
                </a:lnTo>
                <a:close/>
              </a:path>
            </a:pathLst>
          </a:custGeom>
          <a:solidFill>
            <a:schemeClr val="accent1"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5950008" y="3810429"/>
                <a:ext cx="28795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𝑃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0008" y="3810429"/>
                <a:ext cx="287954" cy="276999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7308304" y="2840037"/>
                <a:ext cx="28795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𝑄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8304" y="2840037"/>
                <a:ext cx="287954" cy="276999"/>
              </a:xfrm>
              <a:prstGeom prst="rect">
                <a:avLst/>
              </a:prstGeom>
              <a:blipFill rotWithShape="0">
                <a:blip r:embed="rId19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Прямая соединительная линия 68"/>
          <p:cNvCxnSpPr/>
          <p:nvPr/>
        </p:nvCxnSpPr>
        <p:spPr>
          <a:xfrm flipV="1">
            <a:off x="6625897" y="1994832"/>
            <a:ext cx="363776" cy="1469814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6927944" y="1728862"/>
                <a:ext cx="32213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𝐸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7944" y="1728862"/>
                <a:ext cx="322139" cy="276999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6479730" y="3435671"/>
                <a:ext cx="32213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𝐹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9730" y="3435671"/>
                <a:ext cx="322139" cy="276999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Треугольник 74"/>
          <p:cNvSpPr/>
          <p:nvPr/>
        </p:nvSpPr>
        <p:spPr>
          <a:xfrm>
            <a:off x="2485340" y="1480181"/>
            <a:ext cx="2330174" cy="1589687"/>
          </a:xfrm>
          <a:prstGeom prst="triangle">
            <a:avLst>
              <a:gd name="adj" fmla="val 50576"/>
            </a:avLst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3570327" y="1216989"/>
                <a:ext cx="32284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𝑆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0327" y="1216989"/>
                <a:ext cx="322845" cy="307777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2197386" y="3062965"/>
                <a:ext cx="28795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𝑃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7386" y="3062965"/>
                <a:ext cx="287954" cy="276999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4797600" y="3056061"/>
                <a:ext cx="28795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𝑄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7600" y="3056061"/>
                <a:ext cx="287954" cy="276999"/>
              </a:xfrm>
              <a:prstGeom prst="rect">
                <a:avLst/>
              </a:prstGeom>
              <a:blipFill rotWithShape="0">
                <a:blip r:embed="rId24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Прямая соединительная линия 78"/>
          <p:cNvCxnSpPr>
            <a:stCxn id="75" idx="3"/>
            <a:endCxn id="75" idx="0"/>
          </p:cNvCxnSpPr>
          <p:nvPr/>
        </p:nvCxnSpPr>
        <p:spPr>
          <a:xfrm flipV="1">
            <a:off x="3663849" y="1480181"/>
            <a:ext cx="0" cy="1589687"/>
          </a:xfrm>
          <a:prstGeom prst="line">
            <a:avLst/>
          </a:prstGeom>
          <a:ln>
            <a:solidFill>
              <a:srgbClr val="00206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3552710" y="3048067"/>
                <a:ext cx="3366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𝐻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2710" y="3048067"/>
                <a:ext cx="336631" cy="276999"/>
              </a:xfrm>
              <a:prstGeom prst="rect">
                <a:avLst/>
              </a:prstGeom>
              <a:blipFill rotWithShape="0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Прямая соединительная линия 83"/>
          <p:cNvCxnSpPr/>
          <p:nvPr/>
        </p:nvCxnSpPr>
        <p:spPr>
          <a:xfrm flipV="1">
            <a:off x="3203848" y="1975166"/>
            <a:ext cx="821722" cy="1094702"/>
          </a:xfrm>
          <a:prstGeom prst="line">
            <a:avLst/>
          </a:prstGeom>
          <a:ln>
            <a:solidFill>
              <a:srgbClr val="00206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3862565" y="1982149"/>
                <a:ext cx="32213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𝐸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2565" y="1982149"/>
                <a:ext cx="322139" cy="276999"/>
              </a:xfrm>
              <a:prstGeom prst="rect">
                <a:avLst/>
              </a:prstGeom>
              <a:blipFill rotWithShape="0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3005123" y="3069868"/>
                <a:ext cx="32213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𝐹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5123" y="3069868"/>
                <a:ext cx="322139" cy="276999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3597713" y="1731684"/>
                <a:ext cx="402674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latin typeface="Cambria Math" charset="0"/>
                        </a:rPr>
                        <m:t>(</m:t>
                      </m:r>
                      <m:r>
                        <a:rPr lang="ru-RU" sz="1050" b="0" i="1" smtClean="0">
                          <a:latin typeface="Cambria Math" charset="0"/>
                        </a:rPr>
                        <m:t>1</m:t>
                      </m:r>
                      <m:r>
                        <a:rPr lang="en-US" sz="1050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ru-RU" sz="1050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7713" y="1731684"/>
                <a:ext cx="402674" cy="253916"/>
              </a:xfrm>
              <a:prstGeom prst="rect">
                <a:avLst/>
              </a:prstGeom>
              <a:blipFill rotWithShape="0">
                <a:blip r:embed="rId27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4307738" y="2284595"/>
                <a:ext cx="402674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latin typeface="Cambria Math" charset="0"/>
                        </a:rPr>
                        <m:t>(</m:t>
                      </m:r>
                      <m:r>
                        <a:rPr lang="ru-RU" sz="1050" b="0" i="1" smtClean="0">
                          <a:latin typeface="Cambria Math" charset="0"/>
                        </a:rPr>
                        <m:t>2</m:t>
                      </m:r>
                      <m:r>
                        <a:rPr lang="en-US" sz="1050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ru-RU" sz="1050" dirty="0"/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738" y="2284595"/>
                <a:ext cx="402674" cy="253916"/>
              </a:xfrm>
              <a:prstGeom prst="rect">
                <a:avLst/>
              </a:prstGeom>
              <a:blipFill rotWithShape="0">
                <a:blip r:embed="rId14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Прямая соединительная линия 90"/>
          <p:cNvCxnSpPr/>
          <p:nvPr/>
        </p:nvCxnSpPr>
        <p:spPr>
          <a:xfrm flipV="1">
            <a:off x="4022650" y="1503796"/>
            <a:ext cx="353527" cy="463578"/>
          </a:xfrm>
          <a:prstGeom prst="line">
            <a:avLst/>
          </a:prstGeom>
          <a:ln>
            <a:solidFill>
              <a:srgbClr val="00206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Прямая соединительная линия 92"/>
          <p:cNvCxnSpPr/>
          <p:nvPr/>
        </p:nvCxnSpPr>
        <p:spPr>
          <a:xfrm>
            <a:off x="3681451" y="1483774"/>
            <a:ext cx="757309" cy="12230"/>
          </a:xfrm>
          <a:prstGeom prst="line">
            <a:avLst/>
          </a:prstGeom>
          <a:ln>
            <a:solidFill>
              <a:srgbClr val="00206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/>
              <p:cNvSpPr txBox="1"/>
              <p:nvPr/>
            </p:nvSpPr>
            <p:spPr>
              <a:xfrm>
                <a:off x="4126215" y="1248598"/>
                <a:ext cx="54448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𝐺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7" name="TextBox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6215" y="1248598"/>
                <a:ext cx="544485" cy="276999"/>
              </a:xfrm>
              <a:prstGeom prst="rect">
                <a:avLst/>
              </a:prstGeom>
              <a:blipFill rotWithShape="0"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" name="Прямая соединительная линия 97"/>
          <p:cNvCxnSpPr/>
          <p:nvPr/>
        </p:nvCxnSpPr>
        <p:spPr>
          <a:xfrm>
            <a:off x="3664636" y="1483713"/>
            <a:ext cx="464218" cy="337122"/>
          </a:xfrm>
          <a:prstGeom prst="line">
            <a:avLst/>
          </a:prstGeom>
          <a:ln>
            <a:solidFill>
              <a:srgbClr val="00206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Полилиния 103"/>
          <p:cNvSpPr/>
          <p:nvPr/>
        </p:nvSpPr>
        <p:spPr>
          <a:xfrm>
            <a:off x="4003040" y="1595120"/>
            <a:ext cx="223520" cy="213360"/>
          </a:xfrm>
          <a:custGeom>
            <a:avLst/>
            <a:gdLst>
              <a:gd name="connsiteX0" fmla="*/ 0 w 223520"/>
              <a:gd name="connsiteY0" fmla="*/ 121920 h 213360"/>
              <a:gd name="connsiteX1" fmla="*/ 91440 w 223520"/>
              <a:gd name="connsiteY1" fmla="*/ 0 h 213360"/>
              <a:gd name="connsiteX2" fmla="*/ 223520 w 223520"/>
              <a:gd name="connsiteY2" fmla="*/ 91440 h 213360"/>
              <a:gd name="connsiteX3" fmla="*/ 132080 w 223520"/>
              <a:gd name="connsiteY3" fmla="*/ 213360 h 213360"/>
              <a:gd name="connsiteX4" fmla="*/ 0 w 223520"/>
              <a:gd name="connsiteY4" fmla="*/ 121920 h 213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520" h="213360">
                <a:moveTo>
                  <a:pt x="0" y="121920"/>
                </a:moveTo>
                <a:lnTo>
                  <a:pt x="91440" y="0"/>
                </a:lnTo>
                <a:lnTo>
                  <a:pt x="223520" y="91440"/>
                </a:lnTo>
                <a:lnTo>
                  <a:pt x="132080" y="213360"/>
                </a:lnTo>
                <a:lnTo>
                  <a:pt x="0" y="121920"/>
                </a:lnTo>
                <a:close/>
              </a:path>
            </a:pathLst>
          </a:custGeom>
          <a:solidFill>
            <a:schemeClr val="bg1">
              <a:lumMod val="85000"/>
              <a:alpha val="49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/>
              <p:cNvSpPr txBox="1"/>
              <p:nvPr/>
            </p:nvSpPr>
            <p:spPr>
              <a:xfrm>
                <a:off x="4067944" y="1750055"/>
                <a:ext cx="32213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𝑇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5" name="Text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944" y="1750055"/>
                <a:ext cx="322139" cy="276999"/>
              </a:xfrm>
              <a:prstGeom prst="rect">
                <a:avLst/>
              </a:prstGeom>
              <a:blipFill rotWithShape="0"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/>
              <p:cNvSpPr txBox="1"/>
              <p:nvPr/>
            </p:nvSpPr>
            <p:spPr>
              <a:xfrm>
                <a:off x="127616" y="1618450"/>
                <a:ext cx="25732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/>
                  <a:t>Рассмотрим параллелограмм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charset="0"/>
                      </a:rPr>
                      <m:t>𝑃𝑆𝐺𝐹</m:t>
                    </m:r>
                    <m:r>
                      <a:rPr lang="en-US" sz="1200" b="0" i="1" smtClean="0">
                        <a:latin typeface="Cambria Math" charset="0"/>
                      </a:rPr>
                      <m:t>.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" name="TextBox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16" y="1618450"/>
                <a:ext cx="2573269" cy="276999"/>
              </a:xfrm>
              <a:prstGeom prst="rect">
                <a:avLst/>
              </a:prstGeom>
              <a:blipFill rotWithShape="0">
                <a:blip r:embed="rId30"/>
                <a:stretch>
                  <a:fillRect l="-237"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/>
              <p:cNvSpPr txBox="1"/>
              <p:nvPr/>
            </p:nvSpPr>
            <p:spPr>
              <a:xfrm>
                <a:off x="127742" y="1901703"/>
                <a:ext cx="19940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</a:rPr>
                            <m:t>𝑃𝑆𝐺𝐹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𝑃𝑆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𝑆𝑇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𝑃𝐹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𝑆𝐻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7" name="TextBox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42" y="1901703"/>
                <a:ext cx="1994072" cy="276999"/>
              </a:xfrm>
              <a:prstGeom prst="rect">
                <a:avLst/>
              </a:prstGeom>
              <a:blipFill rotWithShape="0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/>
              <p:cNvSpPr txBox="1"/>
              <p:nvPr/>
            </p:nvSpPr>
            <p:spPr>
              <a:xfrm>
                <a:off x="127742" y="2158468"/>
                <a:ext cx="1170000" cy="4392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𝑆𝑇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𝑃𝐹</m:t>
                          </m:r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𝑆𝐻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𝑆𝑃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8" name="TextBox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42" y="2158468"/>
                <a:ext cx="1170000" cy="439287"/>
              </a:xfrm>
              <a:prstGeom prst="rect">
                <a:avLst/>
              </a:prstGeom>
              <a:blipFill rotWithShape="0">
                <a:blip r:embed="rId3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/>
              <p:cNvSpPr txBox="1"/>
              <p:nvPr/>
            </p:nvSpPr>
            <p:spPr>
              <a:xfrm>
                <a:off x="127742" y="2541548"/>
                <a:ext cx="1733488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𝑃𝐹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𝑃𝑄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𝐴𝐵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9" name="TextBox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42" y="2541548"/>
                <a:ext cx="1733488" cy="439223"/>
              </a:xfrm>
              <a:prstGeom prst="rect">
                <a:avLst/>
              </a:prstGeom>
              <a:blipFill rotWithShape="0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0" name="Прямая соединительная линия 109"/>
          <p:cNvCxnSpPr>
            <a:stCxn id="65" idx="2"/>
          </p:cNvCxnSpPr>
          <p:nvPr/>
        </p:nvCxnSpPr>
        <p:spPr>
          <a:xfrm flipV="1">
            <a:off x="6835616" y="2878367"/>
            <a:ext cx="1765818" cy="456642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/>
              <p:cNvSpPr txBox="1"/>
              <p:nvPr/>
            </p:nvSpPr>
            <p:spPr>
              <a:xfrm>
                <a:off x="148929" y="2907644"/>
                <a:ext cx="1628394" cy="3225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𝑆𝐻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</m:t>
                          </m:r>
                          <m:sSup>
                            <m:sSupPr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</m:t>
                          </m:r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𝐻</m:t>
                          </m:r>
                          <m:sSup>
                            <m:sSupPr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</m:oMath>
                  </m:oMathPara>
                </a14:m>
                <a:endParaRPr lang="en-US" sz="1200" b="0" dirty="0" smtClean="0"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114" name="TextBox 1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29" y="2907644"/>
                <a:ext cx="1628394" cy="322589"/>
              </a:xfrm>
              <a:prstGeom prst="rect">
                <a:avLst/>
              </a:prstGeom>
              <a:blipFill rotWithShape="0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/>
              <p:cNvSpPr txBox="1"/>
              <p:nvPr/>
            </p:nvSpPr>
            <p:spPr>
              <a:xfrm>
                <a:off x="138769" y="3160649"/>
                <a:ext cx="1205650" cy="637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200" b="0" i="1" smtClean="0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200" b="0" i="1" smtClean="0">
                                          <a:latin typeface="Cambria Math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fPr>
                                    <m:num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sz="1200" b="0" i="1" smtClean="0">
                                              <a:latin typeface="Cambria Math"/>
                                              <a:ea typeface="Cambria Math" charset="0"/>
                                              <a:cs typeface="Cambria Math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1200" b="0" i="1" smtClean="0"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2</m:t>
                                          </m:r>
                                        </m:e>
                                      </m:rad>
                                    </m:num>
                                    <m:den>
                                      <m:r>
                                        <a:rPr lang="en-US" sz="1200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200" b="0" dirty="0" smtClean="0"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115" name="TextBox 1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69" y="3160649"/>
                <a:ext cx="1205650" cy="637995"/>
              </a:xfrm>
              <a:prstGeom prst="rect">
                <a:avLst/>
              </a:prstGeom>
              <a:blipFill rotWithShape="0"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/>
              <p:cNvSpPr txBox="1"/>
              <p:nvPr/>
            </p:nvSpPr>
            <p:spPr>
              <a:xfrm>
                <a:off x="1155717" y="3266127"/>
                <a:ext cx="570541" cy="4801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200" b="0" dirty="0" smtClean="0"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116" name="TextBox 1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717" y="3266127"/>
                <a:ext cx="570541" cy="480196"/>
              </a:xfrm>
              <a:prstGeom prst="rect">
                <a:avLst/>
              </a:prstGeom>
              <a:blipFill rotWithShape="0"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Полилиния 116"/>
          <p:cNvSpPr/>
          <p:nvPr/>
        </p:nvSpPr>
        <p:spPr>
          <a:xfrm>
            <a:off x="5984240" y="3627120"/>
            <a:ext cx="223520" cy="162560"/>
          </a:xfrm>
          <a:custGeom>
            <a:avLst/>
            <a:gdLst>
              <a:gd name="connsiteX0" fmla="*/ 223520 w 223520"/>
              <a:gd name="connsiteY0" fmla="*/ 10160 h 162560"/>
              <a:gd name="connsiteX1" fmla="*/ 30480 w 223520"/>
              <a:gd name="connsiteY1" fmla="*/ 0 h 162560"/>
              <a:gd name="connsiteX2" fmla="*/ 0 w 223520"/>
              <a:gd name="connsiteY2" fmla="*/ 162560 h 162560"/>
              <a:gd name="connsiteX3" fmla="*/ 172720 w 223520"/>
              <a:gd name="connsiteY3" fmla="*/ 162560 h 162560"/>
              <a:gd name="connsiteX4" fmla="*/ 223520 w 223520"/>
              <a:gd name="connsiteY4" fmla="*/ 10160 h 1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520" h="162560">
                <a:moveTo>
                  <a:pt x="223520" y="10160"/>
                </a:moveTo>
                <a:lnTo>
                  <a:pt x="30480" y="0"/>
                </a:lnTo>
                <a:lnTo>
                  <a:pt x="0" y="162560"/>
                </a:lnTo>
                <a:lnTo>
                  <a:pt x="172720" y="162560"/>
                </a:lnTo>
                <a:lnTo>
                  <a:pt x="223520" y="10160"/>
                </a:lnTo>
                <a:close/>
              </a:path>
            </a:pathLst>
          </a:custGeom>
          <a:solidFill>
            <a:schemeClr val="bg1">
              <a:lumMod val="85000"/>
              <a:alpha val="39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/>
              <p:cNvSpPr txBox="1"/>
              <p:nvPr/>
            </p:nvSpPr>
            <p:spPr>
              <a:xfrm>
                <a:off x="158051" y="3789680"/>
                <a:ext cx="1456617" cy="3225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𝑆𝑃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</m:t>
                          </m:r>
                          <m:sSup>
                            <m:sSupPr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</m:t>
                          </m:r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𝑃</m:t>
                          </m:r>
                          <m:sSup>
                            <m:sSupPr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200" b="0" dirty="0" smtClean="0"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118" name="TextBox 1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051" y="3789680"/>
                <a:ext cx="1456617" cy="322589"/>
              </a:xfrm>
              <a:prstGeom prst="rect">
                <a:avLst/>
              </a:prstGeom>
              <a:blipFill rotWithShape="0"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/>
              <p:cNvSpPr txBox="1"/>
              <p:nvPr/>
            </p:nvSpPr>
            <p:spPr>
              <a:xfrm>
                <a:off x="1449440" y="3627120"/>
                <a:ext cx="1128386" cy="637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en-US" sz="1200" b="0" i="1" smtClean="0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200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200" b="0" dirty="0" smtClean="0"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119" name="TextBox 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9440" y="3627120"/>
                <a:ext cx="1128386" cy="637995"/>
              </a:xfrm>
              <a:prstGeom prst="rect">
                <a:avLst/>
              </a:prstGeom>
              <a:blipFill rotWithShape="0"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/>
              <p:cNvSpPr txBox="1"/>
              <p:nvPr/>
            </p:nvSpPr>
            <p:spPr>
              <a:xfrm>
                <a:off x="2431197" y="3706339"/>
                <a:ext cx="570541" cy="4795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200" b="0" dirty="0" smtClean="0"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120" name="TextBox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1197" y="3706339"/>
                <a:ext cx="570541" cy="479555"/>
              </a:xfrm>
              <a:prstGeom prst="rect">
                <a:avLst/>
              </a:prstGeom>
              <a:blipFill rotWithShape="0"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/>
              <p:cNvSpPr txBox="1"/>
              <p:nvPr/>
            </p:nvSpPr>
            <p:spPr>
              <a:xfrm>
                <a:off x="137318" y="4040787"/>
                <a:ext cx="980012" cy="7915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𝑆𝑇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en-US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1200" i="1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2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2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US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1200" i="1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2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3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318" y="4040787"/>
                <a:ext cx="980012" cy="791563"/>
              </a:xfrm>
              <a:prstGeom prst="rect">
                <a:avLst/>
              </a:prstGeom>
              <a:blipFill rotWithShape="0"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/>
              <p:cNvSpPr txBox="1"/>
              <p:nvPr/>
            </p:nvSpPr>
            <p:spPr>
              <a:xfrm>
                <a:off x="942806" y="4166377"/>
                <a:ext cx="564129" cy="4807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ru-RU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6</m:t>
                              </m:r>
                            </m:e>
                          </m:rad>
                        </m:num>
                        <m:den>
                          <m:r>
                            <a:rPr lang="ru-RU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806" y="4166377"/>
                <a:ext cx="564129" cy="480773"/>
              </a:xfrm>
              <a:prstGeom prst="rect">
                <a:avLst/>
              </a:prstGeom>
              <a:blipFill rotWithShape="0">
                <a:blip r:embed="rId41"/>
                <a:stretch>
                  <a:fillRect b="-12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Полилиния 122"/>
          <p:cNvSpPr/>
          <p:nvPr/>
        </p:nvSpPr>
        <p:spPr>
          <a:xfrm>
            <a:off x="3667760" y="2926080"/>
            <a:ext cx="162560" cy="142240"/>
          </a:xfrm>
          <a:custGeom>
            <a:avLst/>
            <a:gdLst>
              <a:gd name="connsiteX0" fmla="*/ 10160 w 162560"/>
              <a:gd name="connsiteY0" fmla="*/ 0 h 142240"/>
              <a:gd name="connsiteX1" fmla="*/ 162560 w 162560"/>
              <a:gd name="connsiteY1" fmla="*/ 0 h 142240"/>
              <a:gd name="connsiteX2" fmla="*/ 162560 w 162560"/>
              <a:gd name="connsiteY2" fmla="*/ 142240 h 142240"/>
              <a:gd name="connsiteX3" fmla="*/ 0 w 162560"/>
              <a:gd name="connsiteY3" fmla="*/ 142240 h 142240"/>
              <a:gd name="connsiteX4" fmla="*/ 10160 w 162560"/>
              <a:gd name="connsiteY4" fmla="*/ 0 h 142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2560" h="142240">
                <a:moveTo>
                  <a:pt x="10160" y="0"/>
                </a:moveTo>
                <a:lnTo>
                  <a:pt x="162560" y="0"/>
                </a:lnTo>
                <a:lnTo>
                  <a:pt x="162560" y="142240"/>
                </a:lnTo>
                <a:lnTo>
                  <a:pt x="0" y="142240"/>
                </a:lnTo>
                <a:lnTo>
                  <a:pt x="10160" y="0"/>
                </a:lnTo>
                <a:close/>
              </a:path>
            </a:pathLst>
          </a:custGeom>
          <a:solidFill>
            <a:schemeClr val="bg1">
              <a:lumMod val="85000"/>
              <a:alpha val="47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/>
              <p:cNvSpPr txBox="1"/>
              <p:nvPr/>
            </p:nvSpPr>
            <p:spPr>
              <a:xfrm>
                <a:off x="2431197" y="4360700"/>
                <a:ext cx="1126847" cy="534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b="1" dirty="0" smtClean="0">
                    <a:solidFill>
                      <a:srgbClr val="FF0000"/>
                    </a:solidFill>
                  </a:rPr>
                  <a:t>Ответ: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 charset="0"/>
                                <a:cs typeface="Cambria Math" charset="0"/>
                              </a:rPr>
                            </m:ctrlPr>
                          </m:radPr>
                          <m:deg/>
                          <m:e>
                            <m:r>
                              <a:rPr lang="ru-RU" b="1" i="1">
                                <a:solidFill>
                                  <a:srgbClr val="FF0000"/>
                                </a:solidFill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𝟔</m:t>
                            </m:r>
                          </m:e>
                        </m:rad>
                      </m:num>
                      <m:den>
                        <m:r>
                          <a:rPr lang="ru-RU" b="1" i="1">
                            <a:solidFill>
                              <a:srgbClr val="FF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𝟗</m:t>
                        </m:r>
                      </m:den>
                    </m:f>
                  </m:oMath>
                </a14:m>
                <a:endParaRPr lang="ru-RU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4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1197" y="4360700"/>
                <a:ext cx="1126847" cy="534249"/>
              </a:xfrm>
              <a:prstGeom prst="rect">
                <a:avLst/>
              </a:prstGeom>
              <a:blipFill rotWithShape="0">
                <a:blip r:embed="rId42"/>
                <a:stretch>
                  <a:fillRect l="-4865" b="-68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119135" y="1396115"/>
                <a:ext cx="8555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𝑃𝑄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⊥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𝐾𝑀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35" y="1396115"/>
                <a:ext cx="855555" cy="276999"/>
              </a:xfrm>
              <a:prstGeom prst="rect">
                <a:avLst/>
              </a:prstGeom>
              <a:blipFill rotWithShape="0">
                <a:blip r:embed="rId43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841031" y="1388847"/>
                <a:ext cx="128945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⟹(</m:t>
                      </m:r>
                      <m:r>
                        <a:rPr lang="en-US" sz="1200" i="1" dirty="0" smtClean="0">
                          <a:latin typeface="Cambria Math" charset="0"/>
                        </a:rPr>
                        <m:t>𝑃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𝑆𝑄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)⊥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𝐾𝑀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031" y="1388847"/>
                <a:ext cx="1289456" cy="276999"/>
              </a:xfrm>
              <a:prstGeom prst="rect">
                <a:avLst/>
              </a:prstGeom>
              <a:blipFill rotWithShape="0">
                <a:blip r:embed="rId44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Полилиния 2"/>
          <p:cNvSpPr/>
          <p:nvPr/>
        </p:nvSpPr>
        <p:spPr>
          <a:xfrm>
            <a:off x="5494231" y="1960975"/>
            <a:ext cx="2235200" cy="1503680"/>
          </a:xfrm>
          <a:custGeom>
            <a:avLst/>
            <a:gdLst>
              <a:gd name="connsiteX0" fmla="*/ 0 w 2235200"/>
              <a:gd name="connsiteY0" fmla="*/ 1503680 h 1503680"/>
              <a:gd name="connsiteX1" fmla="*/ 1127760 w 2235200"/>
              <a:gd name="connsiteY1" fmla="*/ 20320 h 1503680"/>
              <a:gd name="connsiteX2" fmla="*/ 1889760 w 2235200"/>
              <a:gd name="connsiteY2" fmla="*/ 0 h 1503680"/>
              <a:gd name="connsiteX3" fmla="*/ 2235200 w 2235200"/>
              <a:gd name="connsiteY3" fmla="*/ 1483360 h 1503680"/>
              <a:gd name="connsiteX4" fmla="*/ 0 w 2235200"/>
              <a:gd name="connsiteY4" fmla="*/ 1503680 h 1503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5200" h="1503680">
                <a:moveTo>
                  <a:pt x="0" y="1503680"/>
                </a:moveTo>
                <a:lnTo>
                  <a:pt x="1127760" y="20320"/>
                </a:lnTo>
                <a:lnTo>
                  <a:pt x="1889760" y="0"/>
                </a:lnTo>
                <a:lnTo>
                  <a:pt x="2235200" y="1483360"/>
                </a:lnTo>
                <a:lnTo>
                  <a:pt x="0" y="1503680"/>
                </a:lnTo>
                <a:close/>
              </a:path>
            </a:pathLst>
          </a:custGeom>
          <a:solidFill>
            <a:schemeClr val="accent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1966939" y="1379931"/>
                <a:ext cx="14795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⟹(</m:t>
                      </m:r>
                      <m:r>
                        <a:rPr lang="en-US" sz="1200" i="1" dirty="0" smtClean="0">
                          <a:latin typeface="Cambria Math" charset="0"/>
                        </a:rPr>
                        <m:t>𝑃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𝑆𝑄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)⊥(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𝐾𝑁𝐿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6939" y="1379931"/>
                <a:ext cx="1479572" cy="276999"/>
              </a:xfrm>
              <a:prstGeom prst="rect">
                <a:avLst/>
              </a:prstGeom>
              <a:blipFill rotWithShape="0">
                <a:blip r:embed="rId45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Полилиния 30"/>
          <p:cNvSpPr/>
          <p:nvPr/>
        </p:nvSpPr>
        <p:spPr>
          <a:xfrm>
            <a:off x="5608320" y="3749040"/>
            <a:ext cx="0" cy="121920"/>
          </a:xfrm>
          <a:custGeom>
            <a:avLst/>
            <a:gdLst>
              <a:gd name="connsiteX0" fmla="*/ 0 w 0"/>
              <a:gd name="connsiteY0" fmla="*/ 0 h 121920"/>
              <a:gd name="connsiteX1" fmla="*/ 0 w 0"/>
              <a:gd name="connsiteY1" fmla="*/ 121920 h 121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21920">
                <a:moveTo>
                  <a:pt x="0" y="0"/>
                </a:moveTo>
                <a:lnTo>
                  <a:pt x="0" y="12192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6" name="Полилиния 85"/>
          <p:cNvSpPr/>
          <p:nvPr/>
        </p:nvSpPr>
        <p:spPr>
          <a:xfrm>
            <a:off x="6742095" y="3728720"/>
            <a:ext cx="0" cy="121920"/>
          </a:xfrm>
          <a:custGeom>
            <a:avLst/>
            <a:gdLst>
              <a:gd name="connsiteX0" fmla="*/ 0 w 0"/>
              <a:gd name="connsiteY0" fmla="*/ 0 h 121920"/>
              <a:gd name="connsiteX1" fmla="*/ 0 w 0"/>
              <a:gd name="connsiteY1" fmla="*/ 121920 h 121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21920">
                <a:moveTo>
                  <a:pt x="0" y="0"/>
                </a:moveTo>
                <a:lnTo>
                  <a:pt x="0" y="12192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1636637" y="3367725"/>
                <a:ext cx="164711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0" dirty="0" smtClean="0">
                    <a:ea typeface="Cambria Math" charset="0"/>
                    <a:cs typeface="Cambria Math" charset="0"/>
                  </a:rPr>
                  <a:t>(</a:t>
                </a:r>
                <a:r>
                  <a:rPr lang="ru-RU" sz="1200" b="0" dirty="0" smtClean="0">
                    <a:ea typeface="Cambria Math" charset="0"/>
                    <a:cs typeface="Cambria Math" charset="0"/>
                  </a:rPr>
                  <a:t>из треугольника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𝑆𝐻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𝐶</m:t>
                    </m:r>
                  </m:oMath>
                </a14:m>
                <a:r>
                  <a:rPr lang="ru-RU" sz="1200" b="0" dirty="0" smtClean="0">
                    <a:ea typeface="Cambria Math" charset="0"/>
                    <a:cs typeface="Cambria Math" charset="0"/>
                  </a:rPr>
                  <a:t>)</a:t>
                </a:r>
                <a:endParaRPr lang="en-US" sz="1200" b="0" dirty="0" smtClean="0"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6637" y="3367725"/>
                <a:ext cx="1647118" cy="276999"/>
              </a:xfrm>
              <a:prstGeom prst="rect">
                <a:avLst/>
              </a:prstGeom>
              <a:blipFill rotWithShape="0">
                <a:blip r:embed="rId46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/>
              <p:cNvSpPr txBox="1"/>
              <p:nvPr/>
            </p:nvSpPr>
            <p:spPr>
              <a:xfrm>
                <a:off x="2914966" y="3816420"/>
                <a:ext cx="16548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0" dirty="0" smtClean="0">
                    <a:ea typeface="Cambria Math" charset="0"/>
                    <a:cs typeface="Cambria Math" charset="0"/>
                  </a:rPr>
                  <a:t>(</a:t>
                </a:r>
                <a:r>
                  <a:rPr lang="ru-RU" sz="1200" b="0" dirty="0" smtClean="0">
                    <a:ea typeface="Cambria Math" charset="0"/>
                    <a:cs typeface="Cambria Math" charset="0"/>
                  </a:rPr>
                  <a:t>из треугольника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𝑆</m:t>
                    </m:r>
                    <m:r>
                      <a:rPr lang="en-US" sz="12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𝑃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𝐷</m:t>
                    </m:r>
                  </m:oMath>
                </a14:m>
                <a:r>
                  <a:rPr lang="ru-RU" sz="1200" b="0" dirty="0" smtClean="0">
                    <a:ea typeface="Cambria Math" charset="0"/>
                    <a:cs typeface="Cambria Math" charset="0"/>
                  </a:rPr>
                  <a:t>)</a:t>
                </a:r>
                <a:endParaRPr lang="en-US" sz="1200" b="0" dirty="0" smtClean="0"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4966" y="3816420"/>
                <a:ext cx="1654812" cy="276999"/>
              </a:xfrm>
              <a:prstGeom prst="rect">
                <a:avLst/>
              </a:prstGeom>
              <a:blipFill rotWithShape="0">
                <a:blip r:embed="rId47"/>
                <a:stretch>
                  <a:fillRect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Полилиния 33"/>
          <p:cNvSpPr/>
          <p:nvPr/>
        </p:nvSpPr>
        <p:spPr>
          <a:xfrm>
            <a:off x="2508776" y="1473714"/>
            <a:ext cx="1879600" cy="1595120"/>
          </a:xfrm>
          <a:custGeom>
            <a:avLst/>
            <a:gdLst>
              <a:gd name="connsiteX0" fmla="*/ 0 w 1879600"/>
              <a:gd name="connsiteY0" fmla="*/ 1595120 h 1595120"/>
              <a:gd name="connsiteX1" fmla="*/ 1178560 w 1879600"/>
              <a:gd name="connsiteY1" fmla="*/ 0 h 1595120"/>
              <a:gd name="connsiteX2" fmla="*/ 1879600 w 1879600"/>
              <a:gd name="connsiteY2" fmla="*/ 20320 h 1595120"/>
              <a:gd name="connsiteX3" fmla="*/ 701040 w 1879600"/>
              <a:gd name="connsiteY3" fmla="*/ 1584960 h 1595120"/>
              <a:gd name="connsiteX4" fmla="*/ 0 w 1879600"/>
              <a:gd name="connsiteY4" fmla="*/ 1595120 h 1595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9600" h="1595120">
                <a:moveTo>
                  <a:pt x="0" y="1595120"/>
                </a:moveTo>
                <a:lnTo>
                  <a:pt x="1178560" y="0"/>
                </a:lnTo>
                <a:lnTo>
                  <a:pt x="1879600" y="20320"/>
                </a:lnTo>
                <a:lnTo>
                  <a:pt x="701040" y="1584960"/>
                </a:lnTo>
                <a:lnTo>
                  <a:pt x="0" y="1595120"/>
                </a:lnTo>
                <a:close/>
              </a:path>
            </a:pathLst>
          </a:custGeom>
          <a:solidFill>
            <a:schemeClr val="accent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69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64" grpId="0"/>
      <p:bldP spid="65" grpId="0" animBg="1"/>
      <p:bldP spid="66" grpId="0" animBg="1"/>
      <p:bldP spid="67" grpId="0"/>
      <p:bldP spid="68" grpId="0"/>
      <p:bldP spid="73" grpId="0"/>
      <p:bldP spid="74" grpId="0"/>
      <p:bldP spid="75" grpId="0" animBg="1"/>
      <p:bldP spid="76" grpId="0"/>
      <p:bldP spid="77" grpId="0"/>
      <p:bldP spid="78" grpId="0"/>
      <p:bldP spid="83" grpId="0"/>
      <p:bldP spid="87" grpId="0"/>
      <p:bldP spid="88" grpId="0"/>
      <p:bldP spid="89" grpId="0"/>
      <p:bldP spid="90" grpId="0"/>
      <p:bldP spid="97" grpId="0"/>
      <p:bldP spid="104" grpId="0" animBg="1"/>
      <p:bldP spid="105" grpId="0"/>
      <p:bldP spid="106" grpId="0"/>
      <p:bldP spid="107" grpId="0"/>
      <p:bldP spid="108" grpId="0"/>
      <p:bldP spid="109" grpId="0"/>
      <p:bldP spid="114" grpId="0"/>
      <p:bldP spid="115" grpId="0"/>
      <p:bldP spid="116" grpId="0"/>
      <p:bldP spid="117" grpId="0" animBg="1"/>
      <p:bldP spid="118" grpId="0"/>
      <p:bldP spid="119" grpId="0"/>
      <p:bldP spid="120" grpId="0"/>
      <p:bldP spid="121" grpId="0"/>
      <p:bldP spid="122" grpId="0"/>
      <p:bldP spid="123" grpId="0" animBg="1"/>
      <p:bldP spid="80" grpId="0"/>
      <p:bldP spid="81" grpId="0"/>
      <p:bldP spid="82" grpId="0"/>
      <p:bldP spid="31" grpId="0" animBg="1"/>
      <p:bldP spid="86" grpId="0" animBg="1"/>
      <p:bldP spid="92" grpId="0"/>
      <p:bldP spid="94" grpId="0"/>
      <p:bldP spid="3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18</a:t>
            </a:fld>
            <a:endParaRPr kumimoji="0" lang="ru-RU">
              <a:solidFill>
                <a:schemeClr val="tx2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27584" y="1851670"/>
            <a:ext cx="7416824" cy="627534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rgbClr val="FF0000"/>
                </a:solidFill>
              </a:rPr>
              <a:t>Угол между прямой и плоскостью</a:t>
            </a:r>
            <a:endParaRPr lang="ru-R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78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19</a:t>
            </a:fld>
            <a:endParaRPr kumimoji="0" lang="ru-RU">
              <a:solidFill>
                <a:schemeClr val="tx2"/>
              </a:solidFill>
            </a:endParaRPr>
          </a:p>
        </p:txBody>
      </p:sp>
      <p:sp>
        <p:nvSpPr>
          <p:cNvPr id="3" name="Номер слайда 1"/>
          <p:cNvSpPr txBox="1">
            <a:spLocks/>
          </p:cNvSpPr>
          <p:nvPr/>
        </p:nvSpPr>
        <p:spPr>
          <a:xfrm>
            <a:off x="0" y="4686300"/>
            <a:ext cx="533400" cy="285750"/>
          </a:xfrm>
          <a:prstGeom prst="rect">
            <a:avLst/>
          </a:prstGeom>
        </p:spPr>
        <p:txBody>
          <a:bodyPr vert="horz" anchor="ctr" anchorCtr="0">
            <a:normAutofit lnSpcReduction="10000"/>
          </a:bodyPr>
          <a:lstStyle>
            <a:lvl1pPr marL="0" algn="ctr" rtl="0" eaLnBrk="1" latinLnBrk="0" hangingPunct="1">
              <a:defRPr kumimoji="0" lang="ru-RU"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fld id="{A3F7CB7D-F184-43C7-B6FD-03D728E1BBFF}" type="slidenum">
              <a:rPr lang="is-IS" smtClean="0"/>
              <a:pPr/>
              <a:t>19</a:t>
            </a:fld>
            <a:endParaRPr lang="is-IS"/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5408475" y="3081335"/>
            <a:ext cx="3546179" cy="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>
            <a:off x="5408475" y="3081335"/>
            <a:ext cx="2745197" cy="108012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 flipV="1">
            <a:off x="8153672" y="3081335"/>
            <a:ext cx="800982" cy="108012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>
            <a:off x="7645169" y="1353143"/>
            <a:ext cx="1309485" cy="1728191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 flipH="1">
            <a:off x="5408475" y="1353141"/>
            <a:ext cx="2236694" cy="1728193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104603" y="3009772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4603" y="3009772"/>
                <a:ext cx="340286" cy="30777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 flipH="1">
                <a:off x="8004988" y="4173413"/>
                <a:ext cx="2465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004988" y="4173413"/>
                <a:ext cx="246540" cy="307777"/>
              </a:xfrm>
              <a:prstGeom prst="rect">
                <a:avLst/>
              </a:prstGeom>
              <a:blipFill rotWithShape="0">
                <a:blip r:embed="rId3"/>
                <a:stretch>
                  <a:fillRect r="-73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551687" y="1059582"/>
                <a:ext cx="32284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𝑆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1687" y="1059582"/>
                <a:ext cx="322844" cy="3077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Прямая соединительная линия 11"/>
          <p:cNvCxnSpPr/>
          <p:nvPr/>
        </p:nvCxnSpPr>
        <p:spPr>
          <a:xfrm>
            <a:off x="7645169" y="1353916"/>
            <a:ext cx="508503" cy="2808313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>
            <a:stCxn id="27" idx="2"/>
          </p:cNvCxnSpPr>
          <p:nvPr/>
        </p:nvCxnSpPr>
        <p:spPr>
          <a:xfrm flipH="1">
            <a:off x="6836321" y="3078793"/>
            <a:ext cx="2136500" cy="562922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 flipH="1" flipV="1">
            <a:off x="5420583" y="3080516"/>
            <a:ext cx="3133581" cy="534333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 flipH="1">
                <a:off x="8632817" y="3105092"/>
                <a:ext cx="7122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632817" y="3105092"/>
                <a:ext cx="712236" cy="3077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Овал 15"/>
          <p:cNvSpPr/>
          <p:nvPr/>
        </p:nvSpPr>
        <p:spPr>
          <a:xfrm flipH="1">
            <a:off x="7544218" y="3431215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 flipH="1">
                <a:off x="7422544" y="3441375"/>
                <a:ext cx="2465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𝑂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422544" y="3441375"/>
                <a:ext cx="246540" cy="307777"/>
              </a:xfrm>
              <a:prstGeom prst="rect">
                <a:avLst/>
              </a:prstGeom>
              <a:blipFill rotWithShape="0">
                <a:blip r:embed="rId6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Овал 17"/>
          <p:cNvSpPr/>
          <p:nvPr/>
        </p:nvSpPr>
        <p:spPr>
          <a:xfrm flipH="1">
            <a:off x="8295630" y="2227974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 flipH="1">
                <a:off x="8348367" y="2096944"/>
                <a:ext cx="29831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𝑀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348367" y="2096944"/>
                <a:ext cx="298313" cy="307777"/>
              </a:xfrm>
              <a:prstGeom prst="rect">
                <a:avLst/>
              </a:prstGeom>
              <a:blipFill rotWithShape="0">
                <a:blip r:embed="rId7"/>
                <a:stretch>
                  <a:fillRect r="-20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Прямая соединительная линия 19"/>
          <p:cNvCxnSpPr>
            <a:stCxn id="41" idx="2"/>
          </p:cNvCxnSpPr>
          <p:nvPr/>
        </p:nvCxnSpPr>
        <p:spPr>
          <a:xfrm flipH="1">
            <a:off x="5408474" y="2250834"/>
            <a:ext cx="2932875" cy="844021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 flipH="1">
            <a:off x="8160690" y="2227200"/>
            <a:ext cx="145093" cy="1934255"/>
          </a:xfrm>
          <a:prstGeom prst="line">
            <a:avLst/>
          </a:prstGeom>
          <a:ln w="12700">
            <a:solidFill>
              <a:srgbClr val="00206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Полилиния 21"/>
          <p:cNvSpPr/>
          <p:nvPr/>
        </p:nvSpPr>
        <p:spPr>
          <a:xfrm>
            <a:off x="5423725" y="2242705"/>
            <a:ext cx="2895600" cy="1940560"/>
          </a:xfrm>
          <a:custGeom>
            <a:avLst/>
            <a:gdLst>
              <a:gd name="connsiteX0" fmla="*/ 0 w 2895600"/>
              <a:gd name="connsiteY0" fmla="*/ 833120 h 1940560"/>
              <a:gd name="connsiteX1" fmla="*/ 2895600 w 2895600"/>
              <a:gd name="connsiteY1" fmla="*/ 0 h 1940560"/>
              <a:gd name="connsiteX2" fmla="*/ 2733040 w 2895600"/>
              <a:gd name="connsiteY2" fmla="*/ 1940560 h 1940560"/>
              <a:gd name="connsiteX3" fmla="*/ 0 w 2895600"/>
              <a:gd name="connsiteY3" fmla="*/ 833120 h 1940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5600" h="1940560">
                <a:moveTo>
                  <a:pt x="0" y="833120"/>
                </a:moveTo>
                <a:lnTo>
                  <a:pt x="2895600" y="0"/>
                </a:lnTo>
                <a:lnTo>
                  <a:pt x="2733040" y="1940560"/>
                </a:lnTo>
                <a:lnTo>
                  <a:pt x="0" y="833120"/>
                </a:lnTo>
                <a:close/>
              </a:path>
            </a:pathLst>
          </a:custGeom>
          <a:solidFill>
            <a:schemeClr val="accent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3" name="Прямая соединительная линия 22"/>
          <p:cNvCxnSpPr/>
          <p:nvPr/>
        </p:nvCxnSpPr>
        <p:spPr>
          <a:xfrm flipH="1">
            <a:off x="7572199" y="1352367"/>
            <a:ext cx="72689" cy="2088234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 flipH="1">
            <a:off x="6844187" y="1352367"/>
            <a:ext cx="807719" cy="2290167"/>
          </a:xfrm>
          <a:prstGeom prst="line">
            <a:avLst/>
          </a:prstGeom>
          <a:ln w="12700">
            <a:solidFill>
              <a:srgbClr val="00206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 flipH="1">
                <a:off x="6448593" y="3623659"/>
                <a:ext cx="6213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448593" y="3623659"/>
                <a:ext cx="621344" cy="30777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8468304" y="3544313"/>
                <a:ext cx="41716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304" y="3544313"/>
                <a:ext cx="417165" cy="30777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Полилиния 26"/>
          <p:cNvSpPr/>
          <p:nvPr/>
        </p:nvSpPr>
        <p:spPr>
          <a:xfrm>
            <a:off x="6849381" y="1351593"/>
            <a:ext cx="2123440" cy="2286000"/>
          </a:xfrm>
          <a:custGeom>
            <a:avLst/>
            <a:gdLst>
              <a:gd name="connsiteX0" fmla="*/ 0 w 2123440"/>
              <a:gd name="connsiteY0" fmla="*/ 2286000 h 2286000"/>
              <a:gd name="connsiteX1" fmla="*/ 812800 w 2123440"/>
              <a:gd name="connsiteY1" fmla="*/ 0 h 2286000"/>
              <a:gd name="connsiteX2" fmla="*/ 2123440 w 2123440"/>
              <a:gd name="connsiteY2" fmla="*/ 1727200 h 2286000"/>
              <a:gd name="connsiteX3" fmla="*/ 0 w 2123440"/>
              <a:gd name="connsiteY3" fmla="*/ 22860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3440" h="2286000">
                <a:moveTo>
                  <a:pt x="0" y="2286000"/>
                </a:moveTo>
                <a:lnTo>
                  <a:pt x="812800" y="0"/>
                </a:lnTo>
                <a:lnTo>
                  <a:pt x="2123440" y="1727200"/>
                </a:lnTo>
                <a:lnTo>
                  <a:pt x="0" y="2286000"/>
                </a:lnTo>
                <a:close/>
              </a:path>
            </a:pathLst>
          </a:custGeom>
          <a:solidFill>
            <a:srgbClr val="D4ECBA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Прямая соединительная линия 27"/>
          <p:cNvCxnSpPr>
            <a:stCxn id="41" idx="2"/>
          </p:cNvCxnSpPr>
          <p:nvPr/>
        </p:nvCxnSpPr>
        <p:spPr>
          <a:xfrm flipH="1">
            <a:off x="6844187" y="2250834"/>
            <a:ext cx="1497162" cy="1388159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Прямоугольник 28"/>
              <p:cNvSpPr/>
              <p:nvPr/>
            </p:nvSpPr>
            <p:spPr>
              <a:xfrm>
                <a:off x="0" y="-22136"/>
                <a:ext cx="9144000" cy="1081718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dirty="0" smtClean="0">
                    <a:solidFill>
                      <a:srgbClr val="7030A0"/>
                    </a:solidFill>
                  </a:rPr>
                  <a:t>11.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Дана</a:t>
                </a:r>
                <a:r>
                  <a:rPr lang="ru-RU" sz="1200" b="1" dirty="0" smtClean="0">
                    <a:solidFill>
                      <a:srgbClr val="7030A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треугольная пирамида </a:t>
                </a:r>
                <a:r>
                  <a:rPr lang="ru-RU" sz="1200" b="1" dirty="0" smtClean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𝑺𝑨𝑩𝑪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;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𝑶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− 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en-US" sz="1200" b="1" dirty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>
                    <a:solidFill>
                      <a:srgbClr val="002060"/>
                    </a:solidFill>
                  </a:rPr>
                  <a:t>т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очка пересечения медиан основания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𝑨𝑩𝑪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ru-RU" sz="1200" b="1" i="1" dirty="0" smtClean="0">
                  <a:solidFill>
                    <a:srgbClr val="002060"/>
                  </a:solidFill>
                  <a:latin typeface="Cambria Math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а) Докажите, что плоскость, проходящая через прямую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и середину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𝑴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ребра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𝑺𝑪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,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делит отрезок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𝑺𝑶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в отношении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𝟑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: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𝟏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, считая от вершины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>
                    <a:solidFill>
                      <a:srgbClr val="002060"/>
                    </a:solidFill>
                  </a:rPr>
                  <a:t>б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) Найдите </a:t>
                </a:r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угол между прямой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𝑩𝑪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 и плоскостью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𝑨𝑩𝑴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,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если пирамида правильная, а угол между прямой, проходящей через точку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𝑴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и середину ребра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,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и прямой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𝑺𝑶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равен </a:t>
                </a:r>
                <a14:m>
                  <m:oMath xmlns:m="http://schemas.openxmlformats.org/officeDocument/2006/math"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𝟒𝟓</m:t>
                    </m:r>
                    <m:r>
                      <a:rPr lang="it-IT" sz="1200" b="1" i="1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°</m:t>
                    </m:r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.</m:t>
                    </m:r>
                  </m:oMath>
                </a14:m>
                <a:endParaRPr lang="en-US" sz="12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9" name="Прямоугольник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6"/>
                <a:ext cx="9144000" cy="1081718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Овал 29"/>
          <p:cNvSpPr/>
          <p:nvPr/>
        </p:nvSpPr>
        <p:spPr>
          <a:xfrm flipH="1">
            <a:off x="7565006" y="2921630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 flipH="1">
                <a:off x="3896648" y="2008546"/>
                <a:ext cx="25025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𝑀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896648" y="2008546"/>
                <a:ext cx="250256" cy="307777"/>
              </a:xfrm>
              <a:prstGeom prst="rect">
                <a:avLst/>
              </a:prstGeom>
              <a:blipFill rotWithShape="0">
                <a:blip r:embed="rId11"/>
                <a:stretch>
                  <a:fillRect r="-219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54070" y="1174635"/>
                <a:ext cx="13450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/>
                  <a:t>а) Найдем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</a:rPr>
                      <m:t>𝑃</m:t>
                    </m:r>
                    <m:r>
                      <a:rPr lang="en-US" sz="1200" b="0" i="1" dirty="0" smtClean="0">
                        <a:latin typeface="Cambria Math" charset="0"/>
                      </a:rPr>
                      <m:t>𝑆</m:t>
                    </m:r>
                    <m:r>
                      <a:rPr lang="en-US" sz="1200" b="0" i="1" dirty="0" smtClean="0">
                        <a:latin typeface="Cambria Math" charset="0"/>
                      </a:rPr>
                      <m:t>:</m:t>
                    </m:r>
                    <m:r>
                      <a:rPr lang="en-US" sz="1200" b="0" i="1" dirty="0" smtClean="0">
                        <a:latin typeface="Cambria Math" charset="0"/>
                      </a:rPr>
                      <m:t>𝑂𝑃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70" y="1174635"/>
                <a:ext cx="1345048" cy="276999"/>
              </a:xfrm>
              <a:prstGeom prst="rect">
                <a:avLst/>
              </a:prstGeom>
              <a:blipFill rotWithShape="0">
                <a:blip r:embed="rId12"/>
                <a:stretch>
                  <a:fillRect l="-452"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Треугольник 32"/>
          <p:cNvSpPr/>
          <p:nvPr/>
        </p:nvSpPr>
        <p:spPr>
          <a:xfrm>
            <a:off x="2706700" y="1271037"/>
            <a:ext cx="1710857" cy="1805277"/>
          </a:xfrm>
          <a:prstGeom prst="triangle">
            <a:avLst>
              <a:gd name="adj" fmla="val 38123"/>
            </a:avLst>
          </a:prstGeom>
          <a:solidFill>
            <a:schemeClr val="bg1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3069104" y="1096847"/>
                <a:ext cx="32284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𝑆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104" y="1096847"/>
                <a:ext cx="322844" cy="307777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 flipH="1">
                <a:off x="4225942" y="2990057"/>
                <a:ext cx="7122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225942" y="2990057"/>
                <a:ext cx="712236" cy="307777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 flipH="1">
                <a:off x="2271086" y="2985560"/>
                <a:ext cx="6213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271086" y="2985560"/>
                <a:ext cx="621344" cy="307777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Овал 36"/>
          <p:cNvSpPr/>
          <p:nvPr/>
        </p:nvSpPr>
        <p:spPr>
          <a:xfrm flipH="1">
            <a:off x="3352623" y="3059373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 flipH="1">
                <a:off x="3217406" y="3075806"/>
                <a:ext cx="25025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𝑂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217406" y="3075806"/>
                <a:ext cx="250256" cy="307777"/>
              </a:xfrm>
              <a:prstGeom prst="rect">
                <a:avLst/>
              </a:prstGeom>
              <a:blipFill rotWithShape="0">
                <a:blip r:embed="rId16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 flipH="1">
                <a:off x="3779912" y="3055486"/>
                <a:ext cx="41810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(2)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779912" y="3055486"/>
                <a:ext cx="418108" cy="307777"/>
              </a:xfrm>
              <a:prstGeom prst="rect">
                <a:avLst/>
              </a:prstGeom>
              <a:blipFill rotWithShape="0">
                <a:blip r:embed="rId17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 flipH="1">
                <a:off x="2856666" y="3068472"/>
                <a:ext cx="4433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(1)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856666" y="3068472"/>
                <a:ext cx="443344" cy="307777"/>
              </a:xfrm>
              <a:prstGeom prst="rect">
                <a:avLst/>
              </a:prstGeom>
              <a:blipFill rotWithShape="0">
                <a:blip r:embed="rId18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134348" y="1421928"/>
                <a:ext cx="118045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𝐶𝑂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: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𝑂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charset="0"/>
                        </a:rPr>
                        <m:t>=2:1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48" y="1421928"/>
                <a:ext cx="1180451" cy="276999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Прямая соединительная линия 41"/>
          <p:cNvCxnSpPr>
            <a:stCxn id="33" idx="3"/>
          </p:cNvCxnSpPr>
          <p:nvPr/>
        </p:nvCxnSpPr>
        <p:spPr>
          <a:xfrm flipV="1">
            <a:off x="3358930" y="1271037"/>
            <a:ext cx="9254" cy="1805277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Овал 42"/>
          <p:cNvSpPr/>
          <p:nvPr/>
        </p:nvSpPr>
        <p:spPr>
          <a:xfrm flipH="1">
            <a:off x="3863209" y="2139576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4" name="Прямая соединительная линия 43"/>
          <p:cNvCxnSpPr/>
          <p:nvPr/>
        </p:nvCxnSpPr>
        <p:spPr>
          <a:xfrm flipV="1">
            <a:off x="2704005" y="2163516"/>
            <a:ext cx="1184239" cy="919461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 flipH="1">
                <a:off x="4016609" y="2302538"/>
                <a:ext cx="4433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(1)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016609" y="2302538"/>
                <a:ext cx="443344" cy="307777"/>
              </a:xfrm>
              <a:prstGeom prst="rect">
                <a:avLst/>
              </a:prstGeom>
              <a:blipFill rotWithShape="0">
                <a:blip r:embed="rId20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 flipH="1">
                <a:off x="3576656" y="1524530"/>
                <a:ext cx="4433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(1)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576656" y="1524530"/>
                <a:ext cx="443344" cy="307777"/>
              </a:xfrm>
              <a:prstGeom prst="rect">
                <a:avLst/>
              </a:prstGeom>
              <a:blipFill rotWithShape="0">
                <a:blip r:embed="rId21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 flipH="1">
                <a:off x="7554808" y="2845566"/>
                <a:ext cx="25025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𝑃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554808" y="2845566"/>
                <a:ext cx="250256" cy="307777"/>
              </a:xfrm>
              <a:prstGeom prst="rect">
                <a:avLst/>
              </a:prstGeom>
              <a:blipFill rotWithShape="0">
                <a:blip r:embed="rId22"/>
                <a:stretch>
                  <a:fillRect r="-48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 flipH="1">
                <a:off x="3080152" y="2407989"/>
                <a:ext cx="25025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𝑃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080152" y="2407989"/>
                <a:ext cx="250256" cy="307777"/>
              </a:xfrm>
              <a:prstGeom prst="rect">
                <a:avLst/>
              </a:prstGeom>
              <a:blipFill rotWithShape="0">
                <a:blip r:embed="rId23"/>
                <a:stretch>
                  <a:fillRect r="-48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Овал 49"/>
          <p:cNvSpPr/>
          <p:nvPr/>
        </p:nvSpPr>
        <p:spPr>
          <a:xfrm flipH="1">
            <a:off x="3342177" y="2550752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Box 50"/>
          <p:cNvSpPr txBox="1"/>
          <p:nvPr/>
        </p:nvSpPr>
        <p:spPr>
          <a:xfrm>
            <a:off x="134348" y="1688422"/>
            <a:ext cx="16197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 smtClean="0">
                <a:solidFill>
                  <a:schemeClr val="tx1"/>
                </a:solidFill>
              </a:rPr>
              <a:t>По теореме </a:t>
            </a:r>
            <a:r>
              <a:rPr lang="ru-RU" sz="1200" dirty="0" err="1" smtClean="0">
                <a:solidFill>
                  <a:schemeClr val="tx1"/>
                </a:solidFill>
              </a:rPr>
              <a:t>Менелая</a:t>
            </a:r>
            <a:r>
              <a:rPr lang="ru-RU" sz="1200" dirty="0" smtClean="0">
                <a:solidFill>
                  <a:schemeClr val="tx1"/>
                </a:solidFill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134348" y="1971397"/>
                <a:ext cx="1421671" cy="4694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mr-IN" sz="12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𝑂𝑃</m:t>
                          </m:r>
                        </m:num>
                        <m:den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𝑃𝑆</m:t>
                          </m:r>
                        </m:den>
                      </m:f>
                      <m:r>
                        <a:rPr lang="mr-IN" sz="120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f>
                        <m:fPr>
                          <m:ctrlPr>
                            <a:rPr lang="mr-IN" sz="12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</a:rPr>
                            <m:t>𝑆𝑀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</a:rPr>
                            <m:t>𝑀𝐶</m:t>
                          </m:r>
                        </m:den>
                      </m:f>
                      <m:r>
                        <a:rPr lang="mr-IN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f>
                        <m:fPr>
                          <m:ctrlPr>
                            <a:rPr lang="mr-IN" sz="12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</a:rPr>
                            <m:t>𝐶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charset="0"/>
                            </a:rPr>
                            <m:t>𝑂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</a:rPr>
                        <m:t>=1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48" y="1971397"/>
                <a:ext cx="1421671" cy="469424"/>
              </a:xfrm>
              <a:prstGeom prst="rect">
                <a:avLst/>
              </a:prstGeom>
              <a:blipFill rotWithShape="0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146937" y="2412180"/>
                <a:ext cx="1103186" cy="4392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mr-IN" sz="12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𝑂𝑃</m:t>
                          </m:r>
                        </m:num>
                        <m:den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𝑃𝑆</m:t>
                          </m:r>
                        </m:den>
                      </m:f>
                      <m:r>
                        <a:rPr lang="mr-IN" sz="120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f>
                        <m:fPr>
                          <m:ctrlPr>
                            <a:rPr lang="mr-IN" sz="12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</a:rPr>
                            <m:t>1</m:t>
                          </m:r>
                        </m:den>
                      </m:f>
                      <m:r>
                        <a:rPr lang="mr-IN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f>
                        <m:fPr>
                          <m:ctrlPr>
                            <a:rPr lang="mr-IN" sz="12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</a:rPr>
                            <m:t>3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</a:rPr>
                            <m:t>1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</a:rPr>
                        <m:t>=1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37" y="2412180"/>
                <a:ext cx="1103186" cy="439287"/>
              </a:xfrm>
              <a:prstGeom prst="rect">
                <a:avLst/>
              </a:prstGeom>
              <a:blipFill rotWithShape="0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1081162" y="2510466"/>
                <a:ext cx="13312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i="1" dirty="0">
                          <a:latin typeface="Cambria Math" charset="0"/>
                        </a:rPr>
                        <m:t>𝑃𝑆</m:t>
                      </m:r>
                      <m:r>
                        <a:rPr lang="en-US" sz="1200" i="1" dirty="0">
                          <a:latin typeface="Cambria Math" charset="0"/>
                        </a:rPr>
                        <m:t>:</m:t>
                      </m:r>
                      <m:r>
                        <a:rPr lang="en-US" sz="1200" i="1" dirty="0">
                          <a:latin typeface="Cambria Math" charset="0"/>
                        </a:rPr>
                        <m:t>𝑂𝑃</m:t>
                      </m:r>
                      <m:r>
                        <a:rPr lang="en-US" sz="1200" b="0" i="0" dirty="0" smtClean="0">
                          <a:latin typeface="Cambria Math" charset="0"/>
                        </a:rPr>
                        <m:t>=3:1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162" y="2510466"/>
                <a:ext cx="1331262" cy="276999"/>
              </a:xfrm>
              <a:prstGeom prst="rect">
                <a:avLst/>
              </a:prstGeom>
              <a:blipFill rotWithShape="0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115459" y="3395260"/>
                <a:ext cx="41479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smtClean="0">
                    <a:solidFill>
                      <a:schemeClr val="tx1"/>
                    </a:solidFill>
                  </a:rPr>
                  <a:t>б)</a:t>
                </a:r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Пусть </a:t>
                </a:r>
                <a14:m>
                  <m:oMath xmlns:m="http://schemas.openxmlformats.org/officeDocument/2006/math">
                    <m:r>
                      <a:rPr lang="ru-RU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𝜑</m:t>
                    </m:r>
                    <m:r>
                      <a:rPr lang="ru-RU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 −</m:t>
                    </m:r>
                  </m:oMath>
                </a14:m>
                <a:r>
                  <a:rPr lang="ru-RU" sz="1200" i="0" dirty="0" smtClean="0">
                    <a:solidFill>
                      <a:schemeClr val="tx1"/>
                    </a:solidFill>
                    <a:latin typeface="+mj-lt"/>
                    <a:ea typeface="Cambria Math" charset="0"/>
                    <a:cs typeface="Cambria Math" charset="0"/>
                  </a:rPr>
                  <a:t>угол между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 sz="1200" dirty="0">
                        <a:solidFill>
                          <a:schemeClr val="tx1"/>
                        </a:solidFill>
                      </a:rPr>
                      <m:t>прямой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charset="0"/>
                      </a:rPr>
                      <m:t>𝐵𝐶</m:t>
                    </m:r>
                    <m:r>
                      <m:rPr>
                        <m:nor/>
                      </m:rPr>
                      <a:rPr lang="en-US" sz="1200" dirty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ru-RU" sz="1200" dirty="0">
                        <a:solidFill>
                          <a:schemeClr val="tx1"/>
                        </a:solidFill>
                      </a:rPr>
                      <m:t> и плоскостью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charset="0"/>
                      </a:rPr>
                      <m:t>𝐴𝐵𝑀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. 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59" y="3395260"/>
                <a:ext cx="4147995" cy="276999"/>
              </a:xfrm>
              <a:prstGeom prst="rect">
                <a:avLst/>
              </a:prstGeom>
              <a:blipFill rotWithShape="0">
                <a:blip r:embed="rId27"/>
                <a:stretch>
                  <a:fillRect l="-147" t="-80000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Полилиния 55"/>
          <p:cNvSpPr/>
          <p:nvPr/>
        </p:nvSpPr>
        <p:spPr>
          <a:xfrm>
            <a:off x="7587438" y="3240478"/>
            <a:ext cx="165928" cy="214853"/>
          </a:xfrm>
          <a:custGeom>
            <a:avLst/>
            <a:gdLst>
              <a:gd name="connsiteX0" fmla="*/ 10160 w 172720"/>
              <a:gd name="connsiteY0" fmla="*/ 50800 h 213360"/>
              <a:gd name="connsiteX1" fmla="*/ 172720 w 172720"/>
              <a:gd name="connsiteY1" fmla="*/ 0 h 213360"/>
              <a:gd name="connsiteX2" fmla="*/ 162560 w 172720"/>
              <a:gd name="connsiteY2" fmla="*/ 172720 h 213360"/>
              <a:gd name="connsiteX3" fmla="*/ 0 w 172720"/>
              <a:gd name="connsiteY3" fmla="*/ 213360 h 213360"/>
              <a:gd name="connsiteX4" fmla="*/ 10160 w 172720"/>
              <a:gd name="connsiteY4" fmla="*/ 50800 h 213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720" h="213360">
                <a:moveTo>
                  <a:pt x="10160" y="50800"/>
                </a:moveTo>
                <a:lnTo>
                  <a:pt x="172720" y="0"/>
                </a:lnTo>
                <a:lnTo>
                  <a:pt x="162560" y="172720"/>
                </a:lnTo>
                <a:lnTo>
                  <a:pt x="0" y="213360"/>
                </a:lnTo>
                <a:lnTo>
                  <a:pt x="10160" y="50800"/>
                </a:lnTo>
                <a:close/>
              </a:path>
            </a:pathLst>
          </a:custGeom>
          <a:solidFill>
            <a:schemeClr val="bg1">
              <a:lumMod val="85000"/>
              <a:alpha val="47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Сектор 56"/>
          <p:cNvSpPr/>
          <p:nvPr/>
        </p:nvSpPr>
        <p:spPr>
          <a:xfrm>
            <a:off x="7169668" y="2593932"/>
            <a:ext cx="820923" cy="722998"/>
          </a:xfrm>
          <a:prstGeom prst="pie">
            <a:avLst>
              <a:gd name="adj1" fmla="val 5400000"/>
              <a:gd name="adj2" fmla="val 8100000"/>
            </a:avLst>
          </a:prstGeom>
          <a:solidFill>
            <a:srgbClr val="006600">
              <a:alpha val="19000"/>
            </a:srgbClr>
          </a:solidFill>
          <a:ln w="63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 flipH="1">
                <a:off x="7267072" y="3084732"/>
                <a:ext cx="418108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b="0" i="1" smtClean="0">
                          <a:latin typeface="Cambria Math" charset="0"/>
                        </a:rPr>
                        <m:t>45</m:t>
                      </m:r>
                      <m:r>
                        <a:rPr lang="it-IT" sz="9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°</m:t>
                      </m:r>
                    </m:oMath>
                  </m:oMathPara>
                </a14:m>
                <a:endParaRPr lang="ru-RU" sz="900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267072" y="3084732"/>
                <a:ext cx="418108" cy="230832"/>
              </a:xfrm>
              <a:prstGeom prst="rect">
                <a:avLst/>
              </a:prstGeom>
              <a:blipFill rotWithShape="0"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127341" y="3642553"/>
                <a:ext cx="491570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/>
                  <a:t>Пусть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</a:rPr>
                      <m:t>𝐶𝐻</m:t>
                    </m:r>
                  </m:oMath>
                </a14:m>
                <a:r>
                  <a:rPr lang="en-US" sz="1200" dirty="0" smtClean="0"/>
                  <a:t> </a:t>
                </a:r>
                <a:r>
                  <a:rPr lang="mr-IN" sz="1200" dirty="0" smtClean="0"/>
                  <a:t>–</a:t>
                </a:r>
                <a:r>
                  <a:rPr lang="en-US" sz="1200" dirty="0" smtClean="0"/>
                  <a:t> </a:t>
                </a:r>
                <a:r>
                  <a:rPr lang="ru-RU" sz="1200" dirty="0" smtClean="0"/>
                  <a:t>перпендикуляр, опущенный из точки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</a:rPr>
                      <m:t>𝐶</m:t>
                    </m:r>
                  </m:oMath>
                </a14:m>
                <a:r>
                  <a:rPr lang="ru-RU" sz="1200" dirty="0" smtClean="0"/>
                  <a:t> на плоскость 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</a:rPr>
                      <m:t>𝐴𝑀𝐵</m:t>
                    </m:r>
                    <m:r>
                      <a:rPr lang="en-US" sz="1200" i="1" dirty="0" smtClean="0">
                        <a:latin typeface="Cambria Math" charset="0"/>
                      </a:rPr>
                      <m:t>.</m:t>
                    </m:r>
                  </m:oMath>
                </a14:m>
                <a:r>
                  <a:rPr lang="en-US" sz="1200" dirty="0" smtClean="0"/>
                  <a:t> </a:t>
                </a:r>
                <a:r>
                  <a:rPr lang="ru-RU" sz="1200" dirty="0" smtClean="0"/>
                  <a:t> 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41" y="3642553"/>
                <a:ext cx="4915705" cy="276999"/>
              </a:xfrm>
              <a:prstGeom prst="rect">
                <a:avLst/>
              </a:prstGeom>
              <a:blipFill rotWithShape="0">
                <a:blip r:embed="rId29"/>
                <a:stretch>
                  <a:fillRect l="-124"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5" name="Изображение 64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431123" y="1120897"/>
            <a:ext cx="2030530" cy="11263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112685" y="3825048"/>
                <a:ext cx="1008994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𝑠𝑖𝑛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𝜑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𝐶𝐻</m:t>
                          </m:r>
                        </m:num>
                        <m:den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𝐵𝐶</m:t>
                          </m:r>
                        </m:den>
                      </m:f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85" y="3825048"/>
                <a:ext cx="1008994" cy="439223"/>
              </a:xfrm>
              <a:prstGeom prst="rect">
                <a:avLst/>
              </a:prstGeom>
              <a:blipFill rotWithShape="0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1000423" y="3909047"/>
                <a:ext cx="227825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𝑆𝐶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)⊥(</m:t>
                      </m:r>
                      <m:r>
                        <a:rPr lang="en-US" sz="1200" i="1" dirty="0">
                          <a:latin typeface="Cambria Math" charset="0"/>
                        </a:rPr>
                        <m:t>𝐴𝐵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𝑀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)⟹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𝐶𝐻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⊥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𝑀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423" y="3909047"/>
                <a:ext cx="2278252" cy="276999"/>
              </a:xfrm>
              <a:prstGeom prst="rect">
                <a:avLst/>
              </a:prstGeom>
              <a:blipFill rotWithShape="0">
                <a:blip r:embed="rId32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Полилиния 71"/>
          <p:cNvSpPr/>
          <p:nvPr/>
        </p:nvSpPr>
        <p:spPr>
          <a:xfrm>
            <a:off x="3373120" y="1290320"/>
            <a:ext cx="1046480" cy="1798320"/>
          </a:xfrm>
          <a:custGeom>
            <a:avLst/>
            <a:gdLst>
              <a:gd name="connsiteX0" fmla="*/ 0 w 1046480"/>
              <a:gd name="connsiteY0" fmla="*/ 0 h 1798320"/>
              <a:gd name="connsiteX1" fmla="*/ 0 w 1046480"/>
              <a:gd name="connsiteY1" fmla="*/ 1788160 h 1798320"/>
              <a:gd name="connsiteX2" fmla="*/ 1046480 w 1046480"/>
              <a:gd name="connsiteY2" fmla="*/ 1798320 h 1798320"/>
              <a:gd name="connsiteX3" fmla="*/ 0 w 1046480"/>
              <a:gd name="connsiteY3" fmla="*/ 0 h 1798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6480" h="1798320">
                <a:moveTo>
                  <a:pt x="0" y="0"/>
                </a:moveTo>
                <a:lnTo>
                  <a:pt x="0" y="1788160"/>
                </a:lnTo>
                <a:lnTo>
                  <a:pt x="1046480" y="1798320"/>
                </a:lnTo>
                <a:lnTo>
                  <a:pt x="0" y="0"/>
                </a:lnTo>
                <a:close/>
              </a:path>
            </a:pathLst>
          </a:custGeom>
          <a:solidFill>
            <a:srgbClr val="FFC0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4" name="Полилиния 73"/>
          <p:cNvSpPr/>
          <p:nvPr/>
        </p:nvSpPr>
        <p:spPr>
          <a:xfrm>
            <a:off x="3362960" y="2926080"/>
            <a:ext cx="162560" cy="152400"/>
          </a:xfrm>
          <a:custGeom>
            <a:avLst/>
            <a:gdLst>
              <a:gd name="connsiteX0" fmla="*/ 0 w 162560"/>
              <a:gd name="connsiteY0" fmla="*/ 0 h 152400"/>
              <a:gd name="connsiteX1" fmla="*/ 162560 w 162560"/>
              <a:gd name="connsiteY1" fmla="*/ 0 h 152400"/>
              <a:gd name="connsiteX2" fmla="*/ 162560 w 162560"/>
              <a:gd name="connsiteY2" fmla="*/ 152400 h 152400"/>
              <a:gd name="connsiteX3" fmla="*/ 10160 w 162560"/>
              <a:gd name="connsiteY3" fmla="*/ 152400 h 152400"/>
              <a:gd name="connsiteX4" fmla="*/ 0 w 162560"/>
              <a:gd name="connsiteY4" fmla="*/ 0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2560" h="152400">
                <a:moveTo>
                  <a:pt x="0" y="0"/>
                </a:moveTo>
                <a:lnTo>
                  <a:pt x="162560" y="0"/>
                </a:lnTo>
                <a:lnTo>
                  <a:pt x="162560" y="152400"/>
                </a:lnTo>
                <a:lnTo>
                  <a:pt x="10160" y="1524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5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3089592" y="2662684"/>
                <a:ext cx="35779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charset="0"/>
                        </a:rPr>
                        <m:t>45</m:t>
                      </m:r>
                      <m:r>
                        <a:rPr lang="it-IT" sz="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°</m:t>
                      </m:r>
                    </m:oMath>
                  </m:oMathPara>
                </a14:m>
                <a:endParaRPr lang="ru-RU" sz="800" dirty="0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592" y="2662684"/>
                <a:ext cx="357790" cy="215444"/>
              </a:xfrm>
              <a:prstGeom prst="rect">
                <a:avLst/>
              </a:prstGeom>
              <a:blipFill rotWithShape="0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2774337" y="2906646"/>
                <a:ext cx="35779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charset="0"/>
                        </a:rPr>
                        <m:t>45</m:t>
                      </m:r>
                      <m:r>
                        <a:rPr lang="it-IT" sz="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°</m:t>
                      </m:r>
                    </m:oMath>
                  </m:oMathPara>
                </a14:m>
                <a:endParaRPr lang="ru-RU" sz="800" dirty="0"/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4337" y="2906646"/>
                <a:ext cx="357790" cy="215444"/>
              </a:xfrm>
              <a:prstGeom prst="rect">
                <a:avLst/>
              </a:prstGeom>
              <a:blipFill rotWithShape="0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Прямая соединительная линия 76"/>
          <p:cNvCxnSpPr>
            <a:endCxn id="72" idx="2"/>
          </p:cNvCxnSpPr>
          <p:nvPr/>
        </p:nvCxnSpPr>
        <p:spPr>
          <a:xfrm>
            <a:off x="3750495" y="2304764"/>
            <a:ext cx="669105" cy="783876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 flipH="1">
                <a:off x="3301478" y="2055245"/>
                <a:ext cx="7122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𝐻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301478" y="2055245"/>
                <a:ext cx="712236" cy="276999"/>
              </a:xfrm>
              <a:prstGeom prst="rect">
                <a:avLst/>
              </a:prstGeom>
              <a:blipFill rotWithShape="0"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Полилиния 81"/>
          <p:cNvSpPr/>
          <p:nvPr/>
        </p:nvSpPr>
        <p:spPr>
          <a:xfrm>
            <a:off x="3616960" y="2286000"/>
            <a:ext cx="203200" cy="203200"/>
          </a:xfrm>
          <a:custGeom>
            <a:avLst/>
            <a:gdLst>
              <a:gd name="connsiteX0" fmla="*/ 0 w 203200"/>
              <a:gd name="connsiteY0" fmla="*/ 101600 h 203200"/>
              <a:gd name="connsiteX1" fmla="*/ 81280 w 203200"/>
              <a:gd name="connsiteY1" fmla="*/ 203200 h 203200"/>
              <a:gd name="connsiteX2" fmla="*/ 203200 w 203200"/>
              <a:gd name="connsiteY2" fmla="*/ 111760 h 203200"/>
              <a:gd name="connsiteX3" fmla="*/ 111760 w 203200"/>
              <a:gd name="connsiteY3" fmla="*/ 0 h 203200"/>
              <a:gd name="connsiteX4" fmla="*/ 0 w 203200"/>
              <a:gd name="connsiteY4" fmla="*/ 10160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3200" h="203200">
                <a:moveTo>
                  <a:pt x="0" y="101600"/>
                </a:moveTo>
                <a:lnTo>
                  <a:pt x="81280" y="203200"/>
                </a:lnTo>
                <a:lnTo>
                  <a:pt x="203200" y="111760"/>
                </a:lnTo>
                <a:lnTo>
                  <a:pt x="111760" y="0"/>
                </a:lnTo>
                <a:lnTo>
                  <a:pt x="0" y="101600"/>
                </a:lnTo>
                <a:close/>
              </a:path>
            </a:pathLst>
          </a:custGeom>
          <a:solidFill>
            <a:schemeClr val="bg1">
              <a:lumMod val="85000"/>
              <a:alpha val="31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127047" y="4224060"/>
                <a:ext cx="110421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>
                    <a:solidFill>
                      <a:schemeClr val="tx1"/>
                    </a:solidFill>
                  </a:rPr>
                  <a:t>Пусть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𝐵𝐶</m:t>
                    </m:r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𝑎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.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47" y="4224060"/>
                <a:ext cx="1104213" cy="276999"/>
              </a:xfrm>
              <a:prstGeom prst="rect">
                <a:avLst/>
              </a:prstGeom>
              <a:blipFill rotWithShape="0">
                <a:blip r:embed="rId36"/>
                <a:stretch>
                  <a:fillRect l="-552"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1143527" y="4081798"/>
                <a:ext cx="1944571" cy="4795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𝐶</m:t>
                          </m:r>
                          <m:r>
                            <a:rPr lang="en-US" sz="120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𝑎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f>
                        <m:f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  </m:t>
                      </m:r>
                      <m:d>
                        <m:d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ru-RU" sz="1200" b="0" i="0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из </m:t>
                          </m:r>
                          <m:r>
                            <a:rPr lang="ru-RU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12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i="1" dirty="0">
                                  <a:latin typeface="Cambria Math" charset="0"/>
                                </a:rPr>
                                <m:t>𝐶𝐶</m:t>
                              </m:r>
                            </m:e>
                            <m:sub>
                              <m:r>
                                <a:rPr lang="en-US" sz="1200" i="1" dirty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dirty="0" smtClean="0">
                              <a:latin typeface="Cambria Math" charset="0"/>
                            </a:rPr>
                            <m:t>𝐵</m:t>
                          </m:r>
                        </m:e>
                      </m:d>
                      <m:r>
                        <a:rPr lang="en-US" sz="1200" b="0" i="1" dirty="0" smtClean="0"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527" y="4081798"/>
                <a:ext cx="1944571" cy="479555"/>
              </a:xfrm>
              <a:prstGeom prst="rect">
                <a:avLst/>
              </a:prstGeom>
              <a:blipFill rotWithShape="0">
                <a:blip r:embed="rId37"/>
                <a:stretch>
                  <a:fillRect t="-17949" b="-461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3472180" y="4091146"/>
                <a:ext cx="2483885" cy="4801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𝐶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𝐻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12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charset="0"/>
                            </a:rPr>
                            <m:t>𝐶𝐶</m:t>
                          </m:r>
                        </m:e>
                        <m:sub>
                          <m:r>
                            <a:rPr lang="en-US" sz="1200" i="1" dirty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f>
                        <m:f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𝑎</m:t>
                          </m:r>
                          <m:rad>
                            <m:radPr>
                              <m:degHide m:val="on"/>
                              <m:ctrlPr>
                                <a:rPr lang="en-US" sz="1200" i="1" dirty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6</m:t>
                              </m:r>
                            </m:e>
                          </m:rad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4</m:t>
                          </m:r>
                        </m:den>
                      </m:f>
                      <m:d>
                        <m:dPr>
                          <m:ctrlPr>
                            <a:rPr lang="en-US" sz="1200" i="1" dirty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ru-RU" sz="1200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из </m:t>
                          </m:r>
                          <m:r>
                            <a:rPr lang="ru-RU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12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i="1" dirty="0">
                                  <a:latin typeface="Cambria Math" charset="0"/>
                                </a:rPr>
                                <m:t>𝐶𝐶</m:t>
                              </m:r>
                            </m:e>
                            <m:sub>
                              <m:r>
                                <a:rPr lang="en-US" sz="1200" i="1" dirty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dirty="0" smtClean="0">
                              <a:latin typeface="Cambria Math" charset="0"/>
                            </a:rPr>
                            <m:t>𝐻</m:t>
                          </m:r>
                        </m:e>
                      </m:d>
                      <m:r>
                        <a:rPr lang="en-US" sz="1200" i="1" dirty="0"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180" y="4091146"/>
                <a:ext cx="2483885" cy="480196"/>
              </a:xfrm>
              <a:prstGeom prst="rect">
                <a:avLst/>
              </a:prstGeom>
              <a:blipFill rotWithShape="0">
                <a:blip r:embed="rId38"/>
                <a:stretch>
                  <a:fillRect t="-16456" b="-443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1254644" y="4386687"/>
                <a:ext cx="1434367" cy="6004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𝑠𝑖𝑛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𝜑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𝐶𝐻</m:t>
                          </m:r>
                        </m:num>
                        <m:den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𝐵𝐶</m:t>
                          </m:r>
                        </m:den>
                      </m:f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sz="1200" i="1" dirty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𝑎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200" i="1" dirty="0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200" i="1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6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4</m:t>
                              </m:r>
                            </m:den>
                          </m:f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4644" y="4386687"/>
                <a:ext cx="1434367" cy="600421"/>
              </a:xfrm>
              <a:prstGeom prst="rect">
                <a:avLst/>
              </a:prstGeom>
              <a:blipFill rotWithShape="0"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2504975" y="4511125"/>
                <a:ext cx="564129" cy="4795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6</m:t>
                              </m:r>
                            </m:e>
                          </m:rad>
                        </m:num>
                        <m:den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4975" y="4511125"/>
                <a:ext cx="564129" cy="479555"/>
              </a:xfrm>
              <a:prstGeom prst="rect">
                <a:avLst/>
              </a:prstGeom>
              <a:blipFill rotWithShape="0">
                <a:blip r:embed="rId40"/>
                <a:stretch>
                  <a:fillRect b="-12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5855270" y="4344841"/>
                <a:ext cx="2002087" cy="5364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b="1" dirty="0" smtClean="0">
                    <a:solidFill>
                      <a:srgbClr val="FF0000"/>
                    </a:solidFill>
                  </a:rPr>
                  <a:t>Ответ: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𝒂𝒓𝒄𝒔𝒊𝒏</m:t>
                    </m:r>
                    <m:r>
                      <a:rPr lang="ru-RU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(</m:t>
                    </m:r>
                    <m:f>
                      <m:f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 charset="0"/>
                                <a:cs typeface="Cambria Math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𝟔</m:t>
                            </m:r>
                          </m:e>
                        </m:rad>
                      </m:num>
                      <m:den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𝟒</m:t>
                        </m:r>
                      </m:den>
                    </m:f>
                    <m:r>
                      <a:rPr lang="ru-RU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)</m:t>
                    </m:r>
                  </m:oMath>
                </a14:m>
                <a:endParaRPr lang="ru-RU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5270" y="4344841"/>
                <a:ext cx="2002087" cy="536494"/>
              </a:xfrm>
              <a:prstGeom prst="rect">
                <a:avLst/>
              </a:prstGeom>
              <a:blipFill rotWithShape="0">
                <a:blip r:embed="rId41"/>
                <a:stretch>
                  <a:fillRect l="-2744" b="-68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Прямая соединительная линия 77"/>
          <p:cNvCxnSpPr>
            <a:endCxn id="27" idx="2"/>
          </p:cNvCxnSpPr>
          <p:nvPr/>
        </p:nvCxnSpPr>
        <p:spPr>
          <a:xfrm>
            <a:off x="8193683" y="2439847"/>
            <a:ext cx="779138" cy="638946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 flipH="1">
                <a:off x="7713497" y="2278846"/>
                <a:ext cx="7122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𝐻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713497" y="2278846"/>
                <a:ext cx="712236" cy="276999"/>
              </a:xfrm>
              <a:prstGeom prst="rect">
                <a:avLst/>
              </a:prstGeom>
              <a:blipFill rotWithShape="0"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Полилиния 61"/>
          <p:cNvSpPr/>
          <p:nvPr/>
        </p:nvSpPr>
        <p:spPr>
          <a:xfrm>
            <a:off x="8028850" y="2426327"/>
            <a:ext cx="265612" cy="236357"/>
          </a:xfrm>
          <a:custGeom>
            <a:avLst/>
            <a:gdLst>
              <a:gd name="connsiteX0" fmla="*/ 182880 w 182880"/>
              <a:gd name="connsiteY0" fmla="*/ 81280 h 172720"/>
              <a:gd name="connsiteX1" fmla="*/ 81280 w 182880"/>
              <a:gd name="connsiteY1" fmla="*/ 172720 h 172720"/>
              <a:gd name="connsiteX2" fmla="*/ 0 w 182880"/>
              <a:gd name="connsiteY2" fmla="*/ 101600 h 172720"/>
              <a:gd name="connsiteX3" fmla="*/ 111760 w 182880"/>
              <a:gd name="connsiteY3" fmla="*/ 0 h 172720"/>
              <a:gd name="connsiteX4" fmla="*/ 182880 w 182880"/>
              <a:gd name="connsiteY4" fmla="*/ 81280 h 17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" h="172720">
                <a:moveTo>
                  <a:pt x="182880" y="81280"/>
                </a:moveTo>
                <a:lnTo>
                  <a:pt x="81280" y="172720"/>
                </a:lnTo>
                <a:lnTo>
                  <a:pt x="0" y="101600"/>
                </a:lnTo>
                <a:lnTo>
                  <a:pt x="111760" y="0"/>
                </a:lnTo>
                <a:lnTo>
                  <a:pt x="182880" y="81280"/>
                </a:lnTo>
                <a:close/>
              </a:path>
            </a:pathLst>
          </a:custGeom>
          <a:solidFill>
            <a:schemeClr val="bg1">
              <a:lumMod val="85000"/>
              <a:alpha val="26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0941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5" grpId="0"/>
      <p:bldP spid="16" grpId="0" animBg="1"/>
      <p:bldP spid="17" grpId="0"/>
      <p:bldP spid="18" grpId="0" animBg="1"/>
      <p:bldP spid="19" grpId="0"/>
      <p:bldP spid="22" grpId="0" animBg="1"/>
      <p:bldP spid="25" grpId="0"/>
      <p:bldP spid="26" grpId="0"/>
      <p:bldP spid="27" grpId="0" animBg="1"/>
      <p:bldP spid="29" grpId="0" animBg="1"/>
      <p:bldP spid="30" grpId="0" animBg="1"/>
      <p:bldP spid="31" grpId="0"/>
      <p:bldP spid="32" grpId="0"/>
      <p:bldP spid="33" grpId="0" animBg="1"/>
      <p:bldP spid="34" grpId="0"/>
      <p:bldP spid="35" grpId="0"/>
      <p:bldP spid="36" grpId="0"/>
      <p:bldP spid="37" grpId="0" animBg="1"/>
      <p:bldP spid="38" grpId="0"/>
      <p:bldP spid="39" grpId="0"/>
      <p:bldP spid="40" grpId="0"/>
      <p:bldP spid="41" grpId="0"/>
      <p:bldP spid="43" grpId="0" animBg="1"/>
      <p:bldP spid="45" grpId="0"/>
      <p:bldP spid="46" grpId="0"/>
      <p:bldP spid="47" grpId="0"/>
      <p:bldP spid="47" grpId="1"/>
      <p:bldP spid="47" grpId="2"/>
      <p:bldP spid="49" grpId="0"/>
      <p:bldP spid="50" grpId="0" animBg="1"/>
      <p:bldP spid="51" grpId="0"/>
      <p:bldP spid="52" grpId="0"/>
      <p:bldP spid="53" grpId="0"/>
      <p:bldP spid="54" grpId="0"/>
      <p:bldP spid="55" grpId="0"/>
      <p:bldP spid="56" grpId="0" animBg="1"/>
      <p:bldP spid="57" grpId="0" animBg="1"/>
      <p:bldP spid="58" grpId="0"/>
      <p:bldP spid="59" grpId="0"/>
      <p:bldP spid="66" grpId="0"/>
      <p:bldP spid="70" grpId="0"/>
      <p:bldP spid="72" grpId="0" animBg="1"/>
      <p:bldP spid="74" grpId="0" animBg="1"/>
      <p:bldP spid="75" grpId="0"/>
      <p:bldP spid="76" grpId="0"/>
      <p:bldP spid="80" grpId="0"/>
      <p:bldP spid="82" grpId="0" animBg="1"/>
      <p:bldP spid="83" grpId="0"/>
      <p:bldP spid="84" grpId="0"/>
      <p:bldP spid="85" grpId="0"/>
      <p:bldP spid="86" grpId="0"/>
      <p:bldP spid="87" grpId="0"/>
      <p:bldP spid="79" grpId="0"/>
      <p:bldP spid="6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20</a:t>
            </a:fld>
            <a:endParaRPr kumimoji="0" lang="ru-RU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0" y="-22136"/>
                <a:ext cx="9144000" cy="93770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dirty="0" smtClean="0">
                    <a:solidFill>
                      <a:srgbClr val="7030A0"/>
                    </a:solidFill>
                  </a:rPr>
                  <a:t>12.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Дана</a:t>
                </a:r>
                <a:r>
                  <a:rPr lang="ru-RU" sz="1200" b="1" dirty="0" smtClean="0">
                    <a:solidFill>
                      <a:srgbClr val="7030A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правильная четырехугольная пирамида </a:t>
                </a:r>
                <a:r>
                  <a:rPr lang="ru-RU" sz="1200" b="1" dirty="0" smtClean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𝑺𝑨𝑩𝑪𝑫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с вершиной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𝑺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. Все ребра пирамиды равны. Точка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𝑴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 -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середина ребра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𝑩𝑪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 </m:t>
                    </m:r>
                  </m:oMath>
                </a14:m>
                <a:endParaRPr lang="ru-RU" sz="1200" b="1" i="1" dirty="0" smtClean="0">
                  <a:solidFill>
                    <a:srgbClr val="002060"/>
                  </a:solidFill>
                  <a:latin typeface="Cambria Math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а) Докажите, что ортогональная проекция середины ребра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на плоскость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𝑪𝑺𝑫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делит медиану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𝑺𝑵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этой грани в отношении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𝟏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: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𝟐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,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считая от вершины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>
                    <a:solidFill>
                      <a:srgbClr val="002060"/>
                    </a:solidFill>
                  </a:rPr>
                  <a:t>б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) Найдите </a:t>
                </a:r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угол между прямой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𝑺𝑴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 и плоскостью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𝑪𝑺𝑫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6"/>
                <a:ext cx="9144000" cy="93770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Прямая соединительная линия 5"/>
          <p:cNvCxnSpPr/>
          <p:nvPr/>
        </p:nvCxnSpPr>
        <p:spPr>
          <a:xfrm>
            <a:off x="6477695" y="2600570"/>
            <a:ext cx="2265372" cy="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>
            <a:off x="5148427" y="3522775"/>
            <a:ext cx="2265372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 flipV="1">
            <a:off x="5147839" y="2600569"/>
            <a:ext cx="1329856" cy="932367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 flipV="1">
            <a:off x="7413799" y="2590409"/>
            <a:ext cx="1329268" cy="932368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6925722" y="1234199"/>
            <a:ext cx="1817345" cy="1356208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 flipH="1">
            <a:off x="5147839" y="1234197"/>
            <a:ext cx="1777883" cy="2288576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 flipH="1">
            <a:off x="6480078" y="1234183"/>
            <a:ext cx="445644" cy="1356227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869687" y="3471973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9687" y="3471973"/>
                <a:ext cx="340286" cy="3077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432609" y="2340628"/>
                <a:ext cx="3829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609" y="2340628"/>
                <a:ext cx="382989" cy="3077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8688324" y="2495208"/>
                <a:ext cx="3481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8324" y="2495208"/>
                <a:ext cx="348172" cy="3077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323148" y="3471973"/>
                <a:ext cx="3550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𝐷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3148" y="3471973"/>
                <a:ext cx="355034" cy="3077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747980" y="987574"/>
                <a:ext cx="325959" cy="3135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𝑆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7980" y="987574"/>
                <a:ext cx="325959" cy="31359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Прямая соединительная линия 17"/>
          <p:cNvCxnSpPr/>
          <p:nvPr/>
        </p:nvCxnSpPr>
        <p:spPr>
          <a:xfrm>
            <a:off x="6919451" y="1234189"/>
            <a:ext cx="500619" cy="228858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 flipH="1" flipV="1">
            <a:off x="5857984" y="2999816"/>
            <a:ext cx="41563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545132" y="2816632"/>
                <a:ext cx="3646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b="0" i="1" smtClean="0">
                          <a:latin typeface="Cambria Math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charset="0"/>
                        </a:rPr>
                        <m:t>𝐿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5132" y="2816632"/>
                <a:ext cx="364652" cy="307777"/>
              </a:xfrm>
              <a:prstGeom prst="rect">
                <a:avLst/>
              </a:prstGeom>
              <a:blipFill rotWithShape="0">
                <a:blip r:embed="rId8"/>
                <a:stretch>
                  <a:fillRect t="-84314" b="-1058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Овал 28"/>
          <p:cNvSpPr/>
          <p:nvPr/>
        </p:nvSpPr>
        <p:spPr>
          <a:xfrm flipH="1" flipV="1">
            <a:off x="8090197" y="3014647"/>
            <a:ext cx="41563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8062761" y="2934237"/>
                <a:ext cx="36054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𝑁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2761" y="2934237"/>
                <a:ext cx="360547" cy="30777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Полилиния 32"/>
          <p:cNvSpPr/>
          <p:nvPr/>
        </p:nvSpPr>
        <p:spPr>
          <a:xfrm>
            <a:off x="5520978" y="3199423"/>
            <a:ext cx="101600" cy="71120"/>
          </a:xfrm>
          <a:custGeom>
            <a:avLst/>
            <a:gdLst>
              <a:gd name="connsiteX0" fmla="*/ 0 w 101600"/>
              <a:gd name="connsiteY0" fmla="*/ 0 h 71120"/>
              <a:gd name="connsiteX1" fmla="*/ 101600 w 101600"/>
              <a:gd name="connsiteY1" fmla="*/ 71120 h 71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1600" h="71120">
                <a:moveTo>
                  <a:pt x="0" y="0"/>
                </a:moveTo>
                <a:lnTo>
                  <a:pt x="101600" y="7112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олилиния 33"/>
          <p:cNvSpPr/>
          <p:nvPr/>
        </p:nvSpPr>
        <p:spPr>
          <a:xfrm>
            <a:off x="6179513" y="2749076"/>
            <a:ext cx="101600" cy="71120"/>
          </a:xfrm>
          <a:custGeom>
            <a:avLst/>
            <a:gdLst>
              <a:gd name="connsiteX0" fmla="*/ 0 w 101600"/>
              <a:gd name="connsiteY0" fmla="*/ 0 h 71120"/>
              <a:gd name="connsiteX1" fmla="*/ 101600 w 101600"/>
              <a:gd name="connsiteY1" fmla="*/ 71120 h 71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1600" h="71120">
                <a:moveTo>
                  <a:pt x="0" y="0"/>
                </a:moveTo>
                <a:lnTo>
                  <a:pt x="101600" y="7112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олилиния 34"/>
          <p:cNvSpPr/>
          <p:nvPr/>
        </p:nvSpPr>
        <p:spPr>
          <a:xfrm>
            <a:off x="7702037" y="3255087"/>
            <a:ext cx="111760" cy="71120"/>
          </a:xfrm>
          <a:custGeom>
            <a:avLst/>
            <a:gdLst>
              <a:gd name="connsiteX0" fmla="*/ 0 w 101600"/>
              <a:gd name="connsiteY0" fmla="*/ 0 h 71120"/>
              <a:gd name="connsiteX1" fmla="*/ 101600 w 101600"/>
              <a:gd name="connsiteY1" fmla="*/ 71120 h 71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1600" h="71120">
                <a:moveTo>
                  <a:pt x="0" y="0"/>
                </a:moveTo>
                <a:lnTo>
                  <a:pt x="101600" y="7112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олилиния 35"/>
          <p:cNvSpPr/>
          <p:nvPr/>
        </p:nvSpPr>
        <p:spPr>
          <a:xfrm>
            <a:off x="8339015" y="2769144"/>
            <a:ext cx="111760" cy="71120"/>
          </a:xfrm>
          <a:custGeom>
            <a:avLst/>
            <a:gdLst>
              <a:gd name="connsiteX0" fmla="*/ 0 w 101600"/>
              <a:gd name="connsiteY0" fmla="*/ 0 h 71120"/>
              <a:gd name="connsiteX1" fmla="*/ 101600 w 101600"/>
              <a:gd name="connsiteY1" fmla="*/ 71120 h 71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1600" h="71120">
                <a:moveTo>
                  <a:pt x="0" y="0"/>
                </a:moveTo>
                <a:lnTo>
                  <a:pt x="101600" y="7112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7" name="Прямая соединительная линия 36"/>
          <p:cNvCxnSpPr/>
          <p:nvPr/>
        </p:nvCxnSpPr>
        <p:spPr>
          <a:xfrm>
            <a:off x="6926051" y="1224345"/>
            <a:ext cx="1165401" cy="1818047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/>
          <p:cNvCxnSpPr/>
          <p:nvPr/>
        </p:nvCxnSpPr>
        <p:spPr>
          <a:xfrm>
            <a:off x="5857479" y="3021087"/>
            <a:ext cx="2287752" cy="1388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/>
          <p:cNvCxnSpPr/>
          <p:nvPr/>
        </p:nvCxnSpPr>
        <p:spPr>
          <a:xfrm flipH="1">
            <a:off x="6935882" y="1253063"/>
            <a:ext cx="5499" cy="1746753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 flipH="1">
                <a:off x="6484249" y="3045535"/>
                <a:ext cx="875486" cy="315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𝐻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484249" y="3045535"/>
                <a:ext cx="875486" cy="315423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Полилиния 50"/>
          <p:cNvSpPr/>
          <p:nvPr/>
        </p:nvSpPr>
        <p:spPr>
          <a:xfrm>
            <a:off x="6941056" y="2852097"/>
            <a:ext cx="182880" cy="172720"/>
          </a:xfrm>
          <a:custGeom>
            <a:avLst/>
            <a:gdLst>
              <a:gd name="connsiteX0" fmla="*/ 0 w 182880"/>
              <a:gd name="connsiteY0" fmla="*/ 0 h 172720"/>
              <a:gd name="connsiteX1" fmla="*/ 182880 w 182880"/>
              <a:gd name="connsiteY1" fmla="*/ 0 h 172720"/>
              <a:gd name="connsiteX2" fmla="*/ 182880 w 182880"/>
              <a:gd name="connsiteY2" fmla="*/ 172720 h 172720"/>
              <a:gd name="connsiteX3" fmla="*/ 0 w 182880"/>
              <a:gd name="connsiteY3" fmla="*/ 162560 h 172720"/>
              <a:gd name="connsiteX4" fmla="*/ 0 w 182880"/>
              <a:gd name="connsiteY4" fmla="*/ 0 h 17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" h="172720">
                <a:moveTo>
                  <a:pt x="0" y="0"/>
                </a:moveTo>
                <a:lnTo>
                  <a:pt x="182880" y="0"/>
                </a:lnTo>
                <a:lnTo>
                  <a:pt x="182880" y="172720"/>
                </a:lnTo>
                <a:lnTo>
                  <a:pt x="0" y="16256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8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3" name="Прямая соединительная линия 52"/>
          <p:cNvCxnSpPr>
            <a:endCxn id="25" idx="7"/>
          </p:cNvCxnSpPr>
          <p:nvPr/>
        </p:nvCxnSpPr>
        <p:spPr>
          <a:xfrm flipH="1">
            <a:off x="5864071" y="1253063"/>
            <a:ext cx="1075791" cy="1785777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Полилиния 55"/>
          <p:cNvSpPr/>
          <p:nvPr/>
        </p:nvSpPr>
        <p:spPr>
          <a:xfrm>
            <a:off x="5878765" y="1233240"/>
            <a:ext cx="2194560" cy="1818640"/>
          </a:xfrm>
          <a:custGeom>
            <a:avLst/>
            <a:gdLst>
              <a:gd name="connsiteX0" fmla="*/ 0 w 2194560"/>
              <a:gd name="connsiteY0" fmla="*/ 1788160 h 1818640"/>
              <a:gd name="connsiteX1" fmla="*/ 1056640 w 2194560"/>
              <a:gd name="connsiteY1" fmla="*/ 0 h 1818640"/>
              <a:gd name="connsiteX2" fmla="*/ 2194560 w 2194560"/>
              <a:gd name="connsiteY2" fmla="*/ 1818640 h 1818640"/>
              <a:gd name="connsiteX3" fmla="*/ 0 w 2194560"/>
              <a:gd name="connsiteY3" fmla="*/ 1788160 h 181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4560" h="1818640">
                <a:moveTo>
                  <a:pt x="0" y="1788160"/>
                </a:moveTo>
                <a:lnTo>
                  <a:pt x="1056640" y="0"/>
                </a:lnTo>
                <a:lnTo>
                  <a:pt x="2194560" y="1818640"/>
                </a:lnTo>
                <a:lnTo>
                  <a:pt x="0" y="1788160"/>
                </a:lnTo>
                <a:close/>
              </a:path>
            </a:pathLst>
          </a:cu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107504" y="1039118"/>
                <a:ext cx="24118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/>
                  <a:t>а)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charset="0"/>
                      </a:rPr>
                      <m:t>𝐶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𝐷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⊥</m:t>
                    </m:r>
                    <m:r>
                      <a:rPr lang="en-US" sz="1200" b="0" i="1" dirty="0" smtClean="0">
                        <a:latin typeface="Cambria Math" charset="0"/>
                      </a:rPr>
                      <m:t>(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𝐿𝑆𝑁</m:t>
                    </m:r>
                    <m:r>
                      <a:rPr lang="en-US" sz="1200" b="0" i="1" dirty="0" smtClean="0">
                        <a:latin typeface="Cambria Math" charset="0"/>
                      </a:rPr>
                      <m:t>)⟹(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𝐿𝑆𝑁</m:t>
                    </m:r>
                    <m:r>
                      <a:rPr lang="en-US" sz="1200" i="1" dirty="0">
                        <a:latin typeface="Cambria Math" charset="0"/>
                      </a:rPr>
                      <m:t>)⊥(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𝐶𝑆𝐷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1039118"/>
                <a:ext cx="2411879" cy="276999"/>
              </a:xfrm>
              <a:prstGeom prst="rect">
                <a:avLst/>
              </a:prstGeom>
              <a:blipFill rotWithShape="0">
                <a:blip r:embed="rId11"/>
                <a:stretch>
                  <a:fillRect l="-253"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Прямая соединительная линия 57"/>
          <p:cNvCxnSpPr>
            <a:stCxn id="25" idx="0"/>
            <a:endCxn id="62" idx="1"/>
          </p:cNvCxnSpPr>
          <p:nvPr/>
        </p:nvCxnSpPr>
        <p:spPr>
          <a:xfrm flipV="1">
            <a:off x="5878765" y="1724337"/>
            <a:ext cx="1356931" cy="1321198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Полилиния 61"/>
          <p:cNvSpPr/>
          <p:nvPr/>
        </p:nvSpPr>
        <p:spPr>
          <a:xfrm>
            <a:off x="7113776" y="1724337"/>
            <a:ext cx="203200" cy="223520"/>
          </a:xfrm>
          <a:custGeom>
            <a:avLst/>
            <a:gdLst>
              <a:gd name="connsiteX0" fmla="*/ 0 w 203200"/>
              <a:gd name="connsiteY0" fmla="*/ 111760 h 223520"/>
              <a:gd name="connsiteX1" fmla="*/ 121920 w 203200"/>
              <a:gd name="connsiteY1" fmla="*/ 0 h 223520"/>
              <a:gd name="connsiteX2" fmla="*/ 203200 w 203200"/>
              <a:gd name="connsiteY2" fmla="*/ 121920 h 223520"/>
              <a:gd name="connsiteX3" fmla="*/ 81280 w 203200"/>
              <a:gd name="connsiteY3" fmla="*/ 223520 h 223520"/>
              <a:gd name="connsiteX4" fmla="*/ 0 w 203200"/>
              <a:gd name="connsiteY4" fmla="*/ 111760 h 223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3200" h="223520">
                <a:moveTo>
                  <a:pt x="0" y="111760"/>
                </a:moveTo>
                <a:lnTo>
                  <a:pt x="121920" y="0"/>
                </a:lnTo>
                <a:lnTo>
                  <a:pt x="203200" y="121920"/>
                </a:lnTo>
                <a:lnTo>
                  <a:pt x="81280" y="223520"/>
                </a:lnTo>
                <a:lnTo>
                  <a:pt x="0" y="111760"/>
                </a:lnTo>
                <a:close/>
              </a:path>
            </a:pathLst>
          </a:custGeom>
          <a:solidFill>
            <a:schemeClr val="bg1">
              <a:lumMod val="85000"/>
              <a:alpha val="56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7195818" y="1542413"/>
                <a:ext cx="3320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𝐾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5818" y="1542413"/>
                <a:ext cx="332014" cy="276999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Треугольник 63"/>
          <p:cNvSpPr/>
          <p:nvPr/>
        </p:nvSpPr>
        <p:spPr>
          <a:xfrm>
            <a:off x="3331451" y="1138352"/>
            <a:ext cx="2012194" cy="1409255"/>
          </a:xfrm>
          <a:prstGeom prst="triangle">
            <a:avLst/>
          </a:prstGeom>
          <a:solidFill>
            <a:schemeClr val="bg1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6" name="Прямая соединительная линия 65"/>
          <p:cNvCxnSpPr>
            <a:stCxn id="64" idx="0"/>
            <a:endCxn id="64" idx="3"/>
          </p:cNvCxnSpPr>
          <p:nvPr/>
        </p:nvCxnSpPr>
        <p:spPr>
          <a:xfrm>
            <a:off x="4337548" y="1138352"/>
            <a:ext cx="0" cy="1409255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 flipH="1">
                <a:off x="4150436" y="2542158"/>
                <a:ext cx="490661" cy="315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𝐻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150436" y="2542158"/>
                <a:ext cx="490661" cy="315423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Прямоугольник 69"/>
          <p:cNvSpPr/>
          <p:nvPr/>
        </p:nvSpPr>
        <p:spPr>
          <a:xfrm>
            <a:off x="4349677" y="2365886"/>
            <a:ext cx="170936" cy="170714"/>
          </a:xfrm>
          <a:prstGeom prst="rect">
            <a:avLst/>
          </a:prstGeom>
          <a:solidFill>
            <a:schemeClr val="bg1">
              <a:lumMod val="85000"/>
              <a:alpha val="44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Полилиния 70"/>
          <p:cNvSpPr/>
          <p:nvPr/>
        </p:nvSpPr>
        <p:spPr>
          <a:xfrm>
            <a:off x="3798786" y="2484102"/>
            <a:ext cx="0" cy="142240"/>
          </a:xfrm>
          <a:custGeom>
            <a:avLst/>
            <a:gdLst>
              <a:gd name="connsiteX0" fmla="*/ 0 w 0"/>
              <a:gd name="connsiteY0" fmla="*/ 0 h 142240"/>
              <a:gd name="connsiteX1" fmla="*/ 0 w 0"/>
              <a:gd name="connsiteY1" fmla="*/ 142240 h 142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42240">
                <a:moveTo>
                  <a:pt x="0" y="0"/>
                </a:moveTo>
                <a:lnTo>
                  <a:pt x="0" y="14224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Полилиния 71"/>
          <p:cNvSpPr/>
          <p:nvPr/>
        </p:nvSpPr>
        <p:spPr>
          <a:xfrm>
            <a:off x="4846111" y="2488806"/>
            <a:ext cx="0" cy="142240"/>
          </a:xfrm>
          <a:custGeom>
            <a:avLst/>
            <a:gdLst>
              <a:gd name="connsiteX0" fmla="*/ 0 w 0"/>
              <a:gd name="connsiteY0" fmla="*/ 0 h 142240"/>
              <a:gd name="connsiteX1" fmla="*/ 0 w 0"/>
              <a:gd name="connsiteY1" fmla="*/ 142240 h 142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42240">
                <a:moveTo>
                  <a:pt x="0" y="0"/>
                </a:moveTo>
                <a:lnTo>
                  <a:pt x="0" y="14224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3" name="Прямая соединительная линия 72"/>
          <p:cNvCxnSpPr>
            <a:endCxn id="64" idx="2"/>
          </p:cNvCxnSpPr>
          <p:nvPr/>
        </p:nvCxnSpPr>
        <p:spPr>
          <a:xfrm flipH="1">
            <a:off x="3331451" y="1594047"/>
            <a:ext cx="1304900" cy="95356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Полилиния 75"/>
          <p:cNvSpPr/>
          <p:nvPr/>
        </p:nvSpPr>
        <p:spPr>
          <a:xfrm>
            <a:off x="4506648" y="1591502"/>
            <a:ext cx="235229" cy="217998"/>
          </a:xfrm>
          <a:custGeom>
            <a:avLst/>
            <a:gdLst>
              <a:gd name="connsiteX0" fmla="*/ 0 w 203200"/>
              <a:gd name="connsiteY0" fmla="*/ 111760 h 223520"/>
              <a:gd name="connsiteX1" fmla="*/ 121920 w 203200"/>
              <a:gd name="connsiteY1" fmla="*/ 0 h 223520"/>
              <a:gd name="connsiteX2" fmla="*/ 203200 w 203200"/>
              <a:gd name="connsiteY2" fmla="*/ 121920 h 223520"/>
              <a:gd name="connsiteX3" fmla="*/ 81280 w 203200"/>
              <a:gd name="connsiteY3" fmla="*/ 223520 h 223520"/>
              <a:gd name="connsiteX4" fmla="*/ 0 w 203200"/>
              <a:gd name="connsiteY4" fmla="*/ 111760 h 223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3200" h="223520">
                <a:moveTo>
                  <a:pt x="0" y="111760"/>
                </a:moveTo>
                <a:lnTo>
                  <a:pt x="121920" y="0"/>
                </a:lnTo>
                <a:lnTo>
                  <a:pt x="203200" y="121920"/>
                </a:lnTo>
                <a:lnTo>
                  <a:pt x="81280" y="223520"/>
                </a:lnTo>
                <a:lnTo>
                  <a:pt x="0" y="111760"/>
                </a:lnTo>
                <a:close/>
              </a:path>
            </a:pathLst>
          </a:custGeom>
          <a:solidFill>
            <a:schemeClr val="bg1">
              <a:lumMod val="85000"/>
              <a:alpha val="56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4617587" y="1347079"/>
                <a:ext cx="3320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𝐾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7587" y="1347079"/>
                <a:ext cx="332014" cy="276999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4168828" y="886378"/>
                <a:ext cx="325959" cy="3135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𝑆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828" y="886378"/>
                <a:ext cx="325959" cy="313595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3038344" y="2482462"/>
                <a:ext cx="32457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𝐿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8344" y="2482462"/>
                <a:ext cx="324576" cy="307777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5312146" y="2425768"/>
                <a:ext cx="36054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𝑁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2146" y="2425768"/>
                <a:ext cx="360547" cy="307777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108732" y="1319350"/>
                <a:ext cx="34460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𝐿𝐾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𝑆𝑁</m:t>
                    </m:r>
                    <m:r>
                      <a:rPr lang="ru-RU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,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𝐾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 −</m:t>
                    </m:r>
                    <m:r>
                      <m:rPr>
                        <m:nor/>
                      </m:rPr>
                      <a:rPr lang="ru-RU" sz="1200" dirty="0">
                        <a:solidFill>
                          <a:schemeClr val="tx1"/>
                        </a:solidFill>
                      </a:rPr>
                      <m:t>ортогональная проекция </m:t>
                    </m:r>
                  </m:oMath>
                </a14:m>
                <a:r>
                  <a:rPr lang="ru-RU" sz="1200" i="0" dirty="0" smtClean="0">
                    <a:solidFill>
                      <a:schemeClr val="tx1"/>
                    </a:solidFill>
                    <a:latin typeface="+mj-lt"/>
                  </a:rPr>
                  <a:t>точки</a:t>
                </a:r>
                <a14:m>
                  <m:oMath xmlns:m="http://schemas.openxmlformats.org/officeDocument/2006/math">
                    <m:r>
                      <a:rPr lang="ru-RU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𝐿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endParaRPr lang="en-US" sz="1200" b="0" i="1" dirty="0" smtClean="0">
                  <a:solidFill>
                    <a:schemeClr val="tx1"/>
                  </a:solidFill>
                  <a:latin typeface="Cambria Math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ru-RU" sz="1200" dirty="0">
                          <a:solidFill>
                            <a:schemeClr val="tx1"/>
                          </a:solidFill>
                        </a:rPr>
                        <m:t>на плоскость </m:t>
                      </m:r>
                      <m:r>
                        <a:rPr lang="en-US" sz="1200" b="0" i="1" dirty="0">
                          <a:solidFill>
                            <a:schemeClr val="tx1"/>
                          </a:solidFill>
                          <a:latin typeface="Cambria Math" charset="0"/>
                        </a:rPr>
                        <m:t>𝐶𝑆𝐷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32" y="1319350"/>
                <a:ext cx="3446008" cy="461665"/>
              </a:xfrm>
              <a:prstGeom prst="rect">
                <a:avLst/>
              </a:prstGeom>
              <a:blipFill rotWithShape="0">
                <a:blip r:embed="rId18"/>
                <a:stretch>
                  <a:fillRect t="-46053" b="-210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TextBox 93"/>
          <p:cNvSpPr txBox="1"/>
          <p:nvPr/>
        </p:nvSpPr>
        <p:spPr>
          <a:xfrm>
            <a:off x="98798" y="1848661"/>
            <a:ext cx="25550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b="0" i="0" dirty="0" smtClean="0">
                <a:solidFill>
                  <a:schemeClr val="tx1"/>
                </a:solidFill>
                <a:latin typeface="+mj-lt"/>
              </a:rPr>
              <a:t>Пусть все ребра пирамиды равны 2.</a:t>
            </a:r>
            <a:endParaRPr lang="ru-RU" sz="1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/>
              <p:cNvSpPr txBox="1"/>
              <p:nvPr/>
            </p:nvSpPr>
            <p:spPr>
              <a:xfrm>
                <a:off x="96828" y="2058655"/>
                <a:ext cx="1108316" cy="4795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𝑆𝑁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𝑆𝐷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f>
                        <m:f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28" y="2058655"/>
                <a:ext cx="1108316" cy="479555"/>
              </a:xfrm>
              <a:prstGeom prst="rect">
                <a:avLst/>
              </a:prstGeom>
              <a:blipFill rotWithShape="0">
                <a:blip r:embed="rId19"/>
                <a:stretch>
                  <a:fillRect b="-12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1046861" y="2186286"/>
                <a:ext cx="564129" cy="2987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861" y="2186286"/>
                <a:ext cx="564129" cy="298736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/>
              <p:cNvSpPr txBox="1"/>
              <p:nvPr/>
            </p:nvSpPr>
            <p:spPr>
              <a:xfrm>
                <a:off x="137168" y="2467587"/>
                <a:ext cx="1788759" cy="4737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b="0" i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∠</m:t>
                              </m:r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𝐻𝑁𝑆</m:t>
                              </m:r>
                            </m:e>
                          </m:d>
                        </m:e>
                      </m:func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𝐻𝑁</m:t>
                          </m:r>
                        </m:num>
                        <m:den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𝑆𝑁</m:t>
                          </m:r>
                        </m:den>
                      </m:f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200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i="1">
                                  <a:latin typeface="Cambria Math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7" name="TextBox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8" y="2467587"/>
                <a:ext cx="1788759" cy="473784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/>
              <p:cNvSpPr txBox="1"/>
              <p:nvPr/>
            </p:nvSpPr>
            <p:spPr>
              <a:xfrm>
                <a:off x="1814523" y="2561429"/>
                <a:ext cx="8985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(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из </a:t>
                </a:r>
                <a14:m>
                  <m:oMath xmlns:m="http://schemas.openxmlformats.org/officeDocument/2006/math">
                    <m:r>
                      <a:rPr lang="ru-RU" sz="120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∆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𝑆𝐻𝑁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8" name="TextBox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4523" y="2561429"/>
                <a:ext cx="898579" cy="276999"/>
              </a:xfrm>
              <a:prstGeom prst="rect">
                <a:avLst/>
              </a:prstGeom>
              <a:blipFill rotWithShape="0">
                <a:blip r:embed="rId22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104232" y="2953173"/>
                <a:ext cx="175605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uncPr>
                        <m:fNam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𝐾𝑁</m:t>
                          </m:r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=</m:t>
                          </m:r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𝐿𝑁</m:t>
                          </m:r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sz="1200" b="0" i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∠</m:t>
                              </m:r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𝐻𝑁𝑆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32" y="2953173"/>
                <a:ext cx="1756057" cy="276999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/>
              <p:cNvSpPr txBox="1"/>
              <p:nvPr/>
            </p:nvSpPr>
            <p:spPr>
              <a:xfrm>
                <a:off x="1687393" y="2845357"/>
                <a:ext cx="760721" cy="4737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=2∙</m:t>
                      </m:r>
                      <m:f>
                        <m:fPr>
                          <m:ctrlPr>
                            <a:rPr lang="mr-IN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200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i="1">
                                  <a:latin typeface="Cambria Math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0" name="TextBox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7393" y="2845357"/>
                <a:ext cx="760721" cy="473784"/>
              </a:xfrm>
              <a:prstGeom prst="rect">
                <a:avLst/>
              </a:prstGeom>
              <a:blipFill rotWithShape="0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/>
              <p:cNvSpPr txBox="1"/>
              <p:nvPr/>
            </p:nvSpPr>
            <p:spPr>
              <a:xfrm>
                <a:off x="2270285" y="2804548"/>
                <a:ext cx="649088" cy="4807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1200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i="1">
                                  <a:latin typeface="Cambria Math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1" name="TextBox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0285" y="2804548"/>
                <a:ext cx="649088" cy="480773"/>
              </a:xfrm>
              <a:prstGeom prst="rect">
                <a:avLst/>
              </a:prstGeom>
              <a:blipFill rotWithShape="0">
                <a:blip r:embed="rId25"/>
                <a:stretch>
                  <a:fillRect b="-12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/>
              <p:cNvSpPr txBox="1"/>
              <p:nvPr/>
            </p:nvSpPr>
            <p:spPr>
              <a:xfrm>
                <a:off x="94683" y="3246400"/>
                <a:ext cx="1176541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i="1">
                          <a:latin typeface="Cambria Math" charset="0"/>
                        </a:rPr>
                        <m:t>𝐾𝑁</m:t>
                      </m:r>
                      <m:r>
                        <a:rPr lang="en-US" sz="1200" i="1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charset="0"/>
                            </a:rPr>
                            <m:t>2</m:t>
                          </m:r>
                        </m:num>
                        <m:den>
                          <m:r>
                            <a:rPr lang="en-US" sz="1200" i="1">
                              <a:latin typeface="Cambria Math" charset="0"/>
                            </a:rPr>
                            <m:t>3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</a:rPr>
                        <m:t>𝑆𝑁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83" y="3246400"/>
                <a:ext cx="1176541" cy="439223"/>
              </a:xfrm>
              <a:prstGeom prst="rect">
                <a:avLst/>
              </a:prstGeom>
              <a:blipFill rotWithShape="0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/>
              <p:cNvSpPr txBox="1"/>
              <p:nvPr/>
            </p:nvSpPr>
            <p:spPr>
              <a:xfrm>
                <a:off x="1088077" y="3345044"/>
                <a:ext cx="13633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𝑆𝐾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:</m:t>
                      </m:r>
                      <m:r>
                        <a:rPr lang="en-US" sz="1200" i="1">
                          <a:latin typeface="Cambria Math" charset="0"/>
                        </a:rPr>
                        <m:t>𝐾𝑁</m:t>
                      </m:r>
                      <m:r>
                        <a:rPr lang="en-US" sz="1200" i="1">
                          <a:latin typeface="Cambria Math" charset="0"/>
                        </a:rPr>
                        <m:t>=1:2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077" y="3345044"/>
                <a:ext cx="1363387" cy="276999"/>
              </a:xfrm>
              <a:prstGeom prst="rect">
                <a:avLst/>
              </a:prstGeom>
              <a:blipFill rotWithShape="0"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/>
              <p:cNvSpPr txBox="1"/>
              <p:nvPr/>
            </p:nvSpPr>
            <p:spPr>
              <a:xfrm>
                <a:off x="2766644" y="3038183"/>
                <a:ext cx="8937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(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из </a:t>
                </a:r>
                <a14:m>
                  <m:oMath xmlns:m="http://schemas.openxmlformats.org/officeDocument/2006/math">
                    <m:r>
                      <a:rPr lang="ru-RU" sz="120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∆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𝐿𝐾𝑁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" name="TextBox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6644" y="3038183"/>
                <a:ext cx="893771" cy="276999"/>
              </a:xfrm>
              <a:prstGeom prst="rect">
                <a:avLst/>
              </a:prstGeom>
              <a:blipFill rotWithShape="0">
                <a:blip r:embed="rId28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Сектор 106"/>
          <p:cNvSpPr/>
          <p:nvPr/>
        </p:nvSpPr>
        <p:spPr>
          <a:xfrm>
            <a:off x="4902056" y="2089398"/>
            <a:ext cx="914400" cy="914400"/>
          </a:xfrm>
          <a:prstGeom prst="pie">
            <a:avLst>
              <a:gd name="adj1" fmla="val 10777839"/>
              <a:gd name="adj2" fmla="val 13943256"/>
            </a:avLst>
          </a:prstGeom>
          <a:solidFill>
            <a:srgbClr val="92D050">
              <a:alpha val="51000"/>
            </a:srgbClr>
          </a:solidFill>
          <a:ln w="63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1519481" y="2184687"/>
                <a:ext cx="87203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(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из </a:t>
                </a:r>
                <a14:m>
                  <m:oMath xmlns:m="http://schemas.openxmlformats.org/officeDocument/2006/math">
                    <m:r>
                      <a:rPr lang="ru-RU" sz="120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∆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𝐶𝑆𝐷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9481" y="2184687"/>
                <a:ext cx="872034" cy="276999"/>
              </a:xfrm>
              <a:prstGeom prst="rect">
                <a:avLst/>
              </a:prstGeom>
              <a:blipFill rotWithShape="0">
                <a:blip r:embed="rId29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Овал 74"/>
          <p:cNvSpPr/>
          <p:nvPr/>
        </p:nvSpPr>
        <p:spPr>
          <a:xfrm flipV="1">
            <a:off x="7596654" y="2585327"/>
            <a:ext cx="50304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7452761" y="2623735"/>
                <a:ext cx="3551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𝑀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761" y="2623735"/>
                <a:ext cx="355162" cy="276999"/>
              </a:xfrm>
              <a:prstGeom prst="rect">
                <a:avLst/>
              </a:prstGeom>
              <a:blipFill rotWithShape="0"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Прямая соединительная линия 4"/>
          <p:cNvCxnSpPr>
            <a:endCxn id="75" idx="0"/>
          </p:cNvCxnSpPr>
          <p:nvPr/>
        </p:nvCxnSpPr>
        <p:spPr>
          <a:xfrm>
            <a:off x="6926418" y="1272181"/>
            <a:ext cx="695388" cy="1358865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Прямая соединительная линия 83"/>
          <p:cNvCxnSpPr/>
          <p:nvPr/>
        </p:nvCxnSpPr>
        <p:spPr>
          <a:xfrm flipV="1">
            <a:off x="6224906" y="2601125"/>
            <a:ext cx="1373384" cy="901567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94683" y="3651843"/>
                <a:ext cx="362336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>
                    <a:solidFill>
                      <a:schemeClr val="tx1"/>
                    </a:solidFill>
                  </a:rPr>
                  <a:t>б)</a:t>
                </a:r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Найдем расстояние от точки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𝑀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до плоскости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𝐶𝑆𝐷</m:t>
                    </m:r>
                    <m:r>
                      <a:rPr lang="ru-RU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83" y="3651843"/>
                <a:ext cx="3623364" cy="276999"/>
              </a:xfrm>
              <a:prstGeom prst="rect">
                <a:avLst/>
              </a:prstGeom>
              <a:blipFill rotWithShape="0">
                <a:blip r:embed="rId31"/>
                <a:stretch>
                  <a:fillRect l="-168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104232" y="3875513"/>
                <a:ext cx="773038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𝑀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𝐻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𝐶𝐷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charset="0"/>
                      </a:rPr>
                      <m:t>⟹ </m:t>
                    </m:r>
                    <m:r>
                      <a:rPr lang="en-US" sz="1200" i="1">
                        <a:latin typeface="Cambria Math" charset="0"/>
                      </a:rPr>
                      <m:t>𝐻</m:t>
                    </m:r>
                    <m:r>
                      <a:rPr lang="en-US" sz="1200" b="0" i="1" smtClean="0">
                        <a:latin typeface="Cambria Math" charset="0"/>
                      </a:rPr>
                      <m:t>𝑃</m:t>
                    </m:r>
                    <m:r>
                      <a:rPr lang="en-US" sz="1200" b="0" i="1" smtClean="0">
                        <a:latin typeface="Cambria Math" charset="0"/>
                      </a:rPr>
                      <m:t>−</m:t>
                    </m:r>
                  </m:oMath>
                </a14:m>
                <a:r>
                  <a:rPr lang="ru-RU" sz="1200" dirty="0" smtClean="0"/>
                  <a:t>расстояние </a:t>
                </a:r>
                <a:r>
                  <a:rPr lang="ru-RU" sz="1200" dirty="0"/>
                  <a:t>от точки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charset="0"/>
                      </a:rPr>
                      <m:t>𝐻</m:t>
                    </m:r>
                  </m:oMath>
                </a14:m>
                <a:r>
                  <a:rPr lang="en-US" sz="1200" dirty="0" smtClean="0"/>
                  <a:t> </a:t>
                </a:r>
                <a:r>
                  <a:rPr lang="ru-RU" sz="1200" dirty="0"/>
                  <a:t>до плоскости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charset="0"/>
                      </a:rPr>
                      <m:t>𝐶𝑆𝐷</m:t>
                    </m:r>
                    <m:r>
                      <a:rPr lang="ru-RU" sz="1200" b="0" i="1" dirty="0" smtClean="0">
                        <a:latin typeface="Cambria Math" charset="0"/>
                      </a:rPr>
                      <m:t>.</m:t>
                    </m:r>
                    <m:r>
                      <a:rPr lang="en-US" sz="1200" b="0" i="1" dirty="0" smtClean="0">
                        <a:latin typeface="Cambria Math" charset="0"/>
                      </a:rPr>
                      <m:t> </m:t>
                    </m:r>
                    <m:r>
                      <a:rPr lang="ru-RU" sz="1200" b="0" i="1" dirty="0" smtClean="0"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0" i="0" dirty="0" smtClean="0">
                    <a:latin typeface="+mj-lt"/>
                  </a:rPr>
                  <a:t> Оно равно</a:t>
                </a:r>
                <a14:m>
                  <m:oMath xmlns:m="http://schemas.openxmlformats.org/officeDocument/2006/math">
                    <m:r>
                      <a:rPr lang="ru-RU" sz="1200" b="0" i="1" dirty="0" smtClean="0">
                        <a:latin typeface="Cambria Math" charset="0"/>
                      </a:rPr>
                      <m:t> </m:t>
                    </m:r>
                    <m:r>
                      <m:rPr>
                        <m:nor/>
                      </m:rPr>
                      <a:rPr lang="ru-RU" sz="1200" dirty="0"/>
                      <m:t>расстояни</m:t>
                    </m:r>
                    <m:r>
                      <m:rPr>
                        <m:nor/>
                      </m:rPr>
                      <a:rPr lang="ru-RU" sz="1200" b="0" i="0" dirty="0" smtClean="0"/>
                      <m:t>ю</m:t>
                    </m:r>
                    <m:r>
                      <m:rPr>
                        <m:nor/>
                      </m:rPr>
                      <a:rPr lang="ru-RU" sz="1200" dirty="0"/>
                      <m:t> от точки </m:t>
                    </m:r>
                    <m:r>
                      <a:rPr lang="en-US" sz="1200" i="1" dirty="0">
                        <a:latin typeface="Cambria Math" charset="0"/>
                      </a:rPr>
                      <m:t>𝑀</m:t>
                    </m:r>
                    <m:r>
                      <m:rPr>
                        <m:nor/>
                      </m:rPr>
                      <a:rPr lang="en-US" sz="1200" dirty="0"/>
                      <m:t> </m:t>
                    </m:r>
                    <m:r>
                      <m:rPr>
                        <m:nor/>
                      </m:rPr>
                      <a:rPr lang="ru-RU" sz="1200" dirty="0"/>
                      <m:t>до плоскости </m:t>
                    </m:r>
                    <m:r>
                      <a:rPr lang="en-US" sz="1200" i="1" dirty="0">
                        <a:latin typeface="Cambria Math" charset="0"/>
                      </a:rPr>
                      <m:t>𝐶𝑆𝐷</m:t>
                    </m:r>
                    <m:r>
                      <a:rPr lang="ru-RU" sz="1200" i="1" dirty="0">
                        <a:latin typeface="Cambria Math" charset="0"/>
                      </a:rPr>
                      <m:t>.</m:t>
                    </m:r>
                  </m:oMath>
                </a14:m>
                <a:endParaRPr lang="ru-RU" sz="1200" dirty="0"/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32" y="3875513"/>
                <a:ext cx="7730386" cy="276999"/>
              </a:xfrm>
              <a:prstGeom prst="rect">
                <a:avLst/>
              </a:prstGeom>
              <a:blipFill rotWithShape="0">
                <a:blip r:embed="rId32"/>
                <a:stretch>
                  <a:fillRect t="-82222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Прямая соединительная линия 86"/>
          <p:cNvCxnSpPr>
            <a:stCxn id="49" idx="0"/>
          </p:cNvCxnSpPr>
          <p:nvPr/>
        </p:nvCxnSpPr>
        <p:spPr>
          <a:xfrm flipV="1">
            <a:off x="6921992" y="2408603"/>
            <a:ext cx="743110" cy="636932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7604235" y="2195111"/>
                <a:ext cx="3198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𝑃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4235" y="2195111"/>
                <a:ext cx="319896" cy="276999"/>
              </a:xfrm>
              <a:prstGeom prst="rect">
                <a:avLst/>
              </a:prstGeom>
              <a:blipFill rotWithShape="0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Полилиния 40"/>
          <p:cNvSpPr/>
          <p:nvPr/>
        </p:nvSpPr>
        <p:spPr>
          <a:xfrm>
            <a:off x="7589520" y="2397760"/>
            <a:ext cx="142240" cy="162560"/>
          </a:xfrm>
          <a:custGeom>
            <a:avLst/>
            <a:gdLst>
              <a:gd name="connsiteX0" fmla="*/ 0 w 142240"/>
              <a:gd name="connsiteY0" fmla="*/ 81280 h 162560"/>
              <a:gd name="connsiteX1" fmla="*/ 91440 w 142240"/>
              <a:gd name="connsiteY1" fmla="*/ 0 h 162560"/>
              <a:gd name="connsiteX2" fmla="*/ 142240 w 142240"/>
              <a:gd name="connsiteY2" fmla="*/ 91440 h 162560"/>
              <a:gd name="connsiteX3" fmla="*/ 60960 w 142240"/>
              <a:gd name="connsiteY3" fmla="*/ 162560 h 162560"/>
              <a:gd name="connsiteX4" fmla="*/ 0 w 142240"/>
              <a:gd name="connsiteY4" fmla="*/ 81280 h 1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240" h="162560">
                <a:moveTo>
                  <a:pt x="0" y="81280"/>
                </a:moveTo>
                <a:lnTo>
                  <a:pt x="91440" y="0"/>
                </a:lnTo>
                <a:lnTo>
                  <a:pt x="142240" y="91440"/>
                </a:lnTo>
                <a:lnTo>
                  <a:pt x="60960" y="162560"/>
                </a:lnTo>
                <a:lnTo>
                  <a:pt x="0" y="8128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/>
              <p:cNvSpPr txBox="1"/>
              <p:nvPr/>
            </p:nvSpPr>
            <p:spPr>
              <a:xfrm>
                <a:off x="63405" y="4288989"/>
                <a:ext cx="170636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𝐻𝑃</m:t>
                      </m:r>
                      <m:r>
                        <a:rPr lang="en-US" sz="1200" b="0" i="1" smtClean="0">
                          <a:latin typeface="Cambria Math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𝐻𝑁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func>
                        <m:funcPr>
                          <m:ctrlPr>
                            <a:rPr lang="en-US" sz="1200" i="1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12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∠</m:t>
                              </m:r>
                              <m:r>
                                <a:rPr lang="en-US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𝐻𝑁𝑆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8" name="TextBox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05" y="4288989"/>
                <a:ext cx="1706365" cy="276999"/>
              </a:xfrm>
              <a:prstGeom prst="rect">
                <a:avLst/>
              </a:prstGeom>
              <a:blipFill rotWithShape="0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/>
              <p:cNvSpPr txBox="1"/>
              <p:nvPr/>
            </p:nvSpPr>
            <p:spPr>
              <a:xfrm>
                <a:off x="1608990" y="4079448"/>
                <a:ext cx="1371336" cy="637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=1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ad>
                        <m:radPr>
                          <m:degHide m:val="on"/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200" b="0" i="1" smtClean="0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mr-IN" sz="1200" i="1">
                                          <a:latin typeface="Cambria Math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200" i="1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sz="1200" i="1">
                                              <a:latin typeface="Cambria Math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1200" i="1">
                                              <a:latin typeface="Cambria Math" charset="0"/>
                                            </a:rPr>
                                            <m:t>3</m:t>
                                          </m:r>
                                        </m:e>
                                      </m:rad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13" name="TextBox 1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8990" y="4079448"/>
                <a:ext cx="1371336" cy="637995"/>
              </a:xfrm>
              <a:prstGeom prst="rect">
                <a:avLst/>
              </a:prstGeom>
              <a:blipFill rotWithShape="0"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/>
              <p:cNvSpPr txBox="1"/>
              <p:nvPr/>
            </p:nvSpPr>
            <p:spPr>
              <a:xfrm>
                <a:off x="2819545" y="4082690"/>
                <a:ext cx="777329" cy="637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=1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ad>
                        <m:radPr>
                          <m:degHide m:val="on"/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14" name="TextBox 1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545" y="4082690"/>
                <a:ext cx="777329" cy="637995"/>
              </a:xfrm>
              <a:prstGeom prst="rect">
                <a:avLst/>
              </a:prstGeom>
              <a:blipFill rotWithShape="0"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/>
              <p:cNvSpPr txBox="1"/>
              <p:nvPr/>
            </p:nvSpPr>
            <p:spPr>
              <a:xfrm>
                <a:off x="3442490" y="4091047"/>
                <a:ext cx="646459" cy="579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den>
                          </m:f>
                        </m:e>
                      </m:rad>
                      <m:r>
                        <a:rPr lang="en-US" sz="1200" b="0" i="1" smtClean="0"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15" name="TextBox 1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490" y="4091047"/>
                <a:ext cx="646459" cy="579995"/>
              </a:xfrm>
              <a:prstGeom prst="rect">
                <a:avLst/>
              </a:prstGeom>
              <a:blipFill rotWithShape="0">
                <a:blip r:embed="rId37"/>
                <a:stretch>
                  <a:fillRect b="-21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/>
              <p:cNvSpPr txBox="1"/>
              <p:nvPr/>
            </p:nvSpPr>
            <p:spPr>
              <a:xfrm>
                <a:off x="4000063" y="4208632"/>
                <a:ext cx="961802" cy="436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20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charset="0"/>
                            </a:rPr>
                            <m:t>sin</m:t>
                          </m:r>
                        </m:fName>
                        <m:e>
                          <m:r>
                            <a:rPr lang="en-US" sz="12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𝜑</m:t>
                          </m:r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mr-IN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𝐻𝑃</m:t>
                              </m:r>
                            </m:num>
                            <m:den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𝑆𝑀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16" name="TextBox 1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063" y="4208632"/>
                <a:ext cx="961802" cy="436851"/>
              </a:xfrm>
              <a:prstGeom prst="rect">
                <a:avLst/>
              </a:prstGeom>
              <a:blipFill rotWithShape="0">
                <a:blip r:embed="rId3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/>
              <p:cNvSpPr txBox="1"/>
              <p:nvPr/>
            </p:nvSpPr>
            <p:spPr>
              <a:xfrm>
                <a:off x="4824384" y="4215410"/>
                <a:ext cx="595098" cy="438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𝐻𝑃</m:t>
                          </m:r>
                        </m:num>
                        <m:den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</m:t>
                          </m:r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18" name="TextBox 1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4384" y="4215410"/>
                <a:ext cx="595098" cy="438133"/>
              </a:xfrm>
              <a:prstGeom prst="rect">
                <a:avLst/>
              </a:prstGeom>
              <a:blipFill rotWithShape="0">
                <a:blip r:embed="rId39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/>
              <p:cNvSpPr txBox="1"/>
              <p:nvPr/>
            </p:nvSpPr>
            <p:spPr>
              <a:xfrm>
                <a:off x="5262059" y="4034463"/>
                <a:ext cx="578555" cy="6753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sz="1200" i="1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12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20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19" name="TextBox 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2059" y="4034463"/>
                <a:ext cx="578555" cy="675378"/>
              </a:xfrm>
              <a:prstGeom prst="rect">
                <a:avLst/>
              </a:prstGeom>
              <a:blipFill rotWithShape="0"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/>
              <p:cNvSpPr txBox="1"/>
              <p:nvPr/>
            </p:nvSpPr>
            <p:spPr>
              <a:xfrm>
                <a:off x="5701330" y="4166357"/>
                <a:ext cx="564129" cy="4814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n-US" sz="12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20" name="TextBox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330" y="4166357"/>
                <a:ext cx="564129" cy="481414"/>
              </a:xfrm>
              <a:prstGeom prst="rect">
                <a:avLst/>
              </a:prstGeom>
              <a:blipFill rotWithShape="0">
                <a:blip r:embed="rId41"/>
                <a:stretch>
                  <a:fillRect b="-12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/>
              <p:cNvSpPr txBox="1"/>
              <p:nvPr/>
            </p:nvSpPr>
            <p:spPr>
              <a:xfrm>
                <a:off x="6507707" y="4283307"/>
                <a:ext cx="2002087" cy="5364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b="1" dirty="0" smtClean="0">
                    <a:solidFill>
                      <a:srgbClr val="FF0000"/>
                    </a:solidFill>
                  </a:rPr>
                  <a:t>Ответ: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𝒂𝒓𝒄𝒔𝒊𝒏</m:t>
                    </m:r>
                    <m:r>
                      <a:rPr lang="ru-RU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(</m:t>
                    </m:r>
                    <m:f>
                      <m:f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 charset="0"/>
                                <a:cs typeface="Cambria Math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𝟐</m:t>
                            </m:r>
                          </m:e>
                        </m:rad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𝟑</m:t>
                        </m:r>
                      </m:den>
                    </m:f>
                    <m:r>
                      <a:rPr lang="ru-RU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)</m:t>
                    </m:r>
                  </m:oMath>
                </a14:m>
                <a:endParaRPr lang="ru-RU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7707" y="4283307"/>
                <a:ext cx="2002087" cy="536494"/>
              </a:xfrm>
              <a:prstGeom prst="rect">
                <a:avLst/>
              </a:prstGeom>
              <a:blipFill rotWithShape="0">
                <a:blip r:embed="rId42"/>
                <a:stretch>
                  <a:fillRect l="-2744" b="-68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Полилиния 2"/>
          <p:cNvSpPr/>
          <p:nvPr/>
        </p:nvSpPr>
        <p:spPr>
          <a:xfrm>
            <a:off x="8016240" y="2834640"/>
            <a:ext cx="193040" cy="193040"/>
          </a:xfrm>
          <a:custGeom>
            <a:avLst/>
            <a:gdLst>
              <a:gd name="connsiteX0" fmla="*/ 0 w 193040"/>
              <a:gd name="connsiteY0" fmla="*/ 81280 h 193040"/>
              <a:gd name="connsiteX1" fmla="*/ 111760 w 193040"/>
              <a:gd name="connsiteY1" fmla="*/ 0 h 193040"/>
              <a:gd name="connsiteX2" fmla="*/ 193040 w 193040"/>
              <a:gd name="connsiteY2" fmla="*/ 121920 h 193040"/>
              <a:gd name="connsiteX3" fmla="*/ 91440 w 193040"/>
              <a:gd name="connsiteY3" fmla="*/ 193040 h 193040"/>
              <a:gd name="connsiteX4" fmla="*/ 0 w 193040"/>
              <a:gd name="connsiteY4" fmla="*/ 81280 h 19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3040" h="193040">
                <a:moveTo>
                  <a:pt x="0" y="81280"/>
                </a:moveTo>
                <a:lnTo>
                  <a:pt x="111760" y="0"/>
                </a:lnTo>
                <a:lnTo>
                  <a:pt x="193040" y="121920"/>
                </a:lnTo>
                <a:lnTo>
                  <a:pt x="91440" y="193040"/>
                </a:lnTo>
                <a:lnTo>
                  <a:pt x="0" y="81280"/>
                </a:lnTo>
                <a:close/>
              </a:path>
            </a:pathLst>
          </a:custGeom>
          <a:solidFill>
            <a:schemeClr val="bg1">
              <a:lumMod val="85000"/>
              <a:alpha val="32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2" name="Прямая соединительная линия 81"/>
          <p:cNvCxnSpPr/>
          <p:nvPr/>
        </p:nvCxnSpPr>
        <p:spPr>
          <a:xfrm flipH="1">
            <a:off x="4366800" y="2073012"/>
            <a:ext cx="631845" cy="463588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4941524" y="1865561"/>
                <a:ext cx="3535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latin typeface="Cambria Math" charset="0"/>
                        </a:rPr>
                        <m:t> 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𝑃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524" y="1865561"/>
                <a:ext cx="353558" cy="276999"/>
              </a:xfrm>
              <a:prstGeom prst="rect">
                <a:avLst/>
              </a:prstGeom>
              <a:blipFill rotWithShape="0">
                <a:blip r:embed="rId43"/>
                <a:stretch>
                  <a:fillRect t="-80000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Полилиния 88"/>
          <p:cNvSpPr/>
          <p:nvPr/>
        </p:nvSpPr>
        <p:spPr>
          <a:xfrm>
            <a:off x="4776922" y="1947857"/>
            <a:ext cx="217464" cy="227440"/>
          </a:xfrm>
          <a:custGeom>
            <a:avLst/>
            <a:gdLst>
              <a:gd name="connsiteX0" fmla="*/ 0 w 203200"/>
              <a:gd name="connsiteY0" fmla="*/ 111760 h 223520"/>
              <a:gd name="connsiteX1" fmla="*/ 121920 w 203200"/>
              <a:gd name="connsiteY1" fmla="*/ 0 h 223520"/>
              <a:gd name="connsiteX2" fmla="*/ 203200 w 203200"/>
              <a:gd name="connsiteY2" fmla="*/ 121920 h 223520"/>
              <a:gd name="connsiteX3" fmla="*/ 81280 w 203200"/>
              <a:gd name="connsiteY3" fmla="*/ 223520 h 223520"/>
              <a:gd name="connsiteX4" fmla="*/ 0 w 203200"/>
              <a:gd name="connsiteY4" fmla="*/ 111760 h 223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3200" h="223520">
                <a:moveTo>
                  <a:pt x="0" y="111760"/>
                </a:moveTo>
                <a:lnTo>
                  <a:pt x="121920" y="0"/>
                </a:lnTo>
                <a:lnTo>
                  <a:pt x="203200" y="121920"/>
                </a:lnTo>
                <a:lnTo>
                  <a:pt x="81280" y="223520"/>
                </a:lnTo>
                <a:lnTo>
                  <a:pt x="0" y="111760"/>
                </a:lnTo>
                <a:close/>
              </a:path>
            </a:pathLst>
          </a:custGeom>
          <a:solidFill>
            <a:schemeClr val="bg1">
              <a:lumMod val="85000"/>
              <a:alpha val="56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6290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/>
      <p:bldP spid="14" grpId="0"/>
      <p:bldP spid="15" grpId="0"/>
      <p:bldP spid="16" grpId="0"/>
      <p:bldP spid="17" grpId="0"/>
      <p:bldP spid="25" grpId="0" animBg="1"/>
      <p:bldP spid="28" grpId="0"/>
      <p:bldP spid="29" grpId="0" animBg="1"/>
      <p:bldP spid="30" grpId="0"/>
      <p:bldP spid="33" grpId="0" animBg="1"/>
      <p:bldP spid="34" grpId="0" animBg="1"/>
      <p:bldP spid="35" grpId="0" animBg="1"/>
      <p:bldP spid="36" grpId="0" animBg="1"/>
      <p:bldP spid="49" grpId="0"/>
      <p:bldP spid="51" grpId="0" animBg="1"/>
      <p:bldP spid="56" grpId="0" animBg="1"/>
      <p:bldP spid="57" grpId="0"/>
      <p:bldP spid="62" grpId="0" animBg="1"/>
      <p:bldP spid="63" grpId="0"/>
      <p:bldP spid="64" grpId="0" animBg="1"/>
      <p:bldP spid="69" grpId="0"/>
      <p:bldP spid="70" grpId="0" animBg="1"/>
      <p:bldP spid="71" grpId="0" animBg="1"/>
      <p:bldP spid="72" grpId="0" animBg="1"/>
      <p:bldP spid="76" grpId="0" animBg="1"/>
      <p:bldP spid="77" grpId="0"/>
      <p:bldP spid="78" grpId="0"/>
      <p:bldP spid="79" grpId="0"/>
      <p:bldP spid="80" grpId="0"/>
      <p:bldP spid="81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1" grpId="0"/>
      <p:bldP spid="102" grpId="0"/>
      <p:bldP spid="103" grpId="0"/>
      <p:bldP spid="106" grpId="0"/>
      <p:bldP spid="107" grpId="0" animBg="1"/>
      <p:bldP spid="67" grpId="0"/>
      <p:bldP spid="75" grpId="0" animBg="1"/>
      <p:bldP spid="83" grpId="0"/>
      <p:bldP spid="85" grpId="0"/>
      <p:bldP spid="86" grpId="0"/>
      <p:bldP spid="91" grpId="0"/>
      <p:bldP spid="41" grpId="0" animBg="1"/>
      <p:bldP spid="108" grpId="0"/>
      <p:bldP spid="113" grpId="0"/>
      <p:bldP spid="114" grpId="0"/>
      <p:bldP spid="115" grpId="0"/>
      <p:bldP spid="116" grpId="0"/>
      <p:bldP spid="118" grpId="0"/>
      <p:bldP spid="119" grpId="0"/>
      <p:bldP spid="120" grpId="0"/>
      <p:bldP spid="3" grpId="0" animBg="1"/>
      <p:bldP spid="88" grpId="0"/>
      <p:bldP spid="8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0" y="4470276"/>
            <a:ext cx="533400" cy="285750"/>
          </a:xfrm>
        </p:spPr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21</a:t>
            </a:fld>
            <a:endParaRPr kumimoji="0" lang="ru-RU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/>
              <p:cNvSpPr/>
              <p:nvPr/>
            </p:nvSpPr>
            <p:spPr>
              <a:xfrm>
                <a:off x="0" y="-22136"/>
                <a:ext cx="9144000" cy="93770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dirty="0" smtClean="0">
                    <a:solidFill>
                      <a:srgbClr val="7030A0"/>
                    </a:solidFill>
                  </a:rPr>
                  <a:t>13.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О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снования</a:t>
                </a:r>
                <a14:m>
                  <m:oMath xmlns:m="http://schemas.openxmlformats.org/officeDocument/2006/math">
                    <m:r>
                      <a:rPr lang="ru-RU" sz="1200" b="1" i="0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𝑨𝑩𝑪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ru-RU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ru-RU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ru-RU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ru-RU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ru-RU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 призмы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𝑨𝑩𝑪</m:t>
                    </m:r>
                    <m:sSub>
                      <m:sSubPr>
                        <m:ctrlPr>
                          <a:rPr lang="ru-RU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ru-RU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ru-RU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ru-RU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ru-RU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ru-RU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 - равносторонние треугольники. Отрезок, соединяющий центр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𝑶</m:t>
                    </m:r>
                  </m:oMath>
                </a14:m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основания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𝑨𝑩𝑪</m:t>
                    </m:r>
                  </m:oMath>
                </a14:m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призмы с вершиной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,  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перпендикулярен основаниям призмы. </a:t>
                </a: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а) Докажите, что плоскости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𝑨𝑩</m:t>
                    </m:r>
                    <m:sSub>
                      <m:sSubPr>
                        <m:ctrlPr>
                          <a:rPr lang="ru-RU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ru-RU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𝑶𝑪</m:t>
                        </m:r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ru-RU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перпендикулярны. </a:t>
                </a:r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б) Найдите </a:t>
                </a:r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угол между прямой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</m:t>
                    </m:r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 и плоскостью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</m:t>
                    </m:r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,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если боковое ребро призмы равно стороне основания. </a:t>
                </a:r>
                <a:endParaRPr lang="en-US" sz="12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6"/>
                <a:ext cx="9144000" cy="93770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Прямая соединительная линия 6"/>
          <p:cNvCxnSpPr/>
          <p:nvPr/>
        </p:nvCxnSpPr>
        <p:spPr>
          <a:xfrm>
            <a:off x="6031812" y="3504407"/>
            <a:ext cx="2736304" cy="0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6031812" y="3504407"/>
            <a:ext cx="1800200" cy="936104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 flipV="1">
            <a:off x="7832012" y="3504407"/>
            <a:ext cx="936104" cy="936104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6031812" y="3504407"/>
            <a:ext cx="2232248" cy="504056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 flipV="1">
            <a:off x="7000577" y="3504407"/>
            <a:ext cx="1767539" cy="490943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>
            <a:off x="7554140" y="2198103"/>
            <a:ext cx="0" cy="1656184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701403" y="3344093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403" y="3344093"/>
                <a:ext cx="340286" cy="3077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 flipH="1">
                <a:off x="8780322" y="3394010"/>
                <a:ext cx="2465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780322" y="3394010"/>
                <a:ext cx="246540" cy="307777"/>
              </a:xfrm>
              <a:prstGeom prst="rect">
                <a:avLst/>
              </a:prstGeom>
              <a:blipFill rotWithShape="0">
                <a:blip r:embed="rId4"/>
                <a:stretch>
                  <a:fillRect r="-73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 flipH="1">
                <a:off x="7566076" y="4391638"/>
                <a:ext cx="7122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566076" y="4391638"/>
                <a:ext cx="712236" cy="3077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Овал 32"/>
          <p:cNvSpPr/>
          <p:nvPr/>
        </p:nvSpPr>
        <p:spPr>
          <a:xfrm flipV="1">
            <a:off x="7526220" y="3827866"/>
            <a:ext cx="50304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 flipH="1">
                <a:off x="7195254" y="3862127"/>
                <a:ext cx="7122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𝑂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195254" y="3862127"/>
                <a:ext cx="712236" cy="3077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Прямая соединительная линия 35"/>
          <p:cNvCxnSpPr/>
          <p:nvPr/>
        </p:nvCxnSpPr>
        <p:spPr>
          <a:xfrm>
            <a:off x="5764100" y="1258079"/>
            <a:ext cx="2736304" cy="0"/>
          </a:xfrm>
          <a:prstGeom prst="line">
            <a:avLst/>
          </a:prstGeom>
          <a:ln>
            <a:solidFill>
              <a:srgbClr val="00206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endCxn id="59" idx="1"/>
          </p:cNvCxnSpPr>
          <p:nvPr/>
        </p:nvCxnSpPr>
        <p:spPr>
          <a:xfrm>
            <a:off x="5764100" y="1258079"/>
            <a:ext cx="1795136" cy="940022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>
            <a:stCxn id="59" idx="1"/>
          </p:cNvCxnSpPr>
          <p:nvPr/>
        </p:nvCxnSpPr>
        <p:spPr>
          <a:xfrm flipV="1">
            <a:off x="7559236" y="1258080"/>
            <a:ext cx="941168" cy="940021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5418220" y="1087067"/>
                <a:ext cx="41716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8220" y="1087067"/>
                <a:ext cx="417165" cy="30777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 flipH="1">
                <a:off x="8442442" y="1094649"/>
                <a:ext cx="2465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442442" y="1094649"/>
                <a:ext cx="246540" cy="307777"/>
              </a:xfrm>
              <a:prstGeom prst="rect">
                <a:avLst/>
              </a:prstGeom>
              <a:blipFill rotWithShape="0">
                <a:blip r:embed="rId8"/>
                <a:stretch>
                  <a:fillRect r="-27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 flipH="1">
                <a:off x="7260038" y="1822761"/>
                <a:ext cx="7122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260038" y="1822761"/>
                <a:ext cx="712236" cy="30777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Прямая соединительная линия 42"/>
          <p:cNvCxnSpPr>
            <a:endCxn id="30" idx="3"/>
          </p:cNvCxnSpPr>
          <p:nvPr/>
        </p:nvCxnSpPr>
        <p:spPr>
          <a:xfrm>
            <a:off x="5774297" y="1251655"/>
            <a:ext cx="267392" cy="2246327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/>
          <p:cNvCxnSpPr>
            <a:stCxn id="59" idx="1"/>
          </p:cNvCxnSpPr>
          <p:nvPr/>
        </p:nvCxnSpPr>
        <p:spPr>
          <a:xfrm>
            <a:off x="7559236" y="2198101"/>
            <a:ext cx="281312" cy="221798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единительная линия 48"/>
          <p:cNvCxnSpPr/>
          <p:nvPr/>
        </p:nvCxnSpPr>
        <p:spPr>
          <a:xfrm>
            <a:off x="8506798" y="1265920"/>
            <a:ext cx="267392" cy="2246327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/>
          <p:cNvCxnSpPr>
            <a:endCxn id="30" idx="3"/>
          </p:cNvCxnSpPr>
          <p:nvPr/>
        </p:nvCxnSpPr>
        <p:spPr>
          <a:xfrm flipH="1">
            <a:off x="6041689" y="2191678"/>
            <a:ext cx="1508686" cy="1306304"/>
          </a:xfrm>
          <a:prstGeom prst="line">
            <a:avLst/>
          </a:prstGeom>
          <a:ln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>
            <a:endCxn id="59" idx="1"/>
          </p:cNvCxnSpPr>
          <p:nvPr/>
        </p:nvCxnSpPr>
        <p:spPr>
          <a:xfrm flipH="1" flipV="1">
            <a:off x="7559236" y="2198101"/>
            <a:ext cx="1205838" cy="1310227"/>
          </a:xfrm>
          <a:prstGeom prst="line">
            <a:avLst/>
          </a:prstGeom>
          <a:ln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Полилиния 58"/>
          <p:cNvSpPr/>
          <p:nvPr/>
        </p:nvSpPr>
        <p:spPr>
          <a:xfrm>
            <a:off x="6055556" y="2198101"/>
            <a:ext cx="2712720" cy="1300480"/>
          </a:xfrm>
          <a:custGeom>
            <a:avLst/>
            <a:gdLst>
              <a:gd name="connsiteX0" fmla="*/ 0 w 2712720"/>
              <a:gd name="connsiteY0" fmla="*/ 1300480 h 1300480"/>
              <a:gd name="connsiteX1" fmla="*/ 1503680 w 2712720"/>
              <a:gd name="connsiteY1" fmla="*/ 0 h 1300480"/>
              <a:gd name="connsiteX2" fmla="*/ 2712720 w 2712720"/>
              <a:gd name="connsiteY2" fmla="*/ 1300480 h 1300480"/>
              <a:gd name="connsiteX3" fmla="*/ 0 w 2712720"/>
              <a:gd name="connsiteY3" fmla="*/ 1300480 h 1300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720" h="1300480">
                <a:moveTo>
                  <a:pt x="0" y="1300480"/>
                </a:moveTo>
                <a:lnTo>
                  <a:pt x="1503680" y="0"/>
                </a:lnTo>
                <a:lnTo>
                  <a:pt x="2712720" y="1300480"/>
                </a:lnTo>
                <a:lnTo>
                  <a:pt x="0" y="1300480"/>
                </a:lnTo>
                <a:close/>
              </a:path>
            </a:pathLst>
          </a:custGeom>
          <a:solidFill>
            <a:srgbClr val="00B0F0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0" name="Прямая соединительная линия 59"/>
          <p:cNvCxnSpPr/>
          <p:nvPr/>
        </p:nvCxnSpPr>
        <p:spPr>
          <a:xfrm>
            <a:off x="7386044" y="3508325"/>
            <a:ext cx="443088" cy="932186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Овал 69"/>
          <p:cNvSpPr/>
          <p:nvPr/>
        </p:nvSpPr>
        <p:spPr>
          <a:xfrm flipV="1">
            <a:off x="7367572" y="3493728"/>
            <a:ext cx="50304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 flipH="1">
                <a:off x="7033792" y="3493983"/>
                <a:ext cx="4785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𝐻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033792" y="3493983"/>
                <a:ext cx="478520" cy="30777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107504" y="1012347"/>
                <a:ext cx="21287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/>
                  <a:t>а)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charset="0"/>
                          </a:rPr>
                          <m:t>𝐶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dirty="0" smtClean="0">
                        <a:latin typeface="Cambria Math" charset="0"/>
                      </a:rPr>
                      <m:t>𝑂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⊥</m:t>
                    </m:r>
                    <m:r>
                      <a:rPr lang="en-US" sz="1200" b="0" i="1" dirty="0" smtClean="0">
                        <a:latin typeface="Cambria Math" charset="0"/>
                      </a:rPr>
                      <m:t>(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𝐴𝐵𝐶</m:t>
                    </m:r>
                    <m:r>
                      <a:rPr lang="en-US" sz="1200" b="0" i="1" dirty="0" smtClean="0">
                        <a:latin typeface="Cambria Math" charset="0"/>
                      </a:rPr>
                      <m:t>)⟹</m:t>
                    </m:r>
                    <m:sSub>
                      <m:sSubPr>
                        <m:ctrlPr>
                          <a:rPr lang="en-US" sz="12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charset="0"/>
                          </a:rPr>
                          <m:t>𝐶</m:t>
                        </m:r>
                      </m:e>
                      <m:sub>
                        <m:r>
                          <a:rPr lang="en-US" sz="1200" i="1" dirty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i="1" dirty="0">
                        <a:latin typeface="Cambria Math" charset="0"/>
                      </a:rPr>
                      <m:t>𝑂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⊥</m:t>
                    </m:r>
                    <m:r>
                      <a:rPr lang="en-US" sz="1200" i="1" dirty="0">
                        <a:latin typeface="Cambria Math" charset="0"/>
                      </a:rPr>
                      <m:t>𝐴𝐵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1012347"/>
                <a:ext cx="2128788" cy="276999"/>
              </a:xfrm>
              <a:prstGeom prst="rect">
                <a:avLst/>
              </a:prstGeom>
              <a:blipFill rotWithShape="0">
                <a:blip r:embed="rId11"/>
                <a:stretch>
                  <a:fillRect l="-287"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118421" y="1289346"/>
                <a:ext cx="30868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</a:rPr>
                      <m:t>𝐶𝐻</m:t>
                    </m:r>
                    <m:r>
                      <a:rPr lang="en-US" sz="1200" i="1" dirty="0" smtClean="0">
                        <a:latin typeface="Cambria Math" charset="0"/>
                      </a:rPr>
                      <m:t> − 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медиана и высота </a:t>
                </a:r>
                <a14:m>
                  <m:oMath xmlns:m="http://schemas.openxmlformats.org/officeDocument/2006/math">
                    <m:r>
                      <a:rPr lang="ru-RU" sz="120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∆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𝐴𝐵𝐶</m:t>
                    </m:r>
                    <m:r>
                      <a:rPr lang="en-US" sz="1200" i="1" dirty="0">
                        <a:latin typeface="Cambria Math" charset="0"/>
                      </a:rPr>
                      <m:t>⟹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𝐶𝐻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⊥</m:t>
                    </m:r>
                    <m:r>
                      <a:rPr lang="en-US" sz="1200" i="1" dirty="0">
                        <a:latin typeface="Cambria Math" charset="0"/>
                      </a:rPr>
                      <m:t>𝐴𝐵</m:t>
                    </m:r>
                  </m:oMath>
                </a14:m>
                <a:endParaRPr lang="ru-RU" sz="1200" dirty="0"/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21" y="1289346"/>
                <a:ext cx="3086871" cy="276999"/>
              </a:xfrm>
              <a:prstGeom prst="rect">
                <a:avLst/>
              </a:prstGeom>
              <a:blipFill rotWithShape="0">
                <a:blip r:embed="rId12"/>
                <a:stretch>
                  <a:fillRect t="-82222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105312" y="1566345"/>
                <a:ext cx="13162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</a:rPr>
                        <m:t>⟹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𝐴𝐵</m:t>
                      </m:r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⊥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(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𝑂𝐶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12" y="1566345"/>
                <a:ext cx="1316258" cy="276999"/>
              </a:xfrm>
              <a:prstGeom prst="rect">
                <a:avLst/>
              </a:prstGeom>
              <a:blipFill rotWithShape="0">
                <a:blip r:embed="rId13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1251836" y="1571943"/>
                <a:ext cx="159537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</a:rPr>
                        <m:t>⟹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(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𝐴𝐵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charset="0"/>
                        </a:rPr>
                        <m:t>)</m:t>
                      </m:r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⊥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(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𝑂𝐶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836" y="1571943"/>
                <a:ext cx="1595373" cy="276999"/>
              </a:xfrm>
              <a:prstGeom prst="rect">
                <a:avLst/>
              </a:prstGeom>
              <a:blipFill rotWithShape="0">
                <a:blip r:embed="rId14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Прямая соединительная линия 76"/>
          <p:cNvCxnSpPr/>
          <p:nvPr/>
        </p:nvCxnSpPr>
        <p:spPr>
          <a:xfrm>
            <a:off x="7120934" y="1273736"/>
            <a:ext cx="443088" cy="932186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единительная линия 77"/>
          <p:cNvCxnSpPr/>
          <p:nvPr/>
        </p:nvCxnSpPr>
        <p:spPr>
          <a:xfrm>
            <a:off x="7132252" y="1280464"/>
            <a:ext cx="241166" cy="2213264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Полилиния 80"/>
          <p:cNvSpPr/>
          <p:nvPr/>
        </p:nvSpPr>
        <p:spPr>
          <a:xfrm>
            <a:off x="7126418" y="1240955"/>
            <a:ext cx="711200" cy="3149600"/>
          </a:xfrm>
          <a:custGeom>
            <a:avLst/>
            <a:gdLst>
              <a:gd name="connsiteX0" fmla="*/ 0 w 711200"/>
              <a:gd name="connsiteY0" fmla="*/ 0 h 3149600"/>
              <a:gd name="connsiteX1" fmla="*/ 254000 w 711200"/>
              <a:gd name="connsiteY1" fmla="*/ 2235200 h 3149600"/>
              <a:gd name="connsiteX2" fmla="*/ 711200 w 711200"/>
              <a:gd name="connsiteY2" fmla="*/ 3149600 h 3149600"/>
              <a:gd name="connsiteX3" fmla="*/ 426720 w 711200"/>
              <a:gd name="connsiteY3" fmla="*/ 924560 h 3149600"/>
              <a:gd name="connsiteX4" fmla="*/ 0 w 711200"/>
              <a:gd name="connsiteY4" fmla="*/ 0 h 314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1200" h="3149600">
                <a:moveTo>
                  <a:pt x="0" y="0"/>
                </a:moveTo>
                <a:lnTo>
                  <a:pt x="254000" y="2235200"/>
                </a:lnTo>
                <a:lnTo>
                  <a:pt x="711200" y="3149600"/>
                </a:lnTo>
                <a:lnTo>
                  <a:pt x="426720" y="924560"/>
                </a:lnTo>
                <a:lnTo>
                  <a:pt x="0" y="0"/>
                </a:lnTo>
                <a:close/>
              </a:path>
            </a:pathLst>
          </a:custGeom>
          <a:solidFill>
            <a:srgbClr val="92D050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9" name="Прямая соединительная линия 88"/>
          <p:cNvCxnSpPr/>
          <p:nvPr/>
        </p:nvCxnSpPr>
        <p:spPr>
          <a:xfrm>
            <a:off x="5782575" y="1258078"/>
            <a:ext cx="267392" cy="224632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118421" y="1863282"/>
                <a:ext cx="159607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/>
                  <a:t>б)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charset="0"/>
                      </a:rPr>
                      <m:t>(</m:t>
                    </m:r>
                    <m:r>
                      <a:rPr lang="en-US" sz="1200" i="1" dirty="0">
                        <a:latin typeface="Cambria Math" charset="0"/>
                      </a:rPr>
                      <m:t>𝐴</m:t>
                    </m:r>
                    <m:r>
                      <a:rPr lang="ru-RU" sz="1200" b="0" i="1" dirty="0" smtClean="0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sz="12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sz="1200" i="1" dirty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i="1" dirty="0">
                        <a:latin typeface="Cambria Math" charset="0"/>
                      </a:rPr>
                      <m:t>)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⊥(</m:t>
                    </m:r>
                    <m:r>
                      <a:rPr lang="en-US" sz="1200" i="1" dirty="0">
                        <a:latin typeface="Cambria Math" charset="0"/>
                      </a:rPr>
                      <m:t>𝑂𝐶</m:t>
                    </m:r>
                    <m:sSub>
                      <m:sSubPr>
                        <m:ctrlPr>
                          <a:rPr lang="en-US" sz="12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charset="0"/>
                          </a:rPr>
                          <m:t>𝐶</m:t>
                        </m:r>
                      </m:e>
                      <m:sub>
                        <m:r>
                          <a:rPr lang="en-US" sz="1200" i="1" dirty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i="1" dirty="0">
                        <a:latin typeface="Cambria Math" charset="0"/>
                      </a:rPr>
                      <m:t>)</m:t>
                    </m:r>
                  </m:oMath>
                </a14:m>
                <a:endParaRPr lang="ru-RU" sz="1200" dirty="0"/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21" y="1863282"/>
                <a:ext cx="1596078" cy="276999"/>
              </a:xfrm>
              <a:prstGeom prst="rect">
                <a:avLst/>
              </a:prstGeom>
              <a:blipFill rotWithShape="0">
                <a:blip r:embed="rId15"/>
                <a:stretch>
                  <a:fillRect t="-82222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Овал 90"/>
          <p:cNvSpPr/>
          <p:nvPr/>
        </p:nvSpPr>
        <p:spPr>
          <a:xfrm flipV="1">
            <a:off x="7103393" y="1249765"/>
            <a:ext cx="50304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 flipH="1">
                <a:off x="6882870" y="967829"/>
                <a:ext cx="4785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𝐾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882870" y="967829"/>
                <a:ext cx="478520" cy="307777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/>
              <p:cNvSpPr txBox="1"/>
              <p:nvPr/>
            </p:nvSpPr>
            <p:spPr>
              <a:xfrm>
                <a:off x="118421" y="2160219"/>
                <a:ext cx="86728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</a:rPr>
                        <m:t>𝐾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𝐻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∥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21" y="2160219"/>
                <a:ext cx="867289" cy="276999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/>
              <p:cNvSpPr txBox="1"/>
              <p:nvPr/>
            </p:nvSpPr>
            <p:spPr>
              <a:xfrm>
                <a:off x="978447" y="2177691"/>
                <a:ext cx="39527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⟹</m:t>
                    </m:r>
                    <m:r>
                      <m:rPr>
                        <m:nor/>
                      </m:rPr>
                      <a:rPr lang="ru-RU" sz="1200" dirty="0">
                        <a:solidFill>
                          <a:schemeClr val="tx1"/>
                        </a:solidFill>
                      </a:rPr>
                      <m:t>угол между прямой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charset="0"/>
                      </a:rPr>
                      <m:t>𝐴</m:t>
                    </m:r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sz="1200" dirty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ru-RU" sz="1200" dirty="0">
                        <a:solidFill>
                          <a:schemeClr val="tx1"/>
                        </a:solidFill>
                      </a:rPr>
                      <m:t> и плоскостью 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charset="0"/>
                      </a:rPr>
                      <m:t>𝐴𝐵</m:t>
                    </m:r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𝐶</m:t>
                        </m:r>
                      </m:e>
                      <m:sub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 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равен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ru-RU" sz="1200" dirty="0">
                          <a:solidFill>
                            <a:schemeClr val="tx1"/>
                          </a:solidFill>
                        </a:rPr>
                        <m:t>угл</m:t>
                      </m:r>
                      <m:r>
                        <m:rPr>
                          <m:nor/>
                        </m:rPr>
                        <a:rPr lang="ru-RU" sz="1200" i="0" dirty="0" smtClean="0">
                          <a:solidFill>
                            <a:schemeClr val="tx1"/>
                          </a:solidFill>
                        </a:rPr>
                        <m:t>у</m:t>
                      </m:r>
                      <m:r>
                        <m:rPr>
                          <m:nor/>
                        </m:rPr>
                        <a:rPr lang="ru-RU" sz="1200" dirty="0">
                          <a:solidFill>
                            <a:schemeClr val="tx1"/>
                          </a:solidFill>
                        </a:rPr>
                        <m:t> между прямой 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𝐾𝐻</m:t>
                      </m:r>
                      <m:r>
                        <m:rPr>
                          <m:nor/>
                        </m:rPr>
                        <a:rPr lang="en-US" sz="1200" dirty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ru-RU" sz="1200" dirty="0">
                          <a:solidFill>
                            <a:schemeClr val="tx1"/>
                          </a:solidFill>
                        </a:rPr>
                        <m:t> и плоскостью </m:t>
                      </m:r>
                      <m:r>
                        <a:rPr lang="en-US" sz="1200" b="0" i="1" dirty="0">
                          <a:solidFill>
                            <a:schemeClr val="tx1"/>
                          </a:solidFill>
                          <a:latin typeface="Cambria Math" charset="0"/>
                        </a:rPr>
                        <m:t>𝐴𝐵</m:t>
                      </m:r>
                      <m:sSub>
                        <m:sSubPr>
                          <m:ctrlPr>
                            <a:rPr lang="en-US" sz="1200" i="1" dirty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dirty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dirty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447" y="2177691"/>
                <a:ext cx="3952750" cy="461665"/>
              </a:xfrm>
              <a:prstGeom prst="rect">
                <a:avLst/>
              </a:prstGeom>
              <a:blipFill rotWithShape="0">
                <a:blip r:embed="rId18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Прямая соединительная линия 95"/>
          <p:cNvCxnSpPr>
            <a:stCxn id="81" idx="1"/>
            <a:endCxn id="59" idx="1"/>
          </p:cNvCxnSpPr>
          <p:nvPr/>
        </p:nvCxnSpPr>
        <p:spPr>
          <a:xfrm flipV="1">
            <a:off x="7380418" y="2198101"/>
            <a:ext cx="178818" cy="1278054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Прямая соединительная линия 98"/>
          <p:cNvCxnSpPr>
            <a:endCxn id="93" idx="2"/>
          </p:cNvCxnSpPr>
          <p:nvPr/>
        </p:nvCxnSpPr>
        <p:spPr>
          <a:xfrm flipH="1" flipV="1">
            <a:off x="7122130" y="1275606"/>
            <a:ext cx="375344" cy="1287806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Полилиния 103"/>
          <p:cNvSpPr/>
          <p:nvPr/>
        </p:nvSpPr>
        <p:spPr>
          <a:xfrm>
            <a:off x="7407716" y="2390761"/>
            <a:ext cx="74418" cy="383406"/>
          </a:xfrm>
          <a:custGeom>
            <a:avLst/>
            <a:gdLst>
              <a:gd name="connsiteX0" fmla="*/ 30480 w 81280"/>
              <a:gd name="connsiteY0" fmla="*/ 0 h 375920"/>
              <a:gd name="connsiteX1" fmla="*/ 81280 w 81280"/>
              <a:gd name="connsiteY1" fmla="*/ 182880 h 375920"/>
              <a:gd name="connsiteX2" fmla="*/ 71120 w 81280"/>
              <a:gd name="connsiteY2" fmla="*/ 375920 h 375920"/>
              <a:gd name="connsiteX3" fmla="*/ 0 w 81280"/>
              <a:gd name="connsiteY3" fmla="*/ 172720 h 375920"/>
              <a:gd name="connsiteX4" fmla="*/ 30480 w 81280"/>
              <a:gd name="connsiteY4" fmla="*/ 0 h 375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0" h="375920">
                <a:moveTo>
                  <a:pt x="30480" y="0"/>
                </a:moveTo>
                <a:lnTo>
                  <a:pt x="81280" y="182880"/>
                </a:lnTo>
                <a:lnTo>
                  <a:pt x="71120" y="375920"/>
                </a:lnTo>
                <a:lnTo>
                  <a:pt x="0" y="172720"/>
                </a:lnTo>
                <a:lnTo>
                  <a:pt x="30480" y="0"/>
                </a:lnTo>
                <a:close/>
              </a:path>
            </a:pathLst>
          </a:custGeom>
          <a:solidFill>
            <a:schemeClr val="bg1">
              <a:lumMod val="85000"/>
              <a:alpha val="37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/>
              <p:cNvSpPr txBox="1"/>
              <p:nvPr/>
            </p:nvSpPr>
            <p:spPr>
              <a:xfrm flipH="1">
                <a:off x="7318990" y="2571341"/>
                <a:ext cx="4785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𝐿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5" name="Text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318990" y="2571341"/>
                <a:ext cx="478520" cy="276999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/>
              <p:cNvSpPr txBox="1"/>
              <p:nvPr/>
            </p:nvSpPr>
            <p:spPr>
              <a:xfrm flipH="1">
                <a:off x="2327640" y="3895015"/>
                <a:ext cx="7122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08" name="TextBox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327640" y="3895015"/>
                <a:ext cx="712236" cy="307777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/>
              <p:cNvSpPr txBox="1"/>
              <p:nvPr/>
            </p:nvSpPr>
            <p:spPr>
              <a:xfrm flipH="1">
                <a:off x="1450384" y="2601844"/>
                <a:ext cx="7122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09" name="TextBox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50384" y="2601844"/>
                <a:ext cx="712236" cy="30777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/>
              <p:cNvSpPr txBox="1"/>
              <p:nvPr/>
            </p:nvSpPr>
            <p:spPr>
              <a:xfrm flipH="1">
                <a:off x="926301" y="3854573"/>
                <a:ext cx="4785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𝐻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10" name="TextBox 1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26301" y="3854573"/>
                <a:ext cx="478520" cy="30777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/>
              <p:cNvSpPr txBox="1"/>
              <p:nvPr/>
            </p:nvSpPr>
            <p:spPr>
              <a:xfrm flipH="1">
                <a:off x="-48710" y="2619994"/>
                <a:ext cx="4785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𝐾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11" name="TextBox 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-48710" y="2619994"/>
                <a:ext cx="478520" cy="307777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3" name="Прямая соединительная линия 112"/>
          <p:cNvCxnSpPr/>
          <p:nvPr/>
        </p:nvCxnSpPr>
        <p:spPr>
          <a:xfrm>
            <a:off x="1259632" y="3898671"/>
            <a:ext cx="1417732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Прямая соединительная линия 114"/>
          <p:cNvCxnSpPr/>
          <p:nvPr/>
        </p:nvCxnSpPr>
        <p:spPr>
          <a:xfrm>
            <a:off x="264465" y="2815180"/>
            <a:ext cx="1417732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Прямая соединительная линия 115"/>
          <p:cNvCxnSpPr/>
          <p:nvPr/>
        </p:nvCxnSpPr>
        <p:spPr>
          <a:xfrm>
            <a:off x="1683889" y="2825433"/>
            <a:ext cx="993475" cy="1073238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/>
          <p:nvPr/>
        </p:nvCxnSpPr>
        <p:spPr>
          <a:xfrm>
            <a:off x="263957" y="2813188"/>
            <a:ext cx="1007278" cy="1088293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1670548" y="2832690"/>
            <a:ext cx="7752" cy="1073533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/>
              <p:cNvSpPr txBox="1"/>
              <p:nvPr/>
            </p:nvSpPr>
            <p:spPr>
              <a:xfrm flipH="1">
                <a:off x="1368790" y="3902446"/>
                <a:ext cx="7122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𝑂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28" name="TextBox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68790" y="3902446"/>
                <a:ext cx="712236" cy="307777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/>
              <p:cNvSpPr txBox="1"/>
              <p:nvPr/>
            </p:nvSpPr>
            <p:spPr>
              <a:xfrm flipH="1">
                <a:off x="1184237" y="3922188"/>
                <a:ext cx="48040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charset="0"/>
                        </a:rPr>
                        <m:t>(1)</m:t>
                      </m:r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129" name="TextBox 1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184237" y="3922188"/>
                <a:ext cx="480408" cy="261610"/>
              </a:xfrm>
              <a:prstGeom prst="rect">
                <a:avLst/>
              </a:prstGeom>
              <a:blipFill rotWithShape="0">
                <a:blip r:embed="rId23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/>
              <p:cNvSpPr txBox="1"/>
              <p:nvPr/>
            </p:nvSpPr>
            <p:spPr>
              <a:xfrm flipH="1">
                <a:off x="1881210" y="3903607"/>
                <a:ext cx="54219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charset="0"/>
                        </a:rPr>
                        <m:t>(2)</m:t>
                      </m:r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130" name="TextBox 1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881210" y="3903607"/>
                <a:ext cx="542191" cy="261610"/>
              </a:xfrm>
              <a:prstGeom prst="rect">
                <a:avLst/>
              </a:prstGeom>
              <a:blipFill rotWithShape="0">
                <a:blip r:embed="rId24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Прямоугольник 130"/>
          <p:cNvSpPr/>
          <p:nvPr/>
        </p:nvSpPr>
        <p:spPr>
          <a:xfrm>
            <a:off x="1678861" y="3734335"/>
            <a:ext cx="147534" cy="154176"/>
          </a:xfrm>
          <a:prstGeom prst="rect">
            <a:avLst/>
          </a:prstGeom>
          <a:solidFill>
            <a:schemeClr val="bg1">
              <a:lumMod val="85000"/>
              <a:alpha val="40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6" name="Прямая соединительная линия 135"/>
          <p:cNvCxnSpPr/>
          <p:nvPr/>
        </p:nvCxnSpPr>
        <p:spPr>
          <a:xfrm>
            <a:off x="275356" y="2825433"/>
            <a:ext cx="1234747" cy="439301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Полилиния 143"/>
          <p:cNvSpPr/>
          <p:nvPr/>
        </p:nvSpPr>
        <p:spPr>
          <a:xfrm>
            <a:off x="1319891" y="3215651"/>
            <a:ext cx="193040" cy="182880"/>
          </a:xfrm>
          <a:custGeom>
            <a:avLst/>
            <a:gdLst>
              <a:gd name="connsiteX0" fmla="*/ 40640 w 193040"/>
              <a:gd name="connsiteY0" fmla="*/ 0 h 182880"/>
              <a:gd name="connsiteX1" fmla="*/ 193040 w 193040"/>
              <a:gd name="connsiteY1" fmla="*/ 60960 h 182880"/>
              <a:gd name="connsiteX2" fmla="*/ 142240 w 193040"/>
              <a:gd name="connsiteY2" fmla="*/ 182880 h 182880"/>
              <a:gd name="connsiteX3" fmla="*/ 0 w 193040"/>
              <a:gd name="connsiteY3" fmla="*/ 132080 h 182880"/>
              <a:gd name="connsiteX4" fmla="*/ 40640 w 193040"/>
              <a:gd name="connsiteY4" fmla="*/ 0 h 182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3040" h="182880">
                <a:moveTo>
                  <a:pt x="40640" y="0"/>
                </a:moveTo>
                <a:lnTo>
                  <a:pt x="193040" y="60960"/>
                </a:lnTo>
                <a:lnTo>
                  <a:pt x="142240" y="182880"/>
                </a:lnTo>
                <a:lnTo>
                  <a:pt x="0" y="132080"/>
                </a:lnTo>
                <a:lnTo>
                  <a:pt x="40640" y="0"/>
                </a:lnTo>
                <a:close/>
              </a:path>
            </a:pathLst>
          </a:custGeom>
          <a:solidFill>
            <a:schemeClr val="bg1">
              <a:lumMod val="85000"/>
              <a:alpha val="59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/>
              <p:cNvSpPr txBox="1"/>
              <p:nvPr/>
            </p:nvSpPr>
            <p:spPr>
              <a:xfrm flipH="1">
                <a:off x="1372371" y="3295097"/>
                <a:ext cx="40588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𝐿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45" name="TextBox 1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72371" y="3295097"/>
                <a:ext cx="405884" cy="276999"/>
              </a:xfrm>
              <a:prstGeom prst="rect">
                <a:avLst/>
              </a:prstGeom>
              <a:blipFill rotWithShape="0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0" name="TextBox 149"/>
          <p:cNvSpPr txBox="1"/>
          <p:nvPr/>
        </p:nvSpPr>
        <p:spPr>
          <a:xfrm>
            <a:off x="2483768" y="2676681"/>
            <a:ext cx="2165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smtClean="0">
                <a:solidFill>
                  <a:schemeClr val="tx1"/>
                </a:solidFill>
              </a:rPr>
              <a:t>Пусть ребра призмы равны 2</a:t>
            </a:r>
            <a:endParaRPr lang="ru-RU" sz="1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/>
              <p:cNvSpPr txBox="1"/>
              <p:nvPr/>
            </p:nvSpPr>
            <p:spPr>
              <a:xfrm>
                <a:off x="2119077" y="2942286"/>
                <a:ext cx="1532958" cy="298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 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𝐾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𝐻𝐶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3</m:t>
                          </m:r>
                        </m:e>
                      </m:rad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1" name="TextBox 1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9077" y="2942286"/>
                <a:ext cx="1532958" cy="298736"/>
              </a:xfrm>
              <a:prstGeom prst="rect">
                <a:avLst/>
              </a:prstGeom>
              <a:blipFill rotWithShape="0">
                <a:blip r:embed="rId26"/>
                <a:stretch>
                  <a:fillRect t="-67347" b="-938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/>
              <p:cNvSpPr txBox="1"/>
              <p:nvPr/>
            </p:nvSpPr>
            <p:spPr>
              <a:xfrm flipH="1">
                <a:off x="681807" y="2551138"/>
                <a:ext cx="542191" cy="281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11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100" b="0" i="1" smtClean="0">
                              <a:latin typeface="Cambria Math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152" name="TextBox 1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81807" y="2551138"/>
                <a:ext cx="542191" cy="281552"/>
              </a:xfrm>
              <a:prstGeom prst="rect">
                <a:avLst/>
              </a:prstGeom>
              <a:blipFill rotWithShape="0"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extBox 152"/>
              <p:cNvSpPr txBox="1"/>
              <p:nvPr/>
            </p:nvSpPr>
            <p:spPr>
              <a:xfrm>
                <a:off x="3395213" y="2962157"/>
                <a:ext cx="121054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 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𝐾𝐻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𝐶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=2;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3" name="TextBox 1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5213" y="2962157"/>
                <a:ext cx="1210545" cy="276999"/>
              </a:xfrm>
              <a:prstGeom prst="rect">
                <a:avLst/>
              </a:prstGeom>
              <a:blipFill rotWithShape="0">
                <a:blip r:embed="rId28"/>
                <a:stretch>
                  <a:fillRect t="-80000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/>
              <p:cNvSpPr txBox="1"/>
              <p:nvPr/>
            </p:nvSpPr>
            <p:spPr>
              <a:xfrm flipH="1">
                <a:off x="1949359" y="3117633"/>
                <a:ext cx="54219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155" name="TextBox 1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949359" y="3117633"/>
                <a:ext cx="542191" cy="261610"/>
              </a:xfrm>
              <a:prstGeom prst="rect">
                <a:avLst/>
              </a:prstGeom>
              <a:blipFill rotWithShape="0"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/>
              <p:cNvSpPr txBox="1"/>
              <p:nvPr/>
            </p:nvSpPr>
            <p:spPr>
              <a:xfrm>
                <a:off x="4385780" y="2828956"/>
                <a:ext cx="1666132" cy="480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 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𝑂𝐶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2</m:t>
                          </m:r>
                        </m:num>
                        <m:den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3</m:t>
                          </m:r>
                        </m:den>
                      </m:f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𝐻𝐶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3</m:t>
                          </m:r>
                        </m:den>
                      </m:f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6" name="TextBox 1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5780" y="2828956"/>
                <a:ext cx="1666132" cy="480773"/>
              </a:xfrm>
              <a:prstGeom prst="rect">
                <a:avLst/>
              </a:prstGeom>
              <a:blipFill rotWithShape="0">
                <a:blip r:embed="rId30"/>
                <a:stretch>
                  <a:fillRect t="-16456" b="-443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/>
              <p:cNvSpPr txBox="1"/>
              <p:nvPr/>
            </p:nvSpPr>
            <p:spPr>
              <a:xfrm>
                <a:off x="2461596" y="3338025"/>
                <a:ext cx="1666132" cy="4681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 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𝑂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𝐶</m:t>
                          </m:r>
                          <m:sSubSup>
                            <m:sSubSup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−</m:t>
                          </m:r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𝑂</m:t>
                          </m:r>
                          <m:sSup>
                            <m:sSup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7" name="TextBox 1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1596" y="3338025"/>
                <a:ext cx="1666132" cy="468141"/>
              </a:xfrm>
              <a:prstGeom prst="rect">
                <a:avLst/>
              </a:prstGeom>
              <a:blipFill rotWithShape="0">
                <a:blip r:embed="rId31"/>
                <a:stretch>
                  <a:fillRect t="-23684" b="-447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/>
              <p:cNvSpPr txBox="1"/>
              <p:nvPr/>
            </p:nvSpPr>
            <p:spPr>
              <a:xfrm>
                <a:off x="3730869" y="3224159"/>
                <a:ext cx="1666132" cy="637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mr-IN" sz="12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i="1">
                                      <a:latin typeface="Cambria Math" charset="0"/>
                                    </a:rPr>
                                    <m:t>2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sz="1200" i="1">
                                          <a:latin typeface="Cambria Math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1200" i="1">
                                          <a:latin typeface="Cambria Math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sz="1200" i="1">
                                      <a:latin typeface="Cambria Math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8" name="TextBox 1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0869" y="3224159"/>
                <a:ext cx="1666132" cy="637995"/>
              </a:xfrm>
              <a:prstGeom prst="rect">
                <a:avLst/>
              </a:prstGeom>
              <a:blipFill rotWithShape="0"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/>
              <p:cNvSpPr txBox="1"/>
              <p:nvPr/>
            </p:nvSpPr>
            <p:spPr>
              <a:xfrm>
                <a:off x="4980217" y="3290766"/>
                <a:ext cx="753348" cy="480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6</m:t>
                              </m:r>
                            </m:e>
                          </m:rad>
                        </m:num>
                        <m:den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9" name="TextBox 1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0217" y="3290766"/>
                <a:ext cx="753348" cy="480773"/>
              </a:xfrm>
              <a:prstGeom prst="rect">
                <a:avLst/>
              </a:prstGeom>
              <a:blipFill rotWithShape="0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TextBox 160"/>
              <p:cNvSpPr txBox="1"/>
              <p:nvPr/>
            </p:nvSpPr>
            <p:spPr>
              <a:xfrm flipH="1">
                <a:off x="1565411" y="3310138"/>
                <a:ext cx="542191" cy="3512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8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800" i="1">
                              <a:latin typeface="Cambria Math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sz="800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800" i="1">
                                  <a:latin typeface="Cambria Math" charset="0"/>
                                </a:rPr>
                                <m:t>6</m:t>
                              </m:r>
                            </m:e>
                          </m:rad>
                        </m:num>
                        <m:den>
                          <m:r>
                            <a:rPr lang="en-US" sz="800" i="1">
                              <a:latin typeface="Cambria Math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ru-RU" sz="800" dirty="0"/>
              </a:p>
            </p:txBody>
          </p:sp>
        </mc:Choice>
        <mc:Fallback xmlns="">
          <p:sp>
            <p:nvSpPr>
              <p:cNvPr id="161" name="TextBox 1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565411" y="3310138"/>
                <a:ext cx="542191" cy="351250"/>
              </a:xfrm>
              <a:prstGeom prst="rect">
                <a:avLst/>
              </a:prstGeom>
              <a:blipFill rotWithShape="0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TextBox 161"/>
              <p:cNvSpPr txBox="1"/>
              <p:nvPr/>
            </p:nvSpPr>
            <p:spPr>
              <a:xfrm>
                <a:off x="2997380" y="3858125"/>
                <a:ext cx="1666132" cy="315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 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𝐻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𝑂</m:t>
                              </m:r>
                            </m:e>
                            <m:sup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+</m:t>
                          </m:r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𝑂</m:t>
                          </m:r>
                          <m:sSup>
                            <m:sSup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2" name="TextBox 1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7380" y="3858125"/>
                <a:ext cx="1666132" cy="315984"/>
              </a:xfrm>
              <a:prstGeom prst="rect">
                <a:avLst/>
              </a:prstGeom>
              <a:blipFill rotWithShape="0">
                <a:blip r:embed="rId35"/>
                <a:stretch>
                  <a:fillRect t="-55769" b="-8846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TextBox 162"/>
              <p:cNvSpPr txBox="1"/>
              <p:nvPr/>
            </p:nvSpPr>
            <p:spPr>
              <a:xfrm>
                <a:off x="4374605" y="3689465"/>
                <a:ext cx="1666132" cy="637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en-US" sz="12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i="1">
                                      <a:latin typeface="Cambria Math" charset="0"/>
                                    </a:rPr>
                                    <m:t>2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sz="1200" i="1">
                                          <a:latin typeface="Cambria Math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1200" i="1">
                                          <a:latin typeface="Cambria Math" charset="0"/>
                                        </a:rPr>
                                        <m:t>6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sz="1200" i="1">
                                      <a:latin typeface="Cambria Math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3" name="TextBox 1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4605" y="3689465"/>
                <a:ext cx="1666132" cy="637995"/>
              </a:xfrm>
              <a:prstGeom prst="rect">
                <a:avLst/>
              </a:prstGeom>
              <a:blipFill rotWithShape="0"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/>
              <p:cNvSpPr txBox="1"/>
              <p:nvPr/>
            </p:nvSpPr>
            <p:spPr>
              <a:xfrm>
                <a:off x="5685863" y="3892286"/>
                <a:ext cx="758345" cy="298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4" name="TextBox 1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863" y="3892286"/>
                <a:ext cx="758345" cy="298736"/>
              </a:xfrm>
              <a:prstGeom prst="rect">
                <a:avLst/>
              </a:prstGeom>
              <a:blipFill rotWithShape="0"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2" name="Прямая соединительная линия 171"/>
          <p:cNvCxnSpPr/>
          <p:nvPr/>
        </p:nvCxnSpPr>
        <p:spPr>
          <a:xfrm flipV="1">
            <a:off x="1277629" y="2815179"/>
            <a:ext cx="400671" cy="1083315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TextBox 180"/>
              <p:cNvSpPr txBox="1"/>
              <p:nvPr/>
            </p:nvSpPr>
            <p:spPr>
              <a:xfrm flipH="1">
                <a:off x="1207171" y="3526807"/>
                <a:ext cx="542191" cy="281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11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100" b="0" i="1" smtClean="0">
                              <a:latin typeface="Cambria Math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181" name="TextBox 1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207171" y="3526807"/>
                <a:ext cx="542191" cy="281552"/>
              </a:xfrm>
              <a:prstGeom prst="rect">
                <a:avLst/>
              </a:prstGeom>
              <a:blipFill rotWithShape="0"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2" name="Сектор 181"/>
          <p:cNvSpPr/>
          <p:nvPr/>
        </p:nvSpPr>
        <p:spPr>
          <a:xfrm>
            <a:off x="6918467" y="3046689"/>
            <a:ext cx="914400" cy="914400"/>
          </a:xfrm>
          <a:prstGeom prst="pie">
            <a:avLst>
              <a:gd name="adj1" fmla="val 15807298"/>
              <a:gd name="adj2" fmla="val 16645070"/>
            </a:avLst>
          </a:prstGeom>
          <a:solidFill>
            <a:srgbClr val="FFC000">
              <a:alpha val="30000"/>
            </a:srgbClr>
          </a:solidFill>
          <a:ln w="63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88" name="Сектор 187"/>
          <p:cNvSpPr/>
          <p:nvPr/>
        </p:nvSpPr>
        <p:spPr>
          <a:xfrm>
            <a:off x="813574" y="3444611"/>
            <a:ext cx="914400" cy="914400"/>
          </a:xfrm>
          <a:prstGeom prst="pie">
            <a:avLst>
              <a:gd name="adj1" fmla="val 13632156"/>
              <a:gd name="adj2" fmla="val 17479075"/>
            </a:avLst>
          </a:prstGeom>
          <a:solidFill>
            <a:srgbClr val="FFC000">
              <a:alpha val="36000"/>
            </a:srgbClr>
          </a:solidFill>
          <a:ln w="63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189" name="Прямая соединительная линия 188"/>
          <p:cNvCxnSpPr/>
          <p:nvPr/>
        </p:nvCxnSpPr>
        <p:spPr>
          <a:xfrm flipV="1">
            <a:off x="801933" y="2812986"/>
            <a:ext cx="867010" cy="578843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Полилиния 196"/>
          <p:cNvSpPr/>
          <p:nvPr/>
        </p:nvSpPr>
        <p:spPr>
          <a:xfrm>
            <a:off x="680720" y="3169920"/>
            <a:ext cx="254000" cy="213360"/>
          </a:xfrm>
          <a:custGeom>
            <a:avLst/>
            <a:gdLst>
              <a:gd name="connsiteX0" fmla="*/ 0 w 254000"/>
              <a:gd name="connsiteY0" fmla="*/ 91440 h 213360"/>
              <a:gd name="connsiteX1" fmla="*/ 142240 w 254000"/>
              <a:gd name="connsiteY1" fmla="*/ 0 h 213360"/>
              <a:gd name="connsiteX2" fmla="*/ 254000 w 254000"/>
              <a:gd name="connsiteY2" fmla="*/ 121920 h 213360"/>
              <a:gd name="connsiteX3" fmla="*/ 121920 w 254000"/>
              <a:gd name="connsiteY3" fmla="*/ 213360 h 213360"/>
              <a:gd name="connsiteX4" fmla="*/ 0 w 254000"/>
              <a:gd name="connsiteY4" fmla="*/ 91440 h 213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4000" h="213360">
                <a:moveTo>
                  <a:pt x="0" y="91440"/>
                </a:moveTo>
                <a:lnTo>
                  <a:pt x="142240" y="0"/>
                </a:lnTo>
                <a:lnTo>
                  <a:pt x="254000" y="121920"/>
                </a:lnTo>
                <a:lnTo>
                  <a:pt x="121920" y="213360"/>
                </a:lnTo>
                <a:lnTo>
                  <a:pt x="0" y="91440"/>
                </a:lnTo>
                <a:close/>
              </a:path>
            </a:pathLst>
          </a:custGeom>
          <a:solidFill>
            <a:schemeClr val="bg1">
              <a:lumMod val="85000"/>
              <a:alpha val="4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TextBox 197"/>
              <p:cNvSpPr txBox="1"/>
              <p:nvPr/>
            </p:nvSpPr>
            <p:spPr>
              <a:xfrm flipH="1">
                <a:off x="529037" y="3348884"/>
                <a:ext cx="40588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𝑃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98" name="TextBox 1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9037" y="3348884"/>
                <a:ext cx="405884" cy="276999"/>
              </a:xfrm>
              <a:prstGeom prst="rect">
                <a:avLst/>
              </a:prstGeom>
              <a:blipFill rotWithShape="0"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0" name="Полилиния 199"/>
          <p:cNvSpPr/>
          <p:nvPr/>
        </p:nvSpPr>
        <p:spPr>
          <a:xfrm>
            <a:off x="487680" y="3098800"/>
            <a:ext cx="111760" cy="71120"/>
          </a:xfrm>
          <a:custGeom>
            <a:avLst/>
            <a:gdLst>
              <a:gd name="connsiteX0" fmla="*/ 111760 w 111760"/>
              <a:gd name="connsiteY0" fmla="*/ 0 h 71120"/>
              <a:gd name="connsiteX1" fmla="*/ 0 w 111760"/>
              <a:gd name="connsiteY1" fmla="*/ 71120 h 71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1760" h="71120">
                <a:moveTo>
                  <a:pt x="111760" y="0"/>
                </a:moveTo>
                <a:lnTo>
                  <a:pt x="0" y="7112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1" name="Полилиния 200"/>
          <p:cNvSpPr/>
          <p:nvPr/>
        </p:nvSpPr>
        <p:spPr>
          <a:xfrm>
            <a:off x="961440" y="3580750"/>
            <a:ext cx="111760" cy="71120"/>
          </a:xfrm>
          <a:custGeom>
            <a:avLst/>
            <a:gdLst>
              <a:gd name="connsiteX0" fmla="*/ 111760 w 111760"/>
              <a:gd name="connsiteY0" fmla="*/ 0 h 71120"/>
              <a:gd name="connsiteX1" fmla="*/ 0 w 111760"/>
              <a:gd name="connsiteY1" fmla="*/ 71120 h 71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1760" h="71120">
                <a:moveTo>
                  <a:pt x="111760" y="0"/>
                </a:moveTo>
                <a:lnTo>
                  <a:pt x="0" y="7112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TextBox 201"/>
              <p:cNvSpPr txBox="1"/>
              <p:nvPr/>
            </p:nvSpPr>
            <p:spPr>
              <a:xfrm flipH="1">
                <a:off x="617609" y="3575477"/>
                <a:ext cx="54219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100" b="0" i="1" smtClean="0"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202" name="TextBox 2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17609" y="3575477"/>
                <a:ext cx="542191" cy="261610"/>
              </a:xfrm>
              <a:prstGeom prst="rect">
                <a:avLst/>
              </a:prstGeom>
              <a:blipFill rotWithShape="0"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TextBox 202"/>
              <p:cNvSpPr txBox="1"/>
              <p:nvPr/>
            </p:nvSpPr>
            <p:spPr>
              <a:xfrm flipH="1">
                <a:off x="170995" y="3379094"/>
                <a:ext cx="54219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203" name="TextBox 2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70995" y="3379094"/>
                <a:ext cx="542191" cy="261610"/>
              </a:xfrm>
              <a:prstGeom prst="rect">
                <a:avLst/>
              </a:prstGeom>
              <a:blipFill rotWithShape="0"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TextBox 203"/>
              <p:cNvSpPr txBox="1"/>
              <p:nvPr/>
            </p:nvSpPr>
            <p:spPr>
              <a:xfrm>
                <a:off x="467544" y="4186198"/>
                <a:ext cx="1893916" cy="4737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b="0" i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∠</m:t>
                              </m:r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𝐾𝐻</m:t>
                              </m:r>
                              <m:sSub>
                                <m:sSubPr>
                                  <m:ctrlP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𝑃𝐻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𝐻</m:t>
                          </m:r>
                        </m:den>
                      </m:f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200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i="1">
                                  <a:latin typeface="Cambria Math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4" name="TextBox 2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4186198"/>
                <a:ext cx="1893916" cy="473784"/>
              </a:xfrm>
              <a:prstGeom prst="rect">
                <a:avLst/>
              </a:prstGeom>
              <a:blipFill rotWithShape="0"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TextBox 204"/>
              <p:cNvSpPr txBox="1"/>
              <p:nvPr/>
            </p:nvSpPr>
            <p:spPr>
              <a:xfrm>
                <a:off x="3648624" y="4414525"/>
                <a:ext cx="2018117" cy="5051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b="1" dirty="0" smtClean="0">
                    <a:solidFill>
                      <a:srgbClr val="FF0000"/>
                    </a:solidFill>
                  </a:rPr>
                  <a:t>Ответ: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𝒂𝒓𝒄𝒄𝒐𝒔</m:t>
                    </m:r>
                    <m:r>
                      <a:rPr lang="ru-RU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(</m:t>
                    </m:r>
                    <m:f>
                      <m:f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 charset="0"/>
                                <a:cs typeface="Cambria Math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𝟑</m:t>
                            </m:r>
                          </m:e>
                        </m:rad>
                      </m:den>
                    </m:f>
                    <m:r>
                      <a:rPr lang="ru-RU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)</m:t>
                    </m:r>
                  </m:oMath>
                </a14:m>
                <a:endParaRPr lang="ru-RU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5" name="TextBox 2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8624" y="4414525"/>
                <a:ext cx="2018117" cy="505138"/>
              </a:xfrm>
              <a:prstGeom prst="rect">
                <a:avLst/>
              </a:prstGeom>
              <a:blipFill rotWithShape="0">
                <a:blip r:embed="rId43"/>
                <a:stretch>
                  <a:fillRect l="-2719" r="-302" b="-48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205"/>
              <p:cNvSpPr txBox="1"/>
              <p:nvPr/>
            </p:nvSpPr>
            <p:spPr>
              <a:xfrm>
                <a:off x="2294710" y="4331139"/>
                <a:ext cx="93794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(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из </a:t>
                </a:r>
                <a14:m>
                  <m:oMath xmlns:m="http://schemas.openxmlformats.org/officeDocument/2006/math">
                    <m:r>
                      <a:rPr lang="ru-RU" sz="120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∆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𝐿𝐻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𝐶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6" name="TextBox 2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4710" y="4331139"/>
                <a:ext cx="937949" cy="276999"/>
              </a:xfrm>
              <a:prstGeom prst="rect">
                <a:avLst/>
              </a:prstGeom>
              <a:blipFill rotWithShape="0">
                <a:blip r:embed="rId44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7" name="Полилиния 206"/>
          <p:cNvSpPr/>
          <p:nvPr/>
        </p:nvSpPr>
        <p:spPr>
          <a:xfrm>
            <a:off x="6482080" y="1198880"/>
            <a:ext cx="10160" cy="142240"/>
          </a:xfrm>
          <a:custGeom>
            <a:avLst/>
            <a:gdLst>
              <a:gd name="connsiteX0" fmla="*/ 0 w 10160"/>
              <a:gd name="connsiteY0" fmla="*/ 0 h 142240"/>
              <a:gd name="connsiteX1" fmla="*/ 10160 w 10160"/>
              <a:gd name="connsiteY1" fmla="*/ 142240 h 142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160" h="142240">
                <a:moveTo>
                  <a:pt x="0" y="0"/>
                </a:moveTo>
                <a:lnTo>
                  <a:pt x="10160" y="14224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8" name="Полилиния 207"/>
          <p:cNvSpPr/>
          <p:nvPr/>
        </p:nvSpPr>
        <p:spPr>
          <a:xfrm>
            <a:off x="7741860" y="1192997"/>
            <a:ext cx="10160" cy="142240"/>
          </a:xfrm>
          <a:custGeom>
            <a:avLst/>
            <a:gdLst>
              <a:gd name="connsiteX0" fmla="*/ 0 w 10160"/>
              <a:gd name="connsiteY0" fmla="*/ 0 h 142240"/>
              <a:gd name="connsiteX1" fmla="*/ 10160 w 10160"/>
              <a:gd name="connsiteY1" fmla="*/ 142240 h 142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160" h="142240">
                <a:moveTo>
                  <a:pt x="0" y="0"/>
                </a:moveTo>
                <a:lnTo>
                  <a:pt x="10160" y="14224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9" name="Полилиния 208"/>
          <p:cNvSpPr/>
          <p:nvPr/>
        </p:nvSpPr>
        <p:spPr>
          <a:xfrm>
            <a:off x="6785974" y="3432769"/>
            <a:ext cx="10160" cy="142240"/>
          </a:xfrm>
          <a:custGeom>
            <a:avLst/>
            <a:gdLst>
              <a:gd name="connsiteX0" fmla="*/ 0 w 10160"/>
              <a:gd name="connsiteY0" fmla="*/ 0 h 142240"/>
              <a:gd name="connsiteX1" fmla="*/ 10160 w 10160"/>
              <a:gd name="connsiteY1" fmla="*/ 142240 h 142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160" h="142240">
                <a:moveTo>
                  <a:pt x="0" y="0"/>
                </a:moveTo>
                <a:lnTo>
                  <a:pt x="10160" y="14224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0" name="Полилиния 209"/>
          <p:cNvSpPr/>
          <p:nvPr/>
        </p:nvSpPr>
        <p:spPr>
          <a:xfrm>
            <a:off x="8087496" y="3432561"/>
            <a:ext cx="10160" cy="142240"/>
          </a:xfrm>
          <a:custGeom>
            <a:avLst/>
            <a:gdLst>
              <a:gd name="connsiteX0" fmla="*/ 0 w 10160"/>
              <a:gd name="connsiteY0" fmla="*/ 0 h 142240"/>
              <a:gd name="connsiteX1" fmla="*/ 10160 w 10160"/>
              <a:gd name="connsiteY1" fmla="*/ 142240 h 142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160" h="142240">
                <a:moveTo>
                  <a:pt x="0" y="0"/>
                </a:moveTo>
                <a:lnTo>
                  <a:pt x="10160" y="14224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832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0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0" grpId="1"/>
      <p:bldP spid="31" grpId="1"/>
      <p:bldP spid="32" grpId="1"/>
      <p:bldP spid="33" grpId="0" animBg="1"/>
      <p:bldP spid="35" grpId="0"/>
      <p:bldP spid="39" grpId="0"/>
      <p:bldP spid="40" grpId="0"/>
      <p:bldP spid="41" grpId="0"/>
      <p:bldP spid="59" grpId="0" animBg="1"/>
      <p:bldP spid="70" grpId="0" animBg="1"/>
      <p:bldP spid="72" grpId="1"/>
      <p:bldP spid="73" grpId="0"/>
      <p:bldP spid="74" grpId="0"/>
      <p:bldP spid="75" grpId="0"/>
      <p:bldP spid="76" grpId="0"/>
      <p:bldP spid="81" grpId="0" animBg="1"/>
      <p:bldP spid="90" grpId="0"/>
      <p:bldP spid="91" grpId="0" animBg="1"/>
      <p:bldP spid="93" grpId="0"/>
      <p:bldP spid="94" grpId="0"/>
      <p:bldP spid="95" grpId="0"/>
      <p:bldP spid="104" grpId="0" animBg="1"/>
      <p:bldP spid="105" grpId="0"/>
      <p:bldP spid="108" grpId="0"/>
      <p:bldP spid="109" grpId="0"/>
      <p:bldP spid="110" grpId="0"/>
      <p:bldP spid="111" grpId="0"/>
      <p:bldP spid="128" grpId="0"/>
      <p:bldP spid="129" grpId="0"/>
      <p:bldP spid="130" grpId="0"/>
      <p:bldP spid="131" grpId="0" animBg="1"/>
      <p:bldP spid="144" grpId="0" animBg="1"/>
      <p:bldP spid="145" grpId="0"/>
      <p:bldP spid="150" grpId="0"/>
      <p:bldP spid="151" grpId="0"/>
      <p:bldP spid="152" grpId="0"/>
      <p:bldP spid="153" grpId="0"/>
      <p:bldP spid="155" grpId="0"/>
      <p:bldP spid="156" grpId="0"/>
      <p:bldP spid="157" grpId="0"/>
      <p:bldP spid="158" grpId="0"/>
      <p:bldP spid="159" grpId="0"/>
      <p:bldP spid="161" grpId="0"/>
      <p:bldP spid="162" grpId="0"/>
      <p:bldP spid="163" grpId="0"/>
      <p:bldP spid="164" grpId="0"/>
      <p:bldP spid="181" grpId="0"/>
      <p:bldP spid="182" grpId="0" animBg="1"/>
      <p:bldP spid="188" grpId="0" animBg="1"/>
      <p:bldP spid="197" grpId="0" animBg="1"/>
      <p:bldP spid="198" grpId="0"/>
      <p:bldP spid="200" grpId="0" animBg="1"/>
      <p:bldP spid="201" grpId="0" animBg="1"/>
      <p:bldP spid="202" grpId="0"/>
      <p:bldP spid="203" grpId="0"/>
      <p:bldP spid="204" grpId="0"/>
      <p:bldP spid="206" grpId="0"/>
      <p:bldP spid="207" grpId="0" animBg="1"/>
      <p:bldP spid="208" grpId="0" animBg="1"/>
      <p:bldP spid="209" grpId="0" animBg="1"/>
      <p:bldP spid="2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22</a:t>
            </a:fld>
            <a:endParaRPr kumimoji="0" lang="ru-RU">
              <a:solidFill>
                <a:schemeClr val="tx2"/>
              </a:solidFill>
            </a:endParaRPr>
          </a:p>
        </p:txBody>
      </p:sp>
      <p:sp>
        <p:nvSpPr>
          <p:cNvPr id="33" name="Прямоугольник 32"/>
          <p:cNvSpPr/>
          <p:nvPr/>
        </p:nvSpPr>
        <p:spPr>
          <a:xfrm>
            <a:off x="827584" y="1851670"/>
            <a:ext cx="7416824" cy="627534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rgbClr val="FF0000"/>
                </a:solidFill>
              </a:rPr>
              <a:t>Расстояние между скрещивающимися прямыми</a:t>
            </a:r>
            <a:endParaRPr lang="ru-R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2432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23</a:t>
            </a:fld>
            <a:endParaRPr kumimoji="0" lang="ru-RU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0" y="-22136"/>
                <a:ext cx="9144000" cy="93770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dirty="0" smtClean="0">
                    <a:solidFill>
                      <a:srgbClr val="7030A0"/>
                    </a:solidFill>
                  </a:rPr>
                  <a:t>1</a:t>
                </a:r>
                <a:r>
                  <a:rPr lang="ru-RU" sz="1200" b="1" dirty="0">
                    <a:solidFill>
                      <a:srgbClr val="7030A0"/>
                    </a:solidFill>
                  </a:rPr>
                  <a:t>4</a:t>
                </a:r>
                <a:r>
                  <a:rPr lang="ru-RU" sz="1200" b="1" dirty="0" smtClean="0">
                    <a:solidFill>
                      <a:srgbClr val="7030A0"/>
                    </a:solidFill>
                  </a:rPr>
                  <a:t>.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О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снование</a:t>
                </a:r>
                <a14:m>
                  <m:oMath xmlns:m="http://schemas.openxmlformats.org/officeDocument/2006/math">
                    <m:r>
                      <a:rPr lang="ru-RU" sz="1200" b="1" i="0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пирамиды</a:t>
                </a:r>
                <a14:m>
                  <m:oMath xmlns:m="http://schemas.openxmlformats.org/officeDocument/2006/math">
                    <m:r>
                      <a:rPr lang="ru-RU" sz="1200" b="1" i="0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 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𝑺𝑨𝑩𝑪𝑫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− 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ромб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𝑨𝑩𝑪𝑫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 с углом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𝟔𝟎</m:t>
                    </m:r>
                    <m:r>
                      <a:rPr lang="it-IT" sz="1200" b="1" i="1" dirty="0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°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 при вершине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</m:t>
                    </m:r>
                  </m:oMath>
                </a14:m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.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Боковое ребро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𝑺𝑫</m:t>
                    </m:r>
                  </m:oMath>
                </a14:m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перпендикулярно плоскости основания и равно стороне основания.</a:t>
                </a: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а) Докажите, что прямые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𝑨𝑪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𝑺𝑩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перпендикулярны. </a:t>
                </a:r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б) Найдите расстояние между этими прямыми, если сторона основания пирамиды равна </a:t>
                </a:r>
                <a14:m>
                  <m:oMath xmlns:m="http://schemas.openxmlformats.org/officeDocument/2006/math"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𝟐</m:t>
                    </m:r>
                    <m:rad>
                      <m:radPr>
                        <m:degHide m:val="on"/>
                        <m:ctrlPr>
                          <a:rPr lang="ru-RU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ru-RU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𝟐</m:t>
                        </m:r>
                      </m:e>
                    </m:rad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</a:t>
                </a:r>
                <a:endParaRPr lang="en-US" sz="12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6"/>
                <a:ext cx="9144000" cy="93770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Прямая соединительная линия 4"/>
          <p:cNvCxnSpPr/>
          <p:nvPr/>
        </p:nvCxnSpPr>
        <p:spPr>
          <a:xfrm>
            <a:off x="6595740" y="2600570"/>
            <a:ext cx="2265372" cy="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>
            <a:off x="5148427" y="3522775"/>
            <a:ext cx="2265372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flipV="1">
            <a:off x="5147839" y="2600568"/>
            <a:ext cx="1458705" cy="932369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 flipV="1">
            <a:off x="7416422" y="2590407"/>
            <a:ext cx="1416833" cy="932368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849673" y="3419264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9673" y="3419264"/>
                <a:ext cx="340286" cy="3077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8758146" y="2552005"/>
                <a:ext cx="3481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8146" y="2552005"/>
                <a:ext cx="348172" cy="3077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328050" y="3456394"/>
                <a:ext cx="3550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𝐷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8050" y="3456394"/>
                <a:ext cx="355034" cy="3077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303674" y="2404732"/>
                <a:ext cx="3481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674" y="2404732"/>
                <a:ext cx="348172" cy="3077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Прямая соединительная линия 12"/>
          <p:cNvCxnSpPr/>
          <p:nvPr/>
        </p:nvCxnSpPr>
        <p:spPr>
          <a:xfrm flipV="1">
            <a:off x="7409526" y="1246694"/>
            <a:ext cx="0" cy="2286242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 flipH="1" flipV="1">
            <a:off x="7410519" y="1246696"/>
            <a:ext cx="1422736" cy="1353872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 flipV="1">
            <a:off x="6606544" y="1236535"/>
            <a:ext cx="798071" cy="1372693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/>
          <p:nvPr/>
        </p:nvCxnSpPr>
        <p:spPr>
          <a:xfrm flipV="1">
            <a:off x="5148427" y="1246695"/>
            <a:ext cx="2244885" cy="2276080"/>
          </a:xfrm>
          <a:prstGeom prst="line">
            <a:avLst/>
          </a:prstGeom>
          <a:ln w="12700">
            <a:solidFill>
              <a:srgbClr val="00206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7341801" y="985108"/>
                <a:ext cx="32284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𝑆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1801" y="985108"/>
                <a:ext cx="322845" cy="30777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Полилиния 35"/>
          <p:cNvSpPr/>
          <p:nvPr/>
        </p:nvSpPr>
        <p:spPr>
          <a:xfrm>
            <a:off x="7416800" y="3210560"/>
            <a:ext cx="142240" cy="304800"/>
          </a:xfrm>
          <a:custGeom>
            <a:avLst/>
            <a:gdLst>
              <a:gd name="connsiteX0" fmla="*/ 0 w 142240"/>
              <a:gd name="connsiteY0" fmla="*/ 111760 h 304800"/>
              <a:gd name="connsiteX1" fmla="*/ 132080 w 142240"/>
              <a:gd name="connsiteY1" fmla="*/ 0 h 304800"/>
              <a:gd name="connsiteX2" fmla="*/ 142240 w 142240"/>
              <a:gd name="connsiteY2" fmla="*/ 213360 h 304800"/>
              <a:gd name="connsiteX3" fmla="*/ 0 w 142240"/>
              <a:gd name="connsiteY3" fmla="*/ 304800 h 304800"/>
              <a:gd name="connsiteX4" fmla="*/ 0 w 142240"/>
              <a:gd name="connsiteY4" fmla="*/ 11176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240" h="304800">
                <a:moveTo>
                  <a:pt x="0" y="111760"/>
                </a:moveTo>
                <a:lnTo>
                  <a:pt x="132080" y="0"/>
                </a:lnTo>
                <a:lnTo>
                  <a:pt x="142240" y="213360"/>
                </a:lnTo>
                <a:lnTo>
                  <a:pt x="0" y="304800"/>
                </a:lnTo>
                <a:lnTo>
                  <a:pt x="0" y="111760"/>
                </a:lnTo>
                <a:close/>
              </a:path>
            </a:pathLst>
          </a:custGeom>
          <a:solidFill>
            <a:schemeClr val="bg1">
              <a:lumMod val="85000"/>
              <a:alpha val="49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рямоугольник 37"/>
          <p:cNvSpPr/>
          <p:nvPr/>
        </p:nvSpPr>
        <p:spPr>
          <a:xfrm>
            <a:off x="7208575" y="3325161"/>
            <a:ext cx="191868" cy="193341"/>
          </a:xfrm>
          <a:prstGeom prst="rect">
            <a:avLst/>
          </a:prstGeom>
          <a:solidFill>
            <a:schemeClr val="bg1">
              <a:lumMod val="85000"/>
              <a:alpha val="48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олилиния 38"/>
          <p:cNvSpPr/>
          <p:nvPr/>
        </p:nvSpPr>
        <p:spPr>
          <a:xfrm>
            <a:off x="6329680" y="3484880"/>
            <a:ext cx="0" cy="111760"/>
          </a:xfrm>
          <a:custGeom>
            <a:avLst/>
            <a:gdLst>
              <a:gd name="connsiteX0" fmla="*/ 0 w 0"/>
              <a:gd name="connsiteY0" fmla="*/ 0 h 111760"/>
              <a:gd name="connsiteX1" fmla="*/ 0 w 0"/>
              <a:gd name="connsiteY1" fmla="*/ 111760 h 111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11760">
                <a:moveTo>
                  <a:pt x="0" y="0"/>
                </a:moveTo>
                <a:lnTo>
                  <a:pt x="0" y="11176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олилиния 39"/>
          <p:cNvSpPr/>
          <p:nvPr/>
        </p:nvSpPr>
        <p:spPr>
          <a:xfrm>
            <a:off x="7358428" y="2046486"/>
            <a:ext cx="121920" cy="0"/>
          </a:xfrm>
          <a:custGeom>
            <a:avLst/>
            <a:gdLst>
              <a:gd name="connsiteX0" fmla="*/ 0 w 121920"/>
              <a:gd name="connsiteY0" fmla="*/ 0 h 0"/>
              <a:gd name="connsiteX1" fmla="*/ 121920 w 12192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20">
                <a:moveTo>
                  <a:pt x="0" y="0"/>
                </a:moveTo>
                <a:lnTo>
                  <a:pt x="121920" y="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Сектор 40"/>
          <p:cNvSpPr/>
          <p:nvPr/>
        </p:nvSpPr>
        <p:spPr>
          <a:xfrm>
            <a:off x="4707451" y="3077107"/>
            <a:ext cx="914400" cy="914400"/>
          </a:xfrm>
          <a:prstGeom prst="pie">
            <a:avLst>
              <a:gd name="adj1" fmla="val 19599228"/>
              <a:gd name="adj2" fmla="val 21531254"/>
            </a:avLst>
          </a:prstGeom>
          <a:solidFill>
            <a:schemeClr val="accent1">
              <a:alpha val="37000"/>
            </a:schemeClr>
          </a:solidFill>
          <a:ln w="63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5299422" y="3306415"/>
                <a:ext cx="381835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b="0" i="1" smtClean="0">
                          <a:latin typeface="Cambria Math" charset="0"/>
                        </a:rPr>
                        <m:t>60</m:t>
                      </m:r>
                      <m:r>
                        <a:rPr lang="it-IT" sz="9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°</m:t>
                      </m:r>
                    </m:oMath>
                  </m:oMathPara>
                </a14:m>
                <a:endParaRPr lang="ru-RU" sz="900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9422" y="3306415"/>
                <a:ext cx="381835" cy="2308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Прямая соединительная линия 43"/>
          <p:cNvCxnSpPr/>
          <p:nvPr/>
        </p:nvCxnSpPr>
        <p:spPr>
          <a:xfrm flipV="1">
            <a:off x="5147839" y="2600551"/>
            <a:ext cx="3676043" cy="933118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/>
          <p:nvPr/>
        </p:nvCxnSpPr>
        <p:spPr>
          <a:xfrm flipV="1">
            <a:off x="6596881" y="1246166"/>
            <a:ext cx="798071" cy="1372693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/>
          <p:cNvCxnSpPr>
            <a:endCxn id="36" idx="3"/>
          </p:cNvCxnSpPr>
          <p:nvPr/>
        </p:nvCxnSpPr>
        <p:spPr>
          <a:xfrm>
            <a:off x="6606544" y="2609228"/>
            <a:ext cx="810256" cy="906132"/>
          </a:xfrm>
          <a:prstGeom prst="line">
            <a:avLst/>
          </a:prstGeom>
          <a:ln>
            <a:prstDash val="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107504" y="1012347"/>
                <a:ext cx="308276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/>
                  <a:t>а)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charset="0"/>
                      </a:rPr>
                      <m:t>𝐵𝐷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⊥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𝐴𝐶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по свойству диагоналей ромба.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1012347"/>
                <a:ext cx="3082767" cy="276999"/>
              </a:xfrm>
              <a:prstGeom prst="rect">
                <a:avLst/>
              </a:prstGeom>
              <a:blipFill rotWithShape="0">
                <a:blip r:embed="rId9"/>
                <a:stretch>
                  <a:fillRect l="-198"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107503" y="1289346"/>
                <a:ext cx="34441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</a:rPr>
                      <m:t>⟹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по теореме о трех перпендикулярах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charset="0"/>
                      </a:rPr>
                      <m:t>𝑆𝐵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⊥</m:t>
                    </m:r>
                    <m:r>
                      <a:rPr lang="en-US" sz="1200" i="1" dirty="0">
                        <a:latin typeface="Cambria Math" charset="0"/>
                      </a:rPr>
                      <m:t>𝐴𝐶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3" y="1289346"/>
                <a:ext cx="3444148" cy="276999"/>
              </a:xfrm>
              <a:prstGeom prst="rect">
                <a:avLst/>
              </a:prstGeom>
              <a:blipFill rotWithShape="0">
                <a:blip r:embed="rId10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6769954" y="3029416"/>
                <a:ext cx="36157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 dirty="0" smtClean="0">
                          <a:latin typeface="Cambria Math" charset="0"/>
                        </a:rPr>
                        <m:t> 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𝑂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9954" y="3029416"/>
                <a:ext cx="361574" cy="276999"/>
              </a:xfrm>
              <a:prstGeom prst="rect">
                <a:avLst/>
              </a:prstGeom>
              <a:blipFill rotWithShape="0">
                <a:blip r:embed="rId11"/>
                <a:stretch>
                  <a:fillRect t="-80000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Овал 55"/>
          <p:cNvSpPr/>
          <p:nvPr/>
        </p:nvSpPr>
        <p:spPr>
          <a:xfrm flipV="1">
            <a:off x="7383152" y="2384735"/>
            <a:ext cx="45923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58" name="Полилиния 57"/>
          <p:cNvSpPr/>
          <p:nvPr/>
        </p:nvSpPr>
        <p:spPr>
          <a:xfrm>
            <a:off x="7359992" y="2088014"/>
            <a:ext cx="121920" cy="0"/>
          </a:xfrm>
          <a:custGeom>
            <a:avLst/>
            <a:gdLst>
              <a:gd name="connsiteX0" fmla="*/ 0 w 121920"/>
              <a:gd name="connsiteY0" fmla="*/ 0 h 0"/>
              <a:gd name="connsiteX1" fmla="*/ 121920 w 12192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20">
                <a:moveTo>
                  <a:pt x="0" y="0"/>
                </a:moveTo>
                <a:lnTo>
                  <a:pt x="121920" y="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Полилиния 58"/>
          <p:cNvSpPr/>
          <p:nvPr/>
        </p:nvSpPr>
        <p:spPr>
          <a:xfrm>
            <a:off x="7348268" y="2891150"/>
            <a:ext cx="121920" cy="0"/>
          </a:xfrm>
          <a:custGeom>
            <a:avLst/>
            <a:gdLst>
              <a:gd name="connsiteX0" fmla="*/ 0 w 121920"/>
              <a:gd name="connsiteY0" fmla="*/ 0 h 0"/>
              <a:gd name="connsiteX1" fmla="*/ 121920 w 12192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20">
                <a:moveTo>
                  <a:pt x="0" y="0"/>
                </a:moveTo>
                <a:lnTo>
                  <a:pt x="121920" y="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Полилиния 59"/>
          <p:cNvSpPr/>
          <p:nvPr/>
        </p:nvSpPr>
        <p:spPr>
          <a:xfrm>
            <a:off x="7339483" y="2859782"/>
            <a:ext cx="121920" cy="0"/>
          </a:xfrm>
          <a:custGeom>
            <a:avLst/>
            <a:gdLst>
              <a:gd name="connsiteX0" fmla="*/ 0 w 121920"/>
              <a:gd name="connsiteY0" fmla="*/ 0 h 0"/>
              <a:gd name="connsiteX1" fmla="*/ 121920 w 12192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20">
                <a:moveTo>
                  <a:pt x="0" y="0"/>
                </a:moveTo>
                <a:lnTo>
                  <a:pt x="121920" y="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7317406" y="2198716"/>
                <a:ext cx="36567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 dirty="0" smtClean="0">
                          <a:latin typeface="Cambria Math" charset="0"/>
                        </a:rPr>
                        <m:t> 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𝐾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7406" y="2198716"/>
                <a:ext cx="365678" cy="276999"/>
              </a:xfrm>
              <a:prstGeom prst="rect">
                <a:avLst/>
              </a:prstGeom>
              <a:blipFill rotWithShape="0">
                <a:blip r:embed="rId12"/>
                <a:stretch>
                  <a:fillRect t="-82222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Прямая соединительная линия 62"/>
          <p:cNvCxnSpPr>
            <a:endCxn id="56" idx="1"/>
          </p:cNvCxnSpPr>
          <p:nvPr/>
        </p:nvCxnSpPr>
        <p:spPr>
          <a:xfrm flipV="1">
            <a:off x="7011672" y="2423759"/>
            <a:ext cx="378205" cy="641297"/>
          </a:xfrm>
          <a:prstGeom prst="line">
            <a:avLst/>
          </a:prstGeom>
          <a:ln>
            <a:prstDash val="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107504" y="1580838"/>
                <a:ext cx="46334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/>
                  <a:t>б)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charset="0"/>
                      </a:rPr>
                      <m:t>𝑆𝐾</m:t>
                    </m:r>
                    <m:r>
                      <a:rPr lang="en-US" sz="1200" b="0" i="1" dirty="0" smtClean="0">
                        <a:latin typeface="Cambria Math" charset="0"/>
                      </a:rPr>
                      <m:t>=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𝐾𝐷</m:t>
                    </m:r>
                    <m:r>
                      <a:rPr lang="en-US" sz="1200" b="0" i="1" dirty="0" smtClean="0">
                        <a:latin typeface="Cambria Math" charset="0"/>
                      </a:rPr>
                      <m:t>;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𝐵𝑂</m:t>
                    </m:r>
                    <m:r>
                      <a:rPr lang="en-US" sz="1200" b="0" i="1" dirty="0" smtClean="0">
                        <a:latin typeface="Cambria Math" charset="0"/>
                      </a:rPr>
                      <m:t>=</m:t>
                    </m:r>
                    <m:r>
                      <a:rPr lang="en-US" sz="1200" b="0" i="1" dirty="0" smtClean="0">
                        <a:latin typeface="Cambria Math" charset="0"/>
                      </a:rPr>
                      <m:t>𝑂𝐷</m:t>
                    </m:r>
                    <m:r>
                      <a:rPr lang="en-US" sz="1200" i="1" dirty="0">
                        <a:latin typeface="Cambria Math" charset="0"/>
                      </a:rPr>
                      <m:t>⟹</m:t>
                    </m:r>
                    <m:r>
                      <a:rPr lang="en-US" sz="1200" b="0" i="1" dirty="0" smtClean="0">
                        <a:latin typeface="Cambria Math" charset="0"/>
                      </a:rPr>
                      <m:t>𝑂𝐾</m:t>
                    </m:r>
                    <m:r>
                      <a:rPr lang="en-US" sz="1200" b="0" i="1" dirty="0" smtClean="0">
                        <a:latin typeface="Cambria Math" charset="0"/>
                      </a:rPr>
                      <m:t> − 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средняя линия треугольника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𝐵𝐷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𝑆</m:t>
                    </m:r>
                    <m:r>
                      <a:rPr lang="en-US" sz="1200" b="0" i="0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;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1580838"/>
                <a:ext cx="4633448" cy="276999"/>
              </a:xfrm>
              <a:prstGeom prst="rect">
                <a:avLst/>
              </a:prstGeom>
              <a:blipFill rotWithShape="0">
                <a:blip r:embed="rId13"/>
                <a:stretch>
                  <a:fillRect l="-132"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97379" y="1868286"/>
                <a:ext cx="100463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</a:rPr>
                        <m:t>⟹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𝑆𝐵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∥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𝑂𝐾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79" y="1868286"/>
                <a:ext cx="1004634" cy="276999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952720" y="1857837"/>
                <a:ext cx="12599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</a:rPr>
                        <m:t>⟹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𝑆𝐵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∥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(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𝐴𝐾𝐶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720" y="1857837"/>
                <a:ext cx="1259960" cy="276999"/>
              </a:xfrm>
              <a:prstGeom prst="rect">
                <a:avLst/>
              </a:prstGeom>
              <a:blipFill rotWithShape="0">
                <a:blip r:embed="rId15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Прямая соединительная линия 70"/>
          <p:cNvCxnSpPr>
            <a:endCxn id="56" idx="1"/>
          </p:cNvCxnSpPr>
          <p:nvPr/>
        </p:nvCxnSpPr>
        <p:spPr>
          <a:xfrm flipV="1">
            <a:off x="5164651" y="2423759"/>
            <a:ext cx="2225226" cy="1111906"/>
          </a:xfrm>
          <a:prstGeom prst="line">
            <a:avLst/>
          </a:prstGeom>
          <a:ln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4" name="Прямая соединительная линия 73"/>
          <p:cNvCxnSpPr>
            <a:stCxn id="56" idx="0"/>
          </p:cNvCxnSpPr>
          <p:nvPr/>
        </p:nvCxnSpPr>
        <p:spPr>
          <a:xfrm>
            <a:off x="7406114" y="2430454"/>
            <a:ext cx="1415993" cy="182317"/>
          </a:xfrm>
          <a:prstGeom prst="line">
            <a:avLst/>
          </a:prstGeom>
          <a:ln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8" name="Полилиния 77"/>
          <p:cNvSpPr/>
          <p:nvPr/>
        </p:nvSpPr>
        <p:spPr>
          <a:xfrm>
            <a:off x="5171440" y="2418080"/>
            <a:ext cx="3647440" cy="1107440"/>
          </a:xfrm>
          <a:custGeom>
            <a:avLst/>
            <a:gdLst>
              <a:gd name="connsiteX0" fmla="*/ 0 w 3647440"/>
              <a:gd name="connsiteY0" fmla="*/ 1107440 h 1107440"/>
              <a:gd name="connsiteX1" fmla="*/ 2245360 w 3647440"/>
              <a:gd name="connsiteY1" fmla="*/ 0 h 1107440"/>
              <a:gd name="connsiteX2" fmla="*/ 3647440 w 3647440"/>
              <a:gd name="connsiteY2" fmla="*/ 193040 h 1107440"/>
              <a:gd name="connsiteX3" fmla="*/ 0 w 3647440"/>
              <a:gd name="connsiteY3" fmla="*/ 1107440 h 1107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7440" h="1107440">
                <a:moveTo>
                  <a:pt x="0" y="1107440"/>
                </a:moveTo>
                <a:lnTo>
                  <a:pt x="2245360" y="0"/>
                </a:lnTo>
                <a:lnTo>
                  <a:pt x="3647440" y="193040"/>
                </a:lnTo>
                <a:lnTo>
                  <a:pt x="0" y="1107440"/>
                </a:lnTo>
                <a:close/>
              </a:path>
            </a:pathLst>
          </a:custGeom>
          <a:solidFill>
            <a:srgbClr val="339933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107503" y="2141627"/>
                <a:ext cx="410445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>
                    <a:solidFill>
                      <a:schemeClr val="tx1"/>
                    </a:solidFill>
                  </a:rPr>
                  <a:t>Расстояние от любой точки прямой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charset="0"/>
                      </a:rPr>
                      <m:t>𝑆𝐵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до плоскости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charset="0"/>
                      </a:rPr>
                      <m:t>(</m:t>
                    </m:r>
                    <m:r>
                      <a:rPr lang="en-US" sz="1200" i="1" dirty="0">
                        <a:latin typeface="Cambria Math" charset="0"/>
                      </a:rPr>
                      <m:t>𝐴𝐾𝐶</m:t>
                    </m:r>
                    <m:r>
                      <a:rPr lang="en-US" sz="1200" i="1" dirty="0">
                        <a:latin typeface="Cambria Math" charset="0"/>
                      </a:rPr>
                      <m:t>)</m:t>
                    </m:r>
                  </m:oMath>
                </a14:m>
                <a:endParaRPr lang="ru-RU" sz="1200" dirty="0"/>
              </a:p>
              <a:p>
                <a:r>
                  <a:rPr lang="ru-RU" sz="1200" dirty="0" smtClean="0">
                    <a:solidFill>
                      <a:schemeClr val="tx1"/>
                    </a:solidFill>
                  </a:rPr>
                  <a:t>равно расстоянию  между прямыми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𝐴𝐶</m:t>
                    </m:r>
                  </m:oMath>
                </a14:m>
                <a:r>
                  <a:rPr lang="ru-RU" sz="1200" dirty="0">
                    <a:solidFill>
                      <a:schemeClr val="tx1"/>
                    </a:solidFill>
                  </a:rPr>
                  <a:t> и </a:t>
                </a:r>
                <a14:m>
                  <m:oMath xmlns:m="http://schemas.openxmlformats.org/officeDocument/2006/math"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charset="0"/>
                      </a:rPr>
                      <m:t>𝑆𝐵</m:t>
                    </m:r>
                    <m:r>
                      <a:rPr lang="ru-RU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3" y="2141627"/>
                <a:ext cx="4104457" cy="461665"/>
              </a:xfrm>
              <a:prstGeom prst="rect">
                <a:avLst/>
              </a:prstGeom>
              <a:blipFill rotWithShape="0">
                <a:blip r:embed="rId16"/>
                <a:stretch>
                  <a:fillRect l="-149" b="-92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Полилиния 79"/>
          <p:cNvSpPr/>
          <p:nvPr/>
        </p:nvSpPr>
        <p:spPr>
          <a:xfrm>
            <a:off x="6604000" y="1239520"/>
            <a:ext cx="812800" cy="2306320"/>
          </a:xfrm>
          <a:custGeom>
            <a:avLst/>
            <a:gdLst>
              <a:gd name="connsiteX0" fmla="*/ 0 w 812800"/>
              <a:gd name="connsiteY0" fmla="*/ 1371600 h 2306320"/>
              <a:gd name="connsiteX1" fmla="*/ 812800 w 812800"/>
              <a:gd name="connsiteY1" fmla="*/ 0 h 2306320"/>
              <a:gd name="connsiteX2" fmla="*/ 812800 w 812800"/>
              <a:gd name="connsiteY2" fmla="*/ 2306320 h 2306320"/>
              <a:gd name="connsiteX3" fmla="*/ 0 w 812800"/>
              <a:gd name="connsiteY3" fmla="*/ 1371600 h 2306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2800" h="2306320">
                <a:moveTo>
                  <a:pt x="0" y="1371600"/>
                </a:moveTo>
                <a:lnTo>
                  <a:pt x="812800" y="0"/>
                </a:lnTo>
                <a:lnTo>
                  <a:pt x="812800" y="2306320"/>
                </a:lnTo>
                <a:lnTo>
                  <a:pt x="0" y="1371600"/>
                </a:lnTo>
                <a:close/>
              </a:path>
            </a:pathLst>
          </a:custGeom>
          <a:solidFill>
            <a:srgbClr val="FFC00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62905" y="2585725"/>
                <a:ext cx="25289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𝐴𝐶</m:t>
                      </m:r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⊥</m:t>
                      </m:r>
                      <m:r>
                        <a:rPr lang="en-US" sz="1200" i="1" dirty="0">
                          <a:latin typeface="Cambria Math" charset="0"/>
                        </a:rPr>
                        <m:t>𝐵𝐷</m:t>
                      </m:r>
                      <m:r>
                        <a:rPr lang="ru-RU" sz="1200" b="0" i="1" dirty="0" smtClean="0">
                          <a:latin typeface="Cambria Math" charset="0"/>
                        </a:rPr>
                        <m:t>;</m:t>
                      </m:r>
                      <m:r>
                        <a:rPr lang="en-US" sz="1200" i="1" dirty="0">
                          <a:latin typeface="Cambria Math" charset="0"/>
                        </a:rPr>
                        <m:t>𝐴𝐶</m:t>
                      </m:r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⊥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𝑆</m:t>
                      </m:r>
                      <m:r>
                        <a:rPr lang="en-US" sz="1200" i="1" dirty="0">
                          <a:latin typeface="Cambria Math" charset="0"/>
                        </a:rPr>
                        <m:t>𝐷</m:t>
                      </m:r>
                      <m:r>
                        <a:rPr lang="en-US" sz="1200" i="1" dirty="0">
                          <a:latin typeface="Cambria Math" charset="0"/>
                        </a:rPr>
                        <m:t>⟹</m:t>
                      </m:r>
                      <m:r>
                        <a:rPr lang="en-US" sz="1200" i="1" dirty="0">
                          <a:latin typeface="Cambria Math" charset="0"/>
                        </a:rPr>
                        <m:t>𝐴𝐶</m:t>
                      </m:r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⊥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(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𝐵𝑆𝐷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)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05" y="2585725"/>
                <a:ext cx="2528962" cy="276999"/>
              </a:xfrm>
              <a:prstGeom prst="rect">
                <a:avLst/>
              </a:prstGeom>
              <a:blipFill rotWithShape="0">
                <a:blip r:embed="rId17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2395247" y="2582783"/>
                <a:ext cx="148476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>
                          <a:latin typeface="Cambria Math" charset="0"/>
                        </a:rPr>
                        <m:t>⟹(</m:t>
                      </m:r>
                      <m:r>
                        <a:rPr lang="en-US" sz="1200" i="1" dirty="0">
                          <a:latin typeface="Cambria Math" charset="0"/>
                        </a:rPr>
                        <m:t>𝐴𝐾𝐶</m:t>
                      </m:r>
                      <m:r>
                        <a:rPr lang="en-US" sz="1200" i="1" dirty="0">
                          <a:latin typeface="Cambria Math" charset="0"/>
                        </a:rPr>
                        <m:t>)⊥(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𝐵𝑆𝐷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)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5247" y="2582783"/>
                <a:ext cx="1484765" cy="276999"/>
              </a:xfrm>
              <a:prstGeom prst="rect">
                <a:avLst/>
              </a:prstGeom>
              <a:blipFill rotWithShape="0">
                <a:blip r:embed="rId18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Прямоугольный треугольник 82"/>
          <p:cNvSpPr/>
          <p:nvPr/>
        </p:nvSpPr>
        <p:spPr>
          <a:xfrm flipH="1">
            <a:off x="631535" y="3279858"/>
            <a:ext cx="1368152" cy="1301651"/>
          </a:xfrm>
          <a:prstGeom prst="rtTriangle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76247" y="2829725"/>
                <a:ext cx="16748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i="1" dirty="0" smtClean="0">
                          <a:latin typeface="Cambria Math" charset="0"/>
                        </a:rPr>
                        <m:t>O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𝐾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=(</m:t>
                      </m:r>
                      <m:r>
                        <a:rPr lang="en-US" sz="1200" i="1" dirty="0">
                          <a:latin typeface="Cambria Math" charset="0"/>
                        </a:rPr>
                        <m:t>𝐴𝐾𝐶</m:t>
                      </m:r>
                      <m:r>
                        <a:rPr lang="en-US" sz="1200" i="1" dirty="0">
                          <a:latin typeface="Cambria Math" charset="0"/>
                        </a:rPr>
                        <m:t>)∩(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𝐵𝑆𝐷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)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7" y="2829725"/>
                <a:ext cx="1674882" cy="276999"/>
              </a:xfrm>
              <a:prstGeom prst="rect">
                <a:avLst/>
              </a:prstGeom>
              <a:blipFill rotWithShape="0">
                <a:blip r:embed="rId19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1913443" y="4475469"/>
                <a:ext cx="3550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𝐷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443" y="4475469"/>
                <a:ext cx="355034" cy="307777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344038" y="4475469"/>
                <a:ext cx="3481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038" y="4475469"/>
                <a:ext cx="348172" cy="307777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1867968" y="2992164"/>
                <a:ext cx="32284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𝑆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7968" y="2992164"/>
                <a:ext cx="322845" cy="30777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Овал 87"/>
          <p:cNvSpPr/>
          <p:nvPr/>
        </p:nvSpPr>
        <p:spPr>
          <a:xfrm flipV="1">
            <a:off x="1329682" y="4561093"/>
            <a:ext cx="45923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1164388" y="4577888"/>
                <a:ext cx="31819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 dirty="0" smtClean="0">
                          <a:latin typeface="Cambria Math" charset="0"/>
                        </a:rPr>
                        <m:t> 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𝑂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388" y="4577888"/>
                <a:ext cx="318199" cy="276999"/>
              </a:xfrm>
              <a:prstGeom prst="rect">
                <a:avLst/>
              </a:prstGeom>
              <a:blipFill rotWithShape="0">
                <a:blip r:embed="rId22"/>
                <a:stretch>
                  <a:fillRect t="-80000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Овал 90"/>
          <p:cNvSpPr/>
          <p:nvPr/>
        </p:nvSpPr>
        <p:spPr>
          <a:xfrm flipV="1">
            <a:off x="1979898" y="3907041"/>
            <a:ext cx="45923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1968266" y="3802225"/>
                <a:ext cx="3320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</a:rPr>
                        <m:t>𝐾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8266" y="3802225"/>
                <a:ext cx="332014" cy="276999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" name="Прямая соединительная линия 93"/>
          <p:cNvCxnSpPr>
            <a:stCxn id="88" idx="4"/>
          </p:cNvCxnSpPr>
          <p:nvPr/>
        </p:nvCxnSpPr>
        <p:spPr>
          <a:xfrm flipV="1">
            <a:off x="1352644" y="3940726"/>
            <a:ext cx="615622" cy="620367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7" name="Прямая соединительная линия 96"/>
          <p:cNvCxnSpPr>
            <a:stCxn id="83" idx="2"/>
          </p:cNvCxnSpPr>
          <p:nvPr/>
        </p:nvCxnSpPr>
        <p:spPr>
          <a:xfrm flipH="1" flipV="1">
            <a:off x="1371043" y="3907041"/>
            <a:ext cx="628644" cy="674468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01" name="Прямоугольник 100"/>
          <p:cNvSpPr/>
          <p:nvPr/>
        </p:nvSpPr>
        <p:spPr>
          <a:xfrm rot="18988816">
            <a:off x="1400039" y="3823952"/>
            <a:ext cx="162802" cy="171029"/>
          </a:xfrm>
          <a:prstGeom prst="rect">
            <a:avLst/>
          </a:prstGeom>
          <a:solidFill>
            <a:schemeClr val="bg1">
              <a:lumMod val="85000"/>
              <a:alpha val="36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/>
              <p:cNvSpPr txBox="1"/>
              <p:nvPr/>
            </p:nvSpPr>
            <p:spPr>
              <a:xfrm>
                <a:off x="1094430" y="3656524"/>
                <a:ext cx="3551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𝑀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430" y="3656524"/>
                <a:ext cx="355162" cy="276999"/>
              </a:xfrm>
              <a:prstGeom prst="rect">
                <a:avLst/>
              </a:prstGeom>
              <a:blipFill rotWithShape="0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/>
              <p:cNvSpPr txBox="1"/>
              <p:nvPr/>
            </p:nvSpPr>
            <p:spPr>
              <a:xfrm>
                <a:off x="1498642" y="4248304"/>
                <a:ext cx="3048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𝐿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4" name="TextBox 1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642" y="4248304"/>
                <a:ext cx="304827" cy="276999"/>
              </a:xfrm>
              <a:prstGeom prst="rect">
                <a:avLst/>
              </a:prstGeom>
              <a:blipFill rotWithShape="0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/>
              <p:cNvSpPr txBox="1"/>
              <p:nvPr/>
            </p:nvSpPr>
            <p:spPr>
              <a:xfrm>
                <a:off x="2371683" y="3063234"/>
                <a:ext cx="7657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𝜌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𝑀𝐿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5" name="Text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1683" y="3063234"/>
                <a:ext cx="765722" cy="276999"/>
              </a:xfrm>
              <a:prstGeom prst="rect">
                <a:avLst/>
              </a:prstGeom>
              <a:blipFill rotWithShape="0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/>
              <p:cNvSpPr txBox="1"/>
              <p:nvPr/>
            </p:nvSpPr>
            <p:spPr>
              <a:xfrm>
                <a:off x="2362310" y="3340233"/>
                <a:ext cx="989565" cy="4380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𝑀𝐿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𝑀𝐷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" name="TextBox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310" y="3340233"/>
                <a:ext cx="989565" cy="438005"/>
              </a:xfrm>
              <a:prstGeom prst="rect">
                <a:avLst/>
              </a:prstGeom>
              <a:blipFill rotWithShape="0"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/>
              <p:cNvSpPr txBox="1"/>
              <p:nvPr/>
            </p:nvSpPr>
            <p:spPr>
              <a:xfrm>
                <a:off x="2358440" y="3733116"/>
                <a:ext cx="923971" cy="2987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𝑆𝐷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=2</m:t>
                      </m:r>
                      <m:rad>
                        <m:radPr>
                          <m:degHide m:val="on"/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e>
                      </m:rad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8" name="TextBox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8440" y="3733116"/>
                <a:ext cx="923971" cy="298736"/>
              </a:xfrm>
              <a:prstGeom prst="rect">
                <a:avLst/>
              </a:prstGeom>
              <a:blipFill rotWithShape="0"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/>
              <p:cNvSpPr txBox="1"/>
              <p:nvPr/>
            </p:nvSpPr>
            <p:spPr>
              <a:xfrm>
                <a:off x="3191075" y="3733116"/>
                <a:ext cx="3939861" cy="2950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𝐵𝐷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𝐴𝐷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=2</m:t>
                    </m:r>
                    <m:rad>
                      <m:radPr>
                        <m:degHide m:val="on"/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e>
                    </m:rad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1200" b="0" i="0" dirty="0" smtClean="0">
                    <a:solidFill>
                      <a:schemeClr val="tx1"/>
                    </a:solidFill>
                    <a:latin typeface="+mj-lt"/>
                    <a:ea typeface="Cambria Math" charset="0"/>
                    <a:cs typeface="Cambria Math" charset="0"/>
                  </a:rPr>
                  <a:t>(</a:t>
                </a:r>
                <a:r>
                  <a:rPr lang="ru-RU" sz="1200" b="0" i="0" dirty="0" smtClean="0">
                    <a:solidFill>
                      <a:schemeClr val="tx1"/>
                    </a:solidFill>
                    <a:latin typeface="+mj-lt"/>
                    <a:ea typeface="Cambria Math" charset="0"/>
                    <a:cs typeface="Cambria Math" charset="0"/>
                  </a:rPr>
                  <a:t>из равностороннего треугольника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𝐴𝐵𝐷</m:t>
                    </m:r>
                  </m:oMath>
                </a14:m>
                <a:r>
                  <a:rPr lang="en-US" sz="1200" b="0" i="0" dirty="0" smtClean="0">
                    <a:solidFill>
                      <a:schemeClr val="tx1"/>
                    </a:solidFill>
                    <a:latin typeface="+mj-lt"/>
                    <a:ea typeface="Cambria Math" charset="0"/>
                    <a:cs typeface="Cambria Math" charset="0"/>
                  </a:rPr>
                  <a:t>)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9" name="TextBox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1075" y="3733116"/>
                <a:ext cx="3939861" cy="295017"/>
              </a:xfrm>
              <a:prstGeom prst="rect">
                <a:avLst/>
              </a:prstGeom>
              <a:blipFill rotWithShape="0">
                <a:blip r:embed="rId29"/>
                <a:stretch>
                  <a:fillRect t="-65306" b="-938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/>
              <p:cNvSpPr txBox="1"/>
              <p:nvPr/>
            </p:nvSpPr>
            <p:spPr>
              <a:xfrm>
                <a:off x="2347859" y="4033781"/>
                <a:ext cx="12664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</a:rPr>
                        <m:t>⟹</m:t>
                      </m:r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∠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𝑆𝐵𝐷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=45°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0" name="TextBox 1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7859" y="4033781"/>
                <a:ext cx="1266437" cy="276999"/>
              </a:xfrm>
              <a:prstGeom prst="rect">
                <a:avLst/>
              </a:prstGeom>
              <a:blipFill rotWithShape="0"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/>
              <p:cNvSpPr txBox="1"/>
              <p:nvPr/>
            </p:nvSpPr>
            <p:spPr>
              <a:xfrm>
                <a:off x="3472960" y="4040283"/>
                <a:ext cx="1643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</a:rPr>
                        <m:t>⟹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𝑀𝐷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𝐵𝐷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𝑠𝑖𝑛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45°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8" name="TextBox 1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960" y="4040283"/>
                <a:ext cx="1643848" cy="276999"/>
              </a:xfrm>
              <a:prstGeom prst="rect">
                <a:avLst/>
              </a:prstGeom>
              <a:blipFill rotWithShape="0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" name="Сектор 118"/>
          <p:cNvSpPr/>
          <p:nvPr/>
        </p:nvSpPr>
        <p:spPr>
          <a:xfrm>
            <a:off x="173801" y="4126724"/>
            <a:ext cx="914400" cy="914400"/>
          </a:xfrm>
          <a:prstGeom prst="pie">
            <a:avLst>
              <a:gd name="adj1" fmla="val 18973793"/>
              <a:gd name="adj2" fmla="val 21566392"/>
            </a:avLst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/>
              <p:cNvSpPr txBox="1"/>
              <p:nvPr/>
            </p:nvSpPr>
            <p:spPr>
              <a:xfrm>
                <a:off x="744910" y="4383748"/>
                <a:ext cx="35779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45</m:t>
                      </m:r>
                      <m:r>
                        <a:rPr lang="it-IT" sz="8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°</m:t>
                      </m:r>
                    </m:oMath>
                  </m:oMathPara>
                </a14:m>
                <a:endParaRPr lang="ru-RU" sz="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0" name="TextBox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910" y="4383748"/>
                <a:ext cx="357790" cy="215444"/>
              </a:xfrm>
              <a:prstGeom prst="rect">
                <a:avLst/>
              </a:prstGeom>
              <a:blipFill rotWithShape="0"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/>
              <p:cNvSpPr txBox="1"/>
              <p:nvPr/>
            </p:nvSpPr>
            <p:spPr>
              <a:xfrm>
                <a:off x="4916773" y="3898327"/>
                <a:ext cx="946734" cy="4801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2</m:t>
                      </m:r>
                      <m:rad>
                        <m:radPr>
                          <m:degHide m:val="on"/>
                          <m:ctrlPr>
                            <a:rPr lang="en-US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e>
                      </m:rad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n-US" sz="1200" b="0" i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6773" y="3898327"/>
                <a:ext cx="946734" cy="480196"/>
              </a:xfrm>
              <a:prstGeom prst="rect">
                <a:avLst/>
              </a:prstGeom>
              <a:blipFill rotWithShape="0">
                <a:blip r:embed="rId33"/>
                <a:stretch>
                  <a:fillRect b="-12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/>
              <p:cNvSpPr txBox="1"/>
              <p:nvPr/>
            </p:nvSpPr>
            <p:spPr>
              <a:xfrm>
                <a:off x="5681257" y="4027530"/>
                <a:ext cx="46307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=2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257" y="4027530"/>
                <a:ext cx="463075" cy="276999"/>
              </a:xfrm>
              <a:prstGeom prst="rect">
                <a:avLst/>
              </a:prstGeom>
              <a:blipFill rotWithShape="0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/>
              <p:cNvSpPr txBox="1"/>
              <p:nvPr/>
            </p:nvSpPr>
            <p:spPr>
              <a:xfrm>
                <a:off x="5965328" y="4018009"/>
                <a:ext cx="28356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1200" b="0" i="0" dirty="0" smtClean="0">
                    <a:solidFill>
                      <a:schemeClr val="tx1"/>
                    </a:solidFill>
                    <a:latin typeface="+mj-lt"/>
                    <a:ea typeface="Cambria Math" charset="0"/>
                    <a:cs typeface="Cambria Math" charset="0"/>
                  </a:rPr>
                  <a:t>(</a:t>
                </a:r>
                <a:r>
                  <a:rPr lang="ru-RU" sz="1200" b="0" i="0" dirty="0" smtClean="0">
                    <a:solidFill>
                      <a:schemeClr val="tx1"/>
                    </a:solidFill>
                    <a:latin typeface="+mj-lt"/>
                    <a:ea typeface="Cambria Math" charset="0"/>
                    <a:cs typeface="Cambria Math" charset="0"/>
                  </a:rPr>
                  <a:t>из </a:t>
                </a:r>
                <a:r>
                  <a:rPr lang="ru-RU" sz="1200" dirty="0" smtClean="0">
                    <a:latin typeface="+mj-lt"/>
                    <a:ea typeface="Cambria Math" charset="0"/>
                    <a:cs typeface="Cambria Math" charset="0"/>
                  </a:rPr>
                  <a:t>прямоугольного</a:t>
                </a:r>
                <a:r>
                  <a:rPr lang="ru-RU" sz="1200" b="0" i="0" dirty="0" smtClean="0">
                    <a:solidFill>
                      <a:schemeClr val="tx1"/>
                    </a:solidFill>
                    <a:latin typeface="+mj-lt"/>
                    <a:ea typeface="Cambria Math" charset="0"/>
                    <a:cs typeface="Cambria Math" charset="0"/>
                  </a:rPr>
                  <a:t> треугольника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𝐵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𝑀𝐷</m:t>
                    </m:r>
                  </m:oMath>
                </a14:m>
                <a:r>
                  <a:rPr lang="en-US" sz="1200" b="0" i="0" dirty="0" smtClean="0">
                    <a:solidFill>
                      <a:schemeClr val="tx1"/>
                    </a:solidFill>
                    <a:latin typeface="+mj-lt"/>
                    <a:ea typeface="Cambria Math" charset="0"/>
                    <a:cs typeface="Cambria Math" charset="0"/>
                  </a:rPr>
                  <a:t>)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5328" y="4018009"/>
                <a:ext cx="2835648" cy="276999"/>
              </a:xfrm>
              <a:prstGeom prst="rect">
                <a:avLst/>
              </a:prstGeom>
              <a:blipFill rotWithShape="0">
                <a:blip r:embed="rId35"/>
                <a:stretch>
                  <a:fillRect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/>
              <p:cNvSpPr txBox="1"/>
              <p:nvPr/>
            </p:nvSpPr>
            <p:spPr>
              <a:xfrm>
                <a:off x="2354095" y="4273451"/>
                <a:ext cx="1275477" cy="4380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𝑀𝐿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𝑀𝐷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=1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4095" y="4273451"/>
                <a:ext cx="1275477" cy="438005"/>
              </a:xfrm>
              <a:prstGeom prst="rect">
                <a:avLst/>
              </a:prstGeom>
              <a:blipFill rotWithShape="0">
                <a:blip r:embed="rId36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/>
              <p:cNvSpPr txBox="1"/>
              <p:nvPr/>
            </p:nvSpPr>
            <p:spPr>
              <a:xfrm>
                <a:off x="4740952" y="4463195"/>
                <a:ext cx="10033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b="1" dirty="0" smtClean="0">
                    <a:solidFill>
                      <a:srgbClr val="FF0000"/>
                    </a:solidFill>
                  </a:rPr>
                  <a:t>Ответ: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𝟏</m:t>
                    </m:r>
                  </m:oMath>
                </a14:m>
                <a:endParaRPr lang="ru-RU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0952" y="4463195"/>
                <a:ext cx="1003352" cy="369332"/>
              </a:xfrm>
              <a:prstGeom prst="rect">
                <a:avLst/>
              </a:prstGeom>
              <a:blipFill rotWithShape="0">
                <a:blip r:embed="rId37"/>
                <a:stretch>
                  <a:fillRect l="-5488" t="-8197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Полилиния 13"/>
          <p:cNvSpPr/>
          <p:nvPr/>
        </p:nvSpPr>
        <p:spPr>
          <a:xfrm>
            <a:off x="7010400" y="3017520"/>
            <a:ext cx="284480" cy="152400"/>
          </a:xfrm>
          <a:custGeom>
            <a:avLst/>
            <a:gdLst>
              <a:gd name="connsiteX0" fmla="*/ 0 w 284480"/>
              <a:gd name="connsiteY0" fmla="*/ 50800 h 152400"/>
              <a:gd name="connsiteX1" fmla="*/ 101600 w 284480"/>
              <a:gd name="connsiteY1" fmla="*/ 152400 h 152400"/>
              <a:gd name="connsiteX2" fmla="*/ 284480 w 284480"/>
              <a:gd name="connsiteY2" fmla="*/ 101600 h 152400"/>
              <a:gd name="connsiteX3" fmla="*/ 182880 w 284480"/>
              <a:gd name="connsiteY3" fmla="*/ 0 h 152400"/>
              <a:gd name="connsiteX4" fmla="*/ 0 w 284480"/>
              <a:gd name="connsiteY4" fmla="*/ 50800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4480" h="152400">
                <a:moveTo>
                  <a:pt x="0" y="50800"/>
                </a:moveTo>
                <a:lnTo>
                  <a:pt x="101600" y="152400"/>
                </a:lnTo>
                <a:lnTo>
                  <a:pt x="284480" y="101600"/>
                </a:lnTo>
                <a:lnTo>
                  <a:pt x="182880" y="0"/>
                </a:lnTo>
                <a:lnTo>
                  <a:pt x="0" y="50800"/>
                </a:lnTo>
                <a:close/>
              </a:path>
            </a:pathLst>
          </a:custGeom>
          <a:solidFill>
            <a:schemeClr val="bg1">
              <a:lumMod val="85000"/>
              <a:alpha val="36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1803489" y="4401424"/>
            <a:ext cx="183516" cy="169940"/>
          </a:xfrm>
          <a:prstGeom prst="rect">
            <a:avLst/>
          </a:prstGeom>
          <a:solidFill>
            <a:schemeClr val="bg1">
              <a:lumMod val="85000"/>
              <a:alpha val="32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167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1"/>
      <p:bldP spid="10" grpId="1"/>
      <p:bldP spid="11" grpId="1"/>
      <p:bldP spid="12" grpId="1"/>
      <p:bldP spid="35" grpId="0"/>
      <p:bldP spid="36" grpId="0" animBg="1"/>
      <p:bldP spid="38" grpId="0" animBg="1"/>
      <p:bldP spid="39" grpId="0" animBg="1"/>
      <p:bldP spid="40" grpId="0" animBg="1"/>
      <p:bldP spid="41" grpId="0" animBg="1"/>
      <p:bldP spid="42" grpId="0"/>
      <p:bldP spid="53" grpId="0"/>
      <p:bldP spid="54" grpId="0"/>
      <p:bldP spid="55" grpId="0"/>
      <p:bldP spid="56" grpId="0" animBg="1"/>
      <p:bldP spid="58" grpId="0" animBg="1"/>
      <p:bldP spid="59" grpId="0" animBg="1"/>
      <p:bldP spid="60" grpId="0" animBg="1"/>
      <p:bldP spid="61" grpId="0"/>
      <p:bldP spid="68" grpId="0"/>
      <p:bldP spid="69" grpId="0"/>
      <p:bldP spid="70" grpId="0"/>
      <p:bldP spid="78" grpId="0" animBg="1"/>
      <p:bldP spid="79" grpId="0"/>
      <p:bldP spid="80" grpId="0" animBg="1"/>
      <p:bldP spid="81" grpId="0"/>
      <p:bldP spid="82" grpId="0"/>
      <p:bldP spid="83" grpId="0" animBg="1"/>
      <p:bldP spid="84" grpId="0"/>
      <p:bldP spid="85" grpId="0"/>
      <p:bldP spid="86" grpId="0"/>
      <p:bldP spid="87" grpId="0"/>
      <p:bldP spid="88" grpId="0" animBg="1"/>
      <p:bldP spid="90" grpId="0"/>
      <p:bldP spid="91" grpId="0" animBg="1"/>
      <p:bldP spid="92" grpId="0"/>
      <p:bldP spid="101" grpId="0" animBg="1"/>
      <p:bldP spid="103" grpId="0"/>
      <p:bldP spid="104" grpId="0"/>
      <p:bldP spid="105" grpId="0"/>
      <p:bldP spid="106" grpId="0"/>
      <p:bldP spid="108" grpId="0"/>
      <p:bldP spid="109" grpId="0"/>
      <p:bldP spid="110" grpId="0"/>
      <p:bldP spid="118" grpId="0"/>
      <p:bldP spid="119" grpId="0" animBg="1"/>
      <p:bldP spid="120" grpId="0"/>
      <p:bldP spid="121" grpId="0"/>
      <p:bldP spid="122" grpId="0"/>
      <p:bldP spid="125" grpId="0"/>
      <p:bldP spid="126" grpId="0"/>
      <p:bldP spid="14" grpId="0" animBg="1"/>
      <p:bldP spid="1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24</a:t>
            </a:fld>
            <a:endParaRPr kumimoji="0" lang="ru-RU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0" y="-22136"/>
                <a:ext cx="9144000" cy="79504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dirty="0" smtClean="0">
                    <a:solidFill>
                      <a:srgbClr val="7030A0"/>
                    </a:solidFill>
                  </a:rPr>
                  <a:t>15.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Дана правильная шестиугольная пирамида  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𝑺𝑨𝑩𝑪𝑫𝑬𝑭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с вершиной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</m:t>
                    </m:r>
                    <m:r>
                      <a:rPr lang="en-US" sz="1200" b="1" i="0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 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Точка</a:t>
                </a:r>
                <a14:m>
                  <m:oMath xmlns:m="http://schemas.openxmlformats.org/officeDocument/2006/math">
                    <m:r>
                      <a:rPr lang="ru-RU" sz="1200" b="1" i="0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𝑴</m:t>
                    </m:r>
                    <m:r>
                      <a:rPr lang="en-US" sz="1200" b="1" i="0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−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середина бокового ребра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𝑪𝑺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а) Постройте точку пересечения прямой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𝑩𝑴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с плоскостью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𝑬𝑺𝑭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б) Найдите расстояние между прямыми</a:t>
                </a:r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𝑩𝑴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𝑬𝑭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, если сторона основания пирамиды равна </a:t>
                </a:r>
                <a14:m>
                  <m:oMath xmlns:m="http://schemas.openxmlformats.org/officeDocument/2006/math"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𝟐</m:t>
                    </m:r>
                    <m:rad>
                      <m:radPr>
                        <m:degHide m:val="on"/>
                        <m:ctrlPr>
                          <a:rPr lang="ru-RU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𝟔</m:t>
                        </m:r>
                      </m:e>
                    </m:rad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,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а высота пирамиды равна </a:t>
                </a:r>
                <a14:m>
                  <m:oMath xmlns:m="http://schemas.openxmlformats.org/officeDocument/2006/math"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𝟑</m:t>
                    </m:r>
                    <m:rad>
                      <m:radPr>
                        <m:degHide m:val="on"/>
                        <m:ctrlPr>
                          <a:rPr lang="ru-RU" sz="1200" b="1" i="1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ru-RU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𝟐</m:t>
                        </m:r>
                      </m:e>
                    </m:rad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</a:t>
                </a:r>
                <a:endParaRPr lang="en-US" sz="12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6"/>
                <a:ext cx="9144000" cy="79504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Прямая соединительная линия 17"/>
          <p:cNvCxnSpPr/>
          <p:nvPr/>
        </p:nvCxnSpPr>
        <p:spPr>
          <a:xfrm flipV="1">
            <a:off x="6969393" y="2038427"/>
            <a:ext cx="0" cy="1686559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>
            <a:off x="6159897" y="4062269"/>
            <a:ext cx="1279272" cy="21649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/>
          <p:nvPr/>
        </p:nvCxnSpPr>
        <p:spPr>
          <a:xfrm>
            <a:off x="6509777" y="3360305"/>
            <a:ext cx="1279272" cy="21649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/>
          <p:nvPr/>
        </p:nvCxnSpPr>
        <p:spPr>
          <a:xfrm>
            <a:off x="7789049" y="3381954"/>
            <a:ext cx="460256" cy="372527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/>
          <p:nvPr/>
        </p:nvCxnSpPr>
        <p:spPr>
          <a:xfrm flipV="1">
            <a:off x="7429009" y="3754481"/>
            <a:ext cx="820296" cy="329437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/>
          <p:nvPr/>
        </p:nvCxnSpPr>
        <p:spPr>
          <a:xfrm flipV="1">
            <a:off x="5689481" y="3366054"/>
            <a:ext cx="820296" cy="351086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/>
          <p:nvPr/>
        </p:nvCxnSpPr>
        <p:spPr>
          <a:xfrm>
            <a:off x="5683173" y="3707386"/>
            <a:ext cx="477900" cy="354849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/>
          <p:cNvCxnSpPr/>
          <p:nvPr/>
        </p:nvCxnSpPr>
        <p:spPr>
          <a:xfrm flipV="1">
            <a:off x="6509137" y="2038427"/>
            <a:ext cx="460256" cy="1332702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единительная линия 48"/>
          <p:cNvCxnSpPr/>
          <p:nvPr/>
        </p:nvCxnSpPr>
        <p:spPr>
          <a:xfrm flipV="1">
            <a:off x="5683173" y="2028267"/>
            <a:ext cx="1286220" cy="1686559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единительная линия 51"/>
          <p:cNvCxnSpPr/>
          <p:nvPr/>
        </p:nvCxnSpPr>
        <p:spPr>
          <a:xfrm flipV="1">
            <a:off x="6160301" y="2028233"/>
            <a:ext cx="806180" cy="203470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 flipH="1" flipV="1">
            <a:off x="6963085" y="2038393"/>
            <a:ext cx="492656" cy="2045525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 flipH="1" flipV="1">
            <a:off x="6963725" y="2038393"/>
            <a:ext cx="1285580" cy="1716088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/>
          <p:nvPr/>
        </p:nvCxnSpPr>
        <p:spPr>
          <a:xfrm flipH="1" flipV="1">
            <a:off x="6963085" y="2038393"/>
            <a:ext cx="825964" cy="1343561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6818003" y="1762391"/>
                <a:ext cx="32284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𝑆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8003" y="1762391"/>
                <a:ext cx="322845" cy="3077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5411308" y="3619336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𝐹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308" y="3619336"/>
                <a:ext cx="340286" cy="3077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6375060" y="3367554"/>
                <a:ext cx="3439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𝐸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060" y="3367554"/>
                <a:ext cx="343940" cy="3077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7568733" y="3387708"/>
                <a:ext cx="35503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𝐷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8733" y="3387708"/>
                <a:ext cx="355033" cy="3077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8192154" y="3674137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2154" y="3674137"/>
                <a:ext cx="340286" cy="30777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7289721" y="4065148"/>
                <a:ext cx="3481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9721" y="4065148"/>
                <a:ext cx="348172" cy="30777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5987973" y="4060687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7973" y="4060687"/>
                <a:ext cx="340286" cy="30777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Овал 71"/>
          <p:cNvSpPr/>
          <p:nvPr/>
        </p:nvSpPr>
        <p:spPr>
          <a:xfrm>
            <a:off x="7595893" y="2898309"/>
            <a:ext cx="41563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7587922" y="2736072"/>
                <a:ext cx="3551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𝑀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7922" y="2736072"/>
                <a:ext cx="355162" cy="276999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Прямая соединительная линия 75"/>
          <p:cNvCxnSpPr/>
          <p:nvPr/>
        </p:nvCxnSpPr>
        <p:spPr>
          <a:xfrm flipV="1">
            <a:off x="7451332" y="2939872"/>
            <a:ext cx="165343" cy="115417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Полилиния 81"/>
          <p:cNvSpPr/>
          <p:nvPr/>
        </p:nvSpPr>
        <p:spPr>
          <a:xfrm>
            <a:off x="5694601" y="2062480"/>
            <a:ext cx="1270000" cy="1645920"/>
          </a:xfrm>
          <a:custGeom>
            <a:avLst/>
            <a:gdLst>
              <a:gd name="connsiteX0" fmla="*/ 0 w 1270000"/>
              <a:gd name="connsiteY0" fmla="*/ 1645920 h 1645920"/>
              <a:gd name="connsiteX1" fmla="*/ 1270000 w 1270000"/>
              <a:gd name="connsiteY1" fmla="*/ 0 h 1645920"/>
              <a:gd name="connsiteX2" fmla="*/ 822960 w 1270000"/>
              <a:gd name="connsiteY2" fmla="*/ 1310640 h 1645920"/>
              <a:gd name="connsiteX3" fmla="*/ 0 w 1270000"/>
              <a:gd name="connsiteY3" fmla="*/ 1645920 h 1645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1645920">
                <a:moveTo>
                  <a:pt x="0" y="1645920"/>
                </a:moveTo>
                <a:lnTo>
                  <a:pt x="1270000" y="0"/>
                </a:lnTo>
                <a:lnTo>
                  <a:pt x="822960" y="1310640"/>
                </a:lnTo>
                <a:lnTo>
                  <a:pt x="0" y="1645920"/>
                </a:lnTo>
                <a:close/>
              </a:path>
            </a:pathLst>
          </a:custGeom>
          <a:solidFill>
            <a:schemeClr val="accent1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107504" y="1012347"/>
                <a:ext cx="46790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 smtClean="0"/>
                  <a:t>а)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charset="0"/>
                      </a:rPr>
                      <m:t>𝐸𝐹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∥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𝐵𝐶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charset="0"/>
                      </a:rPr>
                      <m:t>⟹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линия пересечения плоскостей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𝐹𝑆𝐸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и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𝐵𝑆𝐶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проходит через точку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</a:rPr>
                      <m:t>𝑆</m:t>
                    </m:r>
                  </m:oMath>
                </a14:m>
                <a:r>
                  <a:rPr lang="ru-RU" sz="1200" dirty="0" smtClean="0"/>
                  <a:t> и параллельна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charset="0"/>
                      </a:rPr>
                      <m:t>𝐸𝐹</m:t>
                    </m:r>
                    <m:r>
                      <a:rPr lang="en-US" sz="1200" i="1" dirty="0" smtClean="0">
                        <a:latin typeface="Cambria Math" charset="0"/>
                      </a:rPr>
                      <m:t>.</m:t>
                    </m:r>
                    <m:r>
                      <a:rPr lang="ru-RU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1012347"/>
                <a:ext cx="4679043" cy="461665"/>
              </a:xfrm>
              <a:prstGeom prst="rect">
                <a:avLst/>
              </a:prstGeom>
              <a:blipFill rotWithShape="0">
                <a:blip r:embed="rId11"/>
                <a:stretch>
                  <a:fillRect l="-130" t="-7895" b="-592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Прямая соединительная линия 84"/>
          <p:cNvCxnSpPr/>
          <p:nvPr/>
        </p:nvCxnSpPr>
        <p:spPr>
          <a:xfrm flipV="1">
            <a:off x="6969721" y="1504683"/>
            <a:ext cx="1246392" cy="532898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7721919" y="1299145"/>
                <a:ext cx="704495" cy="2835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𝐾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1919" y="1299145"/>
                <a:ext cx="704495" cy="283588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107503" y="1410744"/>
                <a:ext cx="93610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𝑆𝐾</m:t>
                      </m:r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∥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𝐸𝐹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3" y="1410744"/>
                <a:ext cx="936105" cy="276999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Прямая соединительная линия 89"/>
          <p:cNvCxnSpPr/>
          <p:nvPr/>
        </p:nvCxnSpPr>
        <p:spPr>
          <a:xfrm flipV="1">
            <a:off x="7623869" y="1695361"/>
            <a:ext cx="174059" cy="120007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Овал 92"/>
          <p:cNvSpPr/>
          <p:nvPr/>
        </p:nvSpPr>
        <p:spPr>
          <a:xfrm>
            <a:off x="7775068" y="1668683"/>
            <a:ext cx="45719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/>
              <p:cNvSpPr txBox="1"/>
              <p:nvPr/>
            </p:nvSpPr>
            <p:spPr>
              <a:xfrm>
                <a:off x="7445679" y="1418734"/>
                <a:ext cx="704495" cy="2835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𝑃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5679" y="1418734"/>
                <a:ext cx="704495" cy="283588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617924" y="1410743"/>
                <a:ext cx="50646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𝑃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𝐵𝑀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∩</m:t>
                      </m:r>
                      <m:r>
                        <a:rPr lang="en-US" sz="120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𝑆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𝐾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 −</m:t>
                      </m:r>
                      <m:r>
                        <m:rPr>
                          <m:nor/>
                        </m:rPr>
                        <a:rPr lang="ru-RU" sz="1200" dirty="0">
                          <a:solidFill>
                            <a:schemeClr val="tx1"/>
                          </a:solidFill>
                        </a:rPr>
                        <m:t>точк</m:t>
                      </m:r>
                      <m:r>
                        <m:rPr>
                          <m:nor/>
                        </m:rPr>
                        <a:rPr lang="ru-RU" sz="1200" b="0" i="0" dirty="0" smtClean="0">
                          <a:solidFill>
                            <a:schemeClr val="tx1"/>
                          </a:solidFill>
                        </a:rPr>
                        <m:t>а</m:t>
                      </m:r>
                      <m:r>
                        <m:rPr>
                          <m:nor/>
                        </m:rPr>
                        <a:rPr lang="ru-RU" sz="1200" dirty="0">
                          <a:solidFill>
                            <a:schemeClr val="tx1"/>
                          </a:solidFill>
                        </a:rPr>
                        <m:t> пересечения прямой </m:t>
                      </m:r>
                      <m:r>
                        <a:rPr lang="en-US" sz="1200" b="0" i="1" dirty="0">
                          <a:solidFill>
                            <a:schemeClr val="tx1"/>
                          </a:solidFill>
                          <a:latin typeface="Cambria Math" charset="0"/>
                        </a:rPr>
                        <m:t>𝐵𝑀</m:t>
                      </m:r>
                      <m:r>
                        <m:rPr>
                          <m:nor/>
                        </m:rPr>
                        <a:rPr lang="en-US" sz="1200" dirty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ru-RU" sz="1200" dirty="0">
                          <a:solidFill>
                            <a:schemeClr val="tx1"/>
                          </a:solidFill>
                        </a:rPr>
                        <m:t>с плоскостью </m:t>
                      </m:r>
                      <m:r>
                        <a:rPr lang="en-US" sz="1200" b="0" i="1" dirty="0">
                          <a:solidFill>
                            <a:schemeClr val="tx1"/>
                          </a:solidFill>
                          <a:latin typeface="Cambria Math" charset="0"/>
                        </a:rPr>
                        <m:t>𝐸𝑆𝐹</m:t>
                      </m:r>
                      <m:r>
                        <a:rPr lang="en-US" sz="1200" b="0" i="1" dirty="0">
                          <a:solidFill>
                            <a:schemeClr val="tx1"/>
                          </a:solidFill>
                          <a:latin typeface="Cambria Math" charset="0"/>
                        </a:rPr>
                        <m:t>.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924" y="1410743"/>
                <a:ext cx="5064668" cy="276999"/>
              </a:xfrm>
              <a:prstGeom prst="rect">
                <a:avLst/>
              </a:prstGeom>
              <a:blipFill rotWithShape="0">
                <a:blip r:embed="rId15"/>
                <a:stretch>
                  <a:fillRect t="-76087" b="-10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/>
              <p:cNvSpPr txBox="1"/>
              <p:nvPr/>
            </p:nvSpPr>
            <p:spPr>
              <a:xfrm>
                <a:off x="87279" y="1608503"/>
                <a:ext cx="20364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 smtClean="0"/>
                  <a:t>б)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charset="0"/>
                      </a:rPr>
                      <m:t>𝐸𝐹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∥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𝐵𝐶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charset="0"/>
                      </a:rPr>
                      <m:t>⟹</m:t>
                    </m:r>
                    <m:r>
                      <a:rPr lang="en-US" sz="1200" i="1" dirty="0">
                        <a:latin typeface="Cambria Math" charset="0"/>
                      </a:rPr>
                      <m:t>𝐸𝐹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∥</m:t>
                    </m:r>
                    <m:r>
                      <a:rPr lang="ru-RU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sz="1200" i="1" dirty="0">
                        <a:latin typeface="Cambria Math" charset="0"/>
                      </a:rPr>
                      <m:t>𝐵𝑆𝐶</m:t>
                    </m:r>
                    <m:r>
                      <a:rPr lang="ru-RU" sz="1200" b="0" i="0" dirty="0" smtClean="0">
                        <a:latin typeface="Cambria Math" charset="0"/>
                      </a:rPr>
                      <m:t>)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7" name="TextBox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79" y="1608503"/>
                <a:ext cx="2036450" cy="276999"/>
              </a:xfrm>
              <a:prstGeom prst="rect">
                <a:avLst/>
              </a:prstGeom>
              <a:blipFill rotWithShape="0">
                <a:blip r:embed="rId16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Овал 97"/>
          <p:cNvSpPr/>
          <p:nvPr/>
        </p:nvSpPr>
        <p:spPr>
          <a:xfrm>
            <a:off x="7832158" y="3903900"/>
            <a:ext cx="41564" cy="4156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7530213" y="3940551"/>
                <a:ext cx="70449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𝐿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0213" y="3940551"/>
                <a:ext cx="704495" cy="276999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Полилиния 99"/>
          <p:cNvSpPr/>
          <p:nvPr/>
        </p:nvSpPr>
        <p:spPr>
          <a:xfrm>
            <a:off x="7685961" y="3952240"/>
            <a:ext cx="20320" cy="71120"/>
          </a:xfrm>
          <a:custGeom>
            <a:avLst/>
            <a:gdLst>
              <a:gd name="connsiteX0" fmla="*/ 0 w 20320"/>
              <a:gd name="connsiteY0" fmla="*/ 0 h 71120"/>
              <a:gd name="connsiteX1" fmla="*/ 20320 w 20320"/>
              <a:gd name="connsiteY1" fmla="*/ 71120 h 71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320" h="71120">
                <a:moveTo>
                  <a:pt x="0" y="0"/>
                </a:moveTo>
                <a:lnTo>
                  <a:pt x="20320" y="7112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1" name="Полилиния 100"/>
          <p:cNvSpPr/>
          <p:nvPr/>
        </p:nvSpPr>
        <p:spPr>
          <a:xfrm>
            <a:off x="8036441" y="3795886"/>
            <a:ext cx="20320" cy="71120"/>
          </a:xfrm>
          <a:custGeom>
            <a:avLst/>
            <a:gdLst>
              <a:gd name="connsiteX0" fmla="*/ 0 w 20320"/>
              <a:gd name="connsiteY0" fmla="*/ 0 h 71120"/>
              <a:gd name="connsiteX1" fmla="*/ 20320 w 20320"/>
              <a:gd name="connsiteY1" fmla="*/ 71120 h 71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320" h="71120">
                <a:moveTo>
                  <a:pt x="0" y="0"/>
                </a:moveTo>
                <a:lnTo>
                  <a:pt x="20320" y="7112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2" name="Овал 101"/>
          <p:cNvSpPr/>
          <p:nvPr/>
        </p:nvSpPr>
        <p:spPr>
          <a:xfrm>
            <a:off x="6114043" y="3519139"/>
            <a:ext cx="41564" cy="4156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/>
              <p:cNvSpPr txBox="1"/>
              <p:nvPr/>
            </p:nvSpPr>
            <p:spPr>
              <a:xfrm>
                <a:off x="5785261" y="3535596"/>
                <a:ext cx="70449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𝑁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5261" y="3535596"/>
                <a:ext cx="704495" cy="276999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Полилиния 103"/>
          <p:cNvSpPr/>
          <p:nvPr/>
        </p:nvSpPr>
        <p:spPr>
          <a:xfrm>
            <a:off x="5937161" y="3570992"/>
            <a:ext cx="20320" cy="71120"/>
          </a:xfrm>
          <a:custGeom>
            <a:avLst/>
            <a:gdLst>
              <a:gd name="connsiteX0" fmla="*/ 0 w 20320"/>
              <a:gd name="connsiteY0" fmla="*/ 0 h 71120"/>
              <a:gd name="connsiteX1" fmla="*/ 20320 w 20320"/>
              <a:gd name="connsiteY1" fmla="*/ 71120 h 71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320" h="71120">
                <a:moveTo>
                  <a:pt x="0" y="0"/>
                </a:moveTo>
                <a:lnTo>
                  <a:pt x="20320" y="7112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5" name="Полилиния 104"/>
          <p:cNvSpPr/>
          <p:nvPr/>
        </p:nvSpPr>
        <p:spPr>
          <a:xfrm>
            <a:off x="6287641" y="3414638"/>
            <a:ext cx="20320" cy="71120"/>
          </a:xfrm>
          <a:custGeom>
            <a:avLst/>
            <a:gdLst>
              <a:gd name="connsiteX0" fmla="*/ 0 w 20320"/>
              <a:gd name="connsiteY0" fmla="*/ 0 h 71120"/>
              <a:gd name="connsiteX1" fmla="*/ 20320 w 20320"/>
              <a:gd name="connsiteY1" fmla="*/ 71120 h 71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320" h="71120">
                <a:moveTo>
                  <a:pt x="0" y="0"/>
                </a:moveTo>
                <a:lnTo>
                  <a:pt x="20320" y="7112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7" name="Прямая соединительная линия 106"/>
          <p:cNvCxnSpPr/>
          <p:nvPr/>
        </p:nvCxnSpPr>
        <p:spPr>
          <a:xfrm flipV="1">
            <a:off x="5689481" y="3357394"/>
            <a:ext cx="857549" cy="356361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Прямая соединительная линия 109"/>
          <p:cNvCxnSpPr>
            <a:stCxn id="102" idx="1"/>
            <a:endCxn id="65" idx="2"/>
          </p:cNvCxnSpPr>
          <p:nvPr/>
        </p:nvCxnSpPr>
        <p:spPr>
          <a:xfrm flipV="1">
            <a:off x="6120130" y="2070168"/>
            <a:ext cx="859296" cy="1455058"/>
          </a:xfrm>
          <a:prstGeom prst="line">
            <a:avLst/>
          </a:prstGeom>
          <a:ln>
            <a:solidFill>
              <a:srgbClr val="00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Прямая соединительная линия 112"/>
          <p:cNvCxnSpPr>
            <a:stCxn id="98" idx="5"/>
            <a:endCxn id="65" idx="2"/>
          </p:cNvCxnSpPr>
          <p:nvPr/>
        </p:nvCxnSpPr>
        <p:spPr>
          <a:xfrm flipH="1" flipV="1">
            <a:off x="6979426" y="2070168"/>
            <a:ext cx="888209" cy="1869209"/>
          </a:xfrm>
          <a:prstGeom prst="line">
            <a:avLst/>
          </a:prstGeom>
          <a:ln>
            <a:solidFill>
              <a:srgbClr val="0066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Прямая соединительная линия 115"/>
          <p:cNvCxnSpPr/>
          <p:nvPr/>
        </p:nvCxnSpPr>
        <p:spPr>
          <a:xfrm flipH="1" flipV="1">
            <a:off x="6109970" y="3525226"/>
            <a:ext cx="1747505" cy="414151"/>
          </a:xfrm>
          <a:prstGeom prst="line">
            <a:avLst/>
          </a:prstGeom>
          <a:ln>
            <a:solidFill>
              <a:srgbClr val="00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Полилиния 119"/>
          <p:cNvSpPr/>
          <p:nvPr/>
        </p:nvSpPr>
        <p:spPr>
          <a:xfrm>
            <a:off x="6131481" y="2072640"/>
            <a:ext cx="1727200" cy="1859280"/>
          </a:xfrm>
          <a:custGeom>
            <a:avLst/>
            <a:gdLst>
              <a:gd name="connsiteX0" fmla="*/ 0 w 1727200"/>
              <a:gd name="connsiteY0" fmla="*/ 1463040 h 1859280"/>
              <a:gd name="connsiteX1" fmla="*/ 843280 w 1727200"/>
              <a:gd name="connsiteY1" fmla="*/ 0 h 1859280"/>
              <a:gd name="connsiteX2" fmla="*/ 1727200 w 1727200"/>
              <a:gd name="connsiteY2" fmla="*/ 1859280 h 1859280"/>
              <a:gd name="connsiteX3" fmla="*/ 0 w 1727200"/>
              <a:gd name="connsiteY3" fmla="*/ 1463040 h 1859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7200" h="1859280">
                <a:moveTo>
                  <a:pt x="0" y="1463040"/>
                </a:moveTo>
                <a:lnTo>
                  <a:pt x="843280" y="0"/>
                </a:lnTo>
                <a:lnTo>
                  <a:pt x="1727200" y="1859280"/>
                </a:lnTo>
                <a:lnTo>
                  <a:pt x="0" y="1463040"/>
                </a:lnTo>
                <a:close/>
              </a:path>
            </a:pathLst>
          </a:custGeom>
          <a:solidFill>
            <a:srgbClr val="006600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/>
              <p:cNvSpPr txBox="1"/>
              <p:nvPr/>
            </p:nvSpPr>
            <p:spPr>
              <a:xfrm>
                <a:off x="97311" y="1851952"/>
                <a:ext cx="266124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charset="0"/>
                      </a:rPr>
                      <m:t>𝐵𝐶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⊥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𝑁𝐿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; </m:t>
                    </m:r>
                    <m:r>
                      <a:rPr lang="en-US" sz="1200" i="1" dirty="0">
                        <a:latin typeface="Cambria Math" charset="0"/>
                      </a:rPr>
                      <m:t>𝐵𝐶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⊥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𝑆𝐻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charset="0"/>
                      </a:rPr>
                      <m:t>⟹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𝐵𝐶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⊥</m:t>
                    </m:r>
                    <m:r>
                      <a:rPr lang="ru-RU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sz="1200" b="0" i="1" dirty="0" smtClean="0">
                        <a:latin typeface="Cambria Math" charset="0"/>
                      </a:rPr>
                      <m:t>𝑁𝑆𝐿</m:t>
                    </m:r>
                    <m:r>
                      <a:rPr lang="ru-RU" sz="1200" b="0" i="0" dirty="0" smtClean="0">
                        <a:latin typeface="Cambria Math" charset="0"/>
                      </a:rPr>
                      <m:t>)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11" y="1851952"/>
                <a:ext cx="2661244" cy="276999"/>
              </a:xfrm>
              <a:prstGeom prst="rect">
                <a:avLst/>
              </a:prstGeom>
              <a:blipFill rotWithShape="0">
                <a:blip r:embed="rId19"/>
                <a:stretch>
                  <a:fillRect t="-80000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Овал 121"/>
          <p:cNvSpPr/>
          <p:nvPr/>
        </p:nvSpPr>
        <p:spPr>
          <a:xfrm>
            <a:off x="6942671" y="3721199"/>
            <a:ext cx="45719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6604365" y="3745625"/>
                <a:ext cx="704495" cy="2835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𝐻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365" y="3745625"/>
                <a:ext cx="704495" cy="283588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/>
              <p:cNvSpPr txBox="1"/>
              <p:nvPr/>
            </p:nvSpPr>
            <p:spPr>
              <a:xfrm>
                <a:off x="2362398" y="1851952"/>
                <a:ext cx="153762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</a:rPr>
                        <m:t>⟹</m:t>
                      </m:r>
                      <m:d>
                        <m:d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𝐵𝑆𝐶</m:t>
                          </m:r>
                        </m:e>
                      </m:d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⊥</m:t>
                      </m:r>
                      <m:d>
                        <m:dPr>
                          <m:ctrlPr>
                            <a:rPr lang="ru-RU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𝑁𝑆𝐿</m:t>
                          </m:r>
                        </m:e>
                      </m:d>
                      <m:r>
                        <a:rPr lang="en-US" sz="1200" b="0" i="0" dirty="0" smtClean="0"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4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398" y="1851952"/>
                <a:ext cx="1537624" cy="276999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/>
              <p:cNvSpPr txBox="1"/>
              <p:nvPr/>
            </p:nvSpPr>
            <p:spPr>
              <a:xfrm>
                <a:off x="-7606" y="2124942"/>
                <a:ext cx="17712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𝑆𝐿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  <m:d>
                        <m:dPr>
                          <m:ctrlPr>
                            <a:rPr lang="en-US" sz="12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charset="0"/>
                            </a:rPr>
                            <m:t>𝐵𝑆𝐶</m:t>
                          </m:r>
                        </m:e>
                      </m:d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∩</m:t>
                      </m:r>
                      <m:d>
                        <m:dPr>
                          <m:ctrlPr>
                            <a:rPr lang="ru-RU" sz="1200" i="1" dirty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charset="0"/>
                            </a:rPr>
                            <m:t>𝑁𝑆𝐿</m:t>
                          </m:r>
                        </m:e>
                      </m:d>
                      <m:r>
                        <a:rPr lang="en-US" sz="1200" dirty="0"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06" y="2124942"/>
                <a:ext cx="1771294" cy="276999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7" name="Прямая соединительная линия 126"/>
          <p:cNvCxnSpPr>
            <a:endCxn id="102" idx="1"/>
          </p:cNvCxnSpPr>
          <p:nvPr/>
        </p:nvCxnSpPr>
        <p:spPr>
          <a:xfrm flipH="1">
            <a:off x="6120130" y="2744740"/>
            <a:ext cx="1179314" cy="780486"/>
          </a:xfrm>
          <a:prstGeom prst="line">
            <a:avLst/>
          </a:prstGeom>
          <a:ln>
            <a:solidFill>
              <a:srgbClr val="00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Овал 129"/>
          <p:cNvSpPr/>
          <p:nvPr/>
        </p:nvSpPr>
        <p:spPr>
          <a:xfrm>
            <a:off x="7281853" y="2736372"/>
            <a:ext cx="41563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/>
              <p:cNvSpPr txBox="1"/>
              <p:nvPr/>
            </p:nvSpPr>
            <p:spPr>
              <a:xfrm>
                <a:off x="7042040" y="2784895"/>
                <a:ext cx="466323" cy="2835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𝑇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31" name="TextBox 1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2040" y="2784895"/>
                <a:ext cx="466323" cy="283588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Полилиния 131"/>
          <p:cNvSpPr/>
          <p:nvPr/>
        </p:nvSpPr>
        <p:spPr>
          <a:xfrm>
            <a:off x="7110759" y="2611688"/>
            <a:ext cx="178962" cy="212792"/>
          </a:xfrm>
          <a:custGeom>
            <a:avLst/>
            <a:gdLst>
              <a:gd name="connsiteX0" fmla="*/ 0 w 233680"/>
              <a:gd name="connsiteY0" fmla="*/ 91440 h 233680"/>
              <a:gd name="connsiteX1" fmla="*/ 162560 w 233680"/>
              <a:gd name="connsiteY1" fmla="*/ 0 h 233680"/>
              <a:gd name="connsiteX2" fmla="*/ 233680 w 233680"/>
              <a:gd name="connsiteY2" fmla="*/ 152400 h 233680"/>
              <a:gd name="connsiteX3" fmla="*/ 81280 w 233680"/>
              <a:gd name="connsiteY3" fmla="*/ 233680 h 233680"/>
              <a:gd name="connsiteX4" fmla="*/ 0 w 233680"/>
              <a:gd name="connsiteY4" fmla="*/ 91440 h 233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3680" h="233680">
                <a:moveTo>
                  <a:pt x="0" y="91440"/>
                </a:moveTo>
                <a:lnTo>
                  <a:pt x="162560" y="0"/>
                </a:lnTo>
                <a:lnTo>
                  <a:pt x="233680" y="152400"/>
                </a:lnTo>
                <a:lnTo>
                  <a:pt x="81280" y="233680"/>
                </a:lnTo>
                <a:lnTo>
                  <a:pt x="0" y="91440"/>
                </a:lnTo>
                <a:close/>
              </a:path>
            </a:pathLst>
          </a:custGeom>
          <a:solidFill>
            <a:schemeClr val="bg1">
              <a:lumMod val="85000"/>
              <a:alpha val="37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3" name="Треугольник 132"/>
          <p:cNvSpPr/>
          <p:nvPr/>
        </p:nvSpPr>
        <p:spPr>
          <a:xfrm>
            <a:off x="266700" y="2607165"/>
            <a:ext cx="1636768" cy="1088320"/>
          </a:xfrm>
          <a:prstGeom prst="triangle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/>
              <p:cNvSpPr txBox="1"/>
              <p:nvPr/>
            </p:nvSpPr>
            <p:spPr>
              <a:xfrm>
                <a:off x="1034384" y="2408084"/>
                <a:ext cx="32284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𝑆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34" name="TextBox 1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384" y="2408084"/>
                <a:ext cx="322845" cy="307777"/>
              </a:xfrm>
              <a:prstGeom prst="rect">
                <a:avLst/>
              </a:prstGeom>
              <a:blipFill rotWithShape="0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/>
              <p:cNvSpPr txBox="1"/>
              <p:nvPr/>
            </p:nvSpPr>
            <p:spPr>
              <a:xfrm>
                <a:off x="1825052" y="3631600"/>
                <a:ext cx="32457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𝐿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35" name="TextBox 1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5052" y="3631600"/>
                <a:ext cx="324576" cy="307777"/>
              </a:xfrm>
              <a:prstGeom prst="rect">
                <a:avLst/>
              </a:prstGeom>
              <a:blipFill rotWithShape="0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5"/>
              <p:cNvSpPr txBox="1"/>
              <p:nvPr/>
            </p:nvSpPr>
            <p:spPr>
              <a:xfrm>
                <a:off x="-105737" y="3710534"/>
                <a:ext cx="70449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𝑁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36" name="TextBox 1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5737" y="3710534"/>
                <a:ext cx="704495" cy="276999"/>
              </a:xfrm>
              <a:prstGeom prst="rect">
                <a:avLst/>
              </a:prstGeom>
              <a:blipFill rotWithShape="0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8" name="Прямая соединительная линия 137"/>
          <p:cNvCxnSpPr>
            <a:stCxn id="133" idx="2"/>
          </p:cNvCxnSpPr>
          <p:nvPr/>
        </p:nvCxnSpPr>
        <p:spPr>
          <a:xfrm flipV="1">
            <a:off x="266700" y="2914942"/>
            <a:ext cx="1032218" cy="7805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Прямоугольник 139"/>
          <p:cNvSpPr/>
          <p:nvPr/>
        </p:nvSpPr>
        <p:spPr>
          <a:xfrm rot="19385154">
            <a:off x="1212116" y="2946401"/>
            <a:ext cx="172460" cy="165294"/>
          </a:xfrm>
          <a:prstGeom prst="rect">
            <a:avLst/>
          </a:prstGeom>
          <a:solidFill>
            <a:schemeClr val="bg1">
              <a:lumMod val="85000"/>
              <a:alpha val="33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1" name="Овал 140"/>
          <p:cNvSpPr/>
          <p:nvPr/>
        </p:nvSpPr>
        <p:spPr>
          <a:xfrm>
            <a:off x="1286091" y="2908101"/>
            <a:ext cx="45719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/>
              <p:cNvSpPr txBox="1"/>
              <p:nvPr/>
            </p:nvSpPr>
            <p:spPr>
              <a:xfrm>
                <a:off x="1109741" y="2749417"/>
                <a:ext cx="704495" cy="2835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𝑇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42" name="TextBox 1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741" y="2749417"/>
                <a:ext cx="704495" cy="283588"/>
              </a:xfrm>
              <a:prstGeom prst="rect">
                <a:avLst/>
              </a:prstGeom>
              <a:blipFill rotWithShape="0"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4" name="Прямая соединительная линия 143"/>
          <p:cNvCxnSpPr>
            <a:stCxn id="133" idx="0"/>
            <a:endCxn id="133" idx="3"/>
          </p:cNvCxnSpPr>
          <p:nvPr/>
        </p:nvCxnSpPr>
        <p:spPr>
          <a:xfrm>
            <a:off x="1085084" y="2607165"/>
            <a:ext cx="0" cy="10883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Овал 146"/>
          <p:cNvSpPr/>
          <p:nvPr/>
        </p:nvSpPr>
        <p:spPr>
          <a:xfrm>
            <a:off x="1075700" y="3679593"/>
            <a:ext cx="45719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/>
              <p:cNvSpPr txBox="1"/>
              <p:nvPr/>
            </p:nvSpPr>
            <p:spPr>
              <a:xfrm>
                <a:off x="746311" y="3714606"/>
                <a:ext cx="704495" cy="2835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𝐻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48" name="TextBox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311" y="3714606"/>
                <a:ext cx="704495" cy="283588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0" name="Прямоугольник 149"/>
          <p:cNvSpPr/>
          <p:nvPr/>
        </p:nvSpPr>
        <p:spPr>
          <a:xfrm>
            <a:off x="1085796" y="3534996"/>
            <a:ext cx="141761" cy="151025"/>
          </a:xfrm>
          <a:prstGeom prst="rect">
            <a:avLst/>
          </a:prstGeom>
          <a:solidFill>
            <a:schemeClr val="bg1">
              <a:lumMod val="85000"/>
              <a:alpha val="33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/>
              <p:cNvSpPr txBox="1"/>
              <p:nvPr/>
            </p:nvSpPr>
            <p:spPr>
              <a:xfrm>
                <a:off x="1958135" y="2336371"/>
                <a:ext cx="963943" cy="298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latin typeface="Cambria Math" charset="0"/>
                        </a:rPr>
                        <m:t> 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𝐵𝐶</m:t>
                      </m:r>
                      <m:r>
                        <a:rPr lang="en-US" sz="1200" b="0" i="1" smtClean="0">
                          <a:latin typeface="Cambria Math" charset="0"/>
                        </a:rPr>
                        <m:t>=2</m:t>
                      </m:r>
                      <m:rad>
                        <m:radPr>
                          <m:degHide m:val="on"/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6</m:t>
                          </m:r>
                        </m:e>
                      </m:rad>
                      <m:r>
                        <a:rPr lang="en-US" sz="1200" b="0" i="1" smtClean="0"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52" name="TextBox 1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8135" y="2336371"/>
                <a:ext cx="963943" cy="298736"/>
              </a:xfrm>
              <a:prstGeom prst="rect">
                <a:avLst/>
              </a:prstGeom>
              <a:blipFill rotWithShape="0">
                <a:blip r:embed="rId29"/>
                <a:stretch>
                  <a:fillRect t="-65306" b="-938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extBox 152"/>
              <p:cNvSpPr txBox="1"/>
              <p:nvPr/>
            </p:nvSpPr>
            <p:spPr>
              <a:xfrm>
                <a:off x="2760147" y="2336371"/>
                <a:ext cx="963943" cy="298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latin typeface="Cambria Math" charset="0"/>
                        </a:rPr>
                        <m:t> 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𝑆𝐻</m:t>
                      </m:r>
                      <m:r>
                        <a:rPr lang="en-US" sz="1200" b="0" i="1" smtClean="0">
                          <a:latin typeface="Cambria Math" charset="0"/>
                        </a:rPr>
                        <m:t>=3</m:t>
                      </m:r>
                      <m:rad>
                        <m:radPr>
                          <m:degHide m:val="on"/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53" name="TextBox 1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147" y="2336371"/>
                <a:ext cx="963943" cy="298736"/>
              </a:xfrm>
              <a:prstGeom prst="rect">
                <a:avLst/>
              </a:prstGeom>
              <a:blipFill rotWithShape="0">
                <a:blip r:embed="rId30"/>
                <a:stretch>
                  <a:fillRect t="-65306" b="-938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" name="TextBox 153"/>
          <p:cNvSpPr txBox="1"/>
          <p:nvPr/>
        </p:nvSpPr>
        <p:spPr>
          <a:xfrm>
            <a:off x="3642156" y="2347948"/>
            <a:ext cx="12149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smtClean="0"/>
              <a:t>(по </a:t>
            </a:r>
            <a:r>
              <a:rPr lang="ru-RU" sz="1200" dirty="0" smtClean="0"/>
              <a:t>условию)</a:t>
            </a:r>
            <a:endParaRPr lang="ru-RU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/>
              <p:cNvSpPr txBox="1"/>
              <p:nvPr/>
            </p:nvSpPr>
            <p:spPr>
              <a:xfrm>
                <a:off x="1969268" y="2599573"/>
                <a:ext cx="1612135" cy="298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latin typeface="Cambria Math" charset="0"/>
                        </a:rPr>
                        <m:t> 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𝑁𝐿</m:t>
                      </m:r>
                      <m:r>
                        <a:rPr lang="en-US" sz="1200" b="0" i="1" smtClean="0">
                          <a:latin typeface="Cambria Math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𝐵𝐶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ad>
                        <m:radPr>
                          <m:degHide m:val="on"/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55" name="TextBox 1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9268" y="2599573"/>
                <a:ext cx="1612135" cy="298736"/>
              </a:xfrm>
              <a:prstGeom prst="rect">
                <a:avLst/>
              </a:prstGeom>
              <a:blipFill rotWithShape="0">
                <a:blip r:embed="rId31"/>
                <a:stretch>
                  <a:fillRect t="-65306" b="-938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/>
              <p:cNvSpPr txBox="1"/>
              <p:nvPr/>
            </p:nvSpPr>
            <p:spPr>
              <a:xfrm>
                <a:off x="3161120" y="2595372"/>
                <a:ext cx="1036603" cy="298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=2</m:t>
                      </m:r>
                      <m:rad>
                        <m:radPr>
                          <m:degHide m:val="on"/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6</m:t>
                          </m:r>
                        </m:e>
                      </m:rad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ad>
                        <m:radPr>
                          <m:degHide m:val="on"/>
                          <m:ctrlPr>
                            <a:rPr lang="en-US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56" name="TextBox 1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120" y="2595372"/>
                <a:ext cx="1036603" cy="298736"/>
              </a:xfrm>
              <a:prstGeom prst="rect">
                <a:avLst/>
              </a:prstGeom>
              <a:blipFill rotWithShape="0"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/>
              <p:cNvSpPr txBox="1"/>
              <p:nvPr/>
            </p:nvSpPr>
            <p:spPr>
              <a:xfrm>
                <a:off x="3823308" y="2586704"/>
                <a:ext cx="1036603" cy="298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=6</m:t>
                      </m:r>
                      <m:rad>
                        <m:radPr>
                          <m:degHide m:val="on"/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2</m:t>
                          </m:r>
                        </m:e>
                      </m:rad>
                      <m:r>
                        <a:rPr lang="en-US" sz="1200" b="0" i="1" smtClean="0"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57" name="TextBox 1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3308" y="2586704"/>
                <a:ext cx="1036603" cy="298736"/>
              </a:xfrm>
              <a:prstGeom prst="rect">
                <a:avLst/>
              </a:prstGeom>
              <a:blipFill rotWithShape="0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1958135" y="2841891"/>
                <a:ext cx="1612135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latin typeface="Cambria Math" charset="0"/>
                        </a:rPr>
                        <m:t> 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𝐻𝐿</m:t>
                      </m:r>
                      <m:r>
                        <a:rPr lang="en-US" sz="1200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</a:rPr>
                        <m:t>𝑁𝐿</m:t>
                      </m:r>
                      <m:r>
                        <a:rPr lang="en-US" sz="1200" b="0" i="1" smtClean="0">
                          <a:latin typeface="Cambria Math" charset="0"/>
                        </a:rPr>
                        <m:t>=3</m:t>
                      </m:r>
                      <m:rad>
                        <m:radPr>
                          <m:degHide m:val="on"/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8135" y="2841891"/>
                <a:ext cx="1612135" cy="438005"/>
              </a:xfrm>
              <a:prstGeom prst="rect">
                <a:avLst/>
              </a:prstGeom>
              <a:blipFill rotWithShape="0">
                <a:blip r:embed="rId34"/>
                <a:stretch>
                  <a:fillRect t="-27778" b="-486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1845528" y="3247103"/>
                <a:ext cx="1612135" cy="3211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latin typeface="Cambria Math" charset="0"/>
                        </a:rPr>
                        <m:t> 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𝑆𝐿</m:t>
                      </m:r>
                      <m:r>
                        <a:rPr lang="en-US" sz="1200" b="0" i="1" smtClean="0">
                          <a:latin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mr-IN" sz="12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mr-IN" sz="12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𝑆𝐻</m:t>
                              </m:r>
                            </m:e>
                            <m:sup>
                              <m:r>
                                <a:rPr lang="mr-IN" sz="1200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mr-IN" sz="1200" b="0" i="1" smtClean="0">
                              <a:latin typeface="Cambria Math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mr-IN" sz="12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𝐻𝐿</m:t>
                              </m:r>
                            </m:e>
                            <m:sup>
                              <m:r>
                                <a:rPr lang="mr-IN" sz="1200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5528" y="3247103"/>
                <a:ext cx="1612135" cy="321114"/>
              </a:xfrm>
              <a:prstGeom prst="rect">
                <a:avLst/>
              </a:prstGeom>
              <a:blipFill rotWithShape="0">
                <a:blip r:embed="rId35"/>
                <a:stretch>
                  <a:fillRect t="-55769" b="-903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3177319" y="3147382"/>
                <a:ext cx="1612135" cy="4681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mr-IN" sz="12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mr-IN" sz="12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charset="0"/>
                                </a:rPr>
                                <m:t>(3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200" i="1">
                                      <a:latin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200" i="1">
                                      <a:latin typeface="Cambria Math" charset="0"/>
                                    </a:rPr>
                                    <m:t>2</m:t>
                                  </m:r>
                                </m:e>
                              </m:rad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mr-IN" sz="1200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mr-IN" sz="1200" b="0" i="1" smtClean="0">
                              <a:latin typeface="Cambria Math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mr-IN" sz="12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charset="0"/>
                                </a:rPr>
                                <m:t>(3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200" i="1">
                                      <a:latin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200" i="1">
                                      <a:latin typeface="Cambria Math" charset="0"/>
                                    </a:rPr>
                                    <m:t>2</m:t>
                                  </m:r>
                                </m:e>
                              </m:rad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mr-IN" sz="1200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319" y="3147382"/>
                <a:ext cx="1612135" cy="468141"/>
              </a:xfrm>
              <a:prstGeom prst="rect">
                <a:avLst/>
              </a:prstGeom>
              <a:blipFill rotWithShape="0"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4527755" y="3268549"/>
                <a:ext cx="52831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=6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7755" y="3268549"/>
                <a:ext cx="528310" cy="276999"/>
              </a:xfrm>
              <a:prstGeom prst="rect">
                <a:avLst/>
              </a:prstGeom>
              <a:blipFill rotWithShape="0"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9711" y="4039045"/>
                <a:ext cx="2544669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latin typeface="Cambria Math" charset="0"/>
                        </a:rPr>
                        <m:t> 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∆</m:t>
                          </m:r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𝑁𝑆𝐿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𝑆𝐿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𝑁𝑇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𝑁𝐿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𝑆𝐻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1" y="4039045"/>
                <a:ext cx="2544669" cy="438005"/>
              </a:xfrm>
              <a:prstGeom prst="rect">
                <a:avLst/>
              </a:prstGeom>
              <a:blipFill rotWithShape="0">
                <a:blip r:embed="rId38"/>
                <a:stretch>
                  <a:fillRect t="-29577" b="-507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2255963" y="4050173"/>
                <a:ext cx="1468127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𝑁𝑇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𝑁𝐿</m:t>
                          </m:r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𝑆𝐻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𝑆𝐿</m:t>
                          </m:r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963" y="4050173"/>
                <a:ext cx="1468127" cy="438005"/>
              </a:xfrm>
              <a:prstGeom prst="rect">
                <a:avLst/>
              </a:prstGeom>
              <a:blipFill rotWithShape="0">
                <a:blip r:embed="rId39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/>
              <p:cNvSpPr txBox="1"/>
              <p:nvPr/>
            </p:nvSpPr>
            <p:spPr>
              <a:xfrm>
                <a:off x="3381711" y="4006998"/>
                <a:ext cx="1070107" cy="481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ru-RU" sz="1200" b="0" i="1" smtClean="0">
                              <a:latin typeface="Cambria Math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1200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i="1">
                                  <a:latin typeface="Cambria Math" charset="0"/>
                                </a:rPr>
                                <m:t>2</m:t>
                              </m:r>
                            </m:e>
                          </m:rad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r>
                            <a:rPr lang="en-US" sz="1200" i="1">
                              <a:latin typeface="Cambria Math" charset="0"/>
                            </a:rPr>
                            <m:t>3</m:t>
                          </m:r>
                          <m:rad>
                            <m:radPr>
                              <m:degHide m:val="on"/>
                              <m:ctrlPr>
                                <a:rPr lang="en-US" sz="1200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i="1">
                                  <a:latin typeface="Cambria Math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6" name="TextBox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1711" y="4006998"/>
                <a:ext cx="1070107" cy="481414"/>
              </a:xfrm>
              <a:prstGeom prst="rect">
                <a:avLst/>
              </a:prstGeom>
              <a:blipFill rotWithShape="0">
                <a:blip r:embed="rId40"/>
                <a:stretch>
                  <a:fillRect b="-12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/>
              <p:cNvSpPr txBox="1"/>
              <p:nvPr/>
            </p:nvSpPr>
            <p:spPr>
              <a:xfrm>
                <a:off x="4271608" y="4148463"/>
                <a:ext cx="5082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ru-RU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6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8" name="TextBox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1608" y="4148463"/>
                <a:ext cx="508223" cy="276999"/>
              </a:xfrm>
              <a:prstGeom prst="rect">
                <a:avLst/>
              </a:prstGeom>
              <a:blipFill rotWithShape="0"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/>
              <p:cNvSpPr txBox="1"/>
              <p:nvPr/>
            </p:nvSpPr>
            <p:spPr>
              <a:xfrm>
                <a:off x="3900022" y="4514693"/>
                <a:ext cx="10033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b="1" dirty="0" smtClean="0">
                    <a:solidFill>
                      <a:srgbClr val="FF0000"/>
                    </a:solidFill>
                  </a:rPr>
                  <a:t>Ответ: </a:t>
                </a:r>
                <a14:m>
                  <m:oMath xmlns:m="http://schemas.openxmlformats.org/officeDocument/2006/math">
                    <m:r>
                      <a:rPr lang="ru-RU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𝟔</m:t>
                    </m:r>
                  </m:oMath>
                </a14:m>
                <a:endParaRPr lang="ru-RU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9" name="TextBox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022" y="4514693"/>
                <a:ext cx="1003352" cy="369332"/>
              </a:xfrm>
              <a:prstGeom prst="rect">
                <a:avLst/>
              </a:prstGeom>
              <a:blipFill rotWithShape="0">
                <a:blip r:embed="rId42"/>
                <a:stretch>
                  <a:fillRect l="-5488" t="-10000" b="-2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/>
              <p:cNvSpPr txBox="1"/>
              <p:nvPr/>
            </p:nvSpPr>
            <p:spPr>
              <a:xfrm>
                <a:off x="2348050" y="1196212"/>
                <a:ext cx="16230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𝑆𝐾</m:t>
                      </m:r>
                      <m:r>
                        <a:rPr lang="ru-RU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(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𝐸𝑆𝐹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)∩(</m:t>
                      </m:r>
                      <m:r>
                        <a:rPr lang="en-US" sz="1200" i="1" dirty="0">
                          <a:latin typeface="Cambria Math" charset="0"/>
                        </a:rPr>
                        <m:t>𝐵𝑆𝐶</m:t>
                      </m:r>
                      <m:r>
                        <a:rPr lang="ru-RU" sz="1200" dirty="0">
                          <a:latin typeface="Cambria Math" charset="0"/>
                        </a:rPr>
                        <m:t>)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1" name="TextBox 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8050" y="1196212"/>
                <a:ext cx="1623092" cy="276999"/>
              </a:xfrm>
              <a:prstGeom prst="rect">
                <a:avLst/>
              </a:prstGeom>
              <a:blipFill rotWithShape="0">
                <a:blip r:embed="rId4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Полилиния 2"/>
          <p:cNvSpPr/>
          <p:nvPr/>
        </p:nvSpPr>
        <p:spPr>
          <a:xfrm>
            <a:off x="6969760" y="3596640"/>
            <a:ext cx="162560" cy="172720"/>
          </a:xfrm>
          <a:custGeom>
            <a:avLst/>
            <a:gdLst>
              <a:gd name="connsiteX0" fmla="*/ 10160 w 162560"/>
              <a:gd name="connsiteY0" fmla="*/ 0 h 172720"/>
              <a:gd name="connsiteX1" fmla="*/ 162560 w 162560"/>
              <a:gd name="connsiteY1" fmla="*/ 40640 h 172720"/>
              <a:gd name="connsiteX2" fmla="*/ 162560 w 162560"/>
              <a:gd name="connsiteY2" fmla="*/ 172720 h 172720"/>
              <a:gd name="connsiteX3" fmla="*/ 0 w 162560"/>
              <a:gd name="connsiteY3" fmla="*/ 132080 h 172720"/>
              <a:gd name="connsiteX4" fmla="*/ 10160 w 162560"/>
              <a:gd name="connsiteY4" fmla="*/ 0 h 17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2560" h="172720">
                <a:moveTo>
                  <a:pt x="10160" y="0"/>
                </a:moveTo>
                <a:lnTo>
                  <a:pt x="162560" y="40640"/>
                </a:lnTo>
                <a:lnTo>
                  <a:pt x="162560" y="172720"/>
                </a:lnTo>
                <a:lnTo>
                  <a:pt x="0" y="132080"/>
                </a:lnTo>
                <a:lnTo>
                  <a:pt x="10160" y="0"/>
                </a:lnTo>
                <a:close/>
              </a:path>
            </a:pathLst>
          </a:custGeom>
          <a:solidFill>
            <a:schemeClr val="bg1">
              <a:lumMod val="85000"/>
              <a:alpha val="52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9148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 animBg="1"/>
      <p:bldP spid="74" grpId="0"/>
      <p:bldP spid="82" grpId="0" animBg="1"/>
      <p:bldP spid="83" grpId="0"/>
      <p:bldP spid="88" grpId="0"/>
      <p:bldP spid="89" grpId="0"/>
      <p:bldP spid="93" grpId="0" animBg="1"/>
      <p:bldP spid="95" grpId="0"/>
      <p:bldP spid="96" grpId="0"/>
      <p:bldP spid="97" grpId="0"/>
      <p:bldP spid="98" grpId="0" animBg="1"/>
      <p:bldP spid="99" grpId="0"/>
      <p:bldP spid="100" grpId="0" animBg="1"/>
      <p:bldP spid="101" grpId="0" animBg="1"/>
      <p:bldP spid="102" grpId="0" animBg="1"/>
      <p:bldP spid="103" grpId="0"/>
      <p:bldP spid="104" grpId="0" animBg="1"/>
      <p:bldP spid="105" grpId="0" animBg="1"/>
      <p:bldP spid="120" grpId="0" animBg="1"/>
      <p:bldP spid="121" grpId="0"/>
      <p:bldP spid="122" grpId="0" animBg="1"/>
      <p:bldP spid="123" grpId="0"/>
      <p:bldP spid="124" grpId="0"/>
      <p:bldP spid="126" grpId="0"/>
      <p:bldP spid="130" grpId="0" animBg="1"/>
      <p:bldP spid="131" grpId="0"/>
      <p:bldP spid="132" grpId="0" animBg="1"/>
      <p:bldP spid="133" grpId="0" animBg="1"/>
      <p:bldP spid="134" grpId="0"/>
      <p:bldP spid="135" grpId="0"/>
      <p:bldP spid="136" grpId="0"/>
      <p:bldP spid="140" grpId="0" animBg="1"/>
      <p:bldP spid="141" grpId="0" animBg="1"/>
      <p:bldP spid="142" grpId="0"/>
      <p:bldP spid="147" grpId="0" animBg="1"/>
      <p:bldP spid="148" grpId="0"/>
      <p:bldP spid="150" grpId="0" animBg="1"/>
      <p:bldP spid="152" grpId="0"/>
      <p:bldP spid="153" grpId="0"/>
      <p:bldP spid="154" grpId="0"/>
      <p:bldP spid="155" grpId="0"/>
      <p:bldP spid="156" grpId="0"/>
      <p:bldP spid="157" grpId="0"/>
      <p:bldP spid="80" grpId="0"/>
      <p:bldP spid="81" grpId="0"/>
      <p:bldP spid="84" grpId="0"/>
      <p:bldP spid="86" grpId="0"/>
      <p:bldP spid="87" grpId="0"/>
      <p:bldP spid="91" grpId="0"/>
      <p:bldP spid="106" grpId="0"/>
      <p:bldP spid="108" grpId="0"/>
      <p:bldP spid="111" grpId="0"/>
      <p:bldP spid="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25</a:t>
            </a:fld>
            <a:endParaRPr kumimoji="0" lang="ru-RU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/>
              <p:cNvSpPr/>
              <p:nvPr/>
            </p:nvSpPr>
            <p:spPr>
              <a:xfrm>
                <a:off x="0" y="-22136"/>
                <a:ext cx="9144000" cy="93770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dirty="0" smtClean="0">
                    <a:solidFill>
                      <a:srgbClr val="7030A0"/>
                    </a:solidFill>
                  </a:rPr>
                  <a:t>16.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Основание пирамиды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𝑨𝑩𝑪𝑫</m:t>
                    </m:r>
                  </m:oMath>
                </a14:m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mr-IN" sz="1200" b="1" i="0" dirty="0" smtClean="0">
                    <a:solidFill>
                      <a:srgbClr val="002060"/>
                    </a:solidFill>
                    <a:latin typeface="+mj-lt"/>
                  </a:rPr>
                  <a:t>–</a:t>
                </a:r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равносторонний треугольник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𝑨𝑩𝑪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,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боковое ребро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𝑨𝑫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перпендикулярно плоскости основания.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𝑨𝑫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: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𝑩𝑪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𝟏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:</m:t>
                    </m:r>
                    <m:rad>
                      <m:radPr>
                        <m:degHide m:val="on"/>
                        <m:ctrlP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𝟐</m:t>
                        </m:r>
                      </m:e>
                    </m:rad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.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Точки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𝑴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 и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𝑵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mr-IN" sz="1200" b="1" dirty="0" smtClean="0">
                    <a:solidFill>
                      <a:srgbClr val="002060"/>
                    </a:solidFill>
                  </a:rPr>
                  <a:t>–</a:t>
                </a:r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середины ребер 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𝑩𝑪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соответственно. </a:t>
                </a:r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а) Докажите, что угол между прямыми</a:t>
                </a:r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𝑨𝑴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𝑫𝑵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равен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𝟔𝟎</m:t>
                    </m:r>
                    <m:r>
                      <a:rPr lang="it-IT" sz="1200" b="1" i="1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°</m:t>
                    </m:r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.</m:t>
                    </m:r>
                  </m:oMath>
                </a14:m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б) Найдите расстояние между этими прямыми, если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</m:t>
                    </m:r>
                    <m:r>
                      <a:rPr lang="en-US" sz="1200" b="1" i="0" smtClean="0">
                        <a:solidFill>
                          <a:srgbClr val="002060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𝟔</m:t>
                    </m:r>
                    <m:rad>
                      <m:radPr>
                        <m:degHide m:val="on"/>
                        <m:ctrlPr>
                          <a:rPr lang="ru-RU" sz="1200" b="1" i="1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ru-RU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𝟐</m:t>
                        </m:r>
                      </m:e>
                    </m:rad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</a:t>
                </a:r>
                <a:endParaRPr lang="en-US" sz="12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6"/>
                <a:ext cx="9144000" cy="93770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Прямая соединительная линия 4"/>
          <p:cNvCxnSpPr/>
          <p:nvPr/>
        </p:nvCxnSpPr>
        <p:spPr>
          <a:xfrm>
            <a:off x="6031812" y="3504407"/>
            <a:ext cx="2736304" cy="0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>
            <a:off x="6031812" y="3504407"/>
            <a:ext cx="1800200" cy="936104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flipV="1">
            <a:off x="7832012" y="3504407"/>
            <a:ext cx="936104" cy="936104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701403" y="3344093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403" y="3344093"/>
                <a:ext cx="340286" cy="3077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 flipH="1">
                <a:off x="8676222" y="3239078"/>
                <a:ext cx="2465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676222" y="3239078"/>
                <a:ext cx="246540" cy="307777"/>
              </a:xfrm>
              <a:prstGeom prst="rect">
                <a:avLst/>
              </a:prstGeom>
              <a:blipFill rotWithShape="0">
                <a:blip r:embed="rId4"/>
                <a:stretch>
                  <a:fillRect r="-73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 flipH="1">
                <a:off x="7566076" y="4391638"/>
                <a:ext cx="7122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566076" y="4391638"/>
                <a:ext cx="712236" cy="3077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Прямая соединительная линия 11"/>
          <p:cNvCxnSpPr>
            <a:endCxn id="8" idx="3"/>
          </p:cNvCxnSpPr>
          <p:nvPr/>
        </p:nvCxnSpPr>
        <p:spPr>
          <a:xfrm>
            <a:off x="6041689" y="1563638"/>
            <a:ext cx="0" cy="1934344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6041689" y="1563638"/>
            <a:ext cx="1790323" cy="2876873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6041689" y="1563638"/>
            <a:ext cx="2726427" cy="1940768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724128" y="1272968"/>
                <a:ext cx="35503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𝐷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128" y="1272968"/>
                <a:ext cx="355033" cy="3077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595389" y="2366556"/>
                <a:ext cx="4703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latin typeface="Cambria Math" charset="0"/>
                        </a:rPr>
                        <m:t> </m:t>
                      </m:r>
                      <m:r>
                        <a:rPr lang="en-US" sz="1200" b="0" i="1" smtClean="0">
                          <a:latin typeface="Cambria Math" charset="0"/>
                        </a:rPr>
                        <m:t>(1)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389" y="2366556"/>
                <a:ext cx="470351" cy="276999"/>
              </a:xfrm>
              <a:prstGeom prst="rect">
                <a:avLst/>
              </a:prstGeom>
              <a:blipFill rotWithShape="0">
                <a:blip r:embed="rId7"/>
                <a:stretch>
                  <a:fillRect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864977" y="4291054"/>
                <a:ext cx="658237" cy="298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latin typeface="Cambria Math" charset="0"/>
                        </a:rPr>
                        <m:t> </m:t>
                      </m:r>
                      <m:r>
                        <a:rPr lang="en-US" sz="1200" b="0" i="1" smtClean="0">
                          <a:latin typeface="Cambria Math" charset="0"/>
                        </a:rPr>
                        <m:t>(</m:t>
                      </m:r>
                      <m:rad>
                        <m:radPr>
                          <m:degHide m:val="on"/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2</m:t>
                          </m:r>
                        </m:e>
                      </m:rad>
                      <m:r>
                        <a:rPr lang="en-US" sz="1200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4977" y="4291054"/>
                <a:ext cx="658237" cy="298736"/>
              </a:xfrm>
              <a:prstGeom prst="rect">
                <a:avLst/>
              </a:prstGeom>
              <a:blipFill rotWithShape="0">
                <a:blip r:embed="rId8"/>
                <a:stretch>
                  <a:fillRect t="-65306" b="-938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Овал 25"/>
          <p:cNvSpPr/>
          <p:nvPr/>
        </p:nvSpPr>
        <p:spPr>
          <a:xfrm flipV="1">
            <a:off x="8277198" y="3968896"/>
            <a:ext cx="45731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 flipH="1">
                <a:off x="8218852" y="3972363"/>
                <a:ext cx="24654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𝑀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218852" y="3972363"/>
                <a:ext cx="246540" cy="276999"/>
              </a:xfrm>
              <a:prstGeom prst="rect">
                <a:avLst/>
              </a:prstGeom>
              <a:blipFill rotWithShape="0">
                <a:blip r:embed="rId9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Овал 28"/>
          <p:cNvSpPr/>
          <p:nvPr/>
        </p:nvSpPr>
        <p:spPr>
          <a:xfrm flipV="1">
            <a:off x="7403598" y="3490500"/>
            <a:ext cx="41574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 flipH="1">
                <a:off x="7380312" y="3230855"/>
                <a:ext cx="24654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𝑁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380312" y="3230855"/>
                <a:ext cx="246540" cy="276999"/>
              </a:xfrm>
              <a:prstGeom prst="rect">
                <a:avLst/>
              </a:prstGeom>
              <a:blipFill rotWithShape="0">
                <a:blip r:embed="rId10"/>
                <a:stretch>
                  <a:fillRect r="-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Прямая соединительная линия 32"/>
          <p:cNvCxnSpPr>
            <a:endCxn id="26" idx="7"/>
          </p:cNvCxnSpPr>
          <p:nvPr/>
        </p:nvCxnSpPr>
        <p:spPr>
          <a:xfrm>
            <a:off x="6022264" y="3507393"/>
            <a:ext cx="2293968" cy="500527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/>
          <p:cNvCxnSpPr>
            <a:endCxn id="29" idx="7"/>
          </p:cNvCxnSpPr>
          <p:nvPr/>
        </p:nvCxnSpPr>
        <p:spPr>
          <a:xfrm>
            <a:off x="6041688" y="1563637"/>
            <a:ext cx="1397396" cy="1962339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Полилиния 38"/>
          <p:cNvSpPr/>
          <p:nvPr/>
        </p:nvSpPr>
        <p:spPr>
          <a:xfrm>
            <a:off x="8016240" y="4185920"/>
            <a:ext cx="111760" cy="60960"/>
          </a:xfrm>
          <a:custGeom>
            <a:avLst/>
            <a:gdLst>
              <a:gd name="connsiteX0" fmla="*/ 0 w 111760"/>
              <a:gd name="connsiteY0" fmla="*/ 0 h 60960"/>
              <a:gd name="connsiteX1" fmla="*/ 111760 w 111760"/>
              <a:gd name="connsiteY1" fmla="*/ 60960 h 60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1760" h="60960">
                <a:moveTo>
                  <a:pt x="0" y="0"/>
                </a:moveTo>
                <a:lnTo>
                  <a:pt x="111760" y="6096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олилиния 39"/>
          <p:cNvSpPr/>
          <p:nvPr/>
        </p:nvSpPr>
        <p:spPr>
          <a:xfrm>
            <a:off x="8440448" y="3759578"/>
            <a:ext cx="111760" cy="60960"/>
          </a:xfrm>
          <a:custGeom>
            <a:avLst/>
            <a:gdLst>
              <a:gd name="connsiteX0" fmla="*/ 0 w 111760"/>
              <a:gd name="connsiteY0" fmla="*/ 0 h 60960"/>
              <a:gd name="connsiteX1" fmla="*/ 111760 w 111760"/>
              <a:gd name="connsiteY1" fmla="*/ 60960 h 60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1760" h="60960">
                <a:moveTo>
                  <a:pt x="0" y="0"/>
                </a:moveTo>
                <a:lnTo>
                  <a:pt x="111760" y="6096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олилиния 40"/>
          <p:cNvSpPr/>
          <p:nvPr/>
        </p:nvSpPr>
        <p:spPr>
          <a:xfrm rot="5400000">
            <a:off x="6769210" y="3465016"/>
            <a:ext cx="111760" cy="60960"/>
          </a:xfrm>
          <a:custGeom>
            <a:avLst/>
            <a:gdLst>
              <a:gd name="connsiteX0" fmla="*/ 0 w 111760"/>
              <a:gd name="connsiteY0" fmla="*/ 0 h 60960"/>
              <a:gd name="connsiteX1" fmla="*/ 111760 w 111760"/>
              <a:gd name="connsiteY1" fmla="*/ 60960 h 60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1760" h="60960">
                <a:moveTo>
                  <a:pt x="0" y="0"/>
                </a:moveTo>
                <a:lnTo>
                  <a:pt x="111760" y="6096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олилиния 41"/>
          <p:cNvSpPr/>
          <p:nvPr/>
        </p:nvSpPr>
        <p:spPr>
          <a:xfrm rot="5400000">
            <a:off x="7970622" y="3487502"/>
            <a:ext cx="111760" cy="60960"/>
          </a:xfrm>
          <a:custGeom>
            <a:avLst/>
            <a:gdLst>
              <a:gd name="connsiteX0" fmla="*/ 0 w 111760"/>
              <a:gd name="connsiteY0" fmla="*/ 0 h 60960"/>
              <a:gd name="connsiteX1" fmla="*/ 111760 w 111760"/>
              <a:gd name="connsiteY1" fmla="*/ 60960 h 60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1760" h="60960">
                <a:moveTo>
                  <a:pt x="0" y="0"/>
                </a:moveTo>
                <a:lnTo>
                  <a:pt x="111760" y="6096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107504" y="1012347"/>
                <a:ext cx="4434740" cy="3005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/>
                  <a:t>а) Введем систему координат и рассмотрим векторы</a:t>
                </a:r>
                <a14:m>
                  <m:oMath xmlns:m="http://schemas.openxmlformats.org/officeDocument/2006/math">
                    <m:r>
                      <a:rPr lang="ru-RU" sz="1200" b="0" i="0" dirty="0" smtClean="0">
                        <a:latin typeface="Cambria Math" charset="0"/>
                      </a:rPr>
                      <m:t>  </m:t>
                    </m:r>
                    <m:acc>
                      <m:accPr>
                        <m:chr m:val="⃗"/>
                        <m:ctrlPr>
                          <a:rPr lang="en-US" sz="1200" i="1" dirty="0">
                            <a:latin typeface="Cambria Math"/>
                          </a:rPr>
                        </m:ctrlPr>
                      </m:accPr>
                      <m:e>
                        <m:r>
                          <a:rPr lang="en-US" sz="1200" i="1" dirty="0">
                            <a:latin typeface="Cambria Math" charset="0"/>
                          </a:rPr>
                          <m:t>𝐷𝑁</m:t>
                        </m:r>
                      </m:e>
                    </m:acc>
                  </m:oMath>
                </a14:m>
                <a:r>
                  <a:rPr lang="ru-RU" sz="1200" dirty="0" smtClean="0"/>
                  <a:t>  и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200" i="1" dirty="0">
                            <a:latin typeface="Cambria Math"/>
                          </a:rPr>
                        </m:ctrlPr>
                      </m:accPr>
                      <m:e>
                        <m:r>
                          <a:rPr lang="en-US" sz="1200" b="0" i="1" dirty="0" smtClean="0">
                            <a:latin typeface="Cambria Math" charset="0"/>
                          </a:rPr>
                          <m:t>𝐴𝑀</m:t>
                        </m:r>
                      </m:e>
                    </m:acc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.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1012347"/>
                <a:ext cx="4434740" cy="300595"/>
              </a:xfrm>
              <a:prstGeom prst="rect">
                <a:avLst/>
              </a:prstGeom>
              <a:blipFill rotWithShape="0">
                <a:blip r:embed="rId11"/>
                <a:stretch>
                  <a:fillRect l="-138" t="-65306" b="-938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Прямая со стрелкой 49"/>
          <p:cNvCxnSpPr>
            <a:stCxn id="8" idx="3"/>
          </p:cNvCxnSpPr>
          <p:nvPr/>
        </p:nvCxnSpPr>
        <p:spPr>
          <a:xfrm flipH="1" flipV="1">
            <a:off x="6041688" y="1012347"/>
            <a:ext cx="1" cy="2485635"/>
          </a:xfrm>
          <a:prstGeom prst="straightConnector1">
            <a:avLst/>
          </a:prstGeom>
          <a:ln w="1905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/>
          <p:cNvCxnSpPr/>
          <p:nvPr/>
        </p:nvCxnSpPr>
        <p:spPr>
          <a:xfrm flipV="1">
            <a:off x="5223637" y="2585417"/>
            <a:ext cx="1741149" cy="1753370"/>
          </a:xfrm>
          <a:prstGeom prst="straightConnector1">
            <a:avLst/>
          </a:prstGeom>
          <a:ln w="1905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 стрелкой 55"/>
          <p:cNvCxnSpPr/>
          <p:nvPr/>
        </p:nvCxnSpPr>
        <p:spPr>
          <a:xfrm>
            <a:off x="6031529" y="3508142"/>
            <a:ext cx="2848979" cy="625394"/>
          </a:xfrm>
          <a:prstGeom prst="straightConnector1">
            <a:avLst/>
          </a:prstGeom>
          <a:ln w="1905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8572108" y="4163512"/>
                <a:ext cx="47035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b="0" i="1" smtClean="0">
                          <a:latin typeface="Cambria Math" charset="0"/>
                        </a:rPr>
                        <m:t> </m:t>
                      </m:r>
                      <m:r>
                        <a:rPr lang="en-US" sz="1400" b="1" i="1" smtClean="0">
                          <a:solidFill>
                            <a:srgbClr val="006600"/>
                          </a:solidFill>
                          <a:latin typeface="Cambria Math" charset="0"/>
                        </a:rPr>
                        <m:t>𝒙</m:t>
                      </m:r>
                    </m:oMath>
                  </m:oMathPara>
                </a14:m>
                <a:endParaRPr lang="ru-RU" sz="1400" b="1" dirty="0">
                  <a:solidFill>
                    <a:srgbClr val="006600"/>
                  </a:solidFill>
                </a:endParaRPr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108" y="4163512"/>
                <a:ext cx="470351" cy="307777"/>
              </a:xfrm>
              <a:prstGeom prst="rect">
                <a:avLst/>
              </a:prstGeom>
              <a:blipFill rotWithShape="0">
                <a:blip r:embed="rId12"/>
                <a:stretch>
                  <a:fillRect t="-86000" b="-11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6785024" y="2542133"/>
                <a:ext cx="47035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b="0" i="1" smtClean="0">
                          <a:latin typeface="Cambria Math" charset="0"/>
                        </a:rPr>
                        <m:t> </m:t>
                      </m:r>
                      <m:r>
                        <a:rPr lang="en-US" sz="1400" b="1" i="1" smtClean="0">
                          <a:solidFill>
                            <a:srgbClr val="006600"/>
                          </a:solidFill>
                          <a:latin typeface="Cambria Math" charset="0"/>
                        </a:rPr>
                        <m:t>𝒚</m:t>
                      </m:r>
                    </m:oMath>
                  </m:oMathPara>
                </a14:m>
                <a:endParaRPr lang="ru-RU" sz="1400" b="1" dirty="0">
                  <a:solidFill>
                    <a:srgbClr val="006600"/>
                  </a:solidFill>
                </a:endParaRPr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5024" y="2542133"/>
                <a:ext cx="470351" cy="307777"/>
              </a:xfrm>
              <a:prstGeom prst="rect">
                <a:avLst/>
              </a:prstGeom>
              <a:blipFill rotWithShape="0">
                <a:blip r:embed="rId13"/>
                <a:stretch>
                  <a:fillRect t="-84314" b="-1058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5920664" y="945678"/>
                <a:ext cx="47035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b="0" i="1" smtClean="0">
                          <a:latin typeface="Cambria Math" charset="0"/>
                        </a:rPr>
                        <m:t> </m:t>
                      </m:r>
                      <m:r>
                        <a:rPr lang="en-US" sz="1400" b="1" i="1" smtClean="0">
                          <a:solidFill>
                            <a:srgbClr val="006600"/>
                          </a:solidFill>
                          <a:latin typeface="Cambria Math" charset="0"/>
                        </a:rPr>
                        <m:t>𝒛</m:t>
                      </m:r>
                    </m:oMath>
                  </m:oMathPara>
                </a14:m>
                <a:endParaRPr lang="ru-RU" sz="1400" b="1" dirty="0">
                  <a:solidFill>
                    <a:srgbClr val="006600"/>
                  </a:solidFill>
                </a:endParaRPr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0664" y="945678"/>
                <a:ext cx="470351" cy="307777"/>
              </a:xfrm>
              <a:prstGeom prst="rect">
                <a:avLst/>
              </a:prstGeom>
              <a:blipFill rotWithShape="0">
                <a:blip r:embed="rId14"/>
                <a:stretch>
                  <a:fillRect t="-84314" b="-1058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101416" y="1277722"/>
                <a:ext cx="2593915" cy="2950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/>
                  <a:t>Пусть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charset="0"/>
                      </a:rPr>
                      <m:t>𝐴</m:t>
                    </m:r>
                    <m:r>
                      <a:rPr lang="en-US" sz="1200" i="1" dirty="0" smtClean="0">
                        <a:latin typeface="Cambria Math" charset="0"/>
                      </a:rPr>
                      <m:t>𝐷</m:t>
                    </m:r>
                    <m:r>
                      <a:rPr lang="en-US" sz="1200" b="0" i="1" dirty="0" smtClean="0">
                        <a:latin typeface="Cambria Math" charset="0"/>
                      </a:rPr>
                      <m:t>=1; 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𝐴𝐵</m:t>
                    </m:r>
                    <m:r>
                      <a:rPr lang="en-US" sz="1200" b="0" i="1" dirty="0" smtClean="0">
                        <a:latin typeface="Cambria Math" charset="0"/>
                      </a:rPr>
                      <m:t>=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𝐵𝐶</m:t>
                    </m:r>
                    <m:r>
                      <a:rPr lang="en-US" sz="1200" b="0" i="1" dirty="0" smtClean="0">
                        <a:latin typeface="Cambria Math" charset="0"/>
                      </a:rPr>
                      <m:t>=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𝐴𝐶</m:t>
                    </m:r>
                    <m:r>
                      <a:rPr lang="en-US" sz="1200" b="0" i="1" dirty="0" smtClean="0">
                        <a:latin typeface="Cambria Math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200" b="0" i="1" dirty="0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US" sz="1200" b="0" i="1" dirty="0" smtClean="0">
                            <a:latin typeface="Cambria Math" charset="0"/>
                          </a:rPr>
                          <m:t>2</m:t>
                        </m:r>
                      </m:e>
                    </m:rad>
                    <m:r>
                      <a:rPr lang="en-US" sz="1200" b="0" i="1" dirty="0" smtClean="0">
                        <a:latin typeface="Cambria Math" charset="0"/>
                      </a:rPr>
                      <m:t>.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16" y="1277722"/>
                <a:ext cx="2593915" cy="295017"/>
              </a:xfrm>
              <a:prstGeom prst="rect">
                <a:avLst/>
              </a:prstGeom>
              <a:blipFill rotWithShape="0">
                <a:blip r:embed="rId15"/>
                <a:stretch>
                  <a:fillRect l="-235" t="-68750" b="-979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101416" y="1543097"/>
                <a:ext cx="88434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𝐴</m:t>
                      </m:r>
                      <m:d>
                        <m:dPr>
                          <m:ctrlPr>
                            <a:rPr lang="en-US" sz="1200" i="1" dirty="0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200" i="1" dirty="0" smtClean="0">
                              <a:latin typeface="Cambria Math" charset="0"/>
                            </a:rPr>
                            <m:t>0;0;</m:t>
                          </m:r>
                          <m:r>
                            <a:rPr lang="en-US" sz="1200" b="0" i="1" dirty="0" smtClean="0">
                              <a:latin typeface="Cambria Math" charset="0"/>
                            </a:rPr>
                            <m:t>0</m:t>
                          </m:r>
                        </m:e>
                      </m:d>
                      <m:r>
                        <a:rPr lang="en-US" sz="1200" b="0" i="1" dirty="0" smtClean="0"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16" y="1543097"/>
                <a:ext cx="884345" cy="276999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883873" y="1543097"/>
                <a:ext cx="88434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𝐷</m:t>
                      </m:r>
                      <m:d>
                        <m:dPr>
                          <m:ctrlPr>
                            <a:rPr lang="en-US" sz="1200" i="1" dirty="0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200" i="1" dirty="0" smtClean="0">
                              <a:latin typeface="Cambria Math" charset="0"/>
                            </a:rPr>
                            <m:t>0;0;</m:t>
                          </m:r>
                          <m:r>
                            <a:rPr lang="en-US" sz="1200" b="0" i="1" dirty="0" smtClean="0">
                              <a:latin typeface="Cambria Math" charset="0"/>
                            </a:rPr>
                            <m:t>1</m:t>
                          </m:r>
                        </m:e>
                      </m:d>
                      <m:r>
                        <a:rPr lang="en-US" sz="1200" b="0" i="1" dirty="0" smtClean="0"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873" y="1543097"/>
                <a:ext cx="884345" cy="276999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69499" y="1695117"/>
                <a:ext cx="1154419" cy="4795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𝐴𝑀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𝐴𝐶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9" y="1695117"/>
                <a:ext cx="1154419" cy="479555"/>
              </a:xfrm>
              <a:prstGeom prst="rect">
                <a:avLst/>
              </a:prstGeom>
              <a:blipFill rotWithShape="0">
                <a:blip r:embed="rId18"/>
                <a:stretch>
                  <a:fillRect b="-12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1043977" y="1706247"/>
                <a:ext cx="878637" cy="4795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200" i="1" dirty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i="1" dirty="0">
                              <a:latin typeface="Cambria Math" charset="0"/>
                            </a:rPr>
                            <m:t>2</m:t>
                          </m:r>
                        </m:e>
                      </m:rad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977" y="1706247"/>
                <a:ext cx="878637" cy="479555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1735944" y="1707217"/>
                <a:ext cx="629852" cy="4795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6</m:t>
                              </m:r>
                            </m:e>
                          </m:rad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5944" y="1707217"/>
                <a:ext cx="629852" cy="479555"/>
              </a:xfrm>
              <a:prstGeom prst="rect">
                <a:avLst/>
              </a:prstGeom>
              <a:blipFill rotWithShape="0">
                <a:blip r:embed="rId20"/>
                <a:stretch>
                  <a:fillRect b="-12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Прямая соединительная линия 69"/>
          <p:cNvCxnSpPr/>
          <p:nvPr/>
        </p:nvCxnSpPr>
        <p:spPr>
          <a:xfrm>
            <a:off x="6288229" y="3267716"/>
            <a:ext cx="2263979" cy="489488"/>
          </a:xfrm>
          <a:prstGeom prst="line">
            <a:avLst/>
          </a:prstGeom>
          <a:ln>
            <a:solidFill>
              <a:srgbClr val="0066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Овал 79"/>
          <p:cNvSpPr/>
          <p:nvPr/>
        </p:nvSpPr>
        <p:spPr>
          <a:xfrm flipV="1">
            <a:off x="8519913" y="3726473"/>
            <a:ext cx="45731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 flipH="1">
                <a:off x="8532440" y="3662903"/>
                <a:ext cx="24654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𝐾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532440" y="3662903"/>
                <a:ext cx="246540" cy="276999"/>
              </a:xfrm>
              <a:prstGeom prst="rect">
                <a:avLst/>
              </a:prstGeom>
              <a:blipFill rotWithShape="0">
                <a:blip r:embed="rId21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Прямая соединительная линия 82"/>
          <p:cNvCxnSpPr/>
          <p:nvPr/>
        </p:nvCxnSpPr>
        <p:spPr>
          <a:xfrm flipV="1">
            <a:off x="7200242" y="3525976"/>
            <a:ext cx="208362" cy="236211"/>
          </a:xfrm>
          <a:prstGeom prst="line">
            <a:avLst/>
          </a:prstGeom>
          <a:ln>
            <a:solidFill>
              <a:srgbClr val="0066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Овал 85"/>
          <p:cNvSpPr/>
          <p:nvPr/>
        </p:nvSpPr>
        <p:spPr>
          <a:xfrm flipV="1">
            <a:off x="7184608" y="3737536"/>
            <a:ext cx="45731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 flipH="1">
                <a:off x="7020272" y="3723878"/>
                <a:ext cx="24654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𝐿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020272" y="3723878"/>
                <a:ext cx="246540" cy="276999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75484" y="2111363"/>
                <a:ext cx="1399870" cy="4795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𝐴𝐿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</a:rPr>
                        <m:t>𝐴𝑀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6</m:t>
                              </m:r>
                            </m:e>
                          </m:rad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4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84" y="2111363"/>
                <a:ext cx="1399870" cy="479555"/>
              </a:xfrm>
              <a:prstGeom prst="rect">
                <a:avLst/>
              </a:prstGeom>
              <a:blipFill rotWithShape="0">
                <a:blip r:embed="rId23"/>
                <a:stretch>
                  <a:fillRect b="-12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1364521" y="2253811"/>
                <a:ext cx="86215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𝐴𝑃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𝑀𝐾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4521" y="2253811"/>
                <a:ext cx="862159" cy="276999"/>
              </a:xfrm>
              <a:prstGeom prst="rect">
                <a:avLst/>
              </a:prstGeom>
              <a:blipFill rotWithShape="0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Овал 89"/>
          <p:cNvSpPr/>
          <p:nvPr/>
        </p:nvSpPr>
        <p:spPr>
          <a:xfrm flipV="1">
            <a:off x="6267345" y="3255991"/>
            <a:ext cx="45731" cy="377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 flipH="1">
                <a:off x="6053652" y="3028279"/>
                <a:ext cx="24654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𝑃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053652" y="3028279"/>
                <a:ext cx="246540" cy="276999"/>
              </a:xfrm>
              <a:prstGeom prst="rect">
                <a:avLst/>
              </a:prstGeom>
              <a:blipFill rotWithShape="0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2030966" y="2149642"/>
                <a:ext cx="687817" cy="4380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</a:rPr>
                            <m:t>4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</a:rPr>
                        <m:t>𝐵𝐶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966" y="2149642"/>
                <a:ext cx="687817" cy="438005"/>
              </a:xfrm>
              <a:prstGeom prst="rect">
                <a:avLst/>
              </a:prstGeom>
              <a:blipFill rotWithShape="0">
                <a:blip r:embed="rId26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2537076" y="2110844"/>
                <a:ext cx="629852" cy="4801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i="1" dirty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1200" i="1" dirty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4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7076" y="2110844"/>
                <a:ext cx="629852" cy="480196"/>
              </a:xfrm>
              <a:prstGeom prst="rect">
                <a:avLst/>
              </a:prstGeom>
              <a:blipFill rotWithShape="0">
                <a:blip r:embed="rId27"/>
                <a:stretch>
                  <a:fillRect b="-12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/>
              <p:cNvSpPr txBox="1"/>
              <p:nvPr/>
            </p:nvSpPr>
            <p:spPr>
              <a:xfrm>
                <a:off x="2249850" y="1706247"/>
                <a:ext cx="996427" cy="4795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𝑀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(</m:t>
                      </m:r>
                      <m:f>
                        <m:fPr>
                          <m:ctrlPr>
                            <a:rPr lang="en-US" sz="1200" i="1" dirty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1200" i="1" dirty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6</m:t>
                              </m:r>
                            </m:e>
                          </m:rad>
                        </m:num>
                        <m:den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  <m:r>
                        <a:rPr lang="en-US" sz="1200" b="0" i="0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0;0)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9850" y="1706247"/>
                <a:ext cx="996427" cy="479555"/>
              </a:xfrm>
              <a:prstGeom prst="rect">
                <a:avLst/>
              </a:prstGeom>
              <a:blipFill rotWithShape="0"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3051134" y="2112988"/>
                <a:ext cx="1103892" cy="4801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𝑁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(</m:t>
                      </m:r>
                      <m:f>
                        <m:fPr>
                          <m:ctrlPr>
                            <a:rPr lang="en-US" sz="1200" i="1" dirty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1200" i="1" dirty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6</m:t>
                              </m:r>
                            </m:e>
                          </m:rad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4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  <m:f>
                        <m:fPr>
                          <m:ctrlPr>
                            <a:rPr lang="en-US" sz="1200" i="1" dirty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1200" i="1" dirty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4</m:t>
                          </m:r>
                        </m:den>
                      </m:f>
                      <m:r>
                        <a:rPr lang="en-US" sz="1200" b="0" i="0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;0)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1134" y="2112988"/>
                <a:ext cx="1103892" cy="480196"/>
              </a:xfrm>
              <a:prstGeom prst="rect">
                <a:avLst/>
              </a:prstGeom>
              <a:blipFill rotWithShape="0">
                <a:blip r:embed="rId29"/>
                <a:stretch>
                  <a:fillRect b="-12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/>
              <p:cNvSpPr txBox="1"/>
              <p:nvPr/>
            </p:nvSpPr>
            <p:spPr>
              <a:xfrm>
                <a:off x="70326" y="2477498"/>
                <a:ext cx="1233928" cy="5288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sz="1200" i="1" dirty="0">
                              <a:latin typeface="Cambria Math" charset="0"/>
                            </a:rPr>
                            <m:t>𝐴𝑀</m:t>
                          </m:r>
                        </m:e>
                      </m:acc>
                      <m:d>
                        <m:d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i="1" dirty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1200" i="1" dirty="0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200" i="1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6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12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;</m:t>
                          </m:r>
                          <m:r>
                            <a:rPr lang="en-US" sz="1200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0;0</m:t>
                          </m:r>
                        </m:e>
                      </m:d>
                      <m:r>
                        <a:rPr lang="en-US" sz="1200" b="0" i="0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7" name="TextBox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26" y="2477498"/>
                <a:ext cx="1233928" cy="528863"/>
              </a:xfrm>
              <a:prstGeom prst="rect">
                <a:avLst/>
              </a:prstGeom>
              <a:blipFill rotWithShape="0"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/>
              <p:cNvSpPr txBox="1"/>
              <p:nvPr/>
            </p:nvSpPr>
            <p:spPr>
              <a:xfrm>
                <a:off x="1172744" y="2477497"/>
                <a:ext cx="1399101" cy="529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𝐷𝑁</m:t>
                          </m:r>
                        </m:e>
                      </m:acc>
                      <m:d>
                        <m:d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i="1" dirty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1200" i="1" dirty="0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200" i="1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6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12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;</m:t>
                          </m:r>
                          <m:f>
                            <m:fPr>
                              <m:ctrlPr>
                                <a:rPr lang="en-US" sz="1200" i="1" dirty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1200" i="1" dirty="0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200" i="1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2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12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sz="1200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;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8" name="TextBox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744" y="2477497"/>
                <a:ext cx="1399101" cy="529504"/>
              </a:xfrm>
              <a:prstGeom prst="rect">
                <a:avLst/>
              </a:prstGeom>
              <a:blipFill rotWithShape="0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914" y="2930670"/>
                <a:ext cx="3349378" cy="5472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b="0" i="0" dirty="0" smtClean="0">
                              <a:latin typeface="Cambria Math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200" b="0" i="1" dirty="0" smtClean="0">
                                  <a:latin typeface="Cambria Math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1200" b="0" i="1" dirty="0" smtClean="0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b="0" i="1" dirty="0" smtClean="0">
                                      <a:latin typeface="Cambria Math" charset="0"/>
                                    </a:rPr>
                                    <m:t>𝐴𝑀</m:t>
                                  </m:r>
                                  <m:r>
                                    <a:rPr lang="en-US" sz="1200" b="0" i="1" dirty="0" smtClean="0">
                                      <a:latin typeface="Cambria Math" charset="0"/>
                                    </a:rPr>
                                    <m:t>,</m:t>
                                  </m:r>
                                  <m:r>
                                    <a:rPr lang="en-US" sz="1200" b="0" i="1" dirty="0" smtClean="0">
                                      <a:latin typeface="Cambria Math" charset="0"/>
                                    </a:rPr>
                                    <m:t>𝐷𝑁</m:t>
                                  </m:r>
                                </m:e>
                              </m:acc>
                            </m:e>
                          </m:d>
                        </m:e>
                      </m:func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  <m:func>
                        <m:funcPr>
                          <m:ctrlPr>
                            <a:rPr lang="en-US" sz="1200" i="1" dirty="0">
                              <a:latin typeface="Cambria Math"/>
                            </a:rPr>
                          </m:ctrlPr>
                        </m:funcPr>
                        <m:fName>
                          <m:r>
                            <a:rPr lang="en-US" sz="1200" b="0" i="1" dirty="0" smtClean="0">
                              <a:latin typeface="Cambria Math" charset="0"/>
                            </a:rPr>
                            <m:t>|</m:t>
                          </m:r>
                          <m:r>
                            <m:rPr>
                              <m:sty m:val="p"/>
                            </m:rPr>
                            <a:rPr lang="en-US" sz="1200" dirty="0">
                              <a:latin typeface="Cambria Math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200" i="1" dirty="0">
                                  <a:latin typeface="Cambria Math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1200" i="1" dirty="0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sz="1200" i="1" dirty="0"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200" i="1" dirty="0">
                                          <a:latin typeface="Cambria Math" charset="0"/>
                                        </a:rPr>
                                        <m:t>𝐴𝑀</m:t>
                                      </m:r>
                                    </m:e>
                                  </m:acc>
                                  <m:r>
                                    <a:rPr lang="en-US" sz="1200" i="1" dirty="0">
                                      <a:latin typeface="Cambria Math" charset="0"/>
                                    </a:rPr>
                                    <m:t>,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sz="1200" i="1" dirty="0"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200" i="1" dirty="0">
                                          <a:latin typeface="Cambria Math" charset="0"/>
                                        </a:rPr>
                                        <m:t>𝐷𝑁</m:t>
                                      </m:r>
                                    </m:e>
                                  </m:acc>
                                </m:e>
                              </m:acc>
                            </m:e>
                          </m:d>
                        </m:e>
                      </m:func>
                      <m:r>
                        <a:rPr lang="en-US" sz="1200" b="0" i="1" dirty="0" smtClean="0">
                          <a:latin typeface="Cambria Math" charset="0"/>
                        </a:rPr>
                        <m:t>|=</m:t>
                      </m:r>
                      <m:f>
                        <m:fPr>
                          <m:ctrlPr>
                            <a:rPr lang="mr-IN" sz="1200" b="0" i="1" dirty="0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</a:rPr>
                            <m:t>|</m:t>
                          </m:r>
                          <m:acc>
                            <m:accPr>
                              <m:chr m:val="⃗"/>
                              <m:ctrlPr>
                                <a:rPr lang="en-US" sz="1200" i="1" dirty="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sz="1200" i="1" dirty="0">
                                  <a:latin typeface="Cambria Math" charset="0"/>
                                </a:rPr>
                                <m:t>𝐴𝑀</m:t>
                              </m:r>
                            </m:e>
                          </m:acc>
                          <m:r>
                            <a:rPr lang="en-US" sz="120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acc>
                            <m:accPr>
                              <m:chr m:val="⃗"/>
                              <m:ctrlPr>
                                <a:rPr lang="en-US" sz="1200" i="1" dirty="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</a:rPr>
                                <m:t>𝐷𝑁</m:t>
                              </m:r>
                            </m:e>
                          </m:acc>
                          <m:r>
                            <a:rPr lang="en-US" sz="1200" b="0" i="1" dirty="0" smtClean="0">
                              <a:latin typeface="Cambria Math" charset="0"/>
                            </a:rPr>
                            <m:t>|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</a:rPr>
                            <m:t>|</m:t>
                          </m:r>
                          <m:acc>
                            <m:accPr>
                              <m:chr m:val="⃗"/>
                              <m:ctrlPr>
                                <a:rPr lang="en-US" sz="1200" i="1" dirty="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sz="1200" i="1" dirty="0">
                                  <a:latin typeface="Cambria Math" charset="0"/>
                                </a:rPr>
                                <m:t>𝐴𝑀</m:t>
                              </m:r>
                            </m:e>
                          </m:acc>
                          <m:r>
                            <a:rPr lang="en-US" sz="1200" b="0" i="1" dirty="0" smtClean="0">
                              <a:latin typeface="Cambria Math" charset="0"/>
                            </a:rPr>
                            <m:t>|</m:t>
                          </m:r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|</m:t>
                          </m:r>
                          <m:acc>
                            <m:accPr>
                              <m:chr m:val="⃗"/>
                              <m:ctrlPr>
                                <a:rPr lang="en-US" sz="1200" i="1" dirty="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</a:rPr>
                                <m:t>𝐷𝑁</m:t>
                              </m:r>
                            </m:e>
                          </m:acc>
                          <m:r>
                            <a:rPr lang="en-US" sz="1200" b="0" i="1" dirty="0" smtClean="0">
                              <a:latin typeface="Cambria Math" charset="0"/>
                            </a:rPr>
                            <m:t>|</m:t>
                          </m:r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" y="2930670"/>
                <a:ext cx="3349378" cy="547266"/>
              </a:xfrm>
              <a:prstGeom prst="rect">
                <a:avLst/>
              </a:prstGeom>
              <a:blipFill rotWithShape="0">
                <a:blip r:embed="rId32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/>
              <p:cNvSpPr txBox="1"/>
              <p:nvPr/>
            </p:nvSpPr>
            <p:spPr>
              <a:xfrm>
                <a:off x="3105968" y="2784864"/>
                <a:ext cx="2353273" cy="8300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dirty="0" smtClean="0">
                              <a:latin typeface="Cambria Math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sz="1200" i="1" dirty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1200" i="1" dirty="0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200" i="1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6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12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120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en-US" sz="1200" i="1" dirty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1200" i="1" dirty="0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200" i="1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6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4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US" sz="1200" i="1" dirty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1200" i="1" dirty="0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200" i="1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6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12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rad>
                            <m:radPr>
                              <m:degHide m:val="on"/>
                              <m:ctrlPr>
                                <a:rPr lang="mr-IN" sz="120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mr-IN" sz="1200" i="1" dirty="0" smtClean="0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dirty="0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(</m:t>
                                  </m:r>
                                  <m:f>
                                    <m:fPr>
                                      <m:ctrlPr>
                                        <a:rPr lang="en-US" sz="1200" i="1" dirty="0">
                                          <a:latin typeface="Cambria Math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fPr>
                                    <m:num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sz="1200" i="1" dirty="0">
                                              <a:latin typeface="Cambria Math"/>
                                              <a:ea typeface="Cambria Math" charset="0"/>
                                              <a:cs typeface="Cambria Math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1200" i="1" dirty="0"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6</m:t>
                                          </m:r>
                                        </m:e>
                                      </m:rad>
                                    </m:num>
                                    <m:den>
                                      <m:r>
                                        <a:rPr lang="en-US" sz="1200" i="1" dirty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  <m:r>
                                    <a:rPr lang="en-US" sz="1200" b="0" i="1" dirty="0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mr-IN" sz="1200" i="1" dirty="0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mr-IN" sz="120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mr-IN" sz="1200" i="1" dirty="0" smtClean="0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dirty="0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(</m:t>
                                  </m:r>
                                  <m:f>
                                    <m:fPr>
                                      <m:ctrlPr>
                                        <a:rPr lang="en-US" sz="1200" i="1" dirty="0">
                                          <a:latin typeface="Cambria Math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fPr>
                                    <m:num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sz="1200" i="1" dirty="0">
                                              <a:latin typeface="Cambria Math"/>
                                              <a:ea typeface="Cambria Math" charset="0"/>
                                              <a:cs typeface="Cambria Math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1200" i="1" dirty="0"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2</m:t>
                                          </m:r>
                                        </m:e>
                                      </m:rad>
                                    </m:num>
                                    <m:den>
                                      <m:r>
                                        <a:rPr lang="en-US" sz="1200" i="1" dirty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  <m:r>
                                    <a:rPr lang="en-US" sz="1200" b="0" i="1" dirty="0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mr-IN" sz="1200" i="1" dirty="0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200" b="0" i="1" dirty="0" smtClean="0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dirty="0" smtClean="0">
                                          <a:latin typeface="Cambria Math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0" i="1" dirty="0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dirty="0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0" name="TextBox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968" y="2784864"/>
                <a:ext cx="2353273" cy="830099"/>
              </a:xfrm>
              <a:prstGeom prst="rect">
                <a:avLst/>
              </a:prstGeom>
              <a:blipFill rotWithShape="0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/>
              <p:cNvSpPr txBox="1"/>
              <p:nvPr/>
            </p:nvSpPr>
            <p:spPr>
              <a:xfrm>
                <a:off x="268475" y="3487301"/>
                <a:ext cx="946734" cy="7481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dirty="0" smtClean="0">
                              <a:latin typeface="Cambria Math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sz="120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4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US" sz="1200" i="1" dirty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1200" i="1" dirty="0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200" i="1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6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12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mr-IN" sz="1200" i="1" dirty="0" smtClean="0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200" i="1" dirty="0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6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4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1" name="TextBox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475" y="3487301"/>
                <a:ext cx="946734" cy="748154"/>
              </a:xfrm>
              <a:prstGeom prst="rect">
                <a:avLst/>
              </a:prstGeom>
              <a:blipFill rotWithShape="0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/>
              <p:cNvSpPr txBox="1"/>
              <p:nvPr/>
            </p:nvSpPr>
            <p:spPr>
              <a:xfrm>
                <a:off x="1081847" y="3487301"/>
                <a:ext cx="478464" cy="7066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dirty="0" smtClean="0">
                              <a:latin typeface="Cambria Math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sz="120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4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sz="120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4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2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847" y="3487301"/>
                <a:ext cx="478464" cy="706604"/>
              </a:xfrm>
              <a:prstGeom prst="rect">
                <a:avLst/>
              </a:prstGeom>
              <a:blipFill rotWithShape="0"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/>
              <p:cNvSpPr txBox="1"/>
              <p:nvPr/>
            </p:nvSpPr>
            <p:spPr>
              <a:xfrm>
                <a:off x="1397925" y="3597391"/>
                <a:ext cx="463075" cy="4380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dirty="0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925" y="3597391"/>
                <a:ext cx="463075" cy="438005"/>
              </a:xfrm>
              <a:prstGeom prst="rect">
                <a:avLst/>
              </a:prstGeom>
              <a:blipFill rotWithShape="0">
                <a:blip r:embed="rId36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/>
              <p:cNvSpPr txBox="1"/>
              <p:nvPr/>
            </p:nvSpPr>
            <p:spPr>
              <a:xfrm>
                <a:off x="1724036" y="3693529"/>
                <a:ext cx="324588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m:rPr>
                          <m:nor/>
                        </m:rPr>
                        <a:rPr lang="ru-RU" sz="1200" dirty="0">
                          <a:solidFill>
                            <a:schemeClr val="tx1"/>
                          </a:solidFill>
                        </a:rPr>
                        <m:t>угол между прямыми</m:t>
                      </m:r>
                      <m:r>
                        <m:rPr>
                          <m:nor/>
                        </m:rPr>
                        <a:rPr lang="en-US" sz="1200" dirty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a:rPr lang="en-US" sz="1200" b="0" i="1" dirty="0">
                          <a:solidFill>
                            <a:schemeClr val="tx1"/>
                          </a:solidFill>
                          <a:latin typeface="Cambria Math" charset="0"/>
                        </a:rPr>
                        <m:t>𝐴𝑀</m:t>
                      </m:r>
                      <m:r>
                        <m:rPr>
                          <m:nor/>
                        </m:rPr>
                        <a:rPr lang="en-US" sz="1200" dirty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ru-RU" sz="1200" dirty="0">
                          <a:solidFill>
                            <a:schemeClr val="tx1"/>
                          </a:solidFill>
                        </a:rPr>
                        <m:t>и </m:t>
                      </m:r>
                      <m:r>
                        <a:rPr lang="en-US" sz="1200" b="0" i="1" dirty="0">
                          <a:solidFill>
                            <a:schemeClr val="tx1"/>
                          </a:solidFill>
                          <a:latin typeface="Cambria Math" charset="0"/>
                        </a:rPr>
                        <m:t>𝐷𝑁</m:t>
                      </m:r>
                      <m:r>
                        <m:rPr>
                          <m:nor/>
                        </m:rPr>
                        <a:rPr lang="en-US" sz="1200" dirty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ru-RU" sz="1200" dirty="0">
                          <a:solidFill>
                            <a:schemeClr val="tx1"/>
                          </a:solidFill>
                        </a:rPr>
                        <m:t>равен </m:t>
                      </m:r>
                      <m:r>
                        <a:rPr lang="ru-RU" sz="1200" b="0" i="1" dirty="0">
                          <a:solidFill>
                            <a:schemeClr val="tx1"/>
                          </a:solidFill>
                          <a:latin typeface="Cambria Math" charset="0"/>
                        </a:rPr>
                        <m:t>60</m:t>
                      </m:r>
                      <m:r>
                        <a:rPr lang="it-IT" sz="1200" b="0" i="1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°</m:t>
                      </m:r>
                      <m:r>
                        <a:rPr lang="ru-RU" sz="1200" b="0" i="1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.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4" name="TextBox 1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036" y="3693529"/>
                <a:ext cx="3245889" cy="276999"/>
              </a:xfrm>
              <a:prstGeom prst="rect">
                <a:avLst/>
              </a:prstGeom>
              <a:blipFill rotWithShape="0">
                <a:blip r:embed="rId37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9067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/>
      <p:bldP spid="9" grpId="0"/>
      <p:bldP spid="10" grpId="0"/>
      <p:bldP spid="23" grpId="0"/>
      <p:bldP spid="24" grpId="0"/>
      <p:bldP spid="25" grpId="0"/>
      <p:bldP spid="26" grpId="0" animBg="1"/>
      <p:bldP spid="28" grpId="0"/>
      <p:bldP spid="29" grpId="0" animBg="1"/>
      <p:bldP spid="30" grpId="0"/>
      <p:bldP spid="39" grpId="0" animBg="1"/>
      <p:bldP spid="40" grpId="0" animBg="1"/>
      <p:bldP spid="41" grpId="0" animBg="1"/>
      <p:bldP spid="42" grpId="0" animBg="1"/>
      <p:bldP spid="48" grpId="0"/>
      <p:bldP spid="59" grpId="0"/>
      <p:bldP spid="60" grpId="0"/>
      <p:bldP spid="61" grpId="0"/>
      <p:bldP spid="63" grpId="0"/>
      <p:bldP spid="64" grpId="0"/>
      <p:bldP spid="65" grpId="0"/>
      <p:bldP spid="66" grpId="0"/>
      <p:bldP spid="67" grpId="0"/>
      <p:bldP spid="68" grpId="0"/>
      <p:bldP spid="80" grpId="0" animBg="1"/>
      <p:bldP spid="82" grpId="0"/>
      <p:bldP spid="86" grpId="0" animBg="1"/>
      <p:bldP spid="87" grpId="0"/>
      <p:bldP spid="88" grpId="0"/>
      <p:bldP spid="89" grpId="0"/>
      <p:bldP spid="90" grpId="0" animBg="1"/>
      <p:bldP spid="91" grpId="0"/>
      <p:bldP spid="92" grpId="0"/>
      <p:bldP spid="93" grpId="0"/>
      <p:bldP spid="94" grpId="0"/>
      <p:bldP spid="96" grpId="0"/>
      <p:bldP spid="97" grpId="0"/>
      <p:bldP spid="98" grpId="0"/>
      <p:bldP spid="99" grpId="0"/>
      <p:bldP spid="100" grpId="0"/>
      <p:bldP spid="101" grpId="0"/>
      <p:bldP spid="102" grpId="0"/>
      <p:bldP spid="103" grpId="0"/>
      <p:bldP spid="10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26</a:t>
            </a:fld>
            <a:endParaRPr kumimoji="0" lang="ru-RU">
              <a:solidFill>
                <a:schemeClr val="tx2"/>
              </a:solidFill>
            </a:endParaRPr>
          </a:p>
        </p:txBody>
      </p:sp>
      <p:sp>
        <p:nvSpPr>
          <p:cNvPr id="3" name="Номер слайда 1"/>
          <p:cNvSpPr txBox="1">
            <a:spLocks/>
          </p:cNvSpPr>
          <p:nvPr/>
        </p:nvSpPr>
        <p:spPr>
          <a:xfrm>
            <a:off x="0" y="4686300"/>
            <a:ext cx="533400" cy="285750"/>
          </a:xfrm>
          <a:prstGeom prst="rect">
            <a:avLst/>
          </a:prstGeom>
        </p:spPr>
        <p:txBody>
          <a:bodyPr vert="horz" anchor="ctr" anchorCtr="0">
            <a:normAutofit lnSpcReduction="10000"/>
          </a:bodyPr>
          <a:lstStyle>
            <a:lvl1pPr marL="0" algn="ctr" rtl="0" eaLnBrk="1" latinLnBrk="0" hangingPunct="1">
              <a:defRPr kumimoji="0" lang="ru-RU"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fld id="{A3F7CB7D-F184-43C7-B6FD-03D728E1BBFF}" type="slidenum">
              <a:rPr lang="is-IS" smtClean="0"/>
              <a:pPr/>
              <a:t>26</a:t>
            </a:fld>
            <a:endParaRPr lang="is-I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0" y="-22136"/>
                <a:ext cx="9144000" cy="93770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dirty="0" smtClean="0">
                    <a:solidFill>
                      <a:srgbClr val="7030A0"/>
                    </a:solidFill>
                  </a:rPr>
                  <a:t>16.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Основание пирамиды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𝑨𝑩𝑪𝑫</m:t>
                    </m:r>
                  </m:oMath>
                </a14:m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mr-IN" sz="1200" b="1" i="0" dirty="0" smtClean="0">
                    <a:solidFill>
                      <a:srgbClr val="002060"/>
                    </a:solidFill>
                    <a:latin typeface="+mj-lt"/>
                  </a:rPr>
                  <a:t>–</a:t>
                </a:r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равносторонний треугольник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𝑨𝑩𝑪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,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боковое ребро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𝑨𝑫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перпендикулярно плоскости основания.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𝑨𝑫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: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𝑩𝑪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𝟏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:</m:t>
                    </m:r>
                    <m:rad>
                      <m:radPr>
                        <m:degHide m:val="on"/>
                        <m:ctrlP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𝟐</m:t>
                        </m:r>
                      </m:e>
                    </m:rad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.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Точки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𝑴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 и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𝑵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mr-IN" sz="1200" b="1" dirty="0" smtClean="0">
                    <a:solidFill>
                      <a:srgbClr val="002060"/>
                    </a:solidFill>
                  </a:rPr>
                  <a:t>–</a:t>
                </a:r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середины ребер 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𝑩𝑪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соответственно. </a:t>
                </a:r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а) Докажите, что угол между прямыми</a:t>
                </a:r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𝑨𝑴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𝑫𝑵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равен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𝟔𝟎</m:t>
                    </m:r>
                    <m:r>
                      <a:rPr lang="it-IT" sz="1200" b="1" i="1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°</m:t>
                    </m:r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.</m:t>
                    </m:r>
                  </m:oMath>
                </a14:m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б) Найдите расстояние между этими прямыми, если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</m:t>
                    </m:r>
                    <m:r>
                      <a:rPr lang="en-US" sz="1200" b="1" i="0" smtClean="0">
                        <a:solidFill>
                          <a:srgbClr val="002060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𝟔</m:t>
                    </m:r>
                    <m:rad>
                      <m:radPr>
                        <m:degHide m:val="on"/>
                        <m:ctrlPr>
                          <a:rPr lang="ru-RU" sz="1200" b="1" i="1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ru-RU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𝟐</m:t>
                        </m:r>
                      </m:e>
                    </m:rad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</a:t>
                </a:r>
                <a:endParaRPr lang="en-US" sz="12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6"/>
                <a:ext cx="9144000" cy="93770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Прямая соединительная линия 4"/>
          <p:cNvCxnSpPr/>
          <p:nvPr/>
        </p:nvCxnSpPr>
        <p:spPr>
          <a:xfrm>
            <a:off x="6031812" y="3504407"/>
            <a:ext cx="2736304" cy="0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>
            <a:off x="6031812" y="3504407"/>
            <a:ext cx="1800200" cy="936104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flipV="1">
            <a:off x="7832012" y="3504407"/>
            <a:ext cx="936104" cy="936104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701403" y="3344093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403" y="3344093"/>
                <a:ext cx="340286" cy="3077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 flipH="1">
                <a:off x="8676222" y="3239078"/>
                <a:ext cx="2465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676222" y="3239078"/>
                <a:ext cx="246540" cy="307777"/>
              </a:xfrm>
              <a:prstGeom prst="rect">
                <a:avLst/>
              </a:prstGeom>
              <a:blipFill rotWithShape="0">
                <a:blip r:embed="rId4"/>
                <a:stretch>
                  <a:fillRect r="-73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 flipH="1">
                <a:off x="7566076" y="4391638"/>
                <a:ext cx="7122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566076" y="4391638"/>
                <a:ext cx="712236" cy="3077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Прямая соединительная линия 10"/>
          <p:cNvCxnSpPr>
            <a:endCxn id="9" idx="3"/>
          </p:cNvCxnSpPr>
          <p:nvPr/>
        </p:nvCxnSpPr>
        <p:spPr>
          <a:xfrm>
            <a:off x="6041689" y="1563638"/>
            <a:ext cx="0" cy="1934344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6041689" y="1563638"/>
            <a:ext cx="1790323" cy="2876873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6041689" y="1563638"/>
            <a:ext cx="2726427" cy="1940768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756358" y="1363500"/>
                <a:ext cx="35503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𝐷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6358" y="1363500"/>
                <a:ext cx="355033" cy="3077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Овал 16"/>
          <p:cNvSpPr/>
          <p:nvPr/>
        </p:nvSpPr>
        <p:spPr>
          <a:xfrm flipV="1">
            <a:off x="8277198" y="3968896"/>
            <a:ext cx="45731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 flipH="1">
                <a:off x="8277535" y="3939696"/>
                <a:ext cx="24654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𝑀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277535" y="3939696"/>
                <a:ext cx="246540" cy="276999"/>
              </a:xfrm>
              <a:prstGeom prst="rect">
                <a:avLst/>
              </a:prstGeom>
              <a:blipFill rotWithShape="0">
                <a:blip r:embed="rId7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Овал 18"/>
          <p:cNvSpPr/>
          <p:nvPr/>
        </p:nvSpPr>
        <p:spPr>
          <a:xfrm flipV="1">
            <a:off x="7403598" y="3490500"/>
            <a:ext cx="41574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 flipH="1">
                <a:off x="7300357" y="3493254"/>
                <a:ext cx="24654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𝑁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300357" y="3493254"/>
                <a:ext cx="246540" cy="276999"/>
              </a:xfrm>
              <a:prstGeom prst="rect">
                <a:avLst/>
              </a:prstGeom>
              <a:blipFill rotWithShape="0">
                <a:blip r:embed="rId8"/>
                <a:stretch>
                  <a:fillRect r="-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Прямая соединительная линия 20"/>
          <p:cNvCxnSpPr/>
          <p:nvPr/>
        </p:nvCxnSpPr>
        <p:spPr>
          <a:xfrm>
            <a:off x="6022264" y="3507393"/>
            <a:ext cx="2293968" cy="500527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6041688" y="1563637"/>
            <a:ext cx="1397396" cy="1962339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Полилиния 22"/>
          <p:cNvSpPr/>
          <p:nvPr/>
        </p:nvSpPr>
        <p:spPr>
          <a:xfrm>
            <a:off x="8016240" y="4185920"/>
            <a:ext cx="111760" cy="60960"/>
          </a:xfrm>
          <a:custGeom>
            <a:avLst/>
            <a:gdLst>
              <a:gd name="connsiteX0" fmla="*/ 0 w 111760"/>
              <a:gd name="connsiteY0" fmla="*/ 0 h 60960"/>
              <a:gd name="connsiteX1" fmla="*/ 111760 w 111760"/>
              <a:gd name="connsiteY1" fmla="*/ 60960 h 60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1760" h="60960">
                <a:moveTo>
                  <a:pt x="0" y="0"/>
                </a:moveTo>
                <a:lnTo>
                  <a:pt x="111760" y="6096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олилиния 23"/>
          <p:cNvSpPr/>
          <p:nvPr/>
        </p:nvSpPr>
        <p:spPr>
          <a:xfrm>
            <a:off x="8440448" y="3759578"/>
            <a:ext cx="111760" cy="60960"/>
          </a:xfrm>
          <a:custGeom>
            <a:avLst/>
            <a:gdLst>
              <a:gd name="connsiteX0" fmla="*/ 0 w 111760"/>
              <a:gd name="connsiteY0" fmla="*/ 0 h 60960"/>
              <a:gd name="connsiteX1" fmla="*/ 111760 w 111760"/>
              <a:gd name="connsiteY1" fmla="*/ 60960 h 60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1760" h="60960">
                <a:moveTo>
                  <a:pt x="0" y="0"/>
                </a:moveTo>
                <a:lnTo>
                  <a:pt x="111760" y="6096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олилиния 24"/>
          <p:cNvSpPr/>
          <p:nvPr/>
        </p:nvSpPr>
        <p:spPr>
          <a:xfrm rot="5400000">
            <a:off x="6769210" y="3465016"/>
            <a:ext cx="111760" cy="60960"/>
          </a:xfrm>
          <a:custGeom>
            <a:avLst/>
            <a:gdLst>
              <a:gd name="connsiteX0" fmla="*/ 0 w 111760"/>
              <a:gd name="connsiteY0" fmla="*/ 0 h 60960"/>
              <a:gd name="connsiteX1" fmla="*/ 111760 w 111760"/>
              <a:gd name="connsiteY1" fmla="*/ 60960 h 60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1760" h="60960">
                <a:moveTo>
                  <a:pt x="0" y="0"/>
                </a:moveTo>
                <a:lnTo>
                  <a:pt x="111760" y="6096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олилиния 25"/>
          <p:cNvSpPr/>
          <p:nvPr/>
        </p:nvSpPr>
        <p:spPr>
          <a:xfrm rot="5400000">
            <a:off x="7970622" y="3487502"/>
            <a:ext cx="111760" cy="60960"/>
          </a:xfrm>
          <a:custGeom>
            <a:avLst/>
            <a:gdLst>
              <a:gd name="connsiteX0" fmla="*/ 0 w 111760"/>
              <a:gd name="connsiteY0" fmla="*/ 0 h 60960"/>
              <a:gd name="connsiteX1" fmla="*/ 111760 w 111760"/>
              <a:gd name="connsiteY1" fmla="*/ 60960 h 60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1760" h="60960">
                <a:moveTo>
                  <a:pt x="0" y="0"/>
                </a:moveTo>
                <a:lnTo>
                  <a:pt x="111760" y="6096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/>
          <p:cNvSpPr/>
          <p:nvPr/>
        </p:nvSpPr>
        <p:spPr>
          <a:xfrm flipV="1">
            <a:off x="8519913" y="3726473"/>
            <a:ext cx="45731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 flipH="1">
                <a:off x="8532440" y="3601055"/>
                <a:ext cx="24654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𝐾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532440" y="3601055"/>
                <a:ext cx="246540" cy="276999"/>
              </a:xfrm>
              <a:prstGeom prst="rect">
                <a:avLst/>
              </a:prstGeom>
              <a:blipFill rotWithShape="0">
                <a:blip r:embed="rId9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107504" y="1012347"/>
                <a:ext cx="207883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/>
                  <a:t>б)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charset="0"/>
                      </a:rPr>
                      <m:t>𝑁𝐾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∥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𝐴𝑀</m:t>
                    </m:r>
                    <m:r>
                      <a:rPr lang="en-US" sz="1200" i="1" dirty="0">
                        <a:latin typeface="Cambria Math" charset="0"/>
                      </a:rPr>
                      <m:t>⟹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𝐴𝑀</m:t>
                    </m:r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∥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𝐷𝑁𝐾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1012347"/>
                <a:ext cx="2078839" cy="276999"/>
              </a:xfrm>
              <a:prstGeom prst="rect">
                <a:avLst/>
              </a:prstGeom>
              <a:blipFill rotWithShape="0">
                <a:blip r:embed="rId10"/>
                <a:stretch>
                  <a:fillRect l="-293"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Прямая соединительная линия 64"/>
          <p:cNvCxnSpPr>
            <a:stCxn id="19" idx="6"/>
            <a:endCxn id="43" idx="3"/>
          </p:cNvCxnSpPr>
          <p:nvPr/>
        </p:nvCxnSpPr>
        <p:spPr>
          <a:xfrm>
            <a:off x="7445172" y="3511281"/>
            <a:ext cx="1087268" cy="228274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/>
          <p:cNvCxnSpPr>
            <a:endCxn id="43" idx="3"/>
          </p:cNvCxnSpPr>
          <p:nvPr/>
        </p:nvCxnSpPr>
        <p:spPr>
          <a:xfrm>
            <a:off x="6041688" y="1560425"/>
            <a:ext cx="2490752" cy="217913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1" name="Полилиния 70"/>
          <p:cNvSpPr/>
          <p:nvPr/>
        </p:nvSpPr>
        <p:spPr>
          <a:xfrm>
            <a:off x="6051238" y="1564075"/>
            <a:ext cx="2479040" cy="2184400"/>
          </a:xfrm>
          <a:custGeom>
            <a:avLst/>
            <a:gdLst>
              <a:gd name="connsiteX0" fmla="*/ 0 w 2479040"/>
              <a:gd name="connsiteY0" fmla="*/ 0 h 2184400"/>
              <a:gd name="connsiteX1" fmla="*/ 2479040 w 2479040"/>
              <a:gd name="connsiteY1" fmla="*/ 2184400 h 2184400"/>
              <a:gd name="connsiteX2" fmla="*/ 1361440 w 2479040"/>
              <a:gd name="connsiteY2" fmla="*/ 1940560 h 2184400"/>
              <a:gd name="connsiteX3" fmla="*/ 0 w 2479040"/>
              <a:gd name="connsiteY3" fmla="*/ 0 h 218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040" h="2184400">
                <a:moveTo>
                  <a:pt x="0" y="0"/>
                </a:moveTo>
                <a:lnTo>
                  <a:pt x="2479040" y="2184400"/>
                </a:lnTo>
                <a:lnTo>
                  <a:pt x="1361440" y="1940560"/>
                </a:lnTo>
                <a:lnTo>
                  <a:pt x="0" y="0"/>
                </a:lnTo>
                <a:close/>
              </a:path>
            </a:pathLst>
          </a:custGeom>
          <a:solidFill>
            <a:srgbClr val="FF000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107504" y="1252648"/>
                <a:ext cx="22067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 smtClean="0"/>
                  <a:t>Рассмотрим пирамиду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𝐷𝑁𝐾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𝑀</m:t>
                    </m:r>
                  </m:oMath>
                </a14:m>
                <a:r>
                  <a:rPr lang="ru-RU" sz="1200" dirty="0" smtClean="0"/>
                  <a:t>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1252648"/>
                <a:ext cx="2206758" cy="276999"/>
              </a:xfrm>
              <a:prstGeom prst="rect">
                <a:avLst/>
              </a:prstGeom>
              <a:blipFill rotWithShape="0">
                <a:blip r:embed="rId11"/>
                <a:stretch>
                  <a:fillRect l="-276"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Прямая соединительная линия 73"/>
          <p:cNvCxnSpPr>
            <a:stCxn id="20" idx="0"/>
            <a:endCxn id="17" idx="6"/>
          </p:cNvCxnSpPr>
          <p:nvPr/>
        </p:nvCxnSpPr>
        <p:spPr>
          <a:xfrm>
            <a:off x="7423627" y="3493254"/>
            <a:ext cx="899302" cy="498501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единительная линия 77"/>
          <p:cNvCxnSpPr>
            <a:stCxn id="17" idx="2"/>
            <a:endCxn id="43" idx="3"/>
          </p:cNvCxnSpPr>
          <p:nvPr/>
        </p:nvCxnSpPr>
        <p:spPr>
          <a:xfrm flipV="1">
            <a:off x="8277198" y="3739555"/>
            <a:ext cx="255242" cy="25220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1" name="Полилиния 80"/>
          <p:cNvSpPr/>
          <p:nvPr/>
        </p:nvSpPr>
        <p:spPr>
          <a:xfrm>
            <a:off x="6055360" y="1584960"/>
            <a:ext cx="2489200" cy="2407920"/>
          </a:xfrm>
          <a:custGeom>
            <a:avLst/>
            <a:gdLst>
              <a:gd name="connsiteX0" fmla="*/ 0 w 2489200"/>
              <a:gd name="connsiteY0" fmla="*/ 0 h 2407920"/>
              <a:gd name="connsiteX1" fmla="*/ 1391920 w 2489200"/>
              <a:gd name="connsiteY1" fmla="*/ 1940560 h 2407920"/>
              <a:gd name="connsiteX2" fmla="*/ 2245360 w 2489200"/>
              <a:gd name="connsiteY2" fmla="*/ 2407920 h 2407920"/>
              <a:gd name="connsiteX3" fmla="*/ 2489200 w 2489200"/>
              <a:gd name="connsiteY3" fmla="*/ 2164080 h 2407920"/>
              <a:gd name="connsiteX4" fmla="*/ 0 w 2489200"/>
              <a:gd name="connsiteY4" fmla="*/ 0 h 2407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89200" h="2407920">
                <a:moveTo>
                  <a:pt x="0" y="0"/>
                </a:moveTo>
                <a:lnTo>
                  <a:pt x="1391920" y="1940560"/>
                </a:lnTo>
                <a:lnTo>
                  <a:pt x="2245360" y="2407920"/>
                </a:lnTo>
                <a:lnTo>
                  <a:pt x="2489200" y="2164080"/>
                </a:lnTo>
                <a:lnTo>
                  <a:pt x="0" y="0"/>
                </a:lnTo>
                <a:close/>
              </a:path>
            </a:pathLst>
          </a:custGeom>
          <a:solidFill>
            <a:srgbClr val="FF0000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107504" y="1529647"/>
                <a:ext cx="1736886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𝐷𝑁𝐾</m:t>
                          </m:r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𝑀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den>
                      </m:f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sSub>
                        <m:sSubPr>
                          <m:ctrlPr>
                            <a:rPr lang="en-US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𝐷𝑁𝐾</m:t>
                          </m:r>
                        </m:sub>
                      </m:sSub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𝑀𝐻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1529647"/>
                <a:ext cx="1736886" cy="439223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1658125" y="1529647"/>
                <a:ext cx="1283813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den>
                      </m:f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sSub>
                        <m:sSubPr>
                          <m:ctrlPr>
                            <a:rPr lang="en-US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𝑀</m:t>
                          </m:r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𝑁𝐾</m:t>
                          </m:r>
                        </m:sub>
                      </m:sSub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𝐴𝐷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125" y="1529647"/>
                <a:ext cx="1283813" cy="439223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105342" y="1900026"/>
                <a:ext cx="934807" cy="2987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𝐴𝐵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=6</m:t>
                      </m:r>
                      <m:rad>
                        <m:radPr>
                          <m:degHide m:val="on"/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e>
                      </m:rad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42" y="1900026"/>
                <a:ext cx="934807" cy="298736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907175" y="1921763"/>
                <a:ext cx="7539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𝐴𝐷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=6;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175" y="1921763"/>
                <a:ext cx="753988" cy="276999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82072" y="2189881"/>
                <a:ext cx="1226554" cy="4380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𝑀𝑁𝐾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𝑀𝑁</m:t>
                          </m:r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72" y="2189881"/>
                <a:ext cx="1226554" cy="438005"/>
              </a:xfrm>
              <a:prstGeom prst="rect">
                <a:avLst/>
              </a:prstGeom>
              <a:blipFill rotWithShape="0">
                <a:blip r:embed="rId16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1127082" y="2219579"/>
                <a:ext cx="1062086" cy="4380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𝐴𝐵</m:t>
                          </m:r>
                          <m:r>
                            <a:rPr lang="ru-RU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С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)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082" y="2219579"/>
                <a:ext cx="1062086" cy="438005"/>
              </a:xfrm>
              <a:prstGeom prst="rect">
                <a:avLst/>
              </a:prstGeom>
              <a:blipFill rotWithShape="0">
                <a:blip r:embed="rId1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2012207" y="2217908"/>
                <a:ext cx="785408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8</m:t>
                          </m:r>
                        </m:den>
                      </m:f>
                      <m:sSub>
                        <m:sSubPr>
                          <m:ctrlPr>
                            <a:rPr lang="en-US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𝐴𝐵𝐶</m:t>
                          </m:r>
                        </m:sub>
                      </m:sSub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2207" y="2217908"/>
                <a:ext cx="785408" cy="439223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2609563" y="2164124"/>
                <a:ext cx="1353704" cy="518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8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f>
                        <m:fPr>
                          <m:ctrlPr>
                            <a:rPr lang="mr-IN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200" b="0" i="1" smtClean="0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6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sz="1200" b="0" i="1" smtClean="0">
                                          <a:latin typeface="Cambria Math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1200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e>
                              </m:d>
                            </m:e>
                            <m:sup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rad>
                            <m:radPr>
                              <m:degHide m:val="on"/>
                              <m:ctrlPr>
                                <a:rPr lang="en-US" sz="120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9563" y="2164124"/>
                <a:ext cx="1353704" cy="518988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3805500" y="2197741"/>
                <a:ext cx="760721" cy="4795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9</m:t>
                          </m:r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rad>
                            <m:radPr>
                              <m:degHide m:val="on"/>
                              <m:ctrlPr>
                                <a:rPr lang="en-US" sz="120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5500" y="2197741"/>
                <a:ext cx="760721" cy="479555"/>
              </a:xfrm>
              <a:prstGeom prst="rect">
                <a:avLst/>
              </a:prstGeom>
              <a:blipFill rotWithShape="0">
                <a:blip r:embed="rId20"/>
                <a:stretch>
                  <a:fillRect b="-12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66747" y="2627886"/>
                <a:ext cx="2371803" cy="4380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𝐷</m:t>
                          </m:r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𝑁𝐾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𝐷𝑁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𝑁𝐾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sin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⁡(∠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𝐷𝑁𝐾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)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47" y="2627886"/>
                <a:ext cx="2371803" cy="438005"/>
              </a:xfrm>
              <a:prstGeom prst="rect">
                <a:avLst/>
              </a:prstGeom>
              <a:blipFill rotWithShape="0">
                <a:blip r:embed="rId21"/>
                <a:stretch>
                  <a:fillRect t="-27778" b="-486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45663" y="3035072"/>
                <a:ext cx="1511504" cy="3211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𝐷𝑁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mr-IN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mr-IN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𝐴𝐷</m:t>
                              </m:r>
                            </m:e>
                            <m:sup>
                              <m:r>
                                <a:rPr lang="mr-IN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mr-IN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mr-IN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𝐴𝑁</m:t>
                              </m:r>
                            </m:e>
                            <m:sup>
                              <m:r>
                                <a:rPr lang="mr-IN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63" y="3035072"/>
                <a:ext cx="1511504" cy="321114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/>
              <p:cNvSpPr txBox="1"/>
              <p:nvPr/>
            </p:nvSpPr>
            <p:spPr>
              <a:xfrm>
                <a:off x="1355336" y="2951398"/>
                <a:ext cx="1305807" cy="4681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mr-IN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mr-IN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6</m:t>
                              </m:r>
                            </m:e>
                            <m:sup>
                              <m:r>
                                <a:rPr lang="mr-IN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mr-IN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mr-IN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(3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200" b="0" i="1" smtClean="0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200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2</m:t>
                                  </m:r>
                                </m:e>
                              </m:rad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mr-IN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5336" y="2951398"/>
                <a:ext cx="1305807" cy="468141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/>
              <p:cNvSpPr txBox="1"/>
              <p:nvPr/>
            </p:nvSpPr>
            <p:spPr>
              <a:xfrm>
                <a:off x="2521212" y="3055392"/>
                <a:ext cx="2238754" cy="2943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=3</m:t>
                    </m:r>
                    <m:rad>
                      <m:radPr>
                        <m:degHide m:val="on"/>
                        <m:ctrlPr>
                          <a:rPr lang="mr-IN" sz="1200" b="0" i="1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radPr>
                      <m:deg/>
                      <m:e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6</m:t>
                        </m:r>
                      </m:e>
                    </m:rad>
                    <m:r>
                      <a:rPr lang="ru-RU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  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(из треугольника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𝐴𝐷𝑁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)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1212" y="3055392"/>
                <a:ext cx="2238754" cy="294376"/>
              </a:xfrm>
              <a:prstGeom prst="rect">
                <a:avLst/>
              </a:prstGeom>
              <a:blipFill rotWithShape="0">
                <a:blip r:embed="rId24"/>
                <a:stretch>
                  <a:fillRect t="-67347" b="-918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46468" y="3359278"/>
                <a:ext cx="2004010" cy="4795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𝑁𝐾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𝐴𝑀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ru-RU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ru-RU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ru-RU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ru-RU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ru-RU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6</m:t>
                      </m:r>
                      <m:rad>
                        <m:radPr>
                          <m:degHide m:val="on"/>
                          <m:ctrlPr>
                            <a:rPr lang="ru-RU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ru-RU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e>
                      </m:rad>
                      <m:r>
                        <a:rPr lang="ru-RU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mr-IN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ru-RU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68" y="3359278"/>
                <a:ext cx="2004010" cy="479555"/>
              </a:xfrm>
              <a:prstGeom prst="rect">
                <a:avLst/>
              </a:prstGeom>
              <a:blipFill rotWithShape="0">
                <a:blip r:embed="rId25"/>
                <a:stretch>
                  <a:fillRect b="-12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/>
              <p:cNvSpPr txBox="1"/>
              <p:nvPr/>
            </p:nvSpPr>
            <p:spPr>
              <a:xfrm>
                <a:off x="40640" y="3825874"/>
                <a:ext cx="1898790" cy="4795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𝐷</m:t>
                          </m:r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𝑁𝐾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3</m:t>
                      </m:r>
                      <m:rad>
                        <m:radPr>
                          <m:degHide m:val="on"/>
                          <m:ctrlPr>
                            <a:rPr lang="mr-IN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6</m:t>
                          </m:r>
                        </m:e>
                      </m:rad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f>
                        <m:fPr>
                          <m:ctrlPr>
                            <a:rPr lang="ru-RU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ru-RU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  <m:rad>
                            <m:radPr>
                              <m:degHide m:val="on"/>
                              <m:ctrlPr>
                                <a:rPr lang="ru-RU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6</m:t>
                              </m:r>
                            </m:e>
                          </m:rad>
                        </m:num>
                        <m:den>
                          <m:r>
                            <a:rPr lang="ru-RU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7" name="TextBox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" y="3825874"/>
                <a:ext cx="1898790" cy="479555"/>
              </a:xfrm>
              <a:prstGeom prst="rect">
                <a:avLst/>
              </a:prstGeom>
              <a:blipFill rotWithShape="0">
                <a:blip r:embed="rId26"/>
                <a:stretch>
                  <a:fillRect b="-12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/>
              <p:cNvSpPr txBox="1"/>
              <p:nvPr/>
            </p:nvSpPr>
            <p:spPr>
              <a:xfrm>
                <a:off x="2890884" y="1529647"/>
                <a:ext cx="1338059" cy="4694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𝑀𝐻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𝑀𝑁𝐾</m:t>
                              </m:r>
                            </m:sub>
                          </m:sSub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𝐴𝐷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𝐷𝑁𝐾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8" name="TextBox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0884" y="1529647"/>
                <a:ext cx="1338059" cy="469424"/>
              </a:xfrm>
              <a:prstGeom prst="rect">
                <a:avLst/>
              </a:prstGeom>
              <a:blipFill rotWithShape="0"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/>
              <p:cNvSpPr txBox="1"/>
              <p:nvPr/>
            </p:nvSpPr>
            <p:spPr>
              <a:xfrm>
                <a:off x="1779532" y="3823169"/>
                <a:ext cx="799771" cy="4795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ru-RU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ru-RU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27</m:t>
                          </m:r>
                          <m:rad>
                            <m:radPr>
                              <m:degHide m:val="on"/>
                              <m:ctrlPr>
                                <a:rPr lang="ru-RU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ru-RU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4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0" name="TextBox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532" y="3823169"/>
                <a:ext cx="799771" cy="479555"/>
              </a:xfrm>
              <a:prstGeom prst="rect">
                <a:avLst/>
              </a:prstGeom>
              <a:blipFill rotWithShape="0">
                <a:blip r:embed="rId28"/>
                <a:stretch>
                  <a:fillRect b="-12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/>
              <p:cNvSpPr txBox="1"/>
              <p:nvPr/>
            </p:nvSpPr>
            <p:spPr>
              <a:xfrm>
                <a:off x="2561809" y="3725044"/>
                <a:ext cx="2118209" cy="7909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𝑀𝐻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𝑀𝑁𝐾</m:t>
                              </m:r>
                            </m:sub>
                          </m:sSub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𝐴𝐷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𝐷𝑁𝐾</m:t>
                              </m:r>
                            </m:sub>
                          </m:sSub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mr-IN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9∙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200" i="1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2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3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sz="12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6</m:t>
                          </m:r>
                        </m:num>
                        <m:den>
                          <m:f>
                            <m:fPr>
                              <m:ctrlPr>
                                <a:rPr lang="ru-RU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>
                                <a:rPr lang="ru-RU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27</m:t>
                              </m:r>
                              <m:rad>
                                <m:radPr>
                                  <m:degHide m:val="on"/>
                                  <m:ctrlPr>
                                    <a:rPr lang="ru-RU" sz="1200" i="1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ru-RU" sz="12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3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ru-RU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1" name="TextBox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809" y="3725044"/>
                <a:ext cx="2118209" cy="790922"/>
              </a:xfrm>
              <a:prstGeom prst="rect">
                <a:avLst/>
              </a:prstGeom>
              <a:blipFill rotWithShape="0"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/>
              <p:cNvSpPr txBox="1"/>
              <p:nvPr/>
            </p:nvSpPr>
            <p:spPr>
              <a:xfrm>
                <a:off x="4528021" y="3965056"/>
                <a:ext cx="46307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=2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2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021" y="3965056"/>
                <a:ext cx="463075" cy="276999"/>
              </a:xfrm>
              <a:prstGeom prst="rect">
                <a:avLst/>
              </a:prstGeom>
              <a:blipFill rotWithShape="0"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/>
              <p:cNvSpPr txBox="1"/>
              <p:nvPr/>
            </p:nvSpPr>
            <p:spPr>
              <a:xfrm>
                <a:off x="1843777" y="3367131"/>
                <a:ext cx="649088" cy="4795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ru-RU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ru-RU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  <m:rad>
                            <m:radPr>
                              <m:degHide m:val="on"/>
                              <m:ctrlPr>
                                <a:rPr lang="ru-RU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6</m:t>
                              </m:r>
                            </m:e>
                          </m:rad>
                        </m:num>
                        <m:den>
                          <m:r>
                            <a:rPr lang="ru-RU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3777" y="3367131"/>
                <a:ext cx="649088" cy="479555"/>
              </a:xfrm>
              <a:prstGeom prst="rect">
                <a:avLst/>
              </a:prstGeom>
              <a:blipFill rotWithShape="0">
                <a:blip r:embed="rId31"/>
                <a:stretch>
                  <a:fillRect b="-12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/>
              <p:cNvSpPr txBox="1"/>
              <p:nvPr/>
            </p:nvSpPr>
            <p:spPr>
              <a:xfrm>
                <a:off x="4740952" y="4463195"/>
                <a:ext cx="10033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b="1" dirty="0" smtClean="0">
                    <a:solidFill>
                      <a:srgbClr val="FF0000"/>
                    </a:solidFill>
                  </a:rPr>
                  <a:t>Ответ: </a:t>
                </a:r>
                <a14:m>
                  <m:oMath xmlns:m="http://schemas.openxmlformats.org/officeDocument/2006/math">
                    <m:r>
                      <a:rPr lang="ru-RU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𝟐</m:t>
                    </m:r>
                  </m:oMath>
                </a14:m>
                <a:endParaRPr lang="ru-RU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5" name="Text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0952" y="4463195"/>
                <a:ext cx="1003352" cy="369332"/>
              </a:xfrm>
              <a:prstGeom prst="rect">
                <a:avLst/>
              </a:prstGeom>
              <a:blipFill rotWithShape="0">
                <a:blip r:embed="rId32"/>
                <a:stretch>
                  <a:fillRect l="-5488" t="-8197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/>
              <p:cNvSpPr txBox="1"/>
              <p:nvPr/>
            </p:nvSpPr>
            <p:spPr>
              <a:xfrm>
                <a:off x="6462704" y="3962940"/>
                <a:ext cx="490904" cy="2987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6</m:t>
                      </m:r>
                      <m:rad>
                        <m:radPr>
                          <m:degHide m:val="on"/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" name="TextBox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2704" y="3962940"/>
                <a:ext cx="490904" cy="298736"/>
              </a:xfrm>
              <a:prstGeom prst="rect">
                <a:avLst/>
              </a:prstGeom>
              <a:blipFill rotWithShape="0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/>
              <p:cNvSpPr txBox="1"/>
              <p:nvPr/>
            </p:nvSpPr>
            <p:spPr>
              <a:xfrm>
                <a:off x="5779276" y="2480236"/>
                <a:ext cx="3048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6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7" name="TextBox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9276" y="2480236"/>
                <a:ext cx="304892" cy="276999"/>
              </a:xfrm>
              <a:prstGeom prst="rect">
                <a:avLst/>
              </a:prstGeom>
              <a:blipFill rotWithShape="0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770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3" grpId="0"/>
      <p:bldP spid="64" grpId="0"/>
      <p:bldP spid="71" grpId="0" animBg="1"/>
      <p:bldP spid="72" grpId="0"/>
      <p:bldP spid="81" grpId="0" animBg="1"/>
      <p:bldP spid="82" grpId="0"/>
      <p:bldP spid="83" grpId="0"/>
      <p:bldP spid="84" grpId="0"/>
      <p:bldP spid="85" grpId="0"/>
      <p:bldP spid="86" grpId="0"/>
      <p:bldP spid="87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100" grpId="0"/>
      <p:bldP spid="101" grpId="0"/>
      <p:bldP spid="102" grpId="0"/>
      <p:bldP spid="103" grpId="0"/>
      <p:bldP spid="106" grpId="0"/>
      <p:bldP spid="10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27</a:t>
            </a:fld>
            <a:endParaRPr kumimoji="0" lang="ru-RU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0" y="-22136"/>
                <a:ext cx="9144000" cy="93770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dirty="0" smtClean="0">
                    <a:solidFill>
                      <a:srgbClr val="7030A0"/>
                    </a:solidFill>
                  </a:rPr>
                  <a:t>17.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Основание прямой треугольной призмы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𝑨𝑩𝑪</m:t>
                    </m:r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− </m:t>
                    </m:r>
                  </m:oMath>
                </a14:m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прямоугольный треугольник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𝑨𝑩𝑪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с</a:t>
                </a:r>
                <a14:m>
                  <m:oMath xmlns:m="http://schemas.openxmlformats.org/officeDocument/2006/math">
                    <m:r>
                      <a:rPr lang="ru-RU" sz="1200" b="1" i="0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прямым углом при вершине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, 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а боковая грань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</m:t>
                    </m:r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𝑪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−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квадрат. </a:t>
                </a:r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а) Докажите, что прямые</a:t>
                </a:r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𝑪</m:t>
                    </m:r>
                    <m:sSub>
                      <m:sSubPr>
                        <m:ctrlP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</m:t>
                    </m:r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перпендикулярны</a:t>
                </a:r>
                <a14:m>
                  <m:oMath xmlns:m="http://schemas.openxmlformats.org/officeDocument/2006/math"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.</m:t>
                    </m:r>
                  </m:oMath>
                </a14:m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б) Найдите расстояние между этими прямыми, если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𝑨𝑪</m:t>
                    </m:r>
                    <m:r>
                      <a:rPr lang="en-US" sz="1200" b="1" i="0" smtClean="0">
                        <a:solidFill>
                          <a:srgbClr val="002060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1" i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𝟐</m:t>
                    </m:r>
                    <m:r>
                      <a:rPr lang="en-US" sz="1200" b="1" i="0" smtClean="0">
                        <a:solidFill>
                          <a:srgbClr val="002060"/>
                        </a:solidFill>
                        <a:latin typeface="Cambria Math" charset="0"/>
                      </a:rPr>
                      <m:t>; 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𝑨</m:t>
                    </m:r>
                    <m:sSub>
                      <m:sSubPr>
                        <m:ctrlP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0" smtClean="0">
                        <a:solidFill>
                          <a:srgbClr val="002060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𝟐</m:t>
                    </m:r>
                    <m:rad>
                      <m:radPr>
                        <m:degHide m:val="on"/>
                        <m:ctrlPr>
                          <a:rPr lang="ru-RU" sz="1200" b="1" i="1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𝟑</m:t>
                        </m:r>
                      </m:e>
                    </m:rad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</a:t>
                </a:r>
                <a:endParaRPr lang="en-US" sz="12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6"/>
                <a:ext cx="9144000" cy="93770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Прямая соединительная линия 18"/>
          <p:cNvCxnSpPr/>
          <p:nvPr/>
        </p:nvCxnSpPr>
        <p:spPr>
          <a:xfrm>
            <a:off x="6792609" y="2328994"/>
            <a:ext cx="1152128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 flipH="1">
            <a:off x="6337174" y="2328994"/>
            <a:ext cx="1607563" cy="1074606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/>
          <p:nvPr/>
        </p:nvCxnSpPr>
        <p:spPr>
          <a:xfrm>
            <a:off x="6802873" y="3579862"/>
            <a:ext cx="1152128" cy="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/>
          <p:nvPr/>
        </p:nvCxnSpPr>
        <p:spPr>
          <a:xfrm flipH="1">
            <a:off x="6316646" y="3579862"/>
            <a:ext cx="486228" cy="1097078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/>
          <p:nvPr/>
        </p:nvCxnSpPr>
        <p:spPr>
          <a:xfrm flipH="1">
            <a:off x="6323687" y="3579862"/>
            <a:ext cx="1631314" cy="1093536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/>
          <p:nvPr/>
        </p:nvCxnSpPr>
        <p:spPr>
          <a:xfrm flipH="1">
            <a:off x="7942857" y="2322377"/>
            <a:ext cx="1880" cy="1250868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/>
          <p:nvPr/>
        </p:nvCxnSpPr>
        <p:spPr>
          <a:xfrm flipH="1">
            <a:off x="6791669" y="2328994"/>
            <a:ext cx="1880" cy="1250868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733360" y="3348566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3360" y="3348566"/>
                <a:ext cx="340286" cy="3077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 flipH="1">
                <a:off x="7847908" y="3376437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847908" y="3376437"/>
                <a:ext cx="486282" cy="3077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 flipH="1">
                <a:off x="6012587" y="4643109"/>
                <a:ext cx="3882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012587" y="4643109"/>
                <a:ext cx="388236" cy="3077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6446721" y="2092198"/>
                <a:ext cx="41716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721" y="2092198"/>
                <a:ext cx="417165" cy="3077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 flipH="1">
                <a:off x="7847908" y="2099986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847908" y="2099986"/>
                <a:ext cx="486282" cy="30777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 flipH="1">
                <a:off x="5837327" y="3265762"/>
                <a:ext cx="7122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837327" y="3265762"/>
                <a:ext cx="712236" cy="30777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Полилиния 40"/>
          <p:cNvSpPr/>
          <p:nvPr/>
        </p:nvSpPr>
        <p:spPr>
          <a:xfrm>
            <a:off x="6731301" y="3596639"/>
            <a:ext cx="260460" cy="155944"/>
          </a:xfrm>
          <a:custGeom>
            <a:avLst/>
            <a:gdLst>
              <a:gd name="connsiteX0" fmla="*/ 91440 w 274320"/>
              <a:gd name="connsiteY0" fmla="*/ 0 h 132080"/>
              <a:gd name="connsiteX1" fmla="*/ 274320 w 274320"/>
              <a:gd name="connsiteY1" fmla="*/ 0 h 132080"/>
              <a:gd name="connsiteX2" fmla="*/ 172720 w 274320"/>
              <a:gd name="connsiteY2" fmla="*/ 132080 h 132080"/>
              <a:gd name="connsiteX3" fmla="*/ 0 w 274320"/>
              <a:gd name="connsiteY3" fmla="*/ 132080 h 132080"/>
              <a:gd name="connsiteX4" fmla="*/ 91440 w 274320"/>
              <a:gd name="connsiteY4" fmla="*/ 0 h 132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0" h="132080">
                <a:moveTo>
                  <a:pt x="91440" y="0"/>
                </a:moveTo>
                <a:lnTo>
                  <a:pt x="274320" y="0"/>
                </a:lnTo>
                <a:lnTo>
                  <a:pt x="172720" y="132080"/>
                </a:lnTo>
                <a:lnTo>
                  <a:pt x="0" y="132080"/>
                </a:lnTo>
                <a:lnTo>
                  <a:pt x="91440" y="0"/>
                </a:lnTo>
                <a:close/>
              </a:path>
            </a:pathLst>
          </a:custGeom>
          <a:solidFill>
            <a:schemeClr val="bg1">
              <a:lumMod val="85000"/>
              <a:alpha val="26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олилиния 41"/>
          <p:cNvSpPr/>
          <p:nvPr/>
        </p:nvSpPr>
        <p:spPr>
          <a:xfrm>
            <a:off x="6269121" y="4013200"/>
            <a:ext cx="111760" cy="0"/>
          </a:xfrm>
          <a:custGeom>
            <a:avLst/>
            <a:gdLst>
              <a:gd name="connsiteX0" fmla="*/ 0 w 111760"/>
              <a:gd name="connsiteY0" fmla="*/ 0 h 0"/>
              <a:gd name="connsiteX1" fmla="*/ 111760 w 11176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1760">
                <a:moveTo>
                  <a:pt x="0" y="0"/>
                </a:moveTo>
                <a:lnTo>
                  <a:pt x="111760" y="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олилиния 42"/>
          <p:cNvSpPr/>
          <p:nvPr/>
        </p:nvSpPr>
        <p:spPr>
          <a:xfrm>
            <a:off x="6547777" y="3992880"/>
            <a:ext cx="91440" cy="40640"/>
          </a:xfrm>
          <a:custGeom>
            <a:avLst/>
            <a:gdLst>
              <a:gd name="connsiteX0" fmla="*/ 0 w 91440"/>
              <a:gd name="connsiteY0" fmla="*/ 0 h 40640"/>
              <a:gd name="connsiteX1" fmla="*/ 91440 w 91440"/>
              <a:gd name="connsiteY1" fmla="*/ 40640 h 40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" h="40640">
                <a:moveTo>
                  <a:pt x="0" y="0"/>
                </a:moveTo>
                <a:lnTo>
                  <a:pt x="91440" y="4064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олилиния 45"/>
          <p:cNvSpPr/>
          <p:nvPr/>
        </p:nvSpPr>
        <p:spPr>
          <a:xfrm>
            <a:off x="6702493" y="3454400"/>
            <a:ext cx="86068" cy="301724"/>
          </a:xfrm>
          <a:custGeom>
            <a:avLst/>
            <a:gdLst>
              <a:gd name="connsiteX0" fmla="*/ 0 w 101600"/>
              <a:gd name="connsiteY0" fmla="*/ 121920 h 294640"/>
              <a:gd name="connsiteX1" fmla="*/ 10160 w 101600"/>
              <a:gd name="connsiteY1" fmla="*/ 294640 h 294640"/>
              <a:gd name="connsiteX2" fmla="*/ 101600 w 101600"/>
              <a:gd name="connsiteY2" fmla="*/ 152400 h 294640"/>
              <a:gd name="connsiteX3" fmla="*/ 91440 w 101600"/>
              <a:gd name="connsiteY3" fmla="*/ 0 h 294640"/>
              <a:gd name="connsiteX4" fmla="*/ 0 w 101600"/>
              <a:gd name="connsiteY4" fmla="*/ 121920 h 294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00" h="294640">
                <a:moveTo>
                  <a:pt x="0" y="121920"/>
                </a:moveTo>
                <a:lnTo>
                  <a:pt x="10160" y="294640"/>
                </a:lnTo>
                <a:lnTo>
                  <a:pt x="101600" y="152400"/>
                </a:lnTo>
                <a:lnTo>
                  <a:pt x="91440" y="0"/>
                </a:lnTo>
                <a:lnTo>
                  <a:pt x="0" y="121920"/>
                </a:lnTo>
                <a:close/>
              </a:path>
            </a:pathLst>
          </a:custGeom>
          <a:solidFill>
            <a:schemeClr val="bg1">
              <a:lumMod val="85000"/>
              <a:alpha val="36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2" name="Прямая соединительная линия 51"/>
          <p:cNvCxnSpPr/>
          <p:nvPr/>
        </p:nvCxnSpPr>
        <p:spPr>
          <a:xfrm flipH="1">
            <a:off x="6316646" y="2329564"/>
            <a:ext cx="465699" cy="1106438"/>
          </a:xfrm>
          <a:prstGeom prst="line">
            <a:avLst/>
          </a:prstGeom>
          <a:ln w="12700">
            <a:solidFill>
              <a:srgbClr val="00206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 flipH="1">
            <a:off x="6323687" y="3415913"/>
            <a:ext cx="1880" cy="1250868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 flipV="1">
            <a:off x="6306980" y="2349334"/>
            <a:ext cx="1605683" cy="233778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>
            <a:endCxn id="41" idx="0"/>
          </p:cNvCxnSpPr>
          <p:nvPr/>
        </p:nvCxnSpPr>
        <p:spPr>
          <a:xfrm>
            <a:off x="6332608" y="3424449"/>
            <a:ext cx="485513" cy="172190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H="1">
            <a:off x="7466789" y="3579062"/>
            <a:ext cx="486228" cy="1097078"/>
          </a:xfrm>
          <a:prstGeom prst="line">
            <a:avLst/>
          </a:prstGeom>
          <a:ln w="12700" cmpd="sng">
            <a:solidFill>
              <a:srgbClr val="0066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/>
          <p:nvPr/>
        </p:nvCxnSpPr>
        <p:spPr>
          <a:xfrm>
            <a:off x="6312886" y="4673398"/>
            <a:ext cx="1152128" cy="0"/>
          </a:xfrm>
          <a:prstGeom prst="line">
            <a:avLst/>
          </a:prstGeom>
          <a:ln w="12700">
            <a:solidFill>
              <a:srgbClr val="0066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единительная линия 66"/>
          <p:cNvCxnSpPr/>
          <p:nvPr/>
        </p:nvCxnSpPr>
        <p:spPr>
          <a:xfrm>
            <a:off x="6323687" y="3424449"/>
            <a:ext cx="1152128" cy="0"/>
          </a:xfrm>
          <a:prstGeom prst="line">
            <a:avLst/>
          </a:prstGeom>
          <a:ln w="12700">
            <a:solidFill>
              <a:srgbClr val="0066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/>
          <p:cNvCxnSpPr/>
          <p:nvPr/>
        </p:nvCxnSpPr>
        <p:spPr>
          <a:xfrm flipH="1">
            <a:off x="7465014" y="2329564"/>
            <a:ext cx="465699" cy="1106438"/>
          </a:xfrm>
          <a:prstGeom prst="line">
            <a:avLst/>
          </a:prstGeom>
          <a:ln w="12700">
            <a:solidFill>
              <a:srgbClr val="0066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единительная линия 68"/>
          <p:cNvCxnSpPr/>
          <p:nvPr/>
        </p:nvCxnSpPr>
        <p:spPr>
          <a:xfrm flipH="1">
            <a:off x="7472459" y="3435432"/>
            <a:ext cx="1880" cy="1250868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7270475" y="1210506"/>
            <a:ext cx="1152128" cy="0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Прямая соединительная линия 70"/>
          <p:cNvCxnSpPr/>
          <p:nvPr/>
        </p:nvCxnSpPr>
        <p:spPr>
          <a:xfrm>
            <a:off x="7280739" y="2461374"/>
            <a:ext cx="1152128" cy="0"/>
          </a:xfrm>
          <a:prstGeom prst="line">
            <a:avLst/>
          </a:prstGeom>
          <a:ln w="12700">
            <a:solidFill>
              <a:srgbClr val="00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Прямая соединительная линия 71"/>
          <p:cNvCxnSpPr/>
          <p:nvPr/>
        </p:nvCxnSpPr>
        <p:spPr>
          <a:xfrm flipH="1">
            <a:off x="6794512" y="2461374"/>
            <a:ext cx="486228" cy="1097078"/>
          </a:xfrm>
          <a:prstGeom prst="line">
            <a:avLst/>
          </a:prstGeom>
          <a:ln w="12700">
            <a:solidFill>
              <a:srgbClr val="00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единительная линия 72"/>
          <p:cNvCxnSpPr/>
          <p:nvPr/>
        </p:nvCxnSpPr>
        <p:spPr>
          <a:xfrm flipH="1">
            <a:off x="8420723" y="1203889"/>
            <a:ext cx="1880" cy="1250868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единительная линия 73"/>
          <p:cNvCxnSpPr/>
          <p:nvPr/>
        </p:nvCxnSpPr>
        <p:spPr>
          <a:xfrm flipH="1">
            <a:off x="7269535" y="1210506"/>
            <a:ext cx="1880" cy="1250868"/>
          </a:xfrm>
          <a:prstGeom prst="line">
            <a:avLst/>
          </a:prstGeom>
          <a:ln w="12700">
            <a:solidFill>
              <a:srgbClr val="00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единительная линия 74"/>
          <p:cNvCxnSpPr/>
          <p:nvPr/>
        </p:nvCxnSpPr>
        <p:spPr>
          <a:xfrm flipH="1">
            <a:off x="6794512" y="1211076"/>
            <a:ext cx="465699" cy="1106438"/>
          </a:xfrm>
          <a:prstGeom prst="line">
            <a:avLst/>
          </a:prstGeom>
          <a:ln w="12700">
            <a:solidFill>
              <a:srgbClr val="0066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единительная линия 75"/>
          <p:cNvCxnSpPr/>
          <p:nvPr/>
        </p:nvCxnSpPr>
        <p:spPr>
          <a:xfrm flipH="1">
            <a:off x="7942880" y="1211076"/>
            <a:ext cx="465699" cy="1106438"/>
          </a:xfrm>
          <a:prstGeom prst="line">
            <a:avLst/>
          </a:prstGeom>
          <a:ln w="12700">
            <a:solidFill>
              <a:srgbClr val="0066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единительная линия 76"/>
          <p:cNvCxnSpPr/>
          <p:nvPr/>
        </p:nvCxnSpPr>
        <p:spPr>
          <a:xfrm flipH="1">
            <a:off x="7953227" y="2461943"/>
            <a:ext cx="465699" cy="1106438"/>
          </a:xfrm>
          <a:prstGeom prst="line">
            <a:avLst/>
          </a:prstGeom>
          <a:ln w="12700">
            <a:solidFill>
              <a:srgbClr val="0066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 flipH="1">
                <a:off x="7246906" y="4657780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𝐷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246906" y="4657780"/>
                <a:ext cx="486282" cy="30777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 flipH="1">
                <a:off x="7349127" y="3276053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349127" y="3276053"/>
                <a:ext cx="486282" cy="30777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6933003" y="1025183"/>
                <a:ext cx="4213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003" y="1025183"/>
                <a:ext cx="421334" cy="30777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 flipH="1">
                <a:off x="8334190" y="1032971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334190" y="1032971"/>
                <a:ext cx="486282" cy="307777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6916613" y="2275515"/>
                <a:ext cx="4213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6613" y="2275515"/>
                <a:ext cx="421334" cy="307777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 flipH="1">
                <a:off x="8326103" y="2324515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326103" y="2324515"/>
                <a:ext cx="486282" cy="307777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Прямая соединительная линия 83"/>
          <p:cNvCxnSpPr/>
          <p:nvPr/>
        </p:nvCxnSpPr>
        <p:spPr>
          <a:xfrm>
            <a:off x="7939298" y="2327673"/>
            <a:ext cx="479628" cy="145253"/>
          </a:xfrm>
          <a:prstGeom prst="line">
            <a:avLst/>
          </a:prstGeom>
          <a:ln>
            <a:prstDash val="soli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107505" y="1012347"/>
                <a:ext cx="40324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 smtClean="0"/>
                  <a:t>а) Достроим призму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𝐴𝐵𝐶</m:t>
                    </m:r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𝐶</m:t>
                        </m:r>
                      </m:e>
                      <m:sub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до прямоугольного параллелепипеда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charset="0"/>
                      </a:rPr>
                      <m:t>.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5" y="1012347"/>
                <a:ext cx="4032448" cy="461665"/>
              </a:xfrm>
              <a:prstGeom prst="rect">
                <a:avLst/>
              </a:prstGeom>
              <a:blipFill rotWithShape="0">
                <a:blip r:embed="rId15"/>
                <a:stretch>
                  <a:fillRect l="-151" b="-92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84209" y="1474012"/>
                <a:ext cx="11754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i="1" dirty="0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i="1" dirty="0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∥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𝐴𝐶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2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09" y="1474012"/>
                <a:ext cx="1175423" cy="276999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1057852" y="1474011"/>
                <a:ext cx="35141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⟹∠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𝐶</m:t>
                    </m:r>
                    <m:sSub>
                      <m:sSubPr>
                        <m:ctrlPr>
                          <a:rPr lang="en-US" sz="1200" b="0" i="1" dirty="0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𝐵</m:t>
                    </m:r>
                  </m:oMath>
                </a14:m>
                <a:r>
                  <a:rPr lang="ru-RU" sz="1200" b="0" i="0" dirty="0" smtClean="0">
                    <a:latin typeface="+mj-lt"/>
                    <a:ea typeface="Cambria Math" charset="0"/>
                    <a:cs typeface="Cambria Math" charset="0"/>
                  </a:rPr>
                  <a:t> равен углу между прямыми 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𝐶</m:t>
                    </m:r>
                    <m:sSub>
                      <m:sSubPr>
                        <m:ctrlPr>
                          <a:rPr lang="en-US" sz="1200" i="1" dirty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sz="1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200" b="0" i="0" dirty="0" smtClean="0">
                    <a:latin typeface="+mj-lt"/>
                    <a:ea typeface="Cambria Math" charset="0"/>
                    <a:cs typeface="Cambria Math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𝐴</m:t>
                    </m:r>
                    <m:sSub>
                      <m:sSubPr>
                        <m:ctrlPr>
                          <a:rPr lang="en-US" sz="1200" i="1" dirty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𝐶</m:t>
                        </m:r>
                      </m:e>
                      <m:sub>
                        <m:r>
                          <a:rPr lang="en-US" sz="1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200" b="0" i="0" dirty="0" smtClean="0">
                    <a:latin typeface="+mj-lt"/>
                    <a:ea typeface="Cambria Math" charset="0"/>
                    <a:cs typeface="Cambria Math" charset="0"/>
                  </a:rPr>
                  <a:t> </a:t>
                </a:r>
                <a:endParaRPr lang="ru-RU" sz="12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852" y="1474011"/>
                <a:ext cx="3514148" cy="276999"/>
              </a:xfrm>
              <a:prstGeom prst="rect">
                <a:avLst/>
              </a:prstGeom>
              <a:blipFill rotWithShape="0">
                <a:blip r:embed="rId17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84208" y="1977908"/>
                <a:ext cx="239955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 smtClean="0">
                    <a:solidFill>
                      <a:schemeClr val="tx1"/>
                    </a:solidFill>
                  </a:rPr>
                  <a:t>Пусть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charset="0"/>
                      </a:rPr>
                      <m:t>𝐴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𝐶</m:t>
                    </m:r>
                    <m:r>
                      <a:rPr lang="ru-RU" sz="1200" b="0" i="1" dirty="0" smtClean="0">
                        <a:latin typeface="Cambria Math" charset="0"/>
                      </a:rPr>
                      <m:t>=</m:t>
                    </m:r>
                    <m:r>
                      <a:rPr lang="en-US" sz="1200" b="0" i="1" dirty="0" smtClean="0">
                        <a:latin typeface="Cambria Math" charset="0"/>
                      </a:rPr>
                      <m:t>𝑎</m:t>
                    </m:r>
                    <m:r>
                      <a:rPr lang="en-US" sz="1200" b="0" i="1" dirty="0" smtClean="0">
                        <a:latin typeface="Cambria Math" charset="0"/>
                      </a:rPr>
                      <m:t>;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𝐶</m:t>
                    </m:r>
                    <m:sSub>
                      <m:sSubPr>
                        <m:ctrlPr>
                          <a:rPr lang="en-US" sz="12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charset="0"/>
                          </a:rPr>
                          <m:t>𝐶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dirty="0" smtClean="0">
                        <a:latin typeface="Cambria Math" charset="0"/>
                      </a:rPr>
                      <m:t>=</m:t>
                    </m:r>
                    <m:r>
                      <a:rPr lang="en-US" sz="1200" b="0" i="1" dirty="0" smtClean="0">
                        <a:latin typeface="Cambria Math" charset="0"/>
                      </a:rPr>
                      <m:t>𝑎</m:t>
                    </m:r>
                    <m:r>
                      <a:rPr lang="en-US" sz="1200" b="0" i="1" dirty="0" smtClean="0">
                        <a:latin typeface="Cambria Math" charset="0"/>
                      </a:rPr>
                      <m:t>;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𝐴𝐵</m:t>
                    </m:r>
                    <m:r>
                      <a:rPr lang="en-US" sz="1200" b="0" i="1" dirty="0" smtClean="0">
                        <a:latin typeface="Cambria Math" charset="0"/>
                      </a:rPr>
                      <m:t>=</m:t>
                    </m:r>
                    <m:r>
                      <a:rPr lang="en-US" sz="1200" b="0" i="1" dirty="0" smtClean="0">
                        <a:latin typeface="Cambria Math" charset="0"/>
                      </a:rPr>
                      <m:t>𝑏</m:t>
                    </m:r>
                    <m:r>
                      <a:rPr lang="en-US" sz="1200" b="0" i="1" dirty="0" smtClean="0">
                        <a:latin typeface="Cambria Math" charset="0"/>
                      </a:rPr>
                      <m:t>.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08" y="1977908"/>
                <a:ext cx="2399559" cy="276999"/>
              </a:xfrm>
              <a:prstGeom prst="rect">
                <a:avLst/>
              </a:prstGeom>
              <a:blipFill rotWithShape="0">
                <a:blip r:embed="rId18"/>
                <a:stretch>
                  <a:fillRect l="-254"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84208" y="1755458"/>
                <a:ext cx="232945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 smtClean="0">
                    <a:solidFill>
                      <a:schemeClr val="tx1"/>
                    </a:solidFill>
                  </a:rPr>
                  <a:t>Рассмотрим треугольник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charset="0"/>
                          </a:rPr>
                          <m:t>  </m:t>
                        </m:r>
                        <m:r>
                          <a:rPr lang="en-US" sz="1200" b="0" i="1" dirty="0" smtClean="0">
                            <a:latin typeface="Cambria Math" charset="0"/>
                          </a:rPr>
                          <m:t>𝐶𝐵</m:t>
                        </m:r>
                      </m:e>
                      <m:sub>
                        <m:r>
                          <a:rPr lang="en-US" sz="1200" i="1" dirty="0">
                            <a:latin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sz="1200" i="1" dirty="0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sz="1200" b="0" i="1" dirty="0" smtClean="0">
                        <a:latin typeface="Cambria Math" charset="0"/>
                      </a:rPr>
                      <m:t>.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08" y="1755458"/>
                <a:ext cx="2329455" cy="276999"/>
              </a:xfrm>
              <a:prstGeom prst="rect">
                <a:avLst/>
              </a:prstGeom>
              <a:blipFill rotWithShape="0">
                <a:blip r:embed="rId19"/>
                <a:stretch>
                  <a:fillRect l="-262" t="-80000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3" name="Прямая соединительная линия 92"/>
          <p:cNvCxnSpPr/>
          <p:nvPr/>
        </p:nvCxnSpPr>
        <p:spPr>
          <a:xfrm flipV="1">
            <a:off x="6325379" y="2316130"/>
            <a:ext cx="1619358" cy="2350651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4" name="Прямая соединительная линия 93"/>
          <p:cNvCxnSpPr/>
          <p:nvPr/>
        </p:nvCxnSpPr>
        <p:spPr>
          <a:xfrm flipV="1">
            <a:off x="6306980" y="2445802"/>
            <a:ext cx="2111946" cy="2224522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/>
              <p:cNvSpPr txBox="1"/>
              <p:nvPr/>
            </p:nvSpPr>
            <p:spPr>
              <a:xfrm>
                <a:off x="-149701" y="2204806"/>
                <a:ext cx="239955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𝐶</m:t>
                      </m:r>
                      <m:sSubSup>
                        <m:sSubSup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</a:rPr>
                            <m:t>1</m:t>
                          </m:r>
                        </m:sub>
                        <m:sup>
                          <m:r>
                            <a:rPr lang="en-US" sz="1200" b="0" i="1" dirty="0" smtClean="0">
                              <a:latin typeface="Cambria Math" charset="0"/>
                            </a:rPr>
                            <m:t>2</m:t>
                          </m:r>
                        </m:sup>
                      </m:sSubSup>
                      <m:r>
                        <a:rPr lang="ru-RU" sz="1200" b="0" i="1" dirty="0" smtClean="0">
                          <a:latin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𝐶</m:t>
                      </m:r>
                      <m:sSup>
                        <m:sSup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𝐷</m:t>
                          </m:r>
                        </m:e>
                        <m:sup>
                          <m:r>
                            <a:rPr lang="en-US" sz="1200" b="0" i="1" dirty="0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dirty="0" smtClean="0">
                          <a:latin typeface="Cambria Math" charset="0"/>
                        </a:rPr>
                        <m:t>+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𝐵</m:t>
                      </m:r>
                      <m:sSup>
                        <m:sSup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𝐷</m:t>
                          </m:r>
                        </m:e>
                        <m:sup>
                          <m:r>
                            <a:rPr lang="en-US" sz="1200" b="0" i="1" dirty="0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dirty="0" smtClean="0">
                          <a:latin typeface="Cambria Math" charset="0"/>
                        </a:rPr>
                        <m:t>+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𝐵</m:t>
                      </m:r>
                      <m:sSubSup>
                        <m:sSubSup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</a:rPr>
                            <m:t>1</m:t>
                          </m:r>
                        </m:sub>
                        <m:sup>
                          <m:r>
                            <a:rPr lang="en-US" sz="1200" b="0" i="1" dirty="0" smtClean="0">
                              <a:latin typeface="Cambria Math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5" name="Text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9701" y="2204806"/>
                <a:ext cx="2399559" cy="276999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/>
              <p:cNvSpPr txBox="1"/>
              <p:nvPr/>
            </p:nvSpPr>
            <p:spPr>
              <a:xfrm>
                <a:off x="1857263" y="2202626"/>
                <a:ext cx="1189082" cy="279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dirty="0" smtClean="0">
                          <a:latin typeface="Cambria Math" charset="0"/>
                        </a:rPr>
                        <m:t>=</m:t>
                      </m:r>
                      <m:sSup>
                        <m:sSup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𝑏</m:t>
                          </m:r>
                        </m:e>
                        <m:sup>
                          <m:r>
                            <a:rPr lang="en-US" sz="1200" b="0" i="1" dirty="0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dirty="0" smtClean="0">
                          <a:latin typeface="Cambria Math" charset="0"/>
                        </a:rPr>
                        <m:t>+</m:t>
                      </m:r>
                      <m:sSup>
                        <m:sSup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𝑎</m:t>
                          </m:r>
                        </m:e>
                        <m:sup>
                          <m:r>
                            <a:rPr lang="en-US" sz="1200" b="0" i="1" dirty="0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dirty="0" smtClean="0">
                          <a:latin typeface="Cambria Math" charset="0"/>
                        </a:rPr>
                        <m:t>+</m:t>
                      </m:r>
                      <m:sSup>
                        <m:sSup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𝑎</m:t>
                          </m:r>
                        </m:e>
                        <m:sup>
                          <m:r>
                            <a:rPr lang="en-US" sz="1200" b="0" i="1" dirty="0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" name="TextBox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7263" y="2202626"/>
                <a:ext cx="1189082" cy="279179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/>
              <p:cNvSpPr txBox="1"/>
              <p:nvPr/>
            </p:nvSpPr>
            <p:spPr>
              <a:xfrm>
                <a:off x="2788336" y="2210834"/>
                <a:ext cx="118908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dirty="0" smtClean="0">
                          <a:latin typeface="Cambria Math" charset="0"/>
                        </a:rPr>
                        <m:t>=</m:t>
                      </m:r>
                      <m:sSup>
                        <m:sSup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𝑏</m:t>
                          </m:r>
                        </m:e>
                        <m:sup>
                          <m:r>
                            <a:rPr lang="en-US" sz="1200" b="0" i="1" dirty="0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dirty="0" smtClean="0">
                          <a:latin typeface="Cambria Math" charset="0"/>
                        </a:rPr>
                        <m:t>+</m:t>
                      </m:r>
                      <m:sSup>
                        <m:sSup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2</m:t>
                          </m:r>
                          <m:r>
                            <a:rPr lang="en-US" sz="1200" b="0" i="1" dirty="0" smtClean="0">
                              <a:latin typeface="Cambria Math" charset="0"/>
                            </a:rPr>
                            <m:t>𝑎</m:t>
                          </m:r>
                        </m:e>
                        <m:sup>
                          <m:r>
                            <a:rPr lang="en-US" sz="1200" b="0" i="1" dirty="0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7" name="TextBox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8336" y="2210834"/>
                <a:ext cx="1189082" cy="276999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/>
              <p:cNvSpPr txBox="1"/>
              <p:nvPr/>
            </p:nvSpPr>
            <p:spPr>
              <a:xfrm>
                <a:off x="10396" y="2451120"/>
                <a:ext cx="1656184" cy="279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en-US" sz="1200" b="0" i="1" dirty="0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200" b="0" i="1" dirty="0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dirty="0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</a:rPr>
                            <m:t>2</m:t>
                          </m:r>
                        </m:sub>
                        <m:sup>
                          <m:r>
                            <a:rPr lang="en-US" sz="1200" b="0" i="1" dirty="0" smtClean="0">
                              <a:latin typeface="Cambria Math" charset="0"/>
                            </a:rPr>
                            <m:t>2</m:t>
                          </m:r>
                        </m:sup>
                      </m:sSubSup>
                      <m:r>
                        <a:rPr lang="ru-RU" sz="1200" b="0" i="1" dirty="0" smtClean="0">
                          <a:latin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𝐵</m:t>
                      </m:r>
                      <m:sSubSup>
                        <m:sSubSup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</a:rPr>
                            <m:t>2</m:t>
                          </m:r>
                        </m:sub>
                        <m:sup>
                          <m:r>
                            <a:rPr lang="en-US" sz="1200" b="0" i="1" dirty="0" smtClean="0">
                              <a:latin typeface="Cambria Math" charset="0"/>
                            </a:rPr>
                            <m:t>2</m:t>
                          </m:r>
                        </m:sup>
                      </m:sSubSup>
                      <m:r>
                        <a:rPr lang="en-US" sz="1200" b="0" i="1" dirty="0" smtClean="0">
                          <a:latin typeface="Cambria Math" charset="0"/>
                        </a:rPr>
                        <m:t>+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𝐵</m:t>
                      </m:r>
                      <m:sSubSup>
                        <m:sSubSup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</a:rPr>
                            <m:t>1</m:t>
                          </m:r>
                        </m:sub>
                        <m:sup>
                          <m:r>
                            <a:rPr lang="en-US" sz="1200" b="0" i="1" dirty="0" smtClean="0">
                              <a:latin typeface="Cambria Math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8" name="TextBox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6" y="2451120"/>
                <a:ext cx="1656184" cy="279564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/>
              <p:cNvSpPr txBox="1"/>
              <p:nvPr/>
            </p:nvSpPr>
            <p:spPr>
              <a:xfrm>
                <a:off x="1278222" y="2456453"/>
                <a:ext cx="1189082" cy="279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dirty="0" smtClean="0">
                          <a:latin typeface="Cambria Math" charset="0"/>
                        </a:rPr>
                        <m:t>=</m:t>
                      </m:r>
                      <m:sSup>
                        <m:sSup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𝑎</m:t>
                          </m:r>
                        </m:e>
                        <m:sup>
                          <m:r>
                            <a:rPr lang="en-US" sz="1200" b="0" i="1" dirty="0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dirty="0" smtClean="0">
                          <a:latin typeface="Cambria Math" charset="0"/>
                        </a:rPr>
                        <m:t>+</m:t>
                      </m:r>
                      <m:sSup>
                        <m:sSup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𝑎</m:t>
                          </m:r>
                        </m:e>
                        <m:sup>
                          <m:r>
                            <a:rPr lang="en-US" sz="1200" b="0" i="1" dirty="0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9" name="TextBox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222" y="2456453"/>
                <a:ext cx="1189082" cy="279179"/>
              </a:xfrm>
              <a:prstGeom prst="rect">
                <a:avLst/>
              </a:prstGeom>
              <a:blipFill rotWithShape="0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/>
              <p:cNvSpPr txBox="1"/>
              <p:nvPr/>
            </p:nvSpPr>
            <p:spPr>
              <a:xfrm>
                <a:off x="2131119" y="2458969"/>
                <a:ext cx="676622" cy="279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dirty="0" smtClean="0">
                          <a:latin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2</m:t>
                      </m:r>
                      <m:sSup>
                        <m:sSup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𝑎</m:t>
                          </m:r>
                        </m:e>
                        <m:sup>
                          <m:r>
                            <a:rPr lang="en-US" sz="1200" b="0" i="1" dirty="0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0" name="TextBox 1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1119" y="2458969"/>
                <a:ext cx="676622" cy="279179"/>
              </a:xfrm>
              <a:prstGeom prst="rect">
                <a:avLst/>
              </a:prstGeom>
              <a:blipFill rotWithShape="0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/>
              <p:cNvSpPr txBox="1"/>
              <p:nvPr/>
            </p:nvSpPr>
            <p:spPr>
              <a:xfrm>
                <a:off x="0" y="2697434"/>
                <a:ext cx="1656184" cy="279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𝐶𝐵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</a:rPr>
                            <m:t>2</m:t>
                          </m:r>
                        </m:sub>
                        <m:sup>
                          <m:r>
                            <a:rPr lang="en-US" sz="1200" b="0" i="1" dirty="0" smtClean="0">
                              <a:latin typeface="Cambria Math" charset="0"/>
                            </a:rPr>
                            <m:t>2</m:t>
                          </m:r>
                        </m:sup>
                      </m:sSubSup>
                      <m:r>
                        <a:rPr lang="ru-RU" sz="1200" b="0" i="1" dirty="0" smtClean="0">
                          <a:latin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𝐶</m:t>
                      </m:r>
                      <m:sSup>
                        <m:sSup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𝐷</m:t>
                          </m:r>
                        </m:e>
                        <m:sup>
                          <m:r>
                            <a:rPr lang="en-US" sz="1200" b="0" i="1" dirty="0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ru-RU" sz="1200" b="0" i="0" dirty="0" smtClean="0">
                          <a:latin typeface="Cambria Math" charset="0"/>
                        </a:rPr>
                        <m:t>+</m:t>
                      </m:r>
                      <m:r>
                        <a:rPr lang="en-US" sz="1200" i="1" dirty="0">
                          <a:latin typeface="Cambria Math" charset="0"/>
                        </a:rPr>
                        <m:t>𝐷</m:t>
                      </m:r>
                      <m:sSubSup>
                        <m:sSubSupPr>
                          <m:ctrlPr>
                            <a:rPr lang="en-US" sz="1200" i="1" dirty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1200" i="1" dirty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i="1" dirty="0">
                              <a:latin typeface="Cambria Math" charset="0"/>
                            </a:rPr>
                            <m:t>2</m:t>
                          </m:r>
                        </m:sub>
                        <m:sup>
                          <m:r>
                            <a:rPr lang="en-US" sz="1200" i="1" dirty="0">
                              <a:latin typeface="Cambria Math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1" name="TextBox 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697434"/>
                <a:ext cx="1656184" cy="279564"/>
              </a:xfrm>
              <a:prstGeom prst="rect">
                <a:avLst/>
              </a:prstGeom>
              <a:blipFill rotWithShape="0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/>
              <p:cNvSpPr txBox="1"/>
              <p:nvPr/>
            </p:nvSpPr>
            <p:spPr>
              <a:xfrm>
                <a:off x="1316429" y="2694546"/>
                <a:ext cx="1189082" cy="279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dirty="0" smtClean="0">
                          <a:latin typeface="Cambria Math" charset="0"/>
                        </a:rPr>
                        <m:t>=</m:t>
                      </m:r>
                      <m:sSup>
                        <m:sSup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𝑏</m:t>
                          </m:r>
                        </m:e>
                        <m:sup>
                          <m:r>
                            <a:rPr lang="en-US" sz="1200" b="0" i="1" dirty="0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dirty="0" smtClean="0">
                          <a:latin typeface="Cambria Math" charset="0"/>
                        </a:rPr>
                        <m:t>+(2</m:t>
                      </m:r>
                      <m:sSup>
                        <m:sSup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𝑎</m:t>
                          </m:r>
                          <m:r>
                            <a:rPr lang="en-US" sz="1200" b="0" i="1" dirty="0" smtClean="0">
                              <a:latin typeface="Cambria Math" charset="0"/>
                            </a:rPr>
                            <m:t>)</m:t>
                          </m:r>
                        </m:e>
                        <m:sup>
                          <m:r>
                            <a:rPr lang="en-US" sz="1200" b="0" i="1" dirty="0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2" name="TextBox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6429" y="2694546"/>
                <a:ext cx="1189082" cy="279179"/>
              </a:xfrm>
              <a:prstGeom prst="rect">
                <a:avLst/>
              </a:prstGeom>
              <a:blipFill rotWithShape="0">
                <a:blip r:embed="rId2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/>
              <p:cNvSpPr txBox="1"/>
              <p:nvPr/>
            </p:nvSpPr>
            <p:spPr>
              <a:xfrm>
                <a:off x="2184826" y="2694546"/>
                <a:ext cx="1189082" cy="279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dirty="0" smtClean="0">
                          <a:latin typeface="Cambria Math" charset="0"/>
                        </a:rPr>
                        <m:t>=</m:t>
                      </m:r>
                      <m:sSup>
                        <m:sSup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𝑏</m:t>
                          </m:r>
                        </m:e>
                        <m:sup>
                          <m:r>
                            <a:rPr lang="en-US" sz="1200" b="0" i="1" dirty="0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dirty="0" smtClean="0">
                          <a:latin typeface="Cambria Math" charset="0"/>
                        </a:rPr>
                        <m:t>+4</m:t>
                      </m:r>
                      <m:sSup>
                        <m:sSup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𝑎</m:t>
                          </m:r>
                        </m:e>
                        <m:sup>
                          <m:r>
                            <a:rPr lang="en-US" sz="1200" b="0" i="1" dirty="0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3" name="TextBox 1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4826" y="2694546"/>
                <a:ext cx="1189082" cy="279179"/>
              </a:xfrm>
              <a:prstGeom prst="rect">
                <a:avLst/>
              </a:prstGeom>
              <a:blipFill rotWithShape="0"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/>
              <p:cNvSpPr txBox="1"/>
              <p:nvPr/>
            </p:nvSpPr>
            <p:spPr>
              <a:xfrm>
                <a:off x="10396" y="2961626"/>
                <a:ext cx="1656184" cy="288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𝐶𝐵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</a:rPr>
                            <m:t>2</m:t>
                          </m:r>
                        </m:sub>
                        <m:sup>
                          <m:r>
                            <a:rPr lang="en-US" sz="1200" b="0" i="1" dirty="0" smtClean="0">
                              <a:latin typeface="Cambria Math" charset="0"/>
                            </a:rPr>
                            <m:t>2</m:t>
                          </m:r>
                        </m:sup>
                      </m:sSubSup>
                      <m:r>
                        <a:rPr lang="ru-RU" sz="1200" b="0" i="1" dirty="0" smtClean="0">
                          <a:latin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𝐶</m:t>
                      </m:r>
                      <m:sSubSup>
                        <m:sSubSup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</a:rPr>
                            <m:t>1</m:t>
                          </m:r>
                        </m:sub>
                        <m:sup>
                          <m:r>
                            <a:rPr lang="en-US" sz="1200" b="0" i="1" dirty="0" smtClean="0">
                              <a:latin typeface="Cambria Math" charset="0"/>
                            </a:rPr>
                            <m:t>2</m:t>
                          </m:r>
                        </m:sup>
                      </m:sSubSup>
                      <m:r>
                        <a:rPr lang="en-US" sz="1200" b="0" i="1" dirty="0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</a:rPr>
                            <m:t>2</m:t>
                          </m:r>
                        </m:sub>
                        <m:sup>
                          <m:r>
                            <a:rPr lang="en-US" sz="1200" b="0" i="1" dirty="0" smtClean="0">
                              <a:latin typeface="Cambria Math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4" name="TextBox 1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6" y="2961626"/>
                <a:ext cx="1656184" cy="288349"/>
              </a:xfrm>
              <a:prstGeom prst="rect">
                <a:avLst/>
              </a:prstGeom>
              <a:blipFill rotWithShape="0"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/>
              <p:cNvSpPr txBox="1"/>
              <p:nvPr/>
            </p:nvSpPr>
            <p:spPr>
              <a:xfrm>
                <a:off x="1466150" y="2968675"/>
                <a:ext cx="299213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m:rPr>
                          <m:nor/>
                        </m:rPr>
                        <a:rPr lang="ru-RU" sz="1200" dirty="0">
                          <a:solidFill>
                            <a:schemeClr val="tx1"/>
                          </a:solidFill>
                        </a:rPr>
                        <m:t>прямые</m:t>
                      </m:r>
                      <m:r>
                        <m:rPr>
                          <m:nor/>
                        </m:rPr>
                        <a:rPr lang="en-US" sz="1200" dirty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a:rPr lang="en-US" sz="1200" b="0" i="1">
                          <a:solidFill>
                            <a:schemeClr val="tx1"/>
                          </a:solidFill>
                          <a:latin typeface="Cambria Math" charset="0"/>
                        </a:rPr>
                        <m:t>𝐶</m:t>
                      </m:r>
                      <m:sSub>
                        <m:sSubPr>
                          <m:ctrlPr>
                            <a:rPr lang="en-US" sz="12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1200" dirty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ru-RU" sz="1200" dirty="0">
                          <a:solidFill>
                            <a:schemeClr val="tx1"/>
                          </a:solidFill>
                        </a:rPr>
                        <m:t>и </m:t>
                      </m:r>
                      <m:r>
                        <a:rPr lang="en-US" sz="1200" b="0" i="1" dirty="0">
                          <a:solidFill>
                            <a:schemeClr val="tx1"/>
                          </a:solidFill>
                          <a:latin typeface="Cambria Math" charset="0"/>
                        </a:rPr>
                        <m:t>𝐴</m:t>
                      </m:r>
                      <m:sSub>
                        <m:sSubPr>
                          <m:ctrlPr>
                            <a:rPr lang="en-US" sz="1200" i="1" dirty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dirty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dirty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1200" dirty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ru-RU" sz="1200" dirty="0">
                          <a:solidFill>
                            <a:schemeClr val="tx1"/>
                          </a:solidFill>
                        </a:rPr>
                        <m:t>перпендикулярны</m:t>
                      </m:r>
                      <m:r>
                        <a:rPr lang="ru-RU" sz="1200" b="0" i="1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.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5" name="TextBox 1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6150" y="2968675"/>
                <a:ext cx="2992133" cy="276999"/>
              </a:xfrm>
              <a:prstGeom prst="rect">
                <a:avLst/>
              </a:prstGeom>
              <a:blipFill rotWithShape="0">
                <a:blip r:embed="rId30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/>
              <p:cNvSpPr txBox="1"/>
              <p:nvPr/>
            </p:nvSpPr>
            <p:spPr>
              <a:xfrm>
                <a:off x="97809" y="3268360"/>
                <a:ext cx="1368341" cy="2809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 smtClean="0"/>
                  <a:t>б)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</a:rPr>
                      <m:t>𝐴</m:t>
                    </m:r>
                    <m:sSub>
                      <m:sSubPr>
                        <m:ctrlPr>
                          <a:rPr lang="en-US" sz="12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charset="0"/>
                          </a:rPr>
                          <m:t>𝐶</m:t>
                        </m:r>
                      </m:e>
                      <m:sub>
                        <m:r>
                          <a:rPr lang="en-US" sz="1200" i="1" dirty="0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∥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sSub>
                      <m:sSubPr>
                        <m:ctrlPr>
                          <a:rPr lang="en-US" sz="12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charset="0"/>
                          </a:rPr>
                          <m:t>𝐶</m:t>
                        </m:r>
                        <m:r>
                          <a:rPr lang="en-US" sz="1200" i="1" dirty="0">
                            <a:latin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sz="1200" i="1" dirty="0">
                            <a:latin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sz="1200" i="1" dirty="0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sz="1200" b="0" i="0" dirty="0" smtClean="0">
                        <a:latin typeface="Cambria Math" charset="0"/>
                      </a:rPr>
                      <m:t>)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6" name="TextBox 1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09" y="3268360"/>
                <a:ext cx="1368341" cy="280974"/>
              </a:xfrm>
              <a:prstGeom prst="rect">
                <a:avLst/>
              </a:prstGeom>
              <a:blipFill rotWithShape="0">
                <a:blip r:embed="rId31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/>
              <p:cNvSpPr txBox="1"/>
              <p:nvPr/>
            </p:nvSpPr>
            <p:spPr>
              <a:xfrm>
                <a:off x="1383126" y="3280149"/>
                <a:ext cx="44598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⟹ 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Расстояние от любой точки прямой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  </m:t>
                        </m:r>
                        <m:r>
                          <a:rPr lang="en-US" sz="1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𝐴𝐶</m:t>
                        </m:r>
                      </m:e>
                      <m:sub>
                        <m:r>
                          <a:rPr lang="en-US" sz="1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до плоскости</a:t>
                </a:r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sSub>
                      <m:sSubPr>
                        <m:ctrlPr>
                          <a:rPr lang="en-US" sz="12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charset="0"/>
                          </a:rPr>
                          <m:t>𝐶𝐵</m:t>
                        </m:r>
                      </m:e>
                      <m:sub>
                        <m:r>
                          <a:rPr lang="en-US" sz="1200" i="1" dirty="0">
                            <a:latin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sz="1200" i="1" dirty="0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sz="1200" dirty="0">
                        <a:latin typeface="Cambria Math" charset="0"/>
                      </a:rPr>
                      <m:t>)</m:t>
                    </m:r>
                  </m:oMath>
                </a14:m>
                <a:endParaRPr lang="ru-RU" sz="1200" dirty="0"/>
              </a:p>
              <a:p>
                <a:r>
                  <a:rPr lang="ru-RU" sz="1200" dirty="0" smtClean="0">
                    <a:solidFill>
                      <a:schemeClr val="tx1"/>
                    </a:solidFill>
                  </a:rPr>
                  <a:t>равно расстоянию  между прямыми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charset="0"/>
                      </a:rPr>
                      <m:t>𝐶</m:t>
                    </m:r>
                    <m:sSub>
                      <m:sSubPr>
                        <m:ctrlPr>
                          <a:rPr lang="en-US" sz="12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sz="12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sz="1200" dirty="0"/>
                      <m:t> </m:t>
                    </m:r>
                    <m:r>
                      <m:rPr>
                        <m:nor/>
                      </m:rPr>
                      <a:rPr lang="ru-RU" sz="1200" dirty="0"/>
                      <m:t>и </m:t>
                    </m:r>
                    <m:r>
                      <a:rPr lang="en-US" sz="1200" i="1" dirty="0">
                        <a:latin typeface="Cambria Math" charset="0"/>
                      </a:rPr>
                      <m:t>𝐴</m:t>
                    </m:r>
                    <m:sSub>
                      <m:sSubPr>
                        <m:ctrlPr>
                          <a:rPr lang="en-US" sz="12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charset="0"/>
                          </a:rPr>
                          <m:t>𝐶</m:t>
                        </m:r>
                      </m:e>
                      <m:sub>
                        <m:r>
                          <a:rPr lang="en-US" sz="1200" i="1" dirty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ru-RU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7" name="TextBox 1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126" y="3280149"/>
                <a:ext cx="4459875" cy="461665"/>
              </a:xfrm>
              <a:prstGeom prst="rect">
                <a:avLst/>
              </a:prstGeom>
              <a:blipFill rotWithShape="0">
                <a:blip r:embed="rId32"/>
                <a:stretch>
                  <a:fillRect l="-137" t="-47368" b="-197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/>
              <p:cNvSpPr txBox="1"/>
              <p:nvPr/>
            </p:nvSpPr>
            <p:spPr>
              <a:xfrm>
                <a:off x="107505" y="3752546"/>
                <a:ext cx="720079" cy="2809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</a:rPr>
                        <m:t>𝐴𝐶</m:t>
                      </m:r>
                      <m:r>
                        <a:rPr lang="en-US" sz="1200" i="1" dirty="0" smtClean="0">
                          <a:latin typeface="Cambria Math" charset="0"/>
                        </a:rPr>
                        <m:t>=2;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8" name="TextBox 1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5" y="3752546"/>
                <a:ext cx="720079" cy="280974"/>
              </a:xfrm>
              <a:prstGeom prst="rect">
                <a:avLst/>
              </a:prstGeom>
              <a:blipFill rotWithShape="0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/>
              <p:cNvSpPr txBox="1"/>
              <p:nvPr/>
            </p:nvSpPr>
            <p:spPr>
              <a:xfrm>
                <a:off x="720703" y="3764348"/>
                <a:ext cx="13306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𝐶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i="1" dirty="0" smtClean="0"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𝐵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i="1" dirty="0" smtClean="0">
                          <a:latin typeface="Cambria Math" charset="0"/>
                        </a:rPr>
                        <m:t>=2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9" name="TextBox 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703" y="3764348"/>
                <a:ext cx="1330606" cy="276999"/>
              </a:xfrm>
              <a:prstGeom prst="rect">
                <a:avLst/>
              </a:prstGeom>
              <a:blipFill rotWithShape="0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/>
              <p:cNvSpPr txBox="1"/>
              <p:nvPr/>
            </p:nvSpPr>
            <p:spPr>
              <a:xfrm>
                <a:off x="1948893" y="3753479"/>
                <a:ext cx="950478" cy="298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𝐴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i="1" dirty="0" smtClean="0">
                          <a:latin typeface="Cambria Math" charset="0"/>
                        </a:rPr>
                        <m:t>=2</m:t>
                      </m:r>
                      <m:rad>
                        <m:radPr>
                          <m:degHide m:val="on"/>
                          <m:ctrlPr>
                            <a:rPr lang="en-US" sz="1200" i="1" dirty="0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3</m:t>
                          </m:r>
                        </m:e>
                      </m:rad>
                      <m:r>
                        <a:rPr lang="en-US" sz="1200" b="0" i="1" dirty="0" smtClean="0"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0" name="TextBox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893" y="3753479"/>
                <a:ext cx="950478" cy="298736"/>
              </a:xfrm>
              <a:prstGeom prst="rect">
                <a:avLst/>
              </a:prstGeom>
              <a:blipFill rotWithShape="0"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/>
              <p:cNvSpPr txBox="1"/>
              <p:nvPr/>
            </p:nvSpPr>
            <p:spPr>
              <a:xfrm>
                <a:off x="2807741" y="3658962"/>
                <a:ext cx="1683889" cy="4681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𝐴𝐵</m:t>
                      </m:r>
                      <m:r>
                        <a:rPr lang="en-US" sz="1200" i="1" dirty="0" smtClean="0">
                          <a:latin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mr-IN" sz="1200" i="1" dirty="0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mr-IN" sz="1200" i="1" dirty="0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200" i="1" dirty="0">
                                  <a:latin typeface="Cambria Math" charset="0"/>
                                </a:rPr>
                                <m:t>𝐴</m:t>
                              </m:r>
                              <m:sSub>
                                <m:sSubPr>
                                  <m:ctrlPr>
                                    <a:rPr lang="en-US" sz="12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dirty="0">
                                      <a:latin typeface="Cambria Math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1200" i="1" dirty="0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mr-IN" sz="1200" i="1" dirty="0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b="0" i="1" dirty="0" smtClean="0">
                              <a:latin typeface="Cambria Math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mr-IN" sz="1200" i="1" dirty="0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200" i="1" dirty="0">
                                  <a:latin typeface="Cambria Math" charset="0"/>
                                </a:rPr>
                                <m:t>𝐵</m:t>
                              </m:r>
                              <m:sSub>
                                <m:sSubPr>
                                  <m:ctrlPr>
                                    <a:rPr lang="en-US" sz="12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dirty="0">
                                      <a:latin typeface="Cambria Math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1200" i="1" dirty="0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mr-IN" sz="1200" i="1" dirty="0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741" y="3658962"/>
                <a:ext cx="1683889" cy="468141"/>
              </a:xfrm>
              <a:prstGeom prst="rect">
                <a:avLst/>
              </a:prstGeom>
              <a:blipFill rotWithShape="0"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/>
              <p:cNvSpPr txBox="1"/>
              <p:nvPr/>
            </p:nvSpPr>
            <p:spPr>
              <a:xfrm>
                <a:off x="4057086" y="3660573"/>
                <a:ext cx="1683889" cy="4681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mr-IN" sz="1200" i="1" dirty="0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mr-IN" sz="1200" i="1" dirty="0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</a:rPr>
                                <m:t>(</m:t>
                              </m:r>
                              <m:r>
                                <a:rPr lang="en-US" sz="1200" i="1" dirty="0">
                                  <a:latin typeface="Cambria Math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200" i="1" dirty="0">
                                      <a:latin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200" i="1" dirty="0">
                                      <a:latin typeface="Cambria Math" charset="0"/>
                                    </a:rPr>
                                    <m:t>3</m:t>
                                  </m:r>
                                </m:e>
                              </m:rad>
                              <m:r>
                                <a:rPr lang="en-US" sz="1200" b="0" i="1" dirty="0" smtClean="0">
                                  <a:latin typeface="Cambria Math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mr-IN" sz="1200" i="1" dirty="0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b="0" i="1" dirty="0" smtClean="0">
                              <a:latin typeface="Cambria Math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mr-IN" sz="1200" i="1" dirty="0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mr-IN" sz="1200" i="1" dirty="0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7086" y="3660573"/>
                <a:ext cx="1683889" cy="468141"/>
              </a:xfrm>
              <a:prstGeom prst="rect">
                <a:avLst/>
              </a:prstGeom>
              <a:blipFill rotWithShape="0"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5381483" y="3770870"/>
                <a:ext cx="611429" cy="298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2</m:t>
                      </m:r>
                      <m:rad>
                        <m:radPr>
                          <m:degHide m:val="on"/>
                          <m:ctrlPr>
                            <a:rPr lang="mr-IN" sz="1200" i="1" dirty="0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i="1" dirty="0" smtClean="0">
                              <a:latin typeface="Cambria Math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1483" y="3770870"/>
                <a:ext cx="611429" cy="298736"/>
              </a:xfrm>
              <a:prstGeom prst="rect">
                <a:avLst/>
              </a:prstGeom>
              <a:blipFill rotWithShape="0"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" name="TextBox 123"/>
          <p:cNvSpPr txBox="1"/>
          <p:nvPr/>
        </p:nvSpPr>
        <p:spPr>
          <a:xfrm>
            <a:off x="107505" y="4033030"/>
            <a:ext cx="22234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Введем </a:t>
            </a:r>
            <a:r>
              <a:rPr lang="ru-RU" sz="1200" smtClean="0"/>
              <a:t>систему координат</a:t>
            </a:r>
            <a:r>
              <a:rPr lang="ru-RU" sz="1200" dirty="0" smtClean="0"/>
              <a:t>.</a:t>
            </a:r>
            <a:endParaRPr lang="ru-RU" sz="1200" dirty="0">
              <a:solidFill>
                <a:schemeClr val="tx1"/>
              </a:solidFill>
            </a:endParaRPr>
          </a:p>
        </p:txBody>
      </p:sp>
      <p:cxnSp>
        <p:nvCxnSpPr>
          <p:cNvPr id="126" name="Прямая со стрелкой 125"/>
          <p:cNvCxnSpPr/>
          <p:nvPr/>
        </p:nvCxnSpPr>
        <p:spPr>
          <a:xfrm flipH="1" flipV="1">
            <a:off x="6330492" y="2726151"/>
            <a:ext cx="1154" cy="1960149"/>
          </a:xfrm>
          <a:prstGeom prst="straightConnector1">
            <a:avLst/>
          </a:prstGeom>
          <a:ln w="1905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Прямая со стрелкой 127"/>
          <p:cNvCxnSpPr/>
          <p:nvPr/>
        </p:nvCxnSpPr>
        <p:spPr>
          <a:xfrm flipV="1">
            <a:off x="6331646" y="1977908"/>
            <a:ext cx="1152134" cy="2679872"/>
          </a:xfrm>
          <a:prstGeom prst="straightConnector1">
            <a:avLst/>
          </a:prstGeom>
          <a:ln w="1905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Прямая со стрелкой 130"/>
          <p:cNvCxnSpPr/>
          <p:nvPr/>
        </p:nvCxnSpPr>
        <p:spPr>
          <a:xfrm flipV="1">
            <a:off x="6322867" y="4678343"/>
            <a:ext cx="1800327" cy="1"/>
          </a:xfrm>
          <a:prstGeom prst="straightConnector1">
            <a:avLst/>
          </a:prstGeom>
          <a:ln w="1905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/>
              <p:cNvSpPr txBox="1"/>
              <p:nvPr/>
            </p:nvSpPr>
            <p:spPr>
              <a:xfrm>
                <a:off x="7718017" y="4692250"/>
                <a:ext cx="47035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b="0" i="1" smtClean="0">
                          <a:latin typeface="Cambria Math" charset="0"/>
                        </a:rPr>
                        <m:t> </m:t>
                      </m:r>
                      <m:r>
                        <a:rPr lang="en-US" sz="1400" b="1" i="1" smtClean="0">
                          <a:solidFill>
                            <a:srgbClr val="006600"/>
                          </a:solidFill>
                          <a:latin typeface="Cambria Math" charset="0"/>
                        </a:rPr>
                        <m:t>𝒙</m:t>
                      </m:r>
                    </m:oMath>
                  </m:oMathPara>
                </a14:m>
                <a:endParaRPr lang="ru-RU" sz="1400" b="1" dirty="0">
                  <a:solidFill>
                    <a:srgbClr val="006600"/>
                  </a:solidFill>
                </a:endParaRPr>
              </a:p>
            </p:txBody>
          </p:sp>
        </mc:Choice>
        <mc:Fallback xmlns="">
          <p:sp>
            <p:nvSpPr>
              <p:cNvPr id="135" name="TextBox 1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8017" y="4692250"/>
                <a:ext cx="470351" cy="307777"/>
              </a:xfrm>
              <a:prstGeom prst="rect">
                <a:avLst/>
              </a:prstGeom>
              <a:blipFill rotWithShape="0">
                <a:blip r:embed="rId39"/>
                <a:stretch>
                  <a:fillRect t="-86000" b="-10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5"/>
              <p:cNvSpPr txBox="1"/>
              <p:nvPr/>
            </p:nvSpPr>
            <p:spPr>
              <a:xfrm>
                <a:off x="7335666" y="1891768"/>
                <a:ext cx="47035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b="0" i="1" smtClean="0">
                          <a:latin typeface="Cambria Math" charset="0"/>
                        </a:rPr>
                        <m:t> </m:t>
                      </m:r>
                      <m:r>
                        <a:rPr lang="en-US" sz="1400" b="1" i="1" smtClean="0">
                          <a:solidFill>
                            <a:srgbClr val="006600"/>
                          </a:solidFill>
                          <a:latin typeface="Cambria Math" charset="0"/>
                        </a:rPr>
                        <m:t>𝒚</m:t>
                      </m:r>
                    </m:oMath>
                  </m:oMathPara>
                </a14:m>
                <a:endParaRPr lang="ru-RU" sz="1400" b="1" dirty="0">
                  <a:solidFill>
                    <a:srgbClr val="006600"/>
                  </a:solidFill>
                </a:endParaRPr>
              </a:p>
            </p:txBody>
          </p:sp>
        </mc:Choice>
        <mc:Fallback xmlns="">
          <p:sp>
            <p:nvSpPr>
              <p:cNvPr id="136" name="TextBox 1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5666" y="1891768"/>
                <a:ext cx="470351" cy="307777"/>
              </a:xfrm>
              <a:prstGeom prst="rect">
                <a:avLst/>
              </a:prstGeom>
              <a:blipFill rotWithShape="0">
                <a:blip r:embed="rId40"/>
                <a:stretch>
                  <a:fillRect t="-84314" b="-1058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/>
              <p:cNvSpPr txBox="1"/>
              <p:nvPr/>
            </p:nvSpPr>
            <p:spPr>
              <a:xfrm>
                <a:off x="5941435" y="2723925"/>
                <a:ext cx="47035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b="0" i="1" smtClean="0">
                          <a:latin typeface="Cambria Math" charset="0"/>
                        </a:rPr>
                        <m:t> </m:t>
                      </m:r>
                      <m:r>
                        <a:rPr lang="en-US" sz="1400" b="1" i="1" smtClean="0">
                          <a:solidFill>
                            <a:srgbClr val="006600"/>
                          </a:solidFill>
                          <a:latin typeface="Cambria Math" charset="0"/>
                        </a:rPr>
                        <m:t>𝒛</m:t>
                      </m:r>
                    </m:oMath>
                  </m:oMathPara>
                </a14:m>
                <a:endParaRPr lang="ru-RU" sz="1400" b="1" dirty="0">
                  <a:solidFill>
                    <a:srgbClr val="006600"/>
                  </a:solidFill>
                </a:endParaRPr>
              </a:p>
            </p:txBody>
          </p:sp>
        </mc:Choice>
        <mc:Fallback xmlns="">
          <p:sp>
            <p:nvSpPr>
              <p:cNvPr id="137" name="TextBox 1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435" y="2723925"/>
                <a:ext cx="470351" cy="307777"/>
              </a:xfrm>
              <a:prstGeom prst="rect">
                <a:avLst/>
              </a:prstGeom>
              <a:blipFill rotWithShape="0">
                <a:blip r:embed="rId41"/>
                <a:stretch>
                  <a:fillRect t="-86000" b="-10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/>
              <p:cNvSpPr txBox="1"/>
              <p:nvPr/>
            </p:nvSpPr>
            <p:spPr>
              <a:xfrm>
                <a:off x="76936" y="4302202"/>
                <a:ext cx="1182696" cy="3135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mr-IN" sz="1200" i="1" dirty="0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i="1" dirty="0">
                                  <a:latin typeface="Cambria Math" charset="0"/>
                                </a:rPr>
                                <m:t>2</m:t>
                              </m:r>
                            </m:e>
                          </m:rad>
                          <m:r>
                            <a:rPr lang="en-US" sz="1200" b="0" i="0" dirty="0" smtClean="0">
                              <a:latin typeface="Cambria Math" charset="0"/>
                            </a:rPr>
                            <m:t>;2;2</m:t>
                          </m:r>
                        </m:e>
                      </m:d>
                      <m:r>
                        <a:rPr lang="en-US" sz="1200" b="0" i="0" dirty="0" smtClean="0"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8" name="TextBox 1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36" y="4302202"/>
                <a:ext cx="1182696" cy="313547"/>
              </a:xfrm>
              <a:prstGeom prst="rect">
                <a:avLst/>
              </a:prstGeom>
              <a:blipFill rotWithShape="0"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/>
              <p:cNvSpPr txBox="1"/>
              <p:nvPr/>
            </p:nvSpPr>
            <p:spPr>
              <a:xfrm>
                <a:off x="1075232" y="4302202"/>
                <a:ext cx="1182696" cy="3135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mr-IN" sz="1200" i="1" dirty="0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i="1" dirty="0">
                                  <a:latin typeface="Cambria Math" charset="0"/>
                                </a:rPr>
                                <m:t>2</m:t>
                              </m:r>
                            </m:e>
                          </m:rad>
                          <m:r>
                            <a:rPr lang="en-US" sz="1200" b="0" i="0" dirty="0" smtClean="0">
                              <a:latin typeface="Cambria Math" charset="0"/>
                            </a:rPr>
                            <m:t>;4;0</m:t>
                          </m:r>
                        </m:e>
                      </m:d>
                      <m:r>
                        <a:rPr lang="en-US" sz="1200" b="0" i="0" dirty="0" smtClean="0"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9" name="TextBox 1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232" y="4302202"/>
                <a:ext cx="1182696" cy="313547"/>
              </a:xfrm>
              <a:prstGeom prst="rect">
                <a:avLst/>
              </a:prstGeom>
              <a:blipFill rotWithShape="0"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/>
              <p:cNvSpPr txBox="1"/>
              <p:nvPr/>
            </p:nvSpPr>
            <p:spPr>
              <a:xfrm>
                <a:off x="2009193" y="4342117"/>
                <a:ext cx="11826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0</m:t>
                          </m:r>
                          <m:r>
                            <a:rPr lang="en-US" sz="1200" b="0" i="0" dirty="0" smtClean="0">
                              <a:latin typeface="Cambria Math" charset="0"/>
                            </a:rPr>
                            <m:t>;0;2</m:t>
                          </m:r>
                        </m:e>
                      </m:d>
                      <m:r>
                        <a:rPr lang="en-US" sz="1200" b="0" i="0" dirty="0" smtClean="0"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0" name="TextBox 1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9193" y="4342117"/>
                <a:ext cx="1182696" cy="276999"/>
              </a:xfrm>
              <a:prstGeom prst="rect">
                <a:avLst/>
              </a:prstGeom>
              <a:blipFill rotWithShape="0"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9946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5" grpId="0"/>
      <p:bldP spid="36" grpId="0"/>
      <p:bldP spid="37" grpId="0"/>
      <p:bldP spid="38" grpId="0"/>
      <p:bldP spid="39" grpId="0"/>
      <p:bldP spid="40" grpId="0"/>
      <p:bldP spid="41" grpId="0" animBg="1"/>
      <p:bldP spid="42" grpId="0" animBg="1"/>
      <p:bldP spid="43" grpId="0" animBg="1"/>
      <p:bldP spid="46" grpId="0" animBg="1"/>
      <p:bldP spid="78" grpId="0"/>
      <p:bldP spid="79" grpId="0"/>
      <p:bldP spid="80" grpId="0"/>
      <p:bldP spid="81" grpId="0"/>
      <p:bldP spid="82" grpId="0"/>
      <p:bldP spid="83" grpId="0"/>
      <p:bldP spid="86" grpId="0"/>
      <p:bldP spid="87" grpId="0"/>
      <p:bldP spid="89" grpId="0"/>
      <p:bldP spid="91" grpId="0"/>
      <p:bldP spid="92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2" grpId="0"/>
      <p:bldP spid="113" grpId="0"/>
      <p:bldP spid="114" grpId="0"/>
      <p:bldP spid="115" grpId="0"/>
      <p:bldP spid="116" grpId="0"/>
      <p:bldP spid="117" grpId="0"/>
      <p:bldP spid="118" grpId="0"/>
      <p:bldP spid="119" grpId="0"/>
      <p:bldP spid="120" grpId="0"/>
      <p:bldP spid="121" grpId="0"/>
      <p:bldP spid="122" grpId="0"/>
      <p:bldP spid="123" grpId="0"/>
      <p:bldP spid="124" grpId="0"/>
      <p:bldP spid="135" grpId="0"/>
      <p:bldP spid="136" grpId="0"/>
      <p:bldP spid="137" grpId="0"/>
      <p:bldP spid="138" grpId="0"/>
      <p:bldP spid="139" grpId="0"/>
      <p:bldP spid="14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28</a:t>
            </a:fld>
            <a:endParaRPr kumimoji="0" lang="ru-RU">
              <a:solidFill>
                <a:schemeClr val="tx2"/>
              </a:solidFill>
            </a:endParaRPr>
          </a:p>
        </p:txBody>
      </p:sp>
      <p:sp>
        <p:nvSpPr>
          <p:cNvPr id="3" name="Номер слайда 1"/>
          <p:cNvSpPr txBox="1">
            <a:spLocks/>
          </p:cNvSpPr>
          <p:nvPr/>
        </p:nvSpPr>
        <p:spPr>
          <a:xfrm>
            <a:off x="0" y="4686300"/>
            <a:ext cx="533400" cy="285750"/>
          </a:xfrm>
          <a:prstGeom prst="rect">
            <a:avLst/>
          </a:prstGeom>
        </p:spPr>
        <p:txBody>
          <a:bodyPr vert="horz" anchor="ctr" anchorCtr="0">
            <a:normAutofit lnSpcReduction="10000"/>
          </a:bodyPr>
          <a:lstStyle>
            <a:lvl1pPr marL="0" algn="ctr" rtl="0" eaLnBrk="1" latinLnBrk="0" hangingPunct="1">
              <a:defRPr kumimoji="0" lang="ru-RU"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fld id="{A3F7CB7D-F184-43C7-B6FD-03D728E1BBFF}" type="slidenum">
              <a:rPr lang="is-IS" smtClean="0"/>
              <a:pPr/>
              <a:t>28</a:t>
            </a:fld>
            <a:endParaRPr lang="is-I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0" y="-22136"/>
                <a:ext cx="9144000" cy="93770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dirty="0" smtClean="0">
                    <a:solidFill>
                      <a:srgbClr val="7030A0"/>
                    </a:solidFill>
                  </a:rPr>
                  <a:t>17.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Основание прямой треугольной призмы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𝑨𝑩𝑪</m:t>
                    </m:r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− </m:t>
                    </m:r>
                  </m:oMath>
                </a14:m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прямоугольный треугольник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𝑨𝑩𝑪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с</a:t>
                </a:r>
                <a14:m>
                  <m:oMath xmlns:m="http://schemas.openxmlformats.org/officeDocument/2006/math">
                    <m:r>
                      <a:rPr lang="ru-RU" sz="1200" b="1" i="0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прямым углом при вершине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, 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а боковая грань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</m:t>
                    </m:r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𝑪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−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квадрат. </a:t>
                </a:r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а) Докажите, что прямые</a:t>
                </a:r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𝑪</m:t>
                    </m:r>
                    <m:sSub>
                      <m:sSubPr>
                        <m:ctrlP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</m:t>
                    </m:r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перпендикулярны</a:t>
                </a:r>
                <a14:m>
                  <m:oMath xmlns:m="http://schemas.openxmlformats.org/officeDocument/2006/math"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.</m:t>
                    </m:r>
                  </m:oMath>
                </a14:m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б) Найдите расстояние между этими прямыми, если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𝑨𝑪</m:t>
                    </m:r>
                    <m:r>
                      <a:rPr lang="en-US" sz="1200" b="1" i="0" smtClean="0">
                        <a:solidFill>
                          <a:srgbClr val="002060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1" i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𝟐</m:t>
                    </m:r>
                    <m:r>
                      <a:rPr lang="en-US" sz="1200" b="1" i="0" smtClean="0">
                        <a:solidFill>
                          <a:srgbClr val="002060"/>
                        </a:solidFill>
                        <a:latin typeface="Cambria Math" charset="0"/>
                      </a:rPr>
                      <m:t>; 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𝑨</m:t>
                    </m:r>
                    <m:sSub>
                      <m:sSubPr>
                        <m:ctrlP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0" smtClean="0">
                        <a:solidFill>
                          <a:srgbClr val="002060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𝟐</m:t>
                    </m:r>
                    <m:rad>
                      <m:radPr>
                        <m:degHide m:val="on"/>
                        <m:ctrlPr>
                          <a:rPr lang="ru-RU" sz="1200" b="1" i="1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𝟑</m:t>
                        </m:r>
                      </m:e>
                    </m:rad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</a:t>
                </a:r>
                <a:endParaRPr lang="en-US" sz="12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6"/>
                <a:ext cx="9144000" cy="93770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Прямая соединительная линия 4"/>
          <p:cNvCxnSpPr/>
          <p:nvPr/>
        </p:nvCxnSpPr>
        <p:spPr>
          <a:xfrm>
            <a:off x="6792609" y="2328994"/>
            <a:ext cx="1152128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 flipH="1">
            <a:off x="6337174" y="2328994"/>
            <a:ext cx="1607563" cy="1074606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>
            <a:off x="6802873" y="3579862"/>
            <a:ext cx="1152128" cy="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 flipH="1">
            <a:off x="6316646" y="3579862"/>
            <a:ext cx="486228" cy="1097078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 flipH="1">
            <a:off x="6323687" y="3579862"/>
            <a:ext cx="1631314" cy="1093536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 flipH="1">
            <a:off x="7942857" y="2322377"/>
            <a:ext cx="1880" cy="1250868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 flipH="1">
            <a:off x="6791669" y="2328994"/>
            <a:ext cx="1880" cy="1250868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733360" y="3348566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3360" y="3348566"/>
                <a:ext cx="340286" cy="3077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 flipH="1">
                <a:off x="7847908" y="3376437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847908" y="3376437"/>
                <a:ext cx="486282" cy="3077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 flipH="1">
                <a:off x="6012587" y="4643109"/>
                <a:ext cx="3882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012587" y="4643109"/>
                <a:ext cx="388236" cy="3077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446721" y="2092198"/>
                <a:ext cx="41716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721" y="2092198"/>
                <a:ext cx="417165" cy="3077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 flipH="1">
                <a:off x="7847908" y="2099986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847908" y="2099986"/>
                <a:ext cx="486282" cy="30777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 flipH="1">
                <a:off x="5837327" y="3265762"/>
                <a:ext cx="7122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837327" y="3265762"/>
                <a:ext cx="712236" cy="30777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Полилиния 17"/>
          <p:cNvSpPr/>
          <p:nvPr/>
        </p:nvSpPr>
        <p:spPr>
          <a:xfrm>
            <a:off x="6731301" y="3596639"/>
            <a:ext cx="260460" cy="155944"/>
          </a:xfrm>
          <a:custGeom>
            <a:avLst/>
            <a:gdLst>
              <a:gd name="connsiteX0" fmla="*/ 91440 w 274320"/>
              <a:gd name="connsiteY0" fmla="*/ 0 h 132080"/>
              <a:gd name="connsiteX1" fmla="*/ 274320 w 274320"/>
              <a:gd name="connsiteY1" fmla="*/ 0 h 132080"/>
              <a:gd name="connsiteX2" fmla="*/ 172720 w 274320"/>
              <a:gd name="connsiteY2" fmla="*/ 132080 h 132080"/>
              <a:gd name="connsiteX3" fmla="*/ 0 w 274320"/>
              <a:gd name="connsiteY3" fmla="*/ 132080 h 132080"/>
              <a:gd name="connsiteX4" fmla="*/ 91440 w 274320"/>
              <a:gd name="connsiteY4" fmla="*/ 0 h 132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0" h="132080">
                <a:moveTo>
                  <a:pt x="91440" y="0"/>
                </a:moveTo>
                <a:lnTo>
                  <a:pt x="274320" y="0"/>
                </a:lnTo>
                <a:lnTo>
                  <a:pt x="172720" y="132080"/>
                </a:lnTo>
                <a:lnTo>
                  <a:pt x="0" y="132080"/>
                </a:lnTo>
                <a:lnTo>
                  <a:pt x="91440" y="0"/>
                </a:lnTo>
                <a:close/>
              </a:path>
            </a:pathLst>
          </a:custGeom>
          <a:solidFill>
            <a:schemeClr val="bg1">
              <a:lumMod val="85000"/>
              <a:alpha val="26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олилиния 18"/>
          <p:cNvSpPr/>
          <p:nvPr/>
        </p:nvSpPr>
        <p:spPr>
          <a:xfrm>
            <a:off x="6269121" y="4013200"/>
            <a:ext cx="111760" cy="0"/>
          </a:xfrm>
          <a:custGeom>
            <a:avLst/>
            <a:gdLst>
              <a:gd name="connsiteX0" fmla="*/ 0 w 111760"/>
              <a:gd name="connsiteY0" fmla="*/ 0 h 0"/>
              <a:gd name="connsiteX1" fmla="*/ 111760 w 11176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1760">
                <a:moveTo>
                  <a:pt x="0" y="0"/>
                </a:moveTo>
                <a:lnTo>
                  <a:pt x="111760" y="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олилиния 19"/>
          <p:cNvSpPr/>
          <p:nvPr/>
        </p:nvSpPr>
        <p:spPr>
          <a:xfrm>
            <a:off x="6547777" y="3992880"/>
            <a:ext cx="91440" cy="40640"/>
          </a:xfrm>
          <a:custGeom>
            <a:avLst/>
            <a:gdLst>
              <a:gd name="connsiteX0" fmla="*/ 0 w 91440"/>
              <a:gd name="connsiteY0" fmla="*/ 0 h 40640"/>
              <a:gd name="connsiteX1" fmla="*/ 91440 w 91440"/>
              <a:gd name="connsiteY1" fmla="*/ 40640 h 40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" h="40640">
                <a:moveTo>
                  <a:pt x="0" y="0"/>
                </a:moveTo>
                <a:lnTo>
                  <a:pt x="91440" y="4064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олилиния 20"/>
          <p:cNvSpPr/>
          <p:nvPr/>
        </p:nvSpPr>
        <p:spPr>
          <a:xfrm>
            <a:off x="6702493" y="3454400"/>
            <a:ext cx="86068" cy="301724"/>
          </a:xfrm>
          <a:custGeom>
            <a:avLst/>
            <a:gdLst>
              <a:gd name="connsiteX0" fmla="*/ 0 w 101600"/>
              <a:gd name="connsiteY0" fmla="*/ 121920 h 294640"/>
              <a:gd name="connsiteX1" fmla="*/ 10160 w 101600"/>
              <a:gd name="connsiteY1" fmla="*/ 294640 h 294640"/>
              <a:gd name="connsiteX2" fmla="*/ 101600 w 101600"/>
              <a:gd name="connsiteY2" fmla="*/ 152400 h 294640"/>
              <a:gd name="connsiteX3" fmla="*/ 91440 w 101600"/>
              <a:gd name="connsiteY3" fmla="*/ 0 h 294640"/>
              <a:gd name="connsiteX4" fmla="*/ 0 w 101600"/>
              <a:gd name="connsiteY4" fmla="*/ 121920 h 294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00" h="294640">
                <a:moveTo>
                  <a:pt x="0" y="121920"/>
                </a:moveTo>
                <a:lnTo>
                  <a:pt x="10160" y="294640"/>
                </a:lnTo>
                <a:lnTo>
                  <a:pt x="101600" y="152400"/>
                </a:lnTo>
                <a:lnTo>
                  <a:pt x="91440" y="0"/>
                </a:lnTo>
                <a:lnTo>
                  <a:pt x="0" y="121920"/>
                </a:lnTo>
                <a:close/>
              </a:path>
            </a:pathLst>
          </a:custGeom>
          <a:solidFill>
            <a:schemeClr val="bg1">
              <a:lumMod val="85000"/>
              <a:alpha val="36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 flipH="1">
            <a:off x="6316646" y="2329564"/>
            <a:ext cx="465699" cy="1106438"/>
          </a:xfrm>
          <a:prstGeom prst="line">
            <a:avLst/>
          </a:prstGeom>
          <a:ln w="12700">
            <a:solidFill>
              <a:srgbClr val="00206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H="1">
            <a:off x="6323687" y="3415913"/>
            <a:ext cx="1880" cy="1250868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 flipV="1">
            <a:off x="6306980" y="2349334"/>
            <a:ext cx="1605683" cy="233778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endCxn id="42" idx="0"/>
          </p:cNvCxnSpPr>
          <p:nvPr/>
        </p:nvCxnSpPr>
        <p:spPr>
          <a:xfrm>
            <a:off x="6332608" y="3424449"/>
            <a:ext cx="485513" cy="172190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 flipH="1">
            <a:off x="7466789" y="3579062"/>
            <a:ext cx="486228" cy="1097078"/>
          </a:xfrm>
          <a:prstGeom prst="line">
            <a:avLst/>
          </a:prstGeom>
          <a:ln w="12700" cmpd="sng">
            <a:solidFill>
              <a:srgbClr val="0066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>
            <a:off x="6312886" y="4673398"/>
            <a:ext cx="1152128" cy="0"/>
          </a:xfrm>
          <a:prstGeom prst="line">
            <a:avLst/>
          </a:prstGeom>
          <a:ln w="12700">
            <a:solidFill>
              <a:srgbClr val="0066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/>
          <p:nvPr/>
        </p:nvCxnSpPr>
        <p:spPr>
          <a:xfrm>
            <a:off x="6323687" y="3424449"/>
            <a:ext cx="1152128" cy="0"/>
          </a:xfrm>
          <a:prstGeom prst="line">
            <a:avLst/>
          </a:prstGeom>
          <a:ln w="12700">
            <a:solidFill>
              <a:srgbClr val="0066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/>
          <p:nvPr/>
        </p:nvCxnSpPr>
        <p:spPr>
          <a:xfrm flipH="1">
            <a:off x="7465014" y="2329564"/>
            <a:ext cx="465699" cy="1106438"/>
          </a:xfrm>
          <a:prstGeom prst="line">
            <a:avLst/>
          </a:prstGeom>
          <a:ln w="12700">
            <a:solidFill>
              <a:srgbClr val="0066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/>
          <p:nvPr/>
        </p:nvCxnSpPr>
        <p:spPr>
          <a:xfrm flipH="1">
            <a:off x="7472459" y="3435432"/>
            <a:ext cx="1880" cy="1250868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/>
          <p:nvPr/>
        </p:nvCxnSpPr>
        <p:spPr>
          <a:xfrm>
            <a:off x="7270475" y="1210506"/>
            <a:ext cx="1152128" cy="0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/>
          <p:nvPr/>
        </p:nvCxnSpPr>
        <p:spPr>
          <a:xfrm>
            <a:off x="7280739" y="2461374"/>
            <a:ext cx="1152128" cy="0"/>
          </a:xfrm>
          <a:prstGeom prst="line">
            <a:avLst/>
          </a:prstGeom>
          <a:ln w="12700">
            <a:solidFill>
              <a:srgbClr val="00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/>
          <p:nvPr/>
        </p:nvCxnSpPr>
        <p:spPr>
          <a:xfrm flipH="1">
            <a:off x="6794512" y="2461374"/>
            <a:ext cx="486228" cy="1097078"/>
          </a:xfrm>
          <a:prstGeom prst="line">
            <a:avLst/>
          </a:prstGeom>
          <a:ln w="12700">
            <a:solidFill>
              <a:srgbClr val="00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/>
          <p:nvPr/>
        </p:nvCxnSpPr>
        <p:spPr>
          <a:xfrm flipH="1">
            <a:off x="8420723" y="1203889"/>
            <a:ext cx="1880" cy="1250868"/>
          </a:xfrm>
          <a:prstGeom prst="line">
            <a:avLst/>
          </a:prstGeom>
          <a:ln w="127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/>
          <p:nvPr/>
        </p:nvCxnSpPr>
        <p:spPr>
          <a:xfrm flipH="1">
            <a:off x="7269535" y="1210506"/>
            <a:ext cx="1880" cy="1250868"/>
          </a:xfrm>
          <a:prstGeom prst="line">
            <a:avLst/>
          </a:prstGeom>
          <a:ln w="12700">
            <a:solidFill>
              <a:srgbClr val="00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/>
          <p:cNvCxnSpPr/>
          <p:nvPr/>
        </p:nvCxnSpPr>
        <p:spPr>
          <a:xfrm flipH="1">
            <a:off x="6794512" y="1211076"/>
            <a:ext cx="465699" cy="1106438"/>
          </a:xfrm>
          <a:prstGeom prst="line">
            <a:avLst/>
          </a:prstGeom>
          <a:ln w="12700">
            <a:solidFill>
              <a:srgbClr val="0066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/>
          <p:nvPr/>
        </p:nvCxnSpPr>
        <p:spPr>
          <a:xfrm flipH="1">
            <a:off x="7942880" y="1211076"/>
            <a:ext cx="465699" cy="1106438"/>
          </a:xfrm>
          <a:prstGeom prst="line">
            <a:avLst/>
          </a:prstGeom>
          <a:ln w="12700">
            <a:solidFill>
              <a:srgbClr val="0066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/>
          <p:nvPr/>
        </p:nvCxnSpPr>
        <p:spPr>
          <a:xfrm flipH="1">
            <a:off x="7953227" y="2461943"/>
            <a:ext cx="465699" cy="1106438"/>
          </a:xfrm>
          <a:prstGeom prst="line">
            <a:avLst/>
          </a:prstGeom>
          <a:ln w="12700">
            <a:solidFill>
              <a:srgbClr val="0066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 flipH="1">
                <a:off x="7246906" y="4657780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𝐷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246906" y="4657780"/>
                <a:ext cx="486282" cy="30777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 flipH="1">
                <a:off x="7349127" y="3276053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349127" y="3276053"/>
                <a:ext cx="486282" cy="30777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6933003" y="1025183"/>
                <a:ext cx="4213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003" y="1025183"/>
                <a:ext cx="421334" cy="30777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 flipH="1">
                <a:off x="8334190" y="1032971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334190" y="1032971"/>
                <a:ext cx="486282" cy="307777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6916613" y="2275515"/>
                <a:ext cx="4213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6613" y="2275515"/>
                <a:ext cx="421334" cy="307777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 flipH="1">
                <a:off x="8326103" y="2324515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326103" y="2324515"/>
                <a:ext cx="486282" cy="307777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Прямая соединительная линия 44"/>
          <p:cNvCxnSpPr/>
          <p:nvPr/>
        </p:nvCxnSpPr>
        <p:spPr>
          <a:xfrm>
            <a:off x="7939298" y="2327673"/>
            <a:ext cx="479628" cy="145253"/>
          </a:xfrm>
          <a:prstGeom prst="line">
            <a:avLst/>
          </a:prstGeom>
          <a:ln>
            <a:prstDash val="soli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" name="Прямая соединительная линия 50"/>
          <p:cNvCxnSpPr/>
          <p:nvPr/>
        </p:nvCxnSpPr>
        <p:spPr>
          <a:xfrm flipV="1">
            <a:off x="6325379" y="2316130"/>
            <a:ext cx="1619358" cy="2350651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2" name="Прямая соединительная линия 51"/>
          <p:cNvCxnSpPr/>
          <p:nvPr/>
        </p:nvCxnSpPr>
        <p:spPr>
          <a:xfrm flipV="1">
            <a:off x="6306980" y="2445802"/>
            <a:ext cx="2111946" cy="2224522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56369" y="987574"/>
                <a:ext cx="1368341" cy="2809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 smtClean="0"/>
                  <a:t>б)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</a:rPr>
                      <m:t>𝐴</m:t>
                    </m:r>
                    <m:sSub>
                      <m:sSubPr>
                        <m:ctrlPr>
                          <a:rPr lang="en-US" sz="12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charset="0"/>
                          </a:rPr>
                          <m:t>𝐶</m:t>
                        </m:r>
                      </m:e>
                      <m:sub>
                        <m:r>
                          <a:rPr lang="en-US" sz="1200" i="1" dirty="0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∥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sSub>
                      <m:sSubPr>
                        <m:ctrlPr>
                          <a:rPr lang="en-US" sz="12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charset="0"/>
                          </a:rPr>
                          <m:t>𝐶</m:t>
                        </m:r>
                        <m:r>
                          <a:rPr lang="en-US" sz="1200" i="1" dirty="0">
                            <a:latin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sz="1200" i="1" dirty="0">
                            <a:latin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sz="1200" i="1" dirty="0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sz="1200" b="0" i="0" dirty="0" smtClean="0">
                        <a:latin typeface="Cambria Math" charset="0"/>
                      </a:rPr>
                      <m:t>)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69" y="987574"/>
                <a:ext cx="1368341" cy="280974"/>
              </a:xfrm>
              <a:prstGeom prst="rect">
                <a:avLst/>
              </a:prstGeom>
              <a:blipFill rotWithShape="0">
                <a:blip r:embed="rId15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1341686" y="999363"/>
                <a:ext cx="44598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⟹ 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Расстояние от любой точки прямой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  </m:t>
                        </m:r>
                        <m:r>
                          <a:rPr lang="en-US" sz="1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𝐴𝐶</m:t>
                        </m:r>
                      </m:e>
                      <m:sub>
                        <m:r>
                          <a:rPr lang="en-US" sz="1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до плоскости</a:t>
                </a:r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sSub>
                      <m:sSubPr>
                        <m:ctrlPr>
                          <a:rPr lang="en-US" sz="12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charset="0"/>
                          </a:rPr>
                          <m:t>𝐶𝐵</m:t>
                        </m:r>
                      </m:e>
                      <m:sub>
                        <m:r>
                          <a:rPr lang="en-US" sz="1200" i="1" dirty="0">
                            <a:latin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sz="1200" i="1" dirty="0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sz="1200" dirty="0">
                        <a:latin typeface="Cambria Math" charset="0"/>
                      </a:rPr>
                      <m:t>)</m:t>
                    </m:r>
                  </m:oMath>
                </a14:m>
                <a:endParaRPr lang="ru-RU" sz="1200" dirty="0"/>
              </a:p>
              <a:p>
                <a:r>
                  <a:rPr lang="ru-RU" sz="1200" dirty="0" smtClean="0">
                    <a:solidFill>
                      <a:schemeClr val="tx1"/>
                    </a:solidFill>
                  </a:rPr>
                  <a:t>равно расстоянию  между прямыми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charset="0"/>
                      </a:rPr>
                      <m:t>𝐶</m:t>
                    </m:r>
                    <m:sSub>
                      <m:sSubPr>
                        <m:ctrlPr>
                          <a:rPr lang="en-US" sz="12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sz="12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sz="1200" dirty="0"/>
                      <m:t> </m:t>
                    </m:r>
                    <m:r>
                      <m:rPr>
                        <m:nor/>
                      </m:rPr>
                      <a:rPr lang="ru-RU" sz="1200" dirty="0"/>
                      <m:t>и </m:t>
                    </m:r>
                    <m:r>
                      <a:rPr lang="en-US" sz="1200" i="1" dirty="0">
                        <a:latin typeface="Cambria Math" charset="0"/>
                      </a:rPr>
                      <m:t>𝐴</m:t>
                    </m:r>
                    <m:sSub>
                      <m:sSubPr>
                        <m:ctrlPr>
                          <a:rPr lang="en-US" sz="12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charset="0"/>
                          </a:rPr>
                          <m:t>𝐶</m:t>
                        </m:r>
                      </m:e>
                      <m:sub>
                        <m:r>
                          <a:rPr lang="en-US" sz="1200" i="1" dirty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ru-RU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1686" y="999363"/>
                <a:ext cx="4459875" cy="461665"/>
              </a:xfrm>
              <a:prstGeom prst="rect">
                <a:avLst/>
              </a:prstGeom>
              <a:blipFill rotWithShape="0">
                <a:blip r:embed="rId16"/>
                <a:stretch>
                  <a:fillRect t="-47368" b="-197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66065" y="1471760"/>
                <a:ext cx="720079" cy="2809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</a:rPr>
                        <m:t>𝐴𝐶</m:t>
                      </m:r>
                      <m:r>
                        <a:rPr lang="en-US" sz="1200" i="1" dirty="0" smtClean="0">
                          <a:latin typeface="Cambria Math" charset="0"/>
                        </a:rPr>
                        <m:t>=2;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65" y="1471760"/>
                <a:ext cx="720079" cy="280974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679263" y="1483562"/>
                <a:ext cx="13306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𝐶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i="1" dirty="0" smtClean="0"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𝐵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i="1" dirty="0" smtClean="0">
                          <a:latin typeface="Cambria Math" charset="0"/>
                        </a:rPr>
                        <m:t>=2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63" y="1483562"/>
                <a:ext cx="1330606" cy="276999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1907453" y="1472693"/>
                <a:ext cx="950478" cy="298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𝐴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i="1" dirty="0" smtClean="0">
                          <a:latin typeface="Cambria Math" charset="0"/>
                        </a:rPr>
                        <m:t>=2</m:t>
                      </m:r>
                      <m:rad>
                        <m:radPr>
                          <m:degHide m:val="on"/>
                          <m:ctrlPr>
                            <a:rPr lang="en-US" sz="1200" i="1" dirty="0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3</m:t>
                          </m:r>
                        </m:e>
                      </m:rad>
                      <m:r>
                        <a:rPr lang="en-US" sz="1200" b="0" i="1" dirty="0" smtClean="0"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453" y="1472693"/>
                <a:ext cx="950478" cy="298736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2766301" y="1378176"/>
                <a:ext cx="1683889" cy="4681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𝐴𝐵</m:t>
                      </m:r>
                      <m:r>
                        <a:rPr lang="en-US" sz="1200" i="1" dirty="0" smtClean="0">
                          <a:latin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mr-IN" sz="1200" i="1" dirty="0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mr-IN" sz="1200" i="1" dirty="0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200" i="1" dirty="0">
                                  <a:latin typeface="Cambria Math" charset="0"/>
                                </a:rPr>
                                <m:t>𝐴</m:t>
                              </m:r>
                              <m:sSub>
                                <m:sSubPr>
                                  <m:ctrlPr>
                                    <a:rPr lang="en-US" sz="12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dirty="0">
                                      <a:latin typeface="Cambria Math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1200" i="1" dirty="0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mr-IN" sz="1200" i="1" dirty="0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b="0" i="1" dirty="0" smtClean="0">
                              <a:latin typeface="Cambria Math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mr-IN" sz="1200" i="1" dirty="0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200" i="1" dirty="0">
                                  <a:latin typeface="Cambria Math" charset="0"/>
                                </a:rPr>
                                <m:t>𝐵</m:t>
                              </m:r>
                              <m:sSub>
                                <m:sSubPr>
                                  <m:ctrlPr>
                                    <a:rPr lang="en-US" sz="12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dirty="0">
                                      <a:latin typeface="Cambria Math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1200" i="1" dirty="0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mr-IN" sz="1200" i="1" dirty="0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6301" y="1378176"/>
                <a:ext cx="1683889" cy="468141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4015646" y="1343211"/>
                <a:ext cx="1683889" cy="4681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mr-IN" sz="1200" i="1" dirty="0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mr-IN" sz="1200" i="1" dirty="0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</a:rPr>
                                <m:t>(</m:t>
                              </m:r>
                              <m:r>
                                <a:rPr lang="en-US" sz="1200" i="1" dirty="0">
                                  <a:latin typeface="Cambria Math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200" i="1" dirty="0">
                                      <a:latin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200" i="1" dirty="0">
                                      <a:latin typeface="Cambria Math" charset="0"/>
                                    </a:rPr>
                                    <m:t>3</m:t>
                                  </m:r>
                                </m:e>
                              </m:rad>
                              <m:r>
                                <a:rPr lang="en-US" sz="1200" b="0" i="1" dirty="0" smtClean="0">
                                  <a:latin typeface="Cambria Math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mr-IN" sz="1200" i="1" dirty="0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b="0" i="1" dirty="0" smtClean="0">
                              <a:latin typeface="Cambria Math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mr-IN" sz="1200" i="1" dirty="0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mr-IN" sz="1200" i="1" dirty="0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5646" y="1343211"/>
                <a:ext cx="1683889" cy="468141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5340043" y="1453508"/>
                <a:ext cx="611429" cy="298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2</m:t>
                      </m:r>
                      <m:rad>
                        <m:radPr>
                          <m:degHide m:val="on"/>
                          <m:ctrlPr>
                            <a:rPr lang="mr-IN" sz="1200" i="1" dirty="0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i="1" dirty="0" smtClean="0">
                              <a:latin typeface="Cambria Math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043" y="1453508"/>
                <a:ext cx="611429" cy="298736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/>
          <p:cNvSpPr txBox="1"/>
          <p:nvPr/>
        </p:nvSpPr>
        <p:spPr>
          <a:xfrm>
            <a:off x="66065" y="1752244"/>
            <a:ext cx="22234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Введем </a:t>
            </a:r>
            <a:r>
              <a:rPr lang="ru-RU" sz="1200" smtClean="0"/>
              <a:t>систему координат</a:t>
            </a:r>
            <a:r>
              <a:rPr lang="ru-RU" sz="1200" dirty="0" smtClean="0"/>
              <a:t>.</a:t>
            </a:r>
            <a:endParaRPr lang="ru-RU" sz="1200" dirty="0">
              <a:solidFill>
                <a:schemeClr val="tx1"/>
              </a:solidFill>
            </a:endParaRPr>
          </a:p>
        </p:txBody>
      </p:sp>
      <p:cxnSp>
        <p:nvCxnSpPr>
          <p:cNvPr id="73" name="Прямая со стрелкой 72"/>
          <p:cNvCxnSpPr/>
          <p:nvPr/>
        </p:nvCxnSpPr>
        <p:spPr>
          <a:xfrm flipH="1" flipV="1">
            <a:off x="6330492" y="2726151"/>
            <a:ext cx="4698" cy="1965583"/>
          </a:xfrm>
          <a:prstGeom prst="straightConnector1">
            <a:avLst/>
          </a:prstGeom>
          <a:ln w="1905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 стрелкой 73"/>
          <p:cNvCxnSpPr/>
          <p:nvPr/>
        </p:nvCxnSpPr>
        <p:spPr>
          <a:xfrm flipV="1">
            <a:off x="6331646" y="1977908"/>
            <a:ext cx="1152134" cy="2679872"/>
          </a:xfrm>
          <a:prstGeom prst="straightConnector1">
            <a:avLst/>
          </a:prstGeom>
          <a:ln w="1905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/>
          <p:nvPr/>
        </p:nvCxnSpPr>
        <p:spPr>
          <a:xfrm flipV="1">
            <a:off x="6326353" y="4678343"/>
            <a:ext cx="1800327" cy="1"/>
          </a:xfrm>
          <a:prstGeom prst="straightConnector1">
            <a:avLst/>
          </a:prstGeom>
          <a:ln w="1905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7718017" y="4692250"/>
                <a:ext cx="47035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b="0" i="1" smtClean="0">
                          <a:latin typeface="Cambria Math" charset="0"/>
                        </a:rPr>
                        <m:t> </m:t>
                      </m:r>
                      <m:r>
                        <a:rPr lang="en-US" sz="1400" b="1" i="1" smtClean="0">
                          <a:solidFill>
                            <a:srgbClr val="006600"/>
                          </a:solidFill>
                          <a:latin typeface="Cambria Math" charset="0"/>
                        </a:rPr>
                        <m:t>𝒙</m:t>
                      </m:r>
                    </m:oMath>
                  </m:oMathPara>
                </a14:m>
                <a:endParaRPr lang="ru-RU" sz="1400" b="1" dirty="0">
                  <a:solidFill>
                    <a:srgbClr val="006600"/>
                  </a:solidFill>
                </a:endParaRPr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8017" y="4692250"/>
                <a:ext cx="470351" cy="307777"/>
              </a:xfrm>
              <a:prstGeom prst="rect">
                <a:avLst/>
              </a:prstGeom>
              <a:blipFill rotWithShape="0">
                <a:blip r:embed="rId23"/>
                <a:stretch>
                  <a:fillRect t="-86000" b="-10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7335666" y="1891768"/>
                <a:ext cx="47035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b="0" i="1" smtClean="0">
                          <a:latin typeface="Cambria Math" charset="0"/>
                        </a:rPr>
                        <m:t> </m:t>
                      </m:r>
                      <m:r>
                        <a:rPr lang="en-US" sz="1400" b="1" i="1" smtClean="0">
                          <a:solidFill>
                            <a:srgbClr val="006600"/>
                          </a:solidFill>
                          <a:latin typeface="Cambria Math" charset="0"/>
                        </a:rPr>
                        <m:t>𝒚</m:t>
                      </m:r>
                    </m:oMath>
                  </m:oMathPara>
                </a14:m>
                <a:endParaRPr lang="ru-RU" sz="1400" b="1" dirty="0">
                  <a:solidFill>
                    <a:srgbClr val="006600"/>
                  </a:solidFill>
                </a:endParaRPr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5666" y="1891768"/>
                <a:ext cx="470351" cy="307777"/>
              </a:xfrm>
              <a:prstGeom prst="rect">
                <a:avLst/>
              </a:prstGeom>
              <a:blipFill rotWithShape="0">
                <a:blip r:embed="rId24"/>
                <a:stretch>
                  <a:fillRect t="-84314" b="-1058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5941435" y="2723925"/>
                <a:ext cx="47035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b="0" i="1" smtClean="0">
                          <a:latin typeface="Cambria Math" charset="0"/>
                        </a:rPr>
                        <m:t> </m:t>
                      </m:r>
                      <m:r>
                        <a:rPr lang="en-US" sz="1400" b="1" i="1" smtClean="0">
                          <a:solidFill>
                            <a:srgbClr val="006600"/>
                          </a:solidFill>
                          <a:latin typeface="Cambria Math" charset="0"/>
                        </a:rPr>
                        <m:t>𝒛</m:t>
                      </m:r>
                    </m:oMath>
                  </m:oMathPara>
                </a14:m>
                <a:endParaRPr lang="ru-RU" sz="1400" b="1" dirty="0">
                  <a:solidFill>
                    <a:srgbClr val="006600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435" y="2723925"/>
                <a:ext cx="470351" cy="307777"/>
              </a:xfrm>
              <a:prstGeom prst="rect">
                <a:avLst/>
              </a:prstGeom>
              <a:blipFill rotWithShape="0">
                <a:blip r:embed="rId25"/>
                <a:stretch>
                  <a:fillRect t="-86000" b="-10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35496" y="2021416"/>
                <a:ext cx="1182696" cy="3135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mr-IN" sz="1200" i="1" dirty="0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i="1" dirty="0">
                                  <a:latin typeface="Cambria Math" charset="0"/>
                                </a:rPr>
                                <m:t>2</m:t>
                              </m:r>
                            </m:e>
                          </m:rad>
                          <m:r>
                            <a:rPr lang="en-US" sz="1200" b="0" i="0" dirty="0" smtClean="0">
                              <a:latin typeface="Cambria Math" charset="0"/>
                            </a:rPr>
                            <m:t>;2;2</m:t>
                          </m:r>
                        </m:e>
                      </m:d>
                      <m:r>
                        <a:rPr lang="en-US" sz="1200" b="0" i="0" dirty="0" smtClean="0"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6" y="2021416"/>
                <a:ext cx="1182696" cy="313547"/>
              </a:xfrm>
              <a:prstGeom prst="rect">
                <a:avLst/>
              </a:prstGeom>
              <a:blipFill rotWithShape="0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1033792" y="2021416"/>
                <a:ext cx="1182696" cy="3135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mr-IN" sz="1200" i="1" dirty="0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i="1" dirty="0">
                                  <a:latin typeface="Cambria Math" charset="0"/>
                                </a:rPr>
                                <m:t>2</m:t>
                              </m:r>
                            </m:e>
                          </m:rad>
                          <m:r>
                            <a:rPr lang="en-US" sz="1200" b="0" i="0" dirty="0" smtClean="0">
                              <a:latin typeface="Cambria Math" charset="0"/>
                            </a:rPr>
                            <m:t>;4;0</m:t>
                          </m:r>
                        </m:e>
                      </m:d>
                      <m:r>
                        <a:rPr lang="en-US" sz="1200" b="0" i="0" dirty="0" smtClean="0"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792" y="2021416"/>
                <a:ext cx="1182696" cy="313547"/>
              </a:xfrm>
              <a:prstGeom prst="rect">
                <a:avLst/>
              </a:prstGeom>
              <a:blipFill rotWithShape="0"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1947433" y="2051171"/>
                <a:ext cx="11826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0</m:t>
                          </m:r>
                          <m:r>
                            <a:rPr lang="en-US" sz="1200" b="0" i="0" dirty="0" smtClean="0">
                              <a:latin typeface="Cambria Math" charset="0"/>
                            </a:rPr>
                            <m:t>;0;2</m:t>
                          </m:r>
                        </m:e>
                      </m:d>
                      <m:r>
                        <a:rPr lang="en-US" sz="1200" b="0" i="0" dirty="0" smtClean="0"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7433" y="2051171"/>
                <a:ext cx="1182696" cy="276999"/>
              </a:xfrm>
              <a:prstGeom prst="rect">
                <a:avLst/>
              </a:prstGeom>
              <a:blipFill rotWithShape="0"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79713" y="2349334"/>
                <a:ext cx="427626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 smtClean="0"/>
                  <a:t>Уравнение плоскости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 dirty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200" i="1" dirty="0">
                                <a:latin typeface="Cambria Math" charset="0"/>
                              </a:rPr>
                              <m:t>𝐶𝐵</m:t>
                            </m:r>
                          </m:e>
                          <m:sub>
                            <m:r>
                              <a:rPr lang="en-US" sz="1200" i="1" dirty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12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200" i="1" dirty="0">
                                <a:latin typeface="Cambria Math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1200" i="1" dirty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1200" dirty="0" smtClean="0"/>
                  <a:t>  имеет вид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charset="0"/>
                      </a:rPr>
                      <m:t>𝑎𝑥</m:t>
                    </m:r>
                    <m:r>
                      <a:rPr lang="en-US" sz="1200" b="0" i="1" smtClean="0">
                        <a:latin typeface="Cambria Math" charset="0"/>
                      </a:rPr>
                      <m:t>+</m:t>
                    </m:r>
                    <m:r>
                      <a:rPr lang="en-US" sz="1200" b="0" i="1" smtClean="0">
                        <a:latin typeface="Cambria Math" charset="0"/>
                      </a:rPr>
                      <m:t>𝑏𝑦</m:t>
                    </m:r>
                    <m:r>
                      <a:rPr lang="en-US" sz="1200" b="0" i="1" smtClean="0">
                        <a:latin typeface="Cambria Math" charset="0"/>
                      </a:rPr>
                      <m:t>+</m:t>
                    </m:r>
                    <m:r>
                      <a:rPr lang="en-US" sz="1200" b="0" i="1" smtClean="0">
                        <a:latin typeface="Cambria Math" charset="0"/>
                      </a:rPr>
                      <m:t>𝑐𝑧</m:t>
                    </m:r>
                    <m:r>
                      <a:rPr lang="en-US" sz="1200" b="0" i="1" smtClean="0">
                        <a:latin typeface="Cambria Math" charset="0"/>
                      </a:rPr>
                      <m:t>=0</m:t>
                    </m:r>
                  </m:oMath>
                </a14:m>
                <a:r>
                  <a:rPr lang="ru-RU" sz="1200" dirty="0" smtClean="0"/>
                  <a:t>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13" y="2349334"/>
                <a:ext cx="4276263" cy="276999"/>
              </a:xfrm>
              <a:prstGeom prst="rect">
                <a:avLst/>
              </a:prstGeom>
              <a:blipFill rotWithShape="0">
                <a:blip r:embed="rId29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47639" y="2614705"/>
                <a:ext cx="1859814" cy="572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12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200" i="1" dirty="0">
                                  <a:latin typeface="Cambria Math"/>
                                </a:rPr>
                              </m:ctrlPr>
                            </m:eqArrPr>
                            <m:e>
                              <m:r>
                                <a:rPr lang="en-US" sz="1200" i="1" dirty="0">
                                  <a:latin typeface="Cambria Math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mr-IN" sz="1200" i="1" dirty="0">
                                      <a:latin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200" i="1" dirty="0">
                                      <a:latin typeface="Cambria Math" charset="0"/>
                                    </a:rPr>
                                    <m:t>2</m:t>
                                  </m:r>
                                </m:e>
                              </m:rad>
                              <m:r>
                                <a:rPr lang="en-US" sz="1200" b="0" i="1" dirty="0" smtClean="0">
                                  <a:latin typeface="Cambria Math" charset="0"/>
                                </a:rPr>
                                <m:t>𝑎</m:t>
                              </m:r>
                              <m:r>
                                <a:rPr lang="en-US" sz="1200" b="0" i="1" dirty="0" smtClean="0">
                                  <a:latin typeface="Cambria Math" charset="0"/>
                                </a:rPr>
                                <m:t>+2</m:t>
                              </m:r>
                              <m:r>
                                <a:rPr lang="en-US" sz="1200" b="0" i="1" dirty="0" smtClean="0">
                                  <a:latin typeface="Cambria Math" charset="0"/>
                                </a:rPr>
                                <m:t>𝑏</m:t>
                              </m:r>
                              <m:r>
                                <a:rPr lang="en-US" sz="1200" b="0" i="1" dirty="0" smtClean="0">
                                  <a:latin typeface="Cambria Math" charset="0"/>
                                </a:rPr>
                                <m:t>+2</m:t>
                              </m:r>
                              <m:r>
                                <a:rPr lang="en-US" sz="1200" b="0" i="1" dirty="0" smtClean="0">
                                  <a:latin typeface="Cambria Math" charset="0"/>
                                </a:rPr>
                                <m:t>𝑐</m:t>
                              </m:r>
                              <m:r>
                                <a:rPr lang="en-US" sz="1200" b="0" i="1" dirty="0" smtClean="0">
                                  <a:latin typeface="Cambria Math" charset="0"/>
                                </a:rPr>
                                <m:t>=0</m:t>
                              </m:r>
                            </m:e>
                            <m:e>
                              <m:r>
                                <a:rPr lang="en-US" sz="1200" i="1" dirty="0">
                                  <a:latin typeface="Cambria Math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mr-IN" sz="1200" i="1" dirty="0">
                                      <a:latin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200" i="1" dirty="0">
                                      <a:latin typeface="Cambria Math" charset="0"/>
                                    </a:rPr>
                                    <m:t>2</m:t>
                                  </m:r>
                                </m:e>
                              </m:rad>
                              <m:r>
                                <a:rPr lang="en-US" sz="1200" i="1" dirty="0">
                                  <a:latin typeface="Cambria Math" charset="0"/>
                                </a:rPr>
                                <m:t>𝑎</m:t>
                              </m:r>
                              <m:r>
                                <a:rPr lang="en-US" sz="1200" b="0" i="1" dirty="0" smtClean="0">
                                  <a:latin typeface="Cambria Math" charset="0"/>
                                </a:rPr>
                                <m:t>+4</m:t>
                              </m:r>
                              <m:r>
                                <a:rPr lang="en-US" sz="1200" b="0" i="1" dirty="0" smtClean="0">
                                  <a:latin typeface="Cambria Math" charset="0"/>
                                </a:rPr>
                                <m:t>𝑏</m:t>
                              </m:r>
                              <m:r>
                                <a:rPr lang="en-US" sz="1200" b="0" i="1" dirty="0" smtClean="0">
                                  <a:latin typeface="Cambria Math" charset="0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39" y="2614705"/>
                <a:ext cx="1859814" cy="572016"/>
              </a:xfrm>
              <a:prstGeom prst="rect">
                <a:avLst/>
              </a:prstGeom>
              <a:blipFill rotWithShape="0">
                <a:blip r:embed="rId30"/>
                <a:stretch>
                  <a:fillRect l="-38033" t="-185106" b="-2670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1785620" y="2677429"/>
                <a:ext cx="11826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2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𝑏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−2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𝑐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=0;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620" y="2677429"/>
                <a:ext cx="1182696" cy="276999"/>
              </a:xfrm>
              <a:prstGeom prst="rect">
                <a:avLst/>
              </a:prstGeom>
              <a:blipFill rotWithShape="0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2737660" y="2673679"/>
                <a:ext cx="70017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𝑐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𝑏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7660" y="2673679"/>
                <a:ext cx="700171" cy="276999"/>
              </a:xfrm>
              <a:prstGeom prst="rect">
                <a:avLst/>
              </a:prstGeom>
              <a:blipFill rotWithShape="0"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1827514" y="2882334"/>
                <a:ext cx="943738" cy="298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=−</m:t>
                      </m:r>
                      <m:rad>
                        <m:radPr>
                          <m:degHide m:val="on"/>
                          <m:ctrlPr>
                            <a:rPr lang="mr-IN" sz="1200" i="1" dirty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i="1" dirty="0">
                              <a:latin typeface="Cambria Math" charset="0"/>
                            </a:rPr>
                            <m:t>2</m:t>
                          </m:r>
                        </m:e>
                      </m:rad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𝑏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514" y="2882334"/>
                <a:ext cx="943738" cy="298736"/>
              </a:xfrm>
              <a:prstGeom prst="rect">
                <a:avLst/>
              </a:prstGeom>
              <a:blipFill rotWithShape="0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90053" y="3167727"/>
                <a:ext cx="1970330" cy="298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mr-IN" sz="1200" i="1" dirty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i="1" dirty="0">
                              <a:latin typeface="Cambria Math" charset="0"/>
                            </a:rPr>
                            <m:t>2</m:t>
                          </m:r>
                        </m:e>
                      </m:rad>
                      <m:r>
                        <a:rPr lang="en-US" sz="1200" i="1">
                          <a:latin typeface="Cambria Math" charset="0"/>
                        </a:rPr>
                        <m:t>𝑏𝑥</m:t>
                      </m:r>
                      <m:r>
                        <a:rPr lang="en-US" sz="1200" i="1">
                          <a:latin typeface="Cambria Math" charset="0"/>
                        </a:rPr>
                        <m:t>+</m:t>
                      </m:r>
                      <m:r>
                        <a:rPr lang="en-US" sz="1200" i="1">
                          <a:latin typeface="Cambria Math" charset="0"/>
                        </a:rPr>
                        <m:t>𝑏𝑦</m:t>
                      </m:r>
                      <m:r>
                        <a:rPr lang="en-US" sz="1200" i="1">
                          <a:latin typeface="Cambria Math" charset="0"/>
                        </a:rPr>
                        <m:t>+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𝑏</m:t>
                      </m:r>
                      <m:r>
                        <a:rPr lang="en-US" sz="1200" i="1">
                          <a:latin typeface="Cambria Math" charset="0"/>
                        </a:rPr>
                        <m:t>𝑧</m:t>
                      </m:r>
                      <m:r>
                        <a:rPr lang="en-US" sz="1200" i="1">
                          <a:latin typeface="Cambria Math" charset="0"/>
                        </a:rPr>
                        <m:t>=0;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3" y="3167727"/>
                <a:ext cx="1970330" cy="298736"/>
              </a:xfrm>
              <a:prstGeom prst="rect">
                <a:avLst/>
              </a:prstGeom>
              <a:blipFill rotWithShape="0">
                <a:blip r:embed="rId34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1601293" y="3151561"/>
                <a:ext cx="1970330" cy="298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mr-IN" sz="1200" i="1" dirty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i="1" dirty="0">
                              <a:latin typeface="Cambria Math" charset="0"/>
                            </a:rPr>
                            <m:t>2</m:t>
                          </m:r>
                        </m:e>
                      </m:rad>
                      <m:r>
                        <a:rPr lang="en-US" sz="1200" i="1">
                          <a:latin typeface="Cambria Math" charset="0"/>
                        </a:rPr>
                        <m:t>𝑥</m:t>
                      </m:r>
                      <m:r>
                        <a:rPr lang="en-US" sz="1200" i="1">
                          <a:latin typeface="Cambria Math" charset="0"/>
                        </a:rPr>
                        <m:t>+</m:t>
                      </m:r>
                      <m:r>
                        <a:rPr lang="en-US" sz="1200" i="1">
                          <a:latin typeface="Cambria Math" charset="0"/>
                        </a:rPr>
                        <m:t>𝑦</m:t>
                      </m:r>
                      <m:r>
                        <a:rPr lang="en-US" sz="1200" i="1">
                          <a:latin typeface="Cambria Math" charset="0"/>
                        </a:rPr>
                        <m:t>+</m:t>
                      </m:r>
                      <m:r>
                        <a:rPr lang="en-US" sz="1200" i="1">
                          <a:latin typeface="Cambria Math" charset="0"/>
                        </a:rPr>
                        <m:t>𝑧</m:t>
                      </m:r>
                      <m:r>
                        <a:rPr lang="en-US" sz="1200" i="1">
                          <a:latin typeface="Cambria Math" charset="0"/>
                        </a:rPr>
                        <m:t>=0;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1293" y="3151561"/>
                <a:ext cx="1970330" cy="298736"/>
              </a:xfrm>
              <a:prstGeom prst="rect">
                <a:avLst/>
              </a:prstGeom>
              <a:blipFill rotWithShape="0"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3503892" y="2755354"/>
                <a:ext cx="2331697" cy="1075679"/>
              </a:xfrm>
              <a:prstGeom prst="rect">
                <a:avLst/>
              </a:prstGeom>
              <a:solidFill>
                <a:srgbClr val="D4ECBA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ru-RU" sz="1050" dirty="0" smtClean="0">
                    <a:solidFill>
                      <a:schemeClr val="tx1"/>
                    </a:solidFill>
                  </a:rPr>
                  <a:t>Расстояние от точки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𝐴</m:t>
                    </m:r>
                    <m:d>
                      <m:dPr>
                        <m:ctrlPr>
                          <a:rPr lang="en-US" sz="105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050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05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05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05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050" b="0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050" b="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050" b="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05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050" b="0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050" b="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1050" b="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105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050" b="0" i="0" dirty="0" smtClean="0">
                    <a:solidFill>
                      <a:schemeClr val="tx1"/>
                    </a:solidFill>
                    <a:latin typeface="+mj-lt"/>
                  </a:rPr>
                  <a:t>до плоскости</a:t>
                </a:r>
                <a:r>
                  <a:rPr lang="en-US" sz="1050" dirty="0">
                    <a:latin typeface="+mj-lt"/>
                  </a:rPr>
                  <a:t>,</a:t>
                </a:r>
                <a:r>
                  <a:rPr lang="ru-RU" sz="1050" b="0" i="0" dirty="0" smtClean="0">
                    <a:solidFill>
                      <a:schemeClr val="tx1"/>
                    </a:solidFill>
                    <a:latin typeface="+mj-lt"/>
                  </a:rPr>
                  <a:t> заданой уравнением</a:t>
                </a:r>
                <a:endParaRPr lang="en-US" sz="1050" b="0" i="0" dirty="0" smtClean="0">
                  <a:solidFill>
                    <a:schemeClr val="tx1"/>
                  </a:solidFill>
                  <a:latin typeface="+mj-lt"/>
                </a:endParaRPr>
              </a:p>
              <a:p>
                <a14:m>
                  <m:oMath xmlns:m="http://schemas.openxmlformats.org/officeDocument/2006/math">
                    <m:r>
                      <a:rPr lang="en-US" sz="105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𝑎𝑥</m:t>
                    </m:r>
                    <m:r>
                      <a:rPr lang="en-US" sz="105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+</m:t>
                    </m:r>
                    <m:r>
                      <a:rPr lang="en-US" sz="105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𝑏𝑦</m:t>
                    </m:r>
                    <m:r>
                      <a:rPr lang="en-US" sz="105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+</m:t>
                    </m:r>
                    <m:r>
                      <a:rPr lang="en-US" sz="105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𝑐𝑧</m:t>
                    </m:r>
                    <m:r>
                      <a:rPr lang="ru-RU" sz="105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+</m:t>
                    </m:r>
                    <m:r>
                      <a:rPr lang="en-US" sz="105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𝑑</m:t>
                    </m:r>
                    <m:r>
                      <a:rPr lang="en-US" sz="105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=0 </m:t>
                    </m:r>
                  </m:oMath>
                </a14:m>
                <a:r>
                  <a:rPr lang="ru-RU" sz="1050" b="0" i="0" dirty="0" smtClean="0">
                    <a:solidFill>
                      <a:schemeClr val="tx1"/>
                    </a:solidFill>
                    <a:latin typeface="+mj-lt"/>
                  </a:rPr>
                  <a:t>вычисляется по фо</a:t>
                </a:r>
                <a:r>
                  <a:rPr lang="ru-RU" sz="1050" dirty="0" smtClean="0">
                    <a:latin typeface="+mj-lt"/>
                  </a:rPr>
                  <a:t>р</a:t>
                </a:r>
                <a:r>
                  <a:rPr lang="ru-RU" sz="1050" b="0" i="0" dirty="0" smtClean="0">
                    <a:solidFill>
                      <a:schemeClr val="tx1"/>
                    </a:solidFill>
                    <a:latin typeface="+mj-lt"/>
                  </a:rPr>
                  <a:t>муле: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05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𝜌</m:t>
                      </m:r>
                      <m:r>
                        <a:rPr lang="en-US" sz="105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05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05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|</m:t>
                          </m:r>
                          <m:r>
                            <a:rPr lang="en-US" sz="105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en-US" sz="105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05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05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05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</m:t>
                          </m:r>
                          <m:r>
                            <a:rPr lang="en-US" sz="105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𝑏</m:t>
                          </m:r>
                          <m:sSub>
                            <m:sSubPr>
                              <m:ctrlPr>
                                <a:rPr lang="en-US" sz="105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05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05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05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</m:t>
                          </m:r>
                          <m:r>
                            <a:rPr lang="en-US" sz="105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𝑐</m:t>
                          </m:r>
                          <m:sSub>
                            <m:sSubPr>
                              <m:ctrlPr>
                                <a:rPr lang="en-US" sz="105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05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05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05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</m:t>
                          </m:r>
                          <m:r>
                            <a:rPr lang="en-US" sz="105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𝑑</m:t>
                          </m:r>
                          <m:r>
                            <a:rPr lang="en-US" sz="105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|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mr-IN" sz="105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105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05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05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05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05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05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105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05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05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05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sz="105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ru-RU" sz="10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892" y="2755354"/>
                <a:ext cx="2331697" cy="1075679"/>
              </a:xfrm>
              <a:prstGeom prst="rect">
                <a:avLst/>
              </a:prstGeom>
              <a:blipFill rotWithShape="0">
                <a:blip r:embed="rId36"/>
                <a:stretch>
                  <a:fillRect t="-1704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90053" y="3488600"/>
                <a:ext cx="1970330" cy="6848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𝜌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mr-IN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smtClean="0">
                                          <a:latin typeface="Cambria Math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−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sz="1200" b="0" i="1" smtClean="0">
                                              <a:latin typeface="Cambria Math"/>
                                              <a:ea typeface="Cambria Math" charset="0"/>
                                              <a:cs typeface="Cambria Math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1200" b="0" i="1" smtClean="0"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2</m:t>
                                          </m:r>
                                        </m:e>
                                      </m:rad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+1+1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3" y="3488600"/>
                <a:ext cx="1970330" cy="684867"/>
              </a:xfrm>
              <a:prstGeom prst="rect">
                <a:avLst/>
              </a:prstGeom>
              <a:blipFill rotWithShape="0"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1683204" y="3501741"/>
                <a:ext cx="787634" cy="4737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mr-IN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4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204" y="3501741"/>
                <a:ext cx="787634" cy="473784"/>
              </a:xfrm>
              <a:prstGeom prst="rect">
                <a:avLst/>
              </a:prstGeom>
              <a:blipFill rotWithShape="0"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2070297" y="3605262"/>
                <a:ext cx="7876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=1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0297" y="3605262"/>
                <a:ext cx="787634" cy="276999"/>
              </a:xfrm>
              <a:prstGeom prst="rect">
                <a:avLst/>
              </a:prstGeom>
              <a:blipFill rotWithShape="0"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2968316" y="4249743"/>
                <a:ext cx="10033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b="1" dirty="0" smtClean="0">
                    <a:solidFill>
                      <a:srgbClr val="FF0000"/>
                    </a:solidFill>
                  </a:rPr>
                  <a:t>Ответ: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𝟏</m:t>
                    </m:r>
                  </m:oMath>
                </a14:m>
                <a:endParaRPr lang="ru-RU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316" y="4249743"/>
                <a:ext cx="1003352" cy="369332"/>
              </a:xfrm>
              <a:prstGeom prst="rect">
                <a:avLst/>
              </a:prstGeom>
              <a:blipFill rotWithShape="0">
                <a:blip r:embed="rId40"/>
                <a:stretch>
                  <a:fillRect l="-5455" t="-8197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Прямая соединительная линия 94"/>
          <p:cNvCxnSpPr/>
          <p:nvPr/>
        </p:nvCxnSpPr>
        <p:spPr>
          <a:xfrm flipH="1">
            <a:off x="6330492" y="2349334"/>
            <a:ext cx="451853" cy="2336966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6187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76" grpId="0"/>
      <p:bldP spid="77" grpId="0"/>
      <p:bldP spid="78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 animBg="1"/>
      <p:bldP spid="90" grpId="0"/>
      <p:bldP spid="91" grpId="0"/>
      <p:bldP spid="92" grpId="0"/>
      <p:bldP spid="9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29</a:t>
            </a:fld>
            <a:endParaRPr kumimoji="0" lang="ru-RU">
              <a:solidFill>
                <a:schemeClr val="tx2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827584" y="1851670"/>
            <a:ext cx="7416824" cy="627534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rgbClr val="FF0000"/>
                </a:solidFill>
              </a:rPr>
              <a:t>Площадь сечения</a:t>
            </a:r>
            <a:endParaRPr lang="ru-R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6458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30</a:t>
            </a:fld>
            <a:endParaRPr kumimoji="0" lang="ru-RU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0" y="-22136"/>
                <a:ext cx="9144000" cy="93770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dirty="0" smtClean="0">
                    <a:solidFill>
                      <a:srgbClr val="7030A0"/>
                    </a:solidFill>
                  </a:rPr>
                  <a:t>18.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На ребре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</m:t>
                    </m:r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прямоугольного параллелепипеда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𝑨𝑩𝑪</m:t>
                    </m:r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𝑫</m:t>
                        </m:r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𝑫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взята точка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𝑬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так, что</a:t>
                </a:r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𝑬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𝟔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𝑬𝑨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Точка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𝑻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mr-IN" sz="1200" b="1" dirty="0" smtClean="0">
                    <a:solidFill>
                      <a:srgbClr val="002060"/>
                    </a:solidFill>
                  </a:rPr>
                  <a:t>–</a:t>
                </a:r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середина ребра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ru-RU" sz="1200" b="1" i="0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Известно, что 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𝑨𝑩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=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𝟒</m:t>
                    </m:r>
                    <m:rad>
                      <m:radPr>
                        <m:degHide m:val="on"/>
                        <m:ctrlPr>
                          <a:rPr lang="ru-RU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ru-RU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𝟐</m:t>
                        </m:r>
                      </m:e>
                    </m:rad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, 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𝑨𝑫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𝟏𝟐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, 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</m:t>
                    </m:r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𝟏𝟒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а) Докажите, что плоскость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𝑬</m:t>
                    </m:r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𝑻</m:t>
                    </m:r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𝑫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делит ребро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𝑩</m:t>
                    </m:r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в отношении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𝟒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: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𝟑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б) Найдите площадь сечения параллелепипеда плоскостью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𝑬𝑻</m:t>
                    </m:r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𝑫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.</a:t>
                </a:r>
                <a:endParaRPr lang="en-US" sz="12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6"/>
                <a:ext cx="9144000" cy="93770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Прямая соединительная линия 5"/>
          <p:cNvCxnSpPr/>
          <p:nvPr/>
        </p:nvCxnSpPr>
        <p:spPr>
          <a:xfrm>
            <a:off x="6489555" y="4129608"/>
            <a:ext cx="2016224" cy="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5625459" y="4849688"/>
            <a:ext cx="2016224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 flipV="1">
            <a:off x="5625459" y="4129608"/>
            <a:ext cx="864096" cy="72008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 flipV="1">
            <a:off x="7641683" y="4129608"/>
            <a:ext cx="864096" cy="72008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 flipV="1">
            <a:off x="5625459" y="2477616"/>
            <a:ext cx="0" cy="2372072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6489555" y="1763146"/>
            <a:ext cx="2016224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5625459" y="2483226"/>
            <a:ext cx="2016224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 flipV="1">
            <a:off x="5625459" y="1763146"/>
            <a:ext cx="864096" cy="72008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 flipV="1">
            <a:off x="7641683" y="1763146"/>
            <a:ext cx="864096" cy="72008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 flipV="1">
            <a:off x="8504244" y="1766829"/>
            <a:ext cx="0" cy="2372072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 flipV="1">
            <a:off x="7641683" y="2477616"/>
            <a:ext cx="0" cy="2372072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 flipV="1">
            <a:off x="6484596" y="1766829"/>
            <a:ext cx="0" cy="2372072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342485" y="4791352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2485" y="4791352"/>
                <a:ext cx="340286" cy="3077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 flipH="1">
                <a:off x="6137722" y="3943914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137722" y="3943914"/>
                <a:ext cx="486282" cy="3077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 flipH="1">
                <a:off x="8447189" y="3936430"/>
                <a:ext cx="3882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447189" y="3936430"/>
                <a:ext cx="388236" cy="3077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 flipH="1">
                <a:off x="7469571" y="4784646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𝐷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469571" y="4784646"/>
                <a:ext cx="486282" cy="3077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5282916" y="2196596"/>
                <a:ext cx="41716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2916" y="2196596"/>
                <a:ext cx="417165" cy="30777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 flipH="1">
                <a:off x="6078501" y="1534563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078501" y="1534563"/>
                <a:ext cx="486282" cy="30777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 flipH="1">
                <a:off x="8447189" y="1561077"/>
                <a:ext cx="3882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447189" y="1561077"/>
                <a:ext cx="388236" cy="30777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 flipH="1">
                <a:off x="7567945" y="2388769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𝐷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567945" y="2388769"/>
                <a:ext cx="486282" cy="30777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Овал 30"/>
          <p:cNvSpPr/>
          <p:nvPr/>
        </p:nvSpPr>
        <p:spPr>
          <a:xfrm>
            <a:off x="5600306" y="4464496"/>
            <a:ext cx="50304" cy="5030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 flipH="1">
                <a:off x="5255547" y="4305177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𝐸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55547" y="4305177"/>
                <a:ext cx="486282" cy="30777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 flipH="1">
                <a:off x="5214532" y="4558910"/>
                <a:ext cx="4862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charset="0"/>
                        </a:rPr>
                        <m:t>(1)</m:t>
                      </m:r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14532" y="4558910"/>
                <a:ext cx="486282" cy="261610"/>
              </a:xfrm>
              <a:prstGeom prst="rect">
                <a:avLst/>
              </a:prstGeom>
              <a:blipFill rotWithShape="0">
                <a:blip r:embed="rId12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 flipH="1">
                <a:off x="5225950" y="3400404"/>
                <a:ext cx="4862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charset="0"/>
                        </a:rPr>
                        <m:t>(6)</m:t>
                      </m:r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25950" y="3400404"/>
                <a:ext cx="486282" cy="261610"/>
              </a:xfrm>
              <a:prstGeom prst="rect">
                <a:avLst/>
              </a:prstGeom>
              <a:blipFill rotWithShape="0">
                <a:blip r:embed="rId13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Овал 35"/>
          <p:cNvSpPr/>
          <p:nvPr/>
        </p:nvSpPr>
        <p:spPr>
          <a:xfrm rot="20700000">
            <a:off x="7430813" y="1745407"/>
            <a:ext cx="45731" cy="5030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 flipH="1">
                <a:off x="7313179" y="1463681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𝑇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313179" y="1463681"/>
                <a:ext cx="486282" cy="307777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Полилиния 37"/>
          <p:cNvSpPr/>
          <p:nvPr/>
        </p:nvSpPr>
        <p:spPr>
          <a:xfrm>
            <a:off x="6987494" y="1716140"/>
            <a:ext cx="0" cy="113016"/>
          </a:xfrm>
          <a:custGeom>
            <a:avLst/>
            <a:gdLst>
              <a:gd name="connsiteX0" fmla="*/ 0 w 0"/>
              <a:gd name="connsiteY0" fmla="*/ 0 h 113016"/>
              <a:gd name="connsiteX1" fmla="*/ 0 w 0"/>
              <a:gd name="connsiteY1" fmla="*/ 113016 h 113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13016">
                <a:moveTo>
                  <a:pt x="0" y="0"/>
                </a:moveTo>
                <a:lnTo>
                  <a:pt x="0" y="113016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олилиния 38"/>
          <p:cNvSpPr/>
          <p:nvPr/>
        </p:nvSpPr>
        <p:spPr>
          <a:xfrm>
            <a:off x="7966868" y="1707202"/>
            <a:ext cx="0" cy="113016"/>
          </a:xfrm>
          <a:custGeom>
            <a:avLst/>
            <a:gdLst>
              <a:gd name="connsiteX0" fmla="*/ 0 w 0"/>
              <a:gd name="connsiteY0" fmla="*/ 0 h 113016"/>
              <a:gd name="connsiteX1" fmla="*/ 0 w 0"/>
              <a:gd name="connsiteY1" fmla="*/ 113016 h 113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13016">
                <a:moveTo>
                  <a:pt x="0" y="0"/>
                </a:moveTo>
                <a:lnTo>
                  <a:pt x="0" y="113016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 flipH="1">
                <a:off x="5966225" y="4423207"/>
                <a:ext cx="486282" cy="281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charset="0"/>
                        </a:rPr>
                        <m:t>4</m:t>
                      </m:r>
                      <m:rad>
                        <m:radPr>
                          <m:degHide m:val="on"/>
                          <m:ctrlPr>
                            <a:rPr lang="en-US" sz="11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100" b="0" i="1" smtClean="0">
                              <a:latin typeface="Cambria Math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966225" y="4423207"/>
                <a:ext cx="486282" cy="281552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 flipH="1">
                <a:off x="6311458" y="4841812"/>
                <a:ext cx="4862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charset="0"/>
                        </a:rPr>
                        <m:t>12</m:t>
                      </m:r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311458" y="4841812"/>
                <a:ext cx="486282" cy="261610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 flipH="1">
                <a:off x="7542815" y="3381593"/>
                <a:ext cx="4862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charset="0"/>
                        </a:rPr>
                        <m:t>14</m:t>
                      </m:r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542815" y="3381593"/>
                <a:ext cx="486282" cy="261610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Прямая соединительная линия 43"/>
          <p:cNvCxnSpPr>
            <a:stCxn id="31" idx="0"/>
            <a:endCxn id="76" idx="3"/>
          </p:cNvCxnSpPr>
          <p:nvPr/>
        </p:nvCxnSpPr>
        <p:spPr>
          <a:xfrm flipV="1">
            <a:off x="5625458" y="2486218"/>
            <a:ext cx="2007783" cy="197827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Прямая соединительная линия 48"/>
          <p:cNvCxnSpPr>
            <a:endCxn id="36" idx="3"/>
          </p:cNvCxnSpPr>
          <p:nvPr/>
        </p:nvCxnSpPr>
        <p:spPr>
          <a:xfrm flipH="1" flipV="1">
            <a:off x="7442664" y="1791923"/>
            <a:ext cx="203978" cy="70847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 flipH="1" flipV="1">
            <a:off x="7217778" y="1035982"/>
            <a:ext cx="210748" cy="71205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/>
          <p:nvPr/>
        </p:nvCxnSpPr>
        <p:spPr>
          <a:xfrm flipV="1">
            <a:off x="6473190" y="1023826"/>
            <a:ext cx="911966" cy="75344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0" name="Овал 59"/>
          <p:cNvSpPr/>
          <p:nvPr/>
        </p:nvSpPr>
        <p:spPr>
          <a:xfrm>
            <a:off x="7228052" y="1115824"/>
            <a:ext cx="50304" cy="415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 flipH="1">
                <a:off x="7146959" y="1008779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𝑃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146959" y="1008779"/>
                <a:ext cx="486282" cy="307777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Прямая соединительная линия 62"/>
          <p:cNvCxnSpPr/>
          <p:nvPr/>
        </p:nvCxnSpPr>
        <p:spPr>
          <a:xfrm flipV="1">
            <a:off x="5600376" y="1136611"/>
            <a:ext cx="1644359" cy="3373435"/>
          </a:xfrm>
          <a:prstGeom prst="line">
            <a:avLst/>
          </a:prstGeom>
          <a:ln>
            <a:prstDash val="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6" name="Овал 65"/>
          <p:cNvSpPr/>
          <p:nvPr/>
        </p:nvSpPr>
        <p:spPr>
          <a:xfrm>
            <a:off x="6457910" y="2680316"/>
            <a:ext cx="50304" cy="4573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 flipH="1">
                <a:off x="6076492" y="2527771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𝐾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076492" y="2527771"/>
                <a:ext cx="486282" cy="307777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Прямая соединительная линия 68"/>
          <p:cNvCxnSpPr>
            <a:stCxn id="31" idx="1"/>
            <a:endCxn id="66" idx="0"/>
          </p:cNvCxnSpPr>
          <p:nvPr/>
        </p:nvCxnSpPr>
        <p:spPr>
          <a:xfrm flipV="1">
            <a:off x="5607673" y="2680316"/>
            <a:ext cx="875389" cy="1791547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3" name="Прямая соединительная линия 72"/>
          <p:cNvCxnSpPr>
            <a:endCxn id="36" idx="2"/>
          </p:cNvCxnSpPr>
          <p:nvPr/>
        </p:nvCxnSpPr>
        <p:spPr>
          <a:xfrm flipV="1">
            <a:off x="6480191" y="1776477"/>
            <a:ext cx="951401" cy="920069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6" name="Полилиния 75"/>
          <p:cNvSpPr/>
          <p:nvPr/>
        </p:nvSpPr>
        <p:spPr>
          <a:xfrm>
            <a:off x="5609232" y="1767027"/>
            <a:ext cx="2024009" cy="2712378"/>
          </a:xfrm>
          <a:custGeom>
            <a:avLst/>
            <a:gdLst>
              <a:gd name="connsiteX0" fmla="*/ 0 w 2024009"/>
              <a:gd name="connsiteY0" fmla="*/ 2712378 h 2712378"/>
              <a:gd name="connsiteX1" fmla="*/ 873303 w 2024009"/>
              <a:gd name="connsiteY1" fmla="*/ 914400 h 2712378"/>
              <a:gd name="connsiteX2" fmla="*/ 1828800 w 2024009"/>
              <a:gd name="connsiteY2" fmla="*/ 0 h 2712378"/>
              <a:gd name="connsiteX3" fmla="*/ 2024009 w 2024009"/>
              <a:gd name="connsiteY3" fmla="*/ 719191 h 2712378"/>
              <a:gd name="connsiteX4" fmla="*/ 0 w 2024009"/>
              <a:gd name="connsiteY4" fmla="*/ 2712378 h 2712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24009" h="2712378">
                <a:moveTo>
                  <a:pt x="0" y="2712378"/>
                </a:moveTo>
                <a:lnTo>
                  <a:pt x="873303" y="914400"/>
                </a:lnTo>
                <a:lnTo>
                  <a:pt x="1828800" y="0"/>
                </a:lnTo>
                <a:lnTo>
                  <a:pt x="2024009" y="719191"/>
                </a:lnTo>
                <a:lnTo>
                  <a:pt x="0" y="2712378"/>
                </a:lnTo>
                <a:close/>
              </a:path>
            </a:pathLst>
          </a:cu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107505" y="1012347"/>
                <a:ext cx="40324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 smtClean="0">
                    <a:solidFill>
                      <a:schemeClr val="tx1"/>
                    </a:solidFill>
                  </a:rPr>
                  <a:t>а)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𝑃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sz="12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𝐷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𝑇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∩</m:t>
                    </m:r>
                    <m:sSub>
                      <m:sSubPr>
                        <m:ctrlPr>
                          <a:rPr lang="en-US" sz="1200" i="1" smtClean="0">
                            <a:solidFill>
                              <a:schemeClr val="tx1"/>
                            </a:solidFill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i="1" smtClean="0">
                            <a:solidFill>
                              <a:schemeClr val="tx1"/>
                            </a:solidFill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;  </m:t>
                    </m:r>
                    <m:sSub>
                      <m:sSubPr>
                        <m:ctrlPr>
                          <a:rPr lang="en-US" sz="12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𝐷</m:t>
                        </m:r>
                      </m:e>
                      <m:sub>
                        <m:r>
                          <a:rPr lang="en-US" sz="1200" b="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>
                        <a:solidFill>
                          <a:schemeClr val="tx1"/>
                        </a:solidFill>
                        <a:latin typeface="Cambria Math" charset="0"/>
                      </a:rPr>
                      <m:t>𝑇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∈</m:t>
                    </m:r>
                    <m:d>
                      <m:dPr>
                        <m:ctrlPr>
                          <a:rPr lang="en-US" sz="1200" i="1" smtClean="0">
                            <a:solidFill>
                              <a:schemeClr val="tx1"/>
                            </a:solidFill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𝐸𝑇</m:t>
                        </m:r>
                        <m:sSub>
                          <m:sSubPr>
                            <m:ctrlPr>
                              <a:rPr lang="en-US" sz="12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200" b="0" i="1" dirty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1200" b="0" i="1" dirty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  <m:r>
                      <a:rPr lang="en-US" sz="1200" i="1">
                        <a:latin typeface="Cambria Math" charset="0"/>
                      </a:rPr>
                      <m:t>𝑃</m:t>
                    </m:r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∈</m:t>
                    </m:r>
                    <m:d>
                      <m:dPr>
                        <m:ctrlPr>
                          <a:rPr lang="en-US" sz="1200" i="1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charset="0"/>
                          </a:rPr>
                          <m:t>𝐸𝑇</m:t>
                        </m:r>
                        <m:sSub>
                          <m:sSubPr>
                            <m:ctrlPr>
                              <a:rPr lang="en-US" sz="12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200" i="1" dirty="0">
                                <a:latin typeface="Cambria Math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1200" i="1" dirty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5" y="1012347"/>
                <a:ext cx="4032448" cy="276999"/>
              </a:xfrm>
              <a:prstGeom prst="rect">
                <a:avLst/>
              </a:prstGeom>
              <a:blipFill rotWithShape="0">
                <a:blip r:embed="rId20"/>
                <a:stretch>
                  <a:fillRect l="-151"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0" y="1298951"/>
                <a:ext cx="12241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𝐸</m:t>
                      </m:r>
                      <m:r>
                        <a:rPr lang="en-US" sz="1200" i="1">
                          <a:latin typeface="Cambria Math" charset="0"/>
                        </a:rPr>
                        <m:t>𝑃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∈</m:t>
                      </m:r>
                      <m:d>
                        <m:dPr>
                          <m:ctrlPr>
                            <a:rPr lang="en-US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charset="0"/>
                            </a:rPr>
                            <m:t>𝐸𝑇</m:t>
                          </m:r>
                          <m:sSub>
                            <m:sSubPr>
                              <m:ctrlPr>
                                <a:rPr lang="en-US" sz="12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i="1" dirty="0">
                                  <a:latin typeface="Cambria Math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200" i="1" dirty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200" b="0" i="1" dirty="0" smtClean="0"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298951"/>
                <a:ext cx="1224136" cy="276999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965946" y="1296596"/>
                <a:ext cx="13133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𝐾</m:t>
                      </m:r>
                      <m:r>
                        <a:rPr lang="en-US" sz="1200" i="1">
                          <a:latin typeface="Cambria Math" charset="0"/>
                        </a:rPr>
                        <m:t>=</m:t>
                      </m:r>
                      <m:r>
                        <a:rPr lang="en-US" sz="1200" i="1">
                          <a:latin typeface="Cambria Math" charset="0"/>
                        </a:rPr>
                        <m:t>𝐸𝑃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∩</m:t>
                      </m:r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</m:t>
                      </m:r>
                      <m:sSub>
                        <m:sSubPr>
                          <m:ctrlPr>
                            <a:rPr lang="en-US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946" y="1296596"/>
                <a:ext cx="1313360" cy="276999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2082274" y="1295666"/>
                <a:ext cx="12241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𝐾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∈</m:t>
                      </m:r>
                      <m:d>
                        <m:dPr>
                          <m:ctrlPr>
                            <a:rPr lang="en-US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charset="0"/>
                            </a:rPr>
                            <m:t>𝐸𝑇</m:t>
                          </m:r>
                          <m:sSub>
                            <m:sSubPr>
                              <m:ctrlPr>
                                <a:rPr lang="en-US" sz="12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i="1" dirty="0">
                                  <a:latin typeface="Cambria Math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200" i="1" dirty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200" b="0" i="1" dirty="0" smtClean="0"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2274" y="1295666"/>
                <a:ext cx="1224136" cy="276999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107503" y="1599258"/>
                <a:ext cx="526258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𝐸𝐾𝑇</m:t>
                    </m:r>
                    <m:sSub>
                      <m:sSubPr>
                        <m:ctrlPr>
                          <a:rPr lang="en-US" sz="12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𝐷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− 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сечение параллелепипеда </a:t>
                </a:r>
                <a14:m>
                  <m:oMath xmlns:m="http://schemas.openxmlformats.org/officeDocument/2006/math"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charset="0"/>
                      </a:rPr>
                      <m:t>𝐴𝐵𝐶</m:t>
                    </m:r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𝐷𝐴</m:t>
                        </m:r>
                      </m:e>
                      <m:sub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𝐶</m:t>
                        </m:r>
                      </m:e>
                      <m:sub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𝐷</m:t>
                        </m:r>
                      </m:e>
                      <m:sub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плоскостью </a:t>
                </a:r>
                <a14:m>
                  <m:oMath xmlns:m="http://schemas.openxmlformats.org/officeDocument/2006/math"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charset="0"/>
                      </a:rPr>
                      <m:t>𝐸𝑇</m:t>
                    </m:r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𝐷</m:t>
                        </m:r>
                      </m:e>
                      <m:sub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  <m:r>
                          <a:rPr lang="ru-RU" sz="12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.</m:t>
                        </m:r>
                      </m:sub>
                    </m:sSub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3" y="1599258"/>
                <a:ext cx="5262589" cy="276999"/>
              </a:xfrm>
              <a:prstGeom prst="rect">
                <a:avLst/>
              </a:prstGeom>
              <a:blipFill rotWithShape="0">
                <a:blip r:embed="rId24"/>
                <a:stretch>
                  <a:fillRect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73127" y="1856882"/>
                <a:ext cx="32581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∆</m:t>
                    </m:r>
                    <m:sSub>
                      <m:sSubPr>
                        <m:ctrlPr>
                          <a:rPr lang="en-US" sz="1200" b="0" i="1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𝑃𝑇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</m:oMath>
                </a14:m>
                <a:r>
                  <a:rPr lang="en-US" sz="1200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∆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𝑇</m:t>
                    </m:r>
                    <m:sSub>
                      <m:sSubPr>
                        <m:ctrlPr>
                          <a:rPr lang="en-US" sz="1200" b="0" i="1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𝐶</m:t>
                        </m:r>
                      </m:e>
                      <m:sub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b="0" i="1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𝐷</m:t>
                        </m:r>
                      </m:e>
                      <m:sub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по катету и острому углу.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27" y="1856882"/>
                <a:ext cx="3258100" cy="276999"/>
              </a:xfrm>
              <a:prstGeom prst="rect">
                <a:avLst/>
              </a:prstGeom>
              <a:blipFill rotWithShape="0">
                <a:blip r:embed="rId25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42480" y="2142231"/>
                <a:ext cx="179321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⟹</m:t>
                          </m:r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𝐷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80" y="2142231"/>
                <a:ext cx="1793216" cy="276999"/>
              </a:xfrm>
              <a:prstGeom prst="rect">
                <a:avLst/>
              </a:prstGeom>
              <a:blipFill rotWithShape="0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Полилиния 83"/>
          <p:cNvSpPr/>
          <p:nvPr/>
        </p:nvSpPr>
        <p:spPr>
          <a:xfrm>
            <a:off x="6748911" y="1478883"/>
            <a:ext cx="71919" cy="82194"/>
          </a:xfrm>
          <a:custGeom>
            <a:avLst/>
            <a:gdLst>
              <a:gd name="connsiteX0" fmla="*/ 0 w 71919"/>
              <a:gd name="connsiteY0" fmla="*/ 0 h 82194"/>
              <a:gd name="connsiteX1" fmla="*/ 71919 w 71919"/>
              <a:gd name="connsiteY1" fmla="*/ 82194 h 82194"/>
              <a:gd name="connsiteX2" fmla="*/ 71919 w 71919"/>
              <a:gd name="connsiteY2" fmla="*/ 82194 h 8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919" h="82194">
                <a:moveTo>
                  <a:pt x="0" y="0"/>
                </a:moveTo>
                <a:lnTo>
                  <a:pt x="71919" y="82194"/>
                </a:lnTo>
                <a:lnTo>
                  <a:pt x="71919" y="82194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5" name="Полилиния 84"/>
          <p:cNvSpPr/>
          <p:nvPr/>
        </p:nvSpPr>
        <p:spPr>
          <a:xfrm>
            <a:off x="6790458" y="1437786"/>
            <a:ext cx="71919" cy="82194"/>
          </a:xfrm>
          <a:custGeom>
            <a:avLst/>
            <a:gdLst>
              <a:gd name="connsiteX0" fmla="*/ 0 w 71919"/>
              <a:gd name="connsiteY0" fmla="*/ 0 h 82194"/>
              <a:gd name="connsiteX1" fmla="*/ 71919 w 71919"/>
              <a:gd name="connsiteY1" fmla="*/ 82194 h 82194"/>
              <a:gd name="connsiteX2" fmla="*/ 71919 w 71919"/>
              <a:gd name="connsiteY2" fmla="*/ 82194 h 8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919" h="82194">
                <a:moveTo>
                  <a:pt x="0" y="0"/>
                </a:moveTo>
                <a:lnTo>
                  <a:pt x="71919" y="82194"/>
                </a:lnTo>
                <a:lnTo>
                  <a:pt x="71919" y="82194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6" name="Полилиния 85"/>
          <p:cNvSpPr/>
          <p:nvPr/>
        </p:nvSpPr>
        <p:spPr>
          <a:xfrm>
            <a:off x="5940152" y="2160338"/>
            <a:ext cx="71919" cy="82194"/>
          </a:xfrm>
          <a:custGeom>
            <a:avLst/>
            <a:gdLst>
              <a:gd name="connsiteX0" fmla="*/ 0 w 71919"/>
              <a:gd name="connsiteY0" fmla="*/ 0 h 82194"/>
              <a:gd name="connsiteX1" fmla="*/ 71919 w 71919"/>
              <a:gd name="connsiteY1" fmla="*/ 82194 h 82194"/>
              <a:gd name="connsiteX2" fmla="*/ 71919 w 71919"/>
              <a:gd name="connsiteY2" fmla="*/ 82194 h 8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919" h="82194">
                <a:moveTo>
                  <a:pt x="0" y="0"/>
                </a:moveTo>
                <a:lnTo>
                  <a:pt x="71919" y="82194"/>
                </a:lnTo>
                <a:lnTo>
                  <a:pt x="71919" y="82194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7" name="Полилиния 86"/>
          <p:cNvSpPr/>
          <p:nvPr/>
        </p:nvSpPr>
        <p:spPr>
          <a:xfrm>
            <a:off x="5973448" y="2116123"/>
            <a:ext cx="71919" cy="82194"/>
          </a:xfrm>
          <a:custGeom>
            <a:avLst/>
            <a:gdLst>
              <a:gd name="connsiteX0" fmla="*/ 0 w 71919"/>
              <a:gd name="connsiteY0" fmla="*/ 0 h 82194"/>
              <a:gd name="connsiteX1" fmla="*/ 71919 w 71919"/>
              <a:gd name="connsiteY1" fmla="*/ 82194 h 82194"/>
              <a:gd name="connsiteX2" fmla="*/ 71919 w 71919"/>
              <a:gd name="connsiteY2" fmla="*/ 82194 h 8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919" h="82194">
                <a:moveTo>
                  <a:pt x="0" y="0"/>
                </a:moveTo>
                <a:lnTo>
                  <a:pt x="71919" y="82194"/>
                </a:lnTo>
                <a:lnTo>
                  <a:pt x="71919" y="82194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8" name="Полилиния 87"/>
          <p:cNvSpPr/>
          <p:nvPr/>
        </p:nvSpPr>
        <p:spPr>
          <a:xfrm>
            <a:off x="7950532" y="2154317"/>
            <a:ext cx="71919" cy="82194"/>
          </a:xfrm>
          <a:custGeom>
            <a:avLst/>
            <a:gdLst>
              <a:gd name="connsiteX0" fmla="*/ 0 w 71919"/>
              <a:gd name="connsiteY0" fmla="*/ 0 h 82194"/>
              <a:gd name="connsiteX1" fmla="*/ 71919 w 71919"/>
              <a:gd name="connsiteY1" fmla="*/ 82194 h 82194"/>
              <a:gd name="connsiteX2" fmla="*/ 71919 w 71919"/>
              <a:gd name="connsiteY2" fmla="*/ 82194 h 8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919" h="82194">
                <a:moveTo>
                  <a:pt x="0" y="0"/>
                </a:moveTo>
                <a:lnTo>
                  <a:pt x="71919" y="82194"/>
                </a:lnTo>
                <a:lnTo>
                  <a:pt x="71919" y="82194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Полилиния 88"/>
          <p:cNvSpPr/>
          <p:nvPr/>
        </p:nvSpPr>
        <p:spPr>
          <a:xfrm>
            <a:off x="7995372" y="2124476"/>
            <a:ext cx="71919" cy="82194"/>
          </a:xfrm>
          <a:custGeom>
            <a:avLst/>
            <a:gdLst>
              <a:gd name="connsiteX0" fmla="*/ 0 w 71919"/>
              <a:gd name="connsiteY0" fmla="*/ 0 h 82194"/>
              <a:gd name="connsiteX1" fmla="*/ 71919 w 71919"/>
              <a:gd name="connsiteY1" fmla="*/ 82194 h 82194"/>
              <a:gd name="connsiteX2" fmla="*/ 71919 w 71919"/>
              <a:gd name="connsiteY2" fmla="*/ 82194 h 8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919" h="82194">
                <a:moveTo>
                  <a:pt x="0" y="0"/>
                </a:moveTo>
                <a:lnTo>
                  <a:pt x="71919" y="82194"/>
                </a:lnTo>
                <a:lnTo>
                  <a:pt x="71919" y="82194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1813273" y="2144155"/>
                <a:ext cx="267008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𝐾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∥</m:t>
                    </m:r>
                    <m:sSub>
                      <m:sSubPr>
                        <m:ctrlPr>
                          <a:rPr lang="en-US" sz="1200" b="0" i="1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𝐸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  <m:sSub>
                      <m:sSubPr>
                        <m:ctrlPr>
                          <a:rPr lang="en-US" sz="1200" i="1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sz="12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𝐾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- 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средняя линия треугольника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sz="12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𝐸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𝑃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273" y="2144155"/>
                <a:ext cx="2670082" cy="461665"/>
              </a:xfrm>
              <a:prstGeom prst="rect">
                <a:avLst/>
              </a:prstGeom>
              <a:blipFill rotWithShape="0">
                <a:blip r:embed="rId27"/>
                <a:stretch>
                  <a:fillRect t="-1333" b="-10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-18269" y="2540887"/>
                <a:ext cx="1630416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⟹</m:t>
                          </m:r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𝐾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𝐸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269" y="2540887"/>
                <a:ext cx="1630416" cy="438005"/>
              </a:xfrm>
              <a:prstGeom prst="rect">
                <a:avLst/>
              </a:prstGeom>
              <a:blipFill rotWithShape="0"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 flipH="1">
                <a:off x="6077939" y="2112755"/>
                <a:ext cx="4862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charset="0"/>
                        </a:rPr>
                        <m:t>(3)</m:t>
                      </m:r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077939" y="2112755"/>
                <a:ext cx="486282" cy="261610"/>
              </a:xfrm>
              <a:prstGeom prst="rect">
                <a:avLst/>
              </a:prstGeom>
              <a:blipFill rotWithShape="0">
                <a:blip r:embed="rId29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 flipH="1">
                <a:off x="6138122" y="3260399"/>
                <a:ext cx="4862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charset="0"/>
                        </a:rPr>
                        <m:t>(4)</m:t>
                      </m:r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138122" y="3260399"/>
                <a:ext cx="486282" cy="261610"/>
              </a:xfrm>
              <a:prstGeom prst="rect">
                <a:avLst/>
              </a:prstGeom>
              <a:blipFill rotWithShape="0">
                <a:blip r:embed="rId30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/>
              <p:cNvSpPr txBox="1"/>
              <p:nvPr/>
            </p:nvSpPr>
            <p:spPr>
              <a:xfrm>
                <a:off x="1256792" y="2627394"/>
                <a:ext cx="163041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⟹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𝐵𝐾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:</m:t>
                          </m:r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𝐾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=4:3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6792" y="2627394"/>
                <a:ext cx="1630416" cy="276999"/>
              </a:xfrm>
              <a:prstGeom prst="rect">
                <a:avLst/>
              </a:prstGeom>
              <a:blipFill rotWithShape="0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/>
              <p:cNvSpPr txBox="1"/>
              <p:nvPr/>
            </p:nvSpPr>
            <p:spPr>
              <a:xfrm>
                <a:off x="13953" y="2984231"/>
                <a:ext cx="40324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 smtClean="0"/>
                  <a:t>б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𝐾𝑇</m:t>
                    </m:r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∥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𝐸</m:t>
                    </m:r>
                    <m:sSub>
                      <m:sSubPr>
                        <m:ctrlPr>
                          <a:rPr lang="en-US" sz="1200" b="0" i="1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𝐷</m:t>
                        </m:r>
                      </m:e>
                      <m:sub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53" y="2984231"/>
                <a:ext cx="4032448" cy="276999"/>
              </a:xfrm>
              <a:prstGeom prst="rect">
                <a:avLst/>
              </a:prstGeom>
              <a:blipFill rotWithShape="0">
                <a:blip r:embed="rId32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901276" y="2984230"/>
                <a:ext cx="177945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𝐸𝐾𝑇</m:t>
                    </m:r>
                    <m:sSub>
                      <m:sSubPr>
                        <m:ctrlPr>
                          <a:rPr lang="en-US" sz="12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𝐷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−</m:t>
                    </m:r>
                  </m:oMath>
                </a14:m>
                <a:r>
                  <a:rPr lang="ru-RU" sz="1200" b="0" i="0" dirty="0" smtClean="0">
                    <a:solidFill>
                      <a:schemeClr val="tx1"/>
                    </a:solidFill>
                    <a:latin typeface="+mj-lt"/>
                  </a:rPr>
                  <a:t>трапеция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276" y="2984230"/>
                <a:ext cx="1779459" cy="276999"/>
              </a:xfrm>
              <a:prstGeom prst="rect">
                <a:avLst/>
              </a:prstGeom>
              <a:blipFill rotWithShape="0">
                <a:blip r:embed="rId33"/>
                <a:stretch>
                  <a:fillRect t="-82222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/>
              <p:cNvSpPr txBox="1"/>
              <p:nvPr/>
            </p:nvSpPr>
            <p:spPr>
              <a:xfrm>
                <a:off x="-9201" y="3223496"/>
                <a:ext cx="1590127" cy="4385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𝐸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6</m:t>
                          </m:r>
                        </m:num>
                        <m:den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7</m:t>
                          </m:r>
                        </m:den>
                      </m:f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𝐴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=12;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7" name="TextBox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201" y="3223496"/>
                <a:ext cx="1590127" cy="438518"/>
              </a:xfrm>
              <a:prstGeom prst="rect">
                <a:avLst/>
              </a:prstGeom>
              <a:blipFill rotWithShape="0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1212890" y="3211026"/>
                <a:ext cx="2045699" cy="4681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𝐸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𝐷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mr-IN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200" i="1">
                                  <a:latin typeface="Cambria Math" charset="0"/>
                                </a:rPr>
                                <m:t>𝐸</m:t>
                              </m:r>
                            </m:e>
                            <m:sup>
                              <m:r>
                                <a:rPr lang="mr-IN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200" b="0" i="1" smtClean="0">
                                  <a:latin typeface="Cambria Math"/>
                                </a:rPr>
                              </m:ctrlPr>
                            </m:sSubSupPr>
                            <m: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mr-IN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890" y="3211026"/>
                <a:ext cx="2045699" cy="468141"/>
              </a:xfrm>
              <a:prstGeom prst="rect">
                <a:avLst/>
              </a:prstGeom>
              <a:blipFill rotWithShape="0"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/>
              <p:cNvSpPr txBox="1"/>
              <p:nvPr/>
            </p:nvSpPr>
            <p:spPr>
              <a:xfrm>
                <a:off x="2885285" y="3309641"/>
                <a:ext cx="1230906" cy="3211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mr-IN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12</m:t>
                              </m:r>
                            </m:e>
                            <m:sup>
                              <m:r>
                                <a:rPr lang="mr-IN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2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12</m:t>
                              </m:r>
                            </m:e>
                            <m:sup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0" name="TextBox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5285" y="3309641"/>
                <a:ext cx="1230906" cy="321114"/>
              </a:xfrm>
              <a:prstGeom prst="rect">
                <a:avLst/>
              </a:prstGeom>
              <a:blipFill rotWithShape="0"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/>
              <p:cNvSpPr txBox="1"/>
              <p:nvPr/>
            </p:nvSpPr>
            <p:spPr>
              <a:xfrm>
                <a:off x="3882354" y="3320830"/>
                <a:ext cx="844971" cy="298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=12</m:t>
                      </m:r>
                      <m:rad>
                        <m:radPr>
                          <m:degHide m:val="on"/>
                          <m:ctrlP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1" name="TextBox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2354" y="3320830"/>
                <a:ext cx="844971" cy="298736"/>
              </a:xfrm>
              <a:prstGeom prst="rect">
                <a:avLst/>
              </a:prstGeom>
              <a:blipFill rotWithShape="0"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/>
              <p:cNvSpPr txBox="1"/>
              <p:nvPr/>
            </p:nvSpPr>
            <p:spPr>
              <a:xfrm>
                <a:off x="72496" y="3650374"/>
                <a:ext cx="4169773" cy="353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𝐾𝑇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2</m:t>
                        </m:r>
                      </m:den>
                    </m:f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𝐸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𝐷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=6</m:t>
                    </m:r>
                    <m:rad>
                      <m:radPr>
                        <m:degHide m:val="on"/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(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из подобия треугольников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𝐾𝑃𝑇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charset="0"/>
                      </a:rPr>
                      <m:t>𝐸𝑃</m:t>
                    </m:r>
                    <m:sSub>
                      <m:sSubPr>
                        <m:ctrlPr>
                          <a:rPr lang="en-US" sz="12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charset="0"/>
                          </a:rPr>
                          <m:t>𝐷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)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96" y="3650374"/>
                <a:ext cx="4169773" cy="353110"/>
              </a:xfrm>
              <a:prstGeom prst="rect">
                <a:avLst/>
              </a:prstGeom>
              <a:blipFill rotWithShape="0">
                <a:blip r:embed="rId38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/>
              <p:cNvSpPr txBox="1"/>
              <p:nvPr/>
            </p:nvSpPr>
            <p:spPr>
              <a:xfrm>
                <a:off x="-136891" y="3928679"/>
                <a:ext cx="2045699" cy="4681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𝑇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𝐷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𝑇</m:t>
                          </m:r>
                          <m:sSubSup>
                            <m:sSubSup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200" b="0" i="1" smtClean="0">
                                  <a:latin typeface="Cambria Math"/>
                                </a:rPr>
                              </m:ctrlPr>
                            </m:sSubSupPr>
                            <m: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mr-IN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6891" y="3928679"/>
                <a:ext cx="2045699" cy="468141"/>
              </a:xfrm>
              <a:prstGeom prst="rect">
                <a:avLst/>
              </a:prstGeom>
              <a:blipFill rotWithShape="0"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/>
              <p:cNvSpPr txBox="1"/>
              <p:nvPr/>
            </p:nvSpPr>
            <p:spPr>
              <a:xfrm>
                <a:off x="1529556" y="3932369"/>
                <a:ext cx="1230906" cy="4681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mr-IN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6</m:t>
                              </m:r>
                            </m:e>
                            <m:sup>
                              <m:r>
                                <a:rPr lang="mr-IN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2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(4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200" b="0" i="1" smtClean="0">
                                      <a:latin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200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</m:e>
                              </m:rad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4" name="TextBox 1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9556" y="3932369"/>
                <a:ext cx="1230906" cy="468141"/>
              </a:xfrm>
              <a:prstGeom prst="rect">
                <a:avLst/>
              </a:prstGeom>
              <a:blipFill rotWithShape="0"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/>
              <p:cNvSpPr txBox="1"/>
              <p:nvPr/>
            </p:nvSpPr>
            <p:spPr>
              <a:xfrm>
                <a:off x="2598031" y="4026497"/>
                <a:ext cx="840994" cy="298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=2</m:t>
                      </m:r>
                      <m:rad>
                        <m:radPr>
                          <m:degHide m:val="on"/>
                          <m:ctrlP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17</m:t>
                          </m:r>
                        </m:e>
                      </m:ra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5" name="Text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8031" y="4026497"/>
                <a:ext cx="840994" cy="298736"/>
              </a:xfrm>
              <a:prstGeom prst="rect">
                <a:avLst/>
              </a:prstGeom>
              <a:blipFill rotWithShape="0"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Прямая соединительная линия 106"/>
          <p:cNvCxnSpPr>
            <a:stCxn id="76" idx="1"/>
            <a:endCxn id="110" idx="3"/>
          </p:cNvCxnSpPr>
          <p:nvPr/>
        </p:nvCxnSpPr>
        <p:spPr>
          <a:xfrm flipH="1">
            <a:off x="5620038" y="2681427"/>
            <a:ext cx="862497" cy="816318"/>
          </a:xfrm>
          <a:prstGeom prst="line">
            <a:avLst/>
          </a:prstGeom>
          <a:ln>
            <a:prstDash val="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10" name="Овал 109"/>
          <p:cNvSpPr/>
          <p:nvPr/>
        </p:nvSpPr>
        <p:spPr>
          <a:xfrm>
            <a:off x="5612671" y="3458711"/>
            <a:ext cx="50304" cy="4573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/>
              <p:cNvSpPr txBox="1"/>
              <p:nvPr/>
            </p:nvSpPr>
            <p:spPr>
              <a:xfrm flipH="1">
                <a:off x="5470105" y="3144387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𝐿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12" name="TextBox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470105" y="3144387"/>
                <a:ext cx="486282" cy="307777"/>
              </a:xfrm>
              <a:prstGeom prst="rect">
                <a:avLst/>
              </a:prstGeom>
              <a:blipFill rotWithShape="0"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Полилиния 112"/>
          <p:cNvSpPr/>
          <p:nvPr/>
        </p:nvSpPr>
        <p:spPr>
          <a:xfrm>
            <a:off x="5631117" y="3402150"/>
            <a:ext cx="102742" cy="246579"/>
          </a:xfrm>
          <a:custGeom>
            <a:avLst/>
            <a:gdLst>
              <a:gd name="connsiteX0" fmla="*/ 0 w 102742"/>
              <a:gd name="connsiteY0" fmla="*/ 92467 h 246579"/>
              <a:gd name="connsiteX1" fmla="*/ 102742 w 102742"/>
              <a:gd name="connsiteY1" fmla="*/ 0 h 246579"/>
              <a:gd name="connsiteX2" fmla="*/ 102742 w 102742"/>
              <a:gd name="connsiteY2" fmla="*/ 174660 h 246579"/>
              <a:gd name="connsiteX3" fmla="*/ 0 w 102742"/>
              <a:gd name="connsiteY3" fmla="*/ 246579 h 246579"/>
              <a:gd name="connsiteX4" fmla="*/ 0 w 102742"/>
              <a:gd name="connsiteY4" fmla="*/ 92467 h 246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742" h="246579">
                <a:moveTo>
                  <a:pt x="0" y="92467"/>
                </a:moveTo>
                <a:lnTo>
                  <a:pt x="102742" y="0"/>
                </a:lnTo>
                <a:lnTo>
                  <a:pt x="102742" y="174660"/>
                </a:lnTo>
                <a:lnTo>
                  <a:pt x="0" y="246579"/>
                </a:lnTo>
                <a:lnTo>
                  <a:pt x="0" y="92467"/>
                </a:lnTo>
                <a:close/>
              </a:path>
            </a:pathLst>
          </a:custGeom>
          <a:solidFill>
            <a:schemeClr val="bg1">
              <a:lumMod val="85000"/>
              <a:alpha val="47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/>
              <p:cNvSpPr txBox="1"/>
              <p:nvPr/>
            </p:nvSpPr>
            <p:spPr>
              <a:xfrm>
                <a:off x="-50297" y="4353146"/>
                <a:ext cx="1698876" cy="3211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𝐸𝐾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𝐸</m:t>
                          </m:r>
                          <m:sSup>
                            <m:sSup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+</m:t>
                          </m:r>
                          <m:r>
                            <a:rPr lang="en-US" sz="1200" b="0" i="1" smtClean="0">
                              <a:latin typeface="Cambria Math" charset="0"/>
                            </a:rPr>
                            <m:t>𝐿</m:t>
                          </m:r>
                          <m:sSup>
                            <m:sSupPr>
                              <m:ctrlPr>
                                <a:rPr lang="en-US" sz="12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4" name="TextBox 1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0297" y="4353146"/>
                <a:ext cx="1698876" cy="321114"/>
              </a:xfrm>
              <a:prstGeom prst="rect">
                <a:avLst/>
              </a:prstGeom>
              <a:blipFill rotWithShape="0"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/>
              <p:cNvSpPr txBox="1"/>
              <p:nvPr/>
            </p:nvSpPr>
            <p:spPr>
              <a:xfrm>
                <a:off x="1362189" y="4267333"/>
                <a:ext cx="1230906" cy="4681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mr-IN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6</m:t>
                              </m:r>
                            </m:e>
                            <m:sup>
                              <m:r>
                                <a:rPr lang="mr-IN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2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(4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200" b="0" i="1" smtClean="0">
                                      <a:latin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200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</m:e>
                              </m:rad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5" name="TextBox 1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2189" y="4267333"/>
                <a:ext cx="1230906" cy="468141"/>
              </a:xfrm>
              <a:prstGeom prst="rect">
                <a:avLst/>
              </a:prstGeom>
              <a:blipFill rotWithShape="0"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/>
              <p:cNvSpPr txBox="1"/>
              <p:nvPr/>
            </p:nvSpPr>
            <p:spPr>
              <a:xfrm>
                <a:off x="2431927" y="4372714"/>
                <a:ext cx="840994" cy="298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=2</m:t>
                      </m:r>
                      <m:rad>
                        <m:radPr>
                          <m:degHide m:val="on"/>
                          <m:ctrlP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17</m:t>
                          </m:r>
                        </m:e>
                      </m:ra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6" name="TextBox 1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1927" y="4372714"/>
                <a:ext cx="840994" cy="298736"/>
              </a:xfrm>
              <a:prstGeom prst="rect">
                <a:avLst/>
              </a:prstGeom>
              <a:blipFill rotWithShape="0"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" name="Прямая соединительная линия 97"/>
          <p:cNvCxnSpPr/>
          <p:nvPr/>
        </p:nvCxnSpPr>
        <p:spPr>
          <a:xfrm flipH="1">
            <a:off x="5615898" y="3794568"/>
            <a:ext cx="864097" cy="720270"/>
          </a:xfrm>
          <a:prstGeom prst="line">
            <a:avLst/>
          </a:prstGeom>
          <a:ln>
            <a:prstDash val="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/>
              <p:cNvSpPr txBox="1"/>
              <p:nvPr/>
            </p:nvSpPr>
            <p:spPr>
              <a:xfrm flipH="1">
                <a:off x="6337182" y="3697051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𝐻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06" name="TextBox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337182" y="3697051"/>
                <a:ext cx="486282" cy="307777"/>
              </a:xfrm>
              <a:prstGeom prst="rect">
                <a:avLst/>
              </a:prstGeom>
              <a:blipFill rotWithShape="0"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8" name="Прямая соединительная линия 107"/>
          <p:cNvCxnSpPr/>
          <p:nvPr/>
        </p:nvCxnSpPr>
        <p:spPr>
          <a:xfrm flipH="1">
            <a:off x="6486131" y="1776570"/>
            <a:ext cx="2005894" cy="2017645"/>
          </a:xfrm>
          <a:prstGeom prst="line">
            <a:avLst/>
          </a:prstGeom>
          <a:ln>
            <a:prstDash val="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7974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 animBg="1"/>
      <p:bldP spid="33" grpId="0"/>
      <p:bldP spid="34" grpId="0"/>
      <p:bldP spid="35" grpId="0"/>
      <p:bldP spid="36" grpId="0" animBg="1"/>
      <p:bldP spid="37" grpId="0"/>
      <p:bldP spid="38" grpId="0" animBg="1"/>
      <p:bldP spid="39" grpId="0" animBg="1"/>
      <p:bldP spid="40" grpId="0"/>
      <p:bldP spid="41" grpId="0"/>
      <p:bldP spid="42" grpId="0"/>
      <p:bldP spid="60" grpId="0" animBg="1"/>
      <p:bldP spid="62" grpId="0"/>
      <p:bldP spid="66" grpId="0" animBg="1"/>
      <p:bldP spid="68" grpId="0"/>
      <p:bldP spid="76" grpId="0" animBg="1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9" grpId="0"/>
      <p:bldP spid="100" grpId="0"/>
      <p:bldP spid="101" grpId="0"/>
      <p:bldP spid="102" grpId="0"/>
      <p:bldP spid="103" grpId="0"/>
      <p:bldP spid="104" grpId="0"/>
      <p:bldP spid="105" grpId="0"/>
      <p:bldP spid="110" grpId="0" animBg="1"/>
      <p:bldP spid="112" grpId="0"/>
      <p:bldP spid="113" grpId="0" animBg="1"/>
      <p:bldP spid="114" grpId="0"/>
      <p:bldP spid="115" grpId="0"/>
      <p:bldP spid="116" grpId="0"/>
      <p:bldP spid="106" grpId="0"/>
      <p:bldP spid="106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31</a:t>
            </a:fld>
            <a:endParaRPr kumimoji="0" lang="ru-RU">
              <a:solidFill>
                <a:schemeClr val="tx2"/>
              </a:solidFill>
            </a:endParaRPr>
          </a:p>
        </p:txBody>
      </p:sp>
      <p:sp>
        <p:nvSpPr>
          <p:cNvPr id="3" name="Номер слайда 1"/>
          <p:cNvSpPr txBox="1">
            <a:spLocks/>
          </p:cNvSpPr>
          <p:nvPr/>
        </p:nvSpPr>
        <p:spPr>
          <a:xfrm>
            <a:off x="0" y="4686300"/>
            <a:ext cx="533400" cy="285750"/>
          </a:xfrm>
          <a:prstGeom prst="rect">
            <a:avLst/>
          </a:prstGeom>
        </p:spPr>
        <p:txBody>
          <a:bodyPr vert="horz" anchor="ctr" anchorCtr="0">
            <a:normAutofit lnSpcReduction="10000"/>
          </a:bodyPr>
          <a:lstStyle>
            <a:lvl1pPr marL="0" algn="ctr" rtl="0" eaLnBrk="1" latinLnBrk="0" hangingPunct="1">
              <a:defRPr kumimoji="0" lang="ru-RU"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fld id="{A3F7CB7D-F184-43C7-B6FD-03D728E1BBFF}" type="slidenum">
              <a:rPr lang="ru-RU" smtClean="0"/>
              <a:pPr/>
              <a:t>31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0" y="-22136"/>
                <a:ext cx="9144000" cy="93770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dirty="0" smtClean="0">
                    <a:solidFill>
                      <a:srgbClr val="7030A0"/>
                    </a:solidFill>
                  </a:rPr>
                  <a:t>18.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На ребре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</m:t>
                    </m:r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прямоугольного параллелепипеда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𝑨𝑩𝑪</m:t>
                    </m:r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𝑫</m:t>
                        </m:r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𝑫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взята точка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𝑬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так, что</a:t>
                </a:r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𝑬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𝟔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𝑬𝑨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Точка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𝑻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mr-IN" sz="1200" b="1" dirty="0" smtClean="0">
                    <a:solidFill>
                      <a:srgbClr val="002060"/>
                    </a:solidFill>
                  </a:rPr>
                  <a:t>–</a:t>
                </a:r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середина ребра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ru-RU" sz="1200" b="1" i="0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Известно, что 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𝑨𝑩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=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𝟒</m:t>
                    </m:r>
                    <m:rad>
                      <m:radPr>
                        <m:degHide m:val="on"/>
                        <m:ctrlPr>
                          <a:rPr lang="ru-RU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ru-RU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𝟐</m:t>
                        </m:r>
                      </m:e>
                    </m:rad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, 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𝑨𝑫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𝟏𝟐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, 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</m:t>
                    </m:r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𝟏𝟒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а) Докажите, что плоскость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𝑬</m:t>
                    </m:r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𝑻</m:t>
                    </m:r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𝑫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делит ребро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𝑩</m:t>
                    </m:r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в отношении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𝟒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: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𝟑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б) Найдите площадь сечения параллелепипеда плоскостью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𝑬𝑻</m:t>
                    </m:r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𝑫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.</a:t>
                </a:r>
                <a:endParaRPr lang="en-US" sz="12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6"/>
                <a:ext cx="9144000" cy="93770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Прямая соединительная линия 4"/>
          <p:cNvCxnSpPr/>
          <p:nvPr/>
        </p:nvCxnSpPr>
        <p:spPr>
          <a:xfrm>
            <a:off x="6489555" y="4129608"/>
            <a:ext cx="2016224" cy="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>
            <a:off x="5625459" y="4849688"/>
            <a:ext cx="2016224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flipV="1">
            <a:off x="5625459" y="4129608"/>
            <a:ext cx="864096" cy="72008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 flipV="1">
            <a:off x="7641683" y="4129608"/>
            <a:ext cx="864096" cy="72008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 flipV="1">
            <a:off x="5625459" y="2477616"/>
            <a:ext cx="0" cy="2372072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6489555" y="1763146"/>
            <a:ext cx="2016224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5625459" y="2483226"/>
            <a:ext cx="2016224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 flipV="1">
            <a:off x="5625459" y="1763146"/>
            <a:ext cx="864096" cy="72008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 flipV="1">
            <a:off x="7641683" y="1763146"/>
            <a:ext cx="864096" cy="72008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 flipV="1">
            <a:off x="8504244" y="1766829"/>
            <a:ext cx="0" cy="2372072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 flipV="1">
            <a:off x="7641683" y="2477616"/>
            <a:ext cx="0" cy="2372072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 flipV="1">
            <a:off x="6484596" y="1766829"/>
            <a:ext cx="0" cy="2372072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342485" y="4791352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2485" y="4791352"/>
                <a:ext cx="340286" cy="3077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 flipH="1">
                <a:off x="6117337" y="3911872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117337" y="3911872"/>
                <a:ext cx="486282" cy="3077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 flipH="1">
                <a:off x="8451623" y="3947982"/>
                <a:ext cx="3882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451623" y="3947982"/>
                <a:ext cx="388236" cy="3077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 flipH="1">
                <a:off x="7453678" y="4802459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𝐷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453678" y="4802459"/>
                <a:ext cx="486282" cy="3077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263995" y="2320388"/>
                <a:ext cx="41716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3995" y="2320388"/>
                <a:ext cx="417165" cy="30777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 flipH="1">
                <a:off x="6078501" y="1534563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078501" y="1534563"/>
                <a:ext cx="486282" cy="30777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 flipH="1">
                <a:off x="8451623" y="1567450"/>
                <a:ext cx="3882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451623" y="1567450"/>
                <a:ext cx="388236" cy="30777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 flipH="1">
                <a:off x="7562850" y="2399887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𝐷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562850" y="2399887"/>
                <a:ext cx="486282" cy="30777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Овал 24"/>
          <p:cNvSpPr/>
          <p:nvPr/>
        </p:nvSpPr>
        <p:spPr>
          <a:xfrm>
            <a:off x="5600306" y="4464496"/>
            <a:ext cx="50304" cy="5030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 flipH="1">
                <a:off x="5241897" y="4325850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𝐸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41897" y="4325850"/>
                <a:ext cx="486282" cy="30777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 flipH="1">
                <a:off x="5214532" y="4558910"/>
                <a:ext cx="4862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charset="0"/>
                        </a:rPr>
                        <m:t>(1)</m:t>
                      </m:r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14532" y="4558910"/>
                <a:ext cx="486282" cy="261610"/>
              </a:xfrm>
              <a:prstGeom prst="rect">
                <a:avLst/>
              </a:prstGeom>
              <a:blipFill rotWithShape="0">
                <a:blip r:embed="rId12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 flipH="1">
                <a:off x="5225950" y="3400404"/>
                <a:ext cx="4862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charset="0"/>
                        </a:rPr>
                        <m:t>(6)</m:t>
                      </m:r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25950" y="3400404"/>
                <a:ext cx="486282" cy="261610"/>
              </a:xfrm>
              <a:prstGeom prst="rect">
                <a:avLst/>
              </a:prstGeom>
              <a:blipFill rotWithShape="0">
                <a:blip r:embed="rId13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Овал 28"/>
          <p:cNvSpPr/>
          <p:nvPr/>
        </p:nvSpPr>
        <p:spPr>
          <a:xfrm rot="20700000">
            <a:off x="7430813" y="1745407"/>
            <a:ext cx="45731" cy="5030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 flipH="1">
                <a:off x="7313179" y="1463681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𝑇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313179" y="1463681"/>
                <a:ext cx="486282" cy="307777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Полилиния 30"/>
          <p:cNvSpPr/>
          <p:nvPr/>
        </p:nvSpPr>
        <p:spPr>
          <a:xfrm>
            <a:off x="6987494" y="1716140"/>
            <a:ext cx="0" cy="113016"/>
          </a:xfrm>
          <a:custGeom>
            <a:avLst/>
            <a:gdLst>
              <a:gd name="connsiteX0" fmla="*/ 0 w 0"/>
              <a:gd name="connsiteY0" fmla="*/ 0 h 113016"/>
              <a:gd name="connsiteX1" fmla="*/ 0 w 0"/>
              <a:gd name="connsiteY1" fmla="*/ 113016 h 113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13016">
                <a:moveTo>
                  <a:pt x="0" y="0"/>
                </a:moveTo>
                <a:lnTo>
                  <a:pt x="0" y="113016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олилиния 31"/>
          <p:cNvSpPr/>
          <p:nvPr/>
        </p:nvSpPr>
        <p:spPr>
          <a:xfrm>
            <a:off x="7966868" y="1707202"/>
            <a:ext cx="0" cy="113016"/>
          </a:xfrm>
          <a:custGeom>
            <a:avLst/>
            <a:gdLst>
              <a:gd name="connsiteX0" fmla="*/ 0 w 0"/>
              <a:gd name="connsiteY0" fmla="*/ 0 h 113016"/>
              <a:gd name="connsiteX1" fmla="*/ 0 w 0"/>
              <a:gd name="connsiteY1" fmla="*/ 113016 h 113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13016">
                <a:moveTo>
                  <a:pt x="0" y="0"/>
                </a:moveTo>
                <a:lnTo>
                  <a:pt x="0" y="113016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 flipH="1">
                <a:off x="5966225" y="4423207"/>
                <a:ext cx="486282" cy="281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charset="0"/>
                        </a:rPr>
                        <m:t>4</m:t>
                      </m:r>
                      <m:rad>
                        <m:radPr>
                          <m:degHide m:val="on"/>
                          <m:ctrlPr>
                            <a:rPr lang="en-US" sz="11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100" b="0" i="1" smtClean="0">
                              <a:latin typeface="Cambria Math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966225" y="4423207"/>
                <a:ext cx="486282" cy="281552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 flipH="1">
                <a:off x="6311458" y="4841812"/>
                <a:ext cx="4862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charset="0"/>
                        </a:rPr>
                        <m:t>12</m:t>
                      </m:r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311458" y="4841812"/>
                <a:ext cx="486282" cy="261610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 flipH="1">
                <a:off x="7542815" y="3381593"/>
                <a:ext cx="4862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charset="0"/>
                        </a:rPr>
                        <m:t>14</m:t>
                      </m:r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542815" y="3381593"/>
                <a:ext cx="486282" cy="261610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Прямая соединительная линия 35"/>
          <p:cNvCxnSpPr>
            <a:stCxn id="25" idx="3"/>
          </p:cNvCxnSpPr>
          <p:nvPr/>
        </p:nvCxnSpPr>
        <p:spPr>
          <a:xfrm flipV="1">
            <a:off x="5607673" y="2476072"/>
            <a:ext cx="2037189" cy="203136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endCxn id="37" idx="3"/>
          </p:cNvCxnSpPr>
          <p:nvPr/>
        </p:nvCxnSpPr>
        <p:spPr>
          <a:xfrm flipH="1" flipV="1">
            <a:off x="7442664" y="1791923"/>
            <a:ext cx="203978" cy="70847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/>
          <p:nvPr/>
        </p:nvCxnSpPr>
        <p:spPr>
          <a:xfrm flipH="1" flipV="1">
            <a:off x="7217778" y="1035982"/>
            <a:ext cx="210748" cy="71205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/>
          <p:nvPr/>
        </p:nvCxnSpPr>
        <p:spPr>
          <a:xfrm flipV="1">
            <a:off x="6473190" y="1023826"/>
            <a:ext cx="911966" cy="75344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0" name="Овал 39"/>
          <p:cNvSpPr/>
          <p:nvPr/>
        </p:nvSpPr>
        <p:spPr>
          <a:xfrm>
            <a:off x="7228052" y="1115824"/>
            <a:ext cx="50304" cy="415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 flipH="1">
                <a:off x="7146959" y="1008779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𝑃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146959" y="1008779"/>
                <a:ext cx="486282" cy="307777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Прямая соединительная линия 41"/>
          <p:cNvCxnSpPr/>
          <p:nvPr/>
        </p:nvCxnSpPr>
        <p:spPr>
          <a:xfrm flipV="1">
            <a:off x="5600376" y="1136611"/>
            <a:ext cx="1644359" cy="3373435"/>
          </a:xfrm>
          <a:prstGeom prst="line">
            <a:avLst/>
          </a:prstGeom>
          <a:ln>
            <a:prstDash val="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3" name="Овал 42"/>
          <p:cNvSpPr/>
          <p:nvPr/>
        </p:nvSpPr>
        <p:spPr>
          <a:xfrm>
            <a:off x="6457910" y="2680316"/>
            <a:ext cx="50304" cy="4573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 flipH="1">
                <a:off x="6076492" y="2527771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𝐾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076492" y="2527771"/>
                <a:ext cx="486282" cy="307777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Прямая соединительная линия 44"/>
          <p:cNvCxnSpPr>
            <a:stCxn id="32" idx="1"/>
          </p:cNvCxnSpPr>
          <p:nvPr/>
        </p:nvCxnSpPr>
        <p:spPr>
          <a:xfrm flipV="1">
            <a:off x="5607673" y="2680316"/>
            <a:ext cx="875389" cy="1791547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/>
          <p:cNvCxnSpPr>
            <a:endCxn id="37" idx="2"/>
          </p:cNvCxnSpPr>
          <p:nvPr/>
        </p:nvCxnSpPr>
        <p:spPr>
          <a:xfrm flipV="1">
            <a:off x="6480191" y="1776477"/>
            <a:ext cx="951401" cy="920069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7" name="Полилиния 46"/>
          <p:cNvSpPr/>
          <p:nvPr/>
        </p:nvSpPr>
        <p:spPr>
          <a:xfrm>
            <a:off x="5620853" y="1787703"/>
            <a:ext cx="2024009" cy="2712378"/>
          </a:xfrm>
          <a:custGeom>
            <a:avLst/>
            <a:gdLst>
              <a:gd name="connsiteX0" fmla="*/ 0 w 2024009"/>
              <a:gd name="connsiteY0" fmla="*/ 2712378 h 2712378"/>
              <a:gd name="connsiteX1" fmla="*/ 873303 w 2024009"/>
              <a:gd name="connsiteY1" fmla="*/ 914400 h 2712378"/>
              <a:gd name="connsiteX2" fmla="*/ 1828800 w 2024009"/>
              <a:gd name="connsiteY2" fmla="*/ 0 h 2712378"/>
              <a:gd name="connsiteX3" fmla="*/ 2024009 w 2024009"/>
              <a:gd name="connsiteY3" fmla="*/ 719191 h 2712378"/>
              <a:gd name="connsiteX4" fmla="*/ 0 w 2024009"/>
              <a:gd name="connsiteY4" fmla="*/ 2712378 h 2712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24009" h="2712378">
                <a:moveTo>
                  <a:pt x="0" y="2712378"/>
                </a:moveTo>
                <a:lnTo>
                  <a:pt x="873303" y="914400"/>
                </a:lnTo>
                <a:lnTo>
                  <a:pt x="1828800" y="0"/>
                </a:lnTo>
                <a:lnTo>
                  <a:pt x="2024009" y="719191"/>
                </a:lnTo>
                <a:lnTo>
                  <a:pt x="0" y="2712378"/>
                </a:lnTo>
                <a:close/>
              </a:path>
            </a:pathLst>
          </a:cu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Полилиния 54"/>
          <p:cNvSpPr/>
          <p:nvPr/>
        </p:nvSpPr>
        <p:spPr>
          <a:xfrm>
            <a:off x="6748911" y="1478883"/>
            <a:ext cx="71919" cy="82194"/>
          </a:xfrm>
          <a:custGeom>
            <a:avLst/>
            <a:gdLst>
              <a:gd name="connsiteX0" fmla="*/ 0 w 71919"/>
              <a:gd name="connsiteY0" fmla="*/ 0 h 82194"/>
              <a:gd name="connsiteX1" fmla="*/ 71919 w 71919"/>
              <a:gd name="connsiteY1" fmla="*/ 82194 h 82194"/>
              <a:gd name="connsiteX2" fmla="*/ 71919 w 71919"/>
              <a:gd name="connsiteY2" fmla="*/ 82194 h 8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919" h="82194">
                <a:moveTo>
                  <a:pt x="0" y="0"/>
                </a:moveTo>
                <a:lnTo>
                  <a:pt x="71919" y="82194"/>
                </a:lnTo>
                <a:lnTo>
                  <a:pt x="71919" y="82194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Полилиния 55"/>
          <p:cNvSpPr/>
          <p:nvPr/>
        </p:nvSpPr>
        <p:spPr>
          <a:xfrm>
            <a:off x="6790458" y="1437786"/>
            <a:ext cx="71919" cy="82194"/>
          </a:xfrm>
          <a:custGeom>
            <a:avLst/>
            <a:gdLst>
              <a:gd name="connsiteX0" fmla="*/ 0 w 71919"/>
              <a:gd name="connsiteY0" fmla="*/ 0 h 82194"/>
              <a:gd name="connsiteX1" fmla="*/ 71919 w 71919"/>
              <a:gd name="connsiteY1" fmla="*/ 82194 h 82194"/>
              <a:gd name="connsiteX2" fmla="*/ 71919 w 71919"/>
              <a:gd name="connsiteY2" fmla="*/ 82194 h 8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919" h="82194">
                <a:moveTo>
                  <a:pt x="0" y="0"/>
                </a:moveTo>
                <a:lnTo>
                  <a:pt x="71919" y="82194"/>
                </a:lnTo>
                <a:lnTo>
                  <a:pt x="71919" y="82194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Полилиния 56"/>
          <p:cNvSpPr/>
          <p:nvPr/>
        </p:nvSpPr>
        <p:spPr>
          <a:xfrm>
            <a:off x="5940152" y="2160338"/>
            <a:ext cx="71919" cy="82194"/>
          </a:xfrm>
          <a:custGeom>
            <a:avLst/>
            <a:gdLst>
              <a:gd name="connsiteX0" fmla="*/ 0 w 71919"/>
              <a:gd name="connsiteY0" fmla="*/ 0 h 82194"/>
              <a:gd name="connsiteX1" fmla="*/ 71919 w 71919"/>
              <a:gd name="connsiteY1" fmla="*/ 82194 h 82194"/>
              <a:gd name="connsiteX2" fmla="*/ 71919 w 71919"/>
              <a:gd name="connsiteY2" fmla="*/ 82194 h 8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919" h="82194">
                <a:moveTo>
                  <a:pt x="0" y="0"/>
                </a:moveTo>
                <a:lnTo>
                  <a:pt x="71919" y="82194"/>
                </a:lnTo>
                <a:lnTo>
                  <a:pt x="71919" y="82194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Полилиния 57"/>
          <p:cNvSpPr/>
          <p:nvPr/>
        </p:nvSpPr>
        <p:spPr>
          <a:xfrm>
            <a:off x="5973448" y="2116123"/>
            <a:ext cx="71919" cy="82194"/>
          </a:xfrm>
          <a:custGeom>
            <a:avLst/>
            <a:gdLst>
              <a:gd name="connsiteX0" fmla="*/ 0 w 71919"/>
              <a:gd name="connsiteY0" fmla="*/ 0 h 82194"/>
              <a:gd name="connsiteX1" fmla="*/ 71919 w 71919"/>
              <a:gd name="connsiteY1" fmla="*/ 82194 h 82194"/>
              <a:gd name="connsiteX2" fmla="*/ 71919 w 71919"/>
              <a:gd name="connsiteY2" fmla="*/ 82194 h 8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919" h="82194">
                <a:moveTo>
                  <a:pt x="0" y="0"/>
                </a:moveTo>
                <a:lnTo>
                  <a:pt x="71919" y="82194"/>
                </a:lnTo>
                <a:lnTo>
                  <a:pt x="71919" y="82194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Полилиния 58"/>
          <p:cNvSpPr/>
          <p:nvPr/>
        </p:nvSpPr>
        <p:spPr>
          <a:xfrm>
            <a:off x="7950532" y="2154317"/>
            <a:ext cx="71919" cy="82194"/>
          </a:xfrm>
          <a:custGeom>
            <a:avLst/>
            <a:gdLst>
              <a:gd name="connsiteX0" fmla="*/ 0 w 71919"/>
              <a:gd name="connsiteY0" fmla="*/ 0 h 82194"/>
              <a:gd name="connsiteX1" fmla="*/ 71919 w 71919"/>
              <a:gd name="connsiteY1" fmla="*/ 82194 h 82194"/>
              <a:gd name="connsiteX2" fmla="*/ 71919 w 71919"/>
              <a:gd name="connsiteY2" fmla="*/ 82194 h 8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919" h="82194">
                <a:moveTo>
                  <a:pt x="0" y="0"/>
                </a:moveTo>
                <a:lnTo>
                  <a:pt x="71919" y="82194"/>
                </a:lnTo>
                <a:lnTo>
                  <a:pt x="71919" y="82194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Полилиния 59"/>
          <p:cNvSpPr/>
          <p:nvPr/>
        </p:nvSpPr>
        <p:spPr>
          <a:xfrm>
            <a:off x="7995372" y="2124476"/>
            <a:ext cx="71919" cy="82194"/>
          </a:xfrm>
          <a:custGeom>
            <a:avLst/>
            <a:gdLst>
              <a:gd name="connsiteX0" fmla="*/ 0 w 71919"/>
              <a:gd name="connsiteY0" fmla="*/ 0 h 82194"/>
              <a:gd name="connsiteX1" fmla="*/ 71919 w 71919"/>
              <a:gd name="connsiteY1" fmla="*/ 82194 h 82194"/>
              <a:gd name="connsiteX2" fmla="*/ 71919 w 71919"/>
              <a:gd name="connsiteY2" fmla="*/ 82194 h 8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919" h="82194">
                <a:moveTo>
                  <a:pt x="0" y="0"/>
                </a:moveTo>
                <a:lnTo>
                  <a:pt x="71919" y="82194"/>
                </a:lnTo>
                <a:lnTo>
                  <a:pt x="71919" y="82194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 flipH="1">
                <a:off x="6077939" y="2112755"/>
                <a:ext cx="4862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charset="0"/>
                        </a:rPr>
                        <m:t>(3)</m:t>
                      </m:r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077939" y="2112755"/>
                <a:ext cx="486282" cy="261610"/>
              </a:xfrm>
              <a:prstGeom prst="rect">
                <a:avLst/>
              </a:prstGeom>
              <a:blipFill rotWithShape="0">
                <a:blip r:embed="rId20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 flipH="1">
                <a:off x="6393930" y="3610050"/>
                <a:ext cx="4862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charset="0"/>
                        </a:rPr>
                        <m:t>(4)</m:t>
                      </m:r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393930" y="3610050"/>
                <a:ext cx="486282" cy="261610"/>
              </a:xfrm>
              <a:prstGeom prst="rect">
                <a:avLst/>
              </a:prstGeom>
              <a:blipFill rotWithShape="0">
                <a:blip r:embed="rId21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83743" y="1022392"/>
                <a:ext cx="40324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 smtClean="0"/>
                  <a:t>б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)</a:t>
                </a:r>
                <a:r>
                  <a:rPr lang="en-US" sz="1200" dirty="0" smtClean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𝐸</m:t>
                    </m:r>
                    <m:r>
                      <a:rPr lang="en-US" sz="1200" i="1">
                        <a:latin typeface="Cambria Math" charset="0"/>
                      </a:rPr>
                      <m:t>𝐾𝑇</m:t>
                    </m:r>
                    <m:sSub>
                      <m:sSubPr>
                        <m:ctrlPr>
                          <a:rPr lang="en-US" sz="12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charset="0"/>
                          </a:rPr>
                          <m:t>𝐷</m:t>
                        </m:r>
                      </m:e>
                      <m:sub>
                        <m:r>
                          <a:rPr lang="en-US" sz="12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i="1">
                        <a:latin typeface="Cambria Math" charset="0"/>
                      </a:rPr>
                      <m:t> −</m:t>
                    </m:r>
                    <m:r>
                      <a:rPr lang="en-US" sz="1200" b="0" i="1" smtClean="0"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dirty="0" smtClean="0"/>
                  <a:t>равнобедренная трапеция</a:t>
                </a:r>
                <a:endParaRPr lang="ru-RU" sz="1200" dirty="0"/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43" y="1022392"/>
                <a:ext cx="4032448" cy="276999"/>
              </a:xfrm>
              <a:prstGeom prst="rect">
                <a:avLst/>
              </a:prstGeom>
              <a:blipFill rotWithShape="0">
                <a:blip r:embed="rId22"/>
                <a:stretch>
                  <a:fillRect l="-151" t="-82222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Прямая соединительная линия 75"/>
          <p:cNvCxnSpPr>
            <a:stCxn id="77" idx="1"/>
          </p:cNvCxnSpPr>
          <p:nvPr/>
        </p:nvCxnSpPr>
        <p:spPr>
          <a:xfrm flipH="1">
            <a:off x="5620809" y="2702103"/>
            <a:ext cx="873347" cy="833971"/>
          </a:xfrm>
          <a:prstGeom prst="line">
            <a:avLst/>
          </a:prstGeom>
          <a:ln>
            <a:prstDash val="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7" name="Овал 76"/>
          <p:cNvSpPr/>
          <p:nvPr/>
        </p:nvSpPr>
        <p:spPr>
          <a:xfrm>
            <a:off x="5612671" y="3489533"/>
            <a:ext cx="50304" cy="4573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 flipH="1">
                <a:off x="5479943" y="3143874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𝐿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479943" y="3143874"/>
                <a:ext cx="486282" cy="307777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Полилиния 79"/>
          <p:cNvSpPr/>
          <p:nvPr/>
        </p:nvSpPr>
        <p:spPr>
          <a:xfrm>
            <a:off x="5630238" y="3431569"/>
            <a:ext cx="102742" cy="246579"/>
          </a:xfrm>
          <a:custGeom>
            <a:avLst/>
            <a:gdLst>
              <a:gd name="connsiteX0" fmla="*/ 0 w 102742"/>
              <a:gd name="connsiteY0" fmla="*/ 92467 h 246579"/>
              <a:gd name="connsiteX1" fmla="*/ 102742 w 102742"/>
              <a:gd name="connsiteY1" fmla="*/ 0 h 246579"/>
              <a:gd name="connsiteX2" fmla="*/ 102742 w 102742"/>
              <a:gd name="connsiteY2" fmla="*/ 174660 h 246579"/>
              <a:gd name="connsiteX3" fmla="*/ 0 w 102742"/>
              <a:gd name="connsiteY3" fmla="*/ 246579 h 246579"/>
              <a:gd name="connsiteX4" fmla="*/ 0 w 102742"/>
              <a:gd name="connsiteY4" fmla="*/ 92467 h 246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742" h="246579">
                <a:moveTo>
                  <a:pt x="0" y="92467"/>
                </a:moveTo>
                <a:lnTo>
                  <a:pt x="102742" y="0"/>
                </a:lnTo>
                <a:lnTo>
                  <a:pt x="102742" y="174660"/>
                </a:lnTo>
                <a:lnTo>
                  <a:pt x="0" y="246579"/>
                </a:lnTo>
                <a:lnTo>
                  <a:pt x="0" y="92467"/>
                </a:lnTo>
                <a:close/>
              </a:path>
            </a:pathLst>
          </a:custGeom>
          <a:solidFill>
            <a:schemeClr val="bg1">
              <a:lumMod val="85000"/>
              <a:alpha val="47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-103114" y="1285909"/>
                <a:ext cx="1465303" cy="298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𝐸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𝐷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ru-RU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12</m:t>
                      </m:r>
                      <m:rad>
                        <m:radPr>
                          <m:degHide m:val="on"/>
                          <m:ctrlP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ru-RU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2</m:t>
                          </m:r>
                        </m:e>
                      </m:rad>
                      <m:r>
                        <a:rPr lang="ru-RU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3114" y="1285909"/>
                <a:ext cx="1465303" cy="298736"/>
              </a:xfrm>
              <a:prstGeom prst="rect">
                <a:avLst/>
              </a:prstGeom>
              <a:blipFill rotWithShape="0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998547" y="1285909"/>
                <a:ext cx="1217774" cy="315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𝐾𝑇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=6</m:t>
                      </m:r>
                      <m:rad>
                        <m:radPr>
                          <m:degHide m:val="on"/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2;</m:t>
                          </m:r>
                        </m:e>
                      </m:ra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547" y="1285909"/>
                <a:ext cx="1217774" cy="315984"/>
              </a:xfrm>
              <a:prstGeom prst="rect">
                <a:avLst/>
              </a:prstGeom>
              <a:blipFill rotWithShape="0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1987755" y="1294533"/>
                <a:ext cx="1592230" cy="298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𝑇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𝐷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𝐸𝐾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=2</m:t>
                      </m:r>
                      <m:rad>
                        <m:radPr>
                          <m:degHide m:val="on"/>
                          <m:ctrlP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17</m:t>
                          </m:r>
                        </m:e>
                      </m:ra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7755" y="1294533"/>
                <a:ext cx="1592230" cy="298736"/>
              </a:xfrm>
              <a:prstGeom prst="rect">
                <a:avLst/>
              </a:prstGeom>
              <a:blipFill rotWithShape="0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Трапеция 86"/>
          <p:cNvSpPr/>
          <p:nvPr/>
        </p:nvSpPr>
        <p:spPr>
          <a:xfrm>
            <a:off x="513430" y="1993831"/>
            <a:ext cx="1796646" cy="1496663"/>
          </a:xfrm>
          <a:prstGeom prst="trapezoid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 flipH="1">
                <a:off x="2195640" y="3412121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𝐷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195640" y="3412121"/>
                <a:ext cx="486282" cy="307777"/>
              </a:xfrm>
              <a:prstGeom prst="rect">
                <a:avLst/>
              </a:prstGeom>
              <a:blipFill rotWithShape="0"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 flipH="1">
                <a:off x="149867" y="3382185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𝐸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9867" y="3382185"/>
                <a:ext cx="486282" cy="307777"/>
              </a:xfrm>
              <a:prstGeom prst="rect">
                <a:avLst/>
              </a:prstGeom>
              <a:blipFill rotWithShape="0"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 flipH="1">
                <a:off x="1895712" y="1805144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𝑇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895712" y="1805144"/>
                <a:ext cx="486282" cy="307777"/>
              </a:xfrm>
              <a:prstGeom prst="rect">
                <a:avLst/>
              </a:prstGeom>
              <a:blipFill rotWithShape="0"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 flipH="1">
                <a:off x="479809" y="1822694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𝐾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79809" y="1822694"/>
                <a:ext cx="486282" cy="307777"/>
              </a:xfrm>
              <a:prstGeom prst="rect">
                <a:avLst/>
              </a:prstGeom>
              <a:blipFill rotWithShape="0"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1141930" y="3543920"/>
                <a:ext cx="531027" cy="298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12</m:t>
                      </m:r>
                      <m:rad>
                        <m:radPr>
                          <m:degHide m:val="on"/>
                          <m:ctrlP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ru-RU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930" y="3543920"/>
                <a:ext cx="531027" cy="298736"/>
              </a:xfrm>
              <a:prstGeom prst="rect">
                <a:avLst/>
              </a:prstGeom>
              <a:blipFill rotWithShape="0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822015" y="1656449"/>
                <a:ext cx="1217774" cy="298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6</m:t>
                      </m:r>
                      <m:rad>
                        <m:radPr>
                          <m:degHide m:val="on"/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015" y="1656449"/>
                <a:ext cx="1217774" cy="298736"/>
              </a:xfrm>
              <a:prstGeom prst="rect">
                <a:avLst/>
              </a:prstGeom>
              <a:blipFill rotWithShape="0"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/>
              <p:cNvSpPr txBox="1"/>
              <p:nvPr/>
            </p:nvSpPr>
            <p:spPr>
              <a:xfrm>
                <a:off x="1949441" y="2530948"/>
                <a:ext cx="910774" cy="298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2</m:t>
                      </m:r>
                      <m:rad>
                        <m:radPr>
                          <m:degHide m:val="on"/>
                          <m:ctrlP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17</m:t>
                          </m:r>
                        </m:e>
                      </m:ra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9441" y="2530948"/>
                <a:ext cx="910774" cy="298736"/>
              </a:xfrm>
              <a:prstGeom prst="rect">
                <a:avLst/>
              </a:prstGeom>
              <a:blipFill rotWithShape="0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/>
              <p:cNvSpPr txBox="1"/>
              <p:nvPr/>
            </p:nvSpPr>
            <p:spPr>
              <a:xfrm>
                <a:off x="-28729" y="2537834"/>
                <a:ext cx="910774" cy="298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2</m:t>
                      </m:r>
                      <m:rad>
                        <m:radPr>
                          <m:degHide m:val="on"/>
                          <m:ctrlP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17</m:t>
                          </m:r>
                        </m:e>
                      </m:ra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8729" y="2537834"/>
                <a:ext cx="910774" cy="298736"/>
              </a:xfrm>
              <a:prstGeom prst="rect">
                <a:avLst/>
              </a:prstGeom>
              <a:blipFill rotWithShape="0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Прямая соединительная линия 96"/>
          <p:cNvCxnSpPr/>
          <p:nvPr/>
        </p:nvCxnSpPr>
        <p:spPr>
          <a:xfrm flipH="1">
            <a:off x="891866" y="1987853"/>
            <a:ext cx="3735" cy="150168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00" name="Прямоугольник 99"/>
          <p:cNvSpPr/>
          <p:nvPr/>
        </p:nvSpPr>
        <p:spPr>
          <a:xfrm>
            <a:off x="897522" y="3291829"/>
            <a:ext cx="202817" cy="190615"/>
          </a:xfrm>
          <a:prstGeom prst="rect">
            <a:avLst/>
          </a:prstGeom>
          <a:solidFill>
            <a:schemeClr val="bg1">
              <a:lumMod val="85000"/>
              <a:alpha val="3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/>
              <p:cNvSpPr txBox="1"/>
              <p:nvPr/>
            </p:nvSpPr>
            <p:spPr>
              <a:xfrm flipH="1">
                <a:off x="662313" y="3453657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𝑀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01" name="TextBox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62313" y="3453657"/>
                <a:ext cx="486282" cy="307777"/>
              </a:xfrm>
              <a:prstGeom prst="rect">
                <a:avLst/>
              </a:prstGeom>
              <a:blipFill rotWithShape="0"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Прямая соединительная линия 102"/>
          <p:cNvCxnSpPr/>
          <p:nvPr/>
        </p:nvCxnSpPr>
        <p:spPr>
          <a:xfrm flipH="1">
            <a:off x="1917743" y="1994792"/>
            <a:ext cx="3735" cy="150168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04" name="Прямоугольник 103"/>
          <p:cNvSpPr/>
          <p:nvPr/>
        </p:nvSpPr>
        <p:spPr>
          <a:xfrm>
            <a:off x="1923399" y="3288494"/>
            <a:ext cx="202817" cy="190615"/>
          </a:xfrm>
          <a:prstGeom prst="rect">
            <a:avLst/>
          </a:prstGeom>
          <a:solidFill>
            <a:schemeClr val="bg1">
              <a:lumMod val="85000"/>
              <a:alpha val="3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/>
              <p:cNvSpPr txBox="1"/>
              <p:nvPr/>
            </p:nvSpPr>
            <p:spPr>
              <a:xfrm flipH="1">
                <a:off x="1686969" y="3464373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𝐿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05" name="Text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686969" y="3464373"/>
                <a:ext cx="486282" cy="307777"/>
              </a:xfrm>
              <a:prstGeom prst="rect">
                <a:avLst/>
              </a:prstGeom>
              <a:blipFill rotWithShape="0"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/>
              <p:cNvSpPr txBox="1"/>
              <p:nvPr/>
            </p:nvSpPr>
            <p:spPr>
              <a:xfrm>
                <a:off x="2514016" y="1873535"/>
                <a:ext cx="1548423" cy="43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𝐸𝑀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𝐸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−</m:t>
                          </m:r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𝐾𝑇</m:t>
                          </m:r>
                        </m:num>
                        <m:den>
                          <m:r>
                            <a:rPr lang="en-US" sz="1200" b="0" i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" name="TextBox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016" y="1873535"/>
                <a:ext cx="1548423" cy="436851"/>
              </a:xfrm>
              <a:prstGeom prst="rect">
                <a:avLst/>
              </a:prstGeom>
              <a:blipFill rotWithShape="0">
                <a:blip r:embed="rId3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/>
              <p:cNvSpPr txBox="1"/>
              <p:nvPr/>
            </p:nvSpPr>
            <p:spPr>
              <a:xfrm>
                <a:off x="3618343" y="1837693"/>
                <a:ext cx="1548423" cy="4801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ru-RU" sz="1200" i="1">
                              <a:latin typeface="Cambria Math" charset="0"/>
                            </a:rPr>
                            <m:t>12</m:t>
                          </m:r>
                          <m:rad>
                            <m:radPr>
                              <m:degHide m:val="on"/>
                              <m:ctrlPr>
                                <a:rPr lang="mr-IN" sz="1200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1200" i="1">
                                  <a:latin typeface="Cambria Math" charset="0"/>
                                </a:rPr>
                                <m:t>2</m:t>
                              </m:r>
                            </m:e>
                          </m:rad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−</m:t>
                          </m:r>
                          <m:r>
                            <a:rPr lang="en-US" sz="1200" b="0" i="1" smtClean="0">
                              <a:latin typeface="Cambria Math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mr-IN" sz="1200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1200" i="1">
                                  <a:latin typeface="Cambria Math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n-US" sz="1200" b="0" i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7" name="TextBox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8343" y="1837693"/>
                <a:ext cx="1548423" cy="480196"/>
              </a:xfrm>
              <a:prstGeom prst="rect">
                <a:avLst/>
              </a:prstGeom>
              <a:blipFill rotWithShape="0">
                <a:blip r:embed="rId38"/>
                <a:stretch>
                  <a:fillRect b="-12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/>
              <p:cNvSpPr txBox="1"/>
              <p:nvPr/>
            </p:nvSpPr>
            <p:spPr>
              <a:xfrm>
                <a:off x="2766276" y="2271299"/>
                <a:ext cx="886911" cy="298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=3</m:t>
                      </m:r>
                      <m:rad>
                        <m:radPr>
                          <m:degHide m:val="on"/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8" name="TextBox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6276" y="2271299"/>
                <a:ext cx="886911" cy="298736"/>
              </a:xfrm>
              <a:prstGeom prst="rect">
                <a:avLst/>
              </a:prstGeom>
              <a:blipFill rotWithShape="0"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/>
              <p:cNvSpPr txBox="1"/>
              <p:nvPr/>
            </p:nvSpPr>
            <p:spPr>
              <a:xfrm>
                <a:off x="2816983" y="2792308"/>
                <a:ext cx="1698876" cy="3211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𝐾𝑀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𝐸</m:t>
                          </m:r>
                          <m:sSup>
                            <m:sSupPr>
                              <m:ctrlP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sz="12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−</m:t>
                          </m:r>
                          <m:r>
                            <a:rPr lang="en-US" sz="1200" b="0" i="1" smtClean="0">
                              <a:latin typeface="Cambria Math" charset="0"/>
                            </a:rPr>
                            <m:t>𝐸</m:t>
                          </m:r>
                          <m:sSup>
                            <m:sSupPr>
                              <m:ctrlPr>
                                <a:rPr lang="en-US" sz="12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9" name="TextBox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6983" y="2792308"/>
                <a:ext cx="1698876" cy="321114"/>
              </a:xfrm>
              <a:prstGeom prst="rect">
                <a:avLst/>
              </a:prstGeom>
              <a:blipFill rotWithShape="0"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/>
              <p:cNvSpPr txBox="1"/>
              <p:nvPr/>
            </p:nvSpPr>
            <p:spPr>
              <a:xfrm>
                <a:off x="2708632" y="3075779"/>
                <a:ext cx="1900747" cy="4681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2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2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>
                                      <a:latin typeface="Cambria Math" charset="0"/>
                                    </a:rPr>
                                    <m:t>2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mr-IN" sz="1200" i="1">
                                          <a:latin typeface="Cambria Math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1200" b="0" i="1" smtClean="0">
                                          <a:latin typeface="Cambria Math" charset="0"/>
                                        </a:rPr>
                                        <m:t>17</m:t>
                                      </m:r>
                                    </m:e>
                                  </m:rad>
                                </m:e>
                              </m:d>
                            </m:e>
                            <m:sup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2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2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>
                                      <a:latin typeface="Cambria Math" charset="0"/>
                                    </a:rPr>
                                    <m:t>3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sz="1200" i="1">
                                          <a:latin typeface="Cambria Math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1200" i="1">
                                          <a:latin typeface="Cambria Math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e>
                              </m:d>
                            </m:e>
                            <m:sup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0" name="TextBox 1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8632" y="3075779"/>
                <a:ext cx="1900747" cy="468141"/>
              </a:xfrm>
              <a:prstGeom prst="rect">
                <a:avLst/>
              </a:prstGeom>
              <a:blipFill rotWithShape="0"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/>
              <p:cNvSpPr txBox="1"/>
              <p:nvPr/>
            </p:nvSpPr>
            <p:spPr>
              <a:xfrm>
                <a:off x="4113018" y="3186327"/>
                <a:ext cx="1093353" cy="298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=5</m:t>
                      </m:r>
                      <m:rad>
                        <m:radPr>
                          <m:degHide m:val="on"/>
                          <m:ctrlPr>
                            <a:rPr lang="mr-IN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1" name="TextBox 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3018" y="3186327"/>
                <a:ext cx="1093353" cy="298736"/>
              </a:xfrm>
              <a:prstGeom prst="rect">
                <a:avLst/>
              </a:prstGeom>
              <a:blipFill rotWithShape="0"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/>
              <p:cNvSpPr txBox="1"/>
              <p:nvPr/>
            </p:nvSpPr>
            <p:spPr>
              <a:xfrm>
                <a:off x="121731" y="3970424"/>
                <a:ext cx="2004485" cy="453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𝐸</m:t>
                          </m:r>
                          <m:r>
                            <a:rPr lang="en-US" sz="1200" i="1">
                              <a:latin typeface="Cambria Math" charset="0"/>
                            </a:rPr>
                            <m:t>𝐾𝑇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𝐸</m:t>
                          </m:r>
                          <m:sSub>
                            <m:sSub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𝐾𝑇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mr-IN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𝐾𝑀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12" name="TextBox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731" y="3970424"/>
                <a:ext cx="2004485" cy="453970"/>
              </a:xfrm>
              <a:prstGeom prst="rect">
                <a:avLst/>
              </a:prstGeom>
              <a:blipFill rotWithShape="0"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/>
              <p:cNvSpPr txBox="1"/>
              <p:nvPr/>
            </p:nvSpPr>
            <p:spPr>
              <a:xfrm>
                <a:off x="1659904" y="3939596"/>
                <a:ext cx="2004485" cy="4801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ru-RU" sz="1200" i="1">
                              <a:latin typeface="Cambria Math" charset="0"/>
                            </a:rPr>
                            <m:t>12</m:t>
                          </m:r>
                          <m:rad>
                            <m:radPr>
                              <m:degHide m:val="on"/>
                              <m:ctrlPr>
                                <a:rPr lang="mr-IN" sz="1200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sz="1200" i="1">
                                  <a:latin typeface="Cambria Math" charset="0"/>
                                </a:rPr>
                                <m:t>2</m:t>
                              </m:r>
                            </m:e>
                          </m:rad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</m:t>
                          </m:r>
                          <m:r>
                            <a:rPr lang="en-US" sz="1200" i="1">
                              <a:latin typeface="Cambria Math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1200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i="1">
                                  <a:latin typeface="Cambria Math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mr-IN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5</m:t>
                      </m:r>
                      <m:rad>
                        <m:radPr>
                          <m:degHide m:val="on"/>
                          <m:ctrlPr>
                            <a:rPr lang="mr-IN" sz="1200" i="1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13" name="TextBox 1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9904" y="3939596"/>
                <a:ext cx="2004485" cy="480196"/>
              </a:xfrm>
              <a:prstGeom prst="rect">
                <a:avLst/>
              </a:prstGeom>
              <a:blipFill rotWithShape="0">
                <a:blip r:embed="rId44"/>
                <a:stretch>
                  <a:fillRect b="-12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/>
              <p:cNvSpPr txBox="1"/>
              <p:nvPr/>
            </p:nvSpPr>
            <p:spPr>
              <a:xfrm>
                <a:off x="3138303" y="4048041"/>
                <a:ext cx="1385901" cy="298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9</m:t>
                      </m:r>
                      <m:rad>
                        <m:radPr>
                          <m:degHide m:val="on"/>
                          <m:ctrlPr>
                            <a:rPr lang="mr-IN" sz="1200" i="1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i="1">
                              <a:latin typeface="Cambria Math" charset="0"/>
                            </a:rPr>
                            <m:t>2</m:t>
                          </m:r>
                        </m:e>
                      </m:rad>
                      <m:r>
                        <a:rPr lang="mr-IN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5</m:t>
                      </m:r>
                      <m:rad>
                        <m:radPr>
                          <m:degHide m:val="on"/>
                          <m:ctrlPr>
                            <a:rPr lang="mr-IN" sz="1200" i="1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14" name="TextBox 1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8303" y="4048041"/>
                <a:ext cx="1385901" cy="298736"/>
              </a:xfrm>
              <a:prstGeom prst="rect">
                <a:avLst/>
              </a:prstGeom>
              <a:blipFill rotWithShape="0"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/>
              <p:cNvSpPr txBox="1"/>
              <p:nvPr/>
            </p:nvSpPr>
            <p:spPr>
              <a:xfrm>
                <a:off x="3784822" y="4077839"/>
                <a:ext cx="138590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i="1" smtClean="0">
                          <a:latin typeface="Cambria Math" charset="0"/>
                        </a:rPr>
                        <m:t>9</m:t>
                      </m:r>
                      <m:r>
                        <a:rPr lang="en-US" sz="1200" b="0" i="1" smtClean="0">
                          <a:latin typeface="Cambria Math" charset="0"/>
                        </a:rPr>
                        <m:t>0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15" name="TextBox 1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822" y="4077839"/>
                <a:ext cx="1385901" cy="276999"/>
              </a:xfrm>
              <a:prstGeom prst="rect">
                <a:avLst/>
              </a:prstGeom>
              <a:blipFill rotWithShape="0"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/>
              <p:cNvSpPr txBox="1"/>
              <p:nvPr/>
            </p:nvSpPr>
            <p:spPr>
              <a:xfrm>
                <a:off x="2486087" y="4505049"/>
                <a:ext cx="11412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b="1" dirty="0" smtClean="0">
                    <a:solidFill>
                      <a:srgbClr val="FF0000"/>
                    </a:solidFill>
                  </a:rPr>
                  <a:t>Ответ: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𝟗𝟎</m:t>
                    </m:r>
                  </m:oMath>
                </a14:m>
                <a:endParaRPr lang="ru-RU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6" name="TextBox 1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6087" y="4505049"/>
                <a:ext cx="1141210" cy="369332"/>
              </a:xfrm>
              <a:prstGeom prst="rect">
                <a:avLst/>
              </a:prstGeom>
              <a:blipFill rotWithShape="0">
                <a:blip r:embed="rId47"/>
                <a:stretch>
                  <a:fillRect l="-4813" t="-8197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Полилиния 47"/>
          <p:cNvSpPr/>
          <p:nvPr/>
        </p:nvSpPr>
        <p:spPr>
          <a:xfrm>
            <a:off x="688369" y="3452117"/>
            <a:ext cx="10274" cy="113016"/>
          </a:xfrm>
          <a:custGeom>
            <a:avLst/>
            <a:gdLst>
              <a:gd name="connsiteX0" fmla="*/ 10274 w 10274"/>
              <a:gd name="connsiteY0" fmla="*/ 0 h 113016"/>
              <a:gd name="connsiteX1" fmla="*/ 0 w 10274"/>
              <a:gd name="connsiteY1" fmla="*/ 113016 h 113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274" h="113016">
                <a:moveTo>
                  <a:pt x="10274" y="0"/>
                </a:moveTo>
                <a:lnTo>
                  <a:pt x="0" y="113016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6" name="Полилиния 95"/>
          <p:cNvSpPr/>
          <p:nvPr/>
        </p:nvSpPr>
        <p:spPr>
          <a:xfrm>
            <a:off x="2198111" y="3430819"/>
            <a:ext cx="10274" cy="113016"/>
          </a:xfrm>
          <a:custGeom>
            <a:avLst/>
            <a:gdLst>
              <a:gd name="connsiteX0" fmla="*/ 10274 w 10274"/>
              <a:gd name="connsiteY0" fmla="*/ 0 h 113016"/>
              <a:gd name="connsiteX1" fmla="*/ 0 w 10274"/>
              <a:gd name="connsiteY1" fmla="*/ 113016 h 113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274" h="113016">
                <a:moveTo>
                  <a:pt x="10274" y="0"/>
                </a:moveTo>
                <a:lnTo>
                  <a:pt x="0" y="113016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0148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100" grpId="0" animBg="1"/>
      <p:bldP spid="101" grpId="0"/>
      <p:bldP spid="104" grpId="0" animBg="1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2" grpId="0"/>
      <p:bldP spid="113" grpId="0"/>
      <p:bldP spid="114" grpId="0"/>
      <p:bldP spid="115" grpId="0"/>
      <p:bldP spid="116" grpId="0"/>
      <p:bldP spid="48" grpId="0" animBg="1"/>
      <p:bldP spid="9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32</a:t>
            </a:fld>
            <a:endParaRPr kumimoji="0" lang="ru-RU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0" y="-22136"/>
                <a:ext cx="9144000" cy="115372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dirty="0" smtClean="0">
                    <a:solidFill>
                      <a:srgbClr val="7030A0"/>
                    </a:solidFill>
                  </a:rPr>
                  <a:t>19.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Дан параллелепипед</a:t>
                </a:r>
                <a14:m>
                  <m:oMath xmlns:m="http://schemas.openxmlformats.org/officeDocument/2006/math">
                    <m:r>
                      <a:rPr lang="ru-RU" sz="1200" b="1" i="0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𝑨𝑩𝑪</m:t>
                    </m:r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𝑫</m:t>
                        </m:r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𝑫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с основаниями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𝑨𝑩𝑪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𝑫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𝑫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  <m:r>
                          <a:rPr lang="ru-RU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.</m:t>
                        </m:r>
                      </m:sub>
                    </m:sSub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Точки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𝑴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𝑵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mr-IN" sz="1200" b="1" dirty="0" smtClean="0">
                    <a:solidFill>
                      <a:srgbClr val="002060"/>
                    </a:solidFill>
                  </a:rPr>
                  <a:t>–</a:t>
                </a:r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середины ребер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𝑨𝑫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𝑪𝑫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соответственно. Точка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𝑲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лежит на ребре 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𝑩</m:t>
                    </m:r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ru-RU" sz="1200" b="1" i="0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,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причем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𝑲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: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𝑲𝑩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𝟏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: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𝟐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 </a:t>
                </a: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а) Докажите, что плоскость, проходящая через точки</a:t>
                </a:r>
                <a14:m>
                  <m:oMath xmlns:m="http://schemas.openxmlformats.org/officeDocument/2006/math">
                    <m:r>
                      <a:rPr lang="ru-RU" sz="1200" b="1" i="0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𝑴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,  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𝑵</m:t>
                    </m:r>
                  </m:oMath>
                </a14:m>
                <a:r>
                  <a:rPr lang="en-US" sz="1200" b="1" dirty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>
                    <a:solidFill>
                      <a:srgbClr val="002060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𝑲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делит ребро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𝑪</m:t>
                    </m:r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в отношении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𝟐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: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𝟕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, считая от точки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𝑪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.</a:t>
                </a:r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б) Найдите площадь сечения параллелепипеда этой плоскостью, если параллелепипед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𝑨𝑩𝑪</m:t>
                    </m:r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𝑫𝑨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𝑫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- правильная четырехугольная призма, сторона основания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𝑨𝑩𝑪𝑫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равна </a:t>
                </a:r>
                <a14:m>
                  <m:oMath xmlns:m="http://schemas.openxmlformats.org/officeDocument/2006/math"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𝟒</m:t>
                    </m:r>
                    <m:rad>
                      <m:radPr>
                        <m:degHide m:val="on"/>
                        <m:ctrlPr>
                          <a:rPr lang="ru-RU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ru-RU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𝟐</m:t>
                        </m:r>
                      </m:e>
                    </m:rad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,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а боковое ребро равно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𝟏𝟐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.</a:t>
                </a:r>
                <a:endParaRPr lang="en-US" sz="12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6"/>
                <a:ext cx="9144000" cy="115372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Прямая соединительная линия 4"/>
          <p:cNvCxnSpPr/>
          <p:nvPr/>
        </p:nvCxnSpPr>
        <p:spPr>
          <a:xfrm>
            <a:off x="5922655" y="3798643"/>
            <a:ext cx="2016224" cy="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>
            <a:off x="5058559" y="4518723"/>
            <a:ext cx="2016224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flipV="1">
            <a:off x="5058559" y="3798643"/>
            <a:ext cx="864096" cy="72008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 flipV="1">
            <a:off x="7074783" y="3798643"/>
            <a:ext cx="864096" cy="72008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 flipV="1">
            <a:off x="5058559" y="2146651"/>
            <a:ext cx="0" cy="2372072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5922655" y="1432181"/>
            <a:ext cx="2016224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5058559" y="2152261"/>
            <a:ext cx="2016224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 flipV="1">
            <a:off x="5058559" y="1432181"/>
            <a:ext cx="864096" cy="72008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 flipV="1">
            <a:off x="7074783" y="1432181"/>
            <a:ext cx="864096" cy="72008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 flipV="1">
            <a:off x="7074783" y="2146651"/>
            <a:ext cx="0" cy="2372072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755787" y="4366562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5787" y="4366562"/>
                <a:ext cx="340286" cy="3077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 flipH="1">
                <a:off x="5570822" y="3612949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570822" y="3612949"/>
                <a:ext cx="486282" cy="3077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 flipH="1">
                <a:off x="7880289" y="3507854"/>
                <a:ext cx="3882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880289" y="3507854"/>
                <a:ext cx="388236" cy="3077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 flipH="1">
                <a:off x="6902671" y="4453681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𝐷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902671" y="4453681"/>
                <a:ext cx="486282" cy="3077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4716016" y="1865631"/>
                <a:ext cx="41716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016" y="1865631"/>
                <a:ext cx="417165" cy="30777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 flipH="1">
                <a:off x="5511601" y="1203598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511601" y="1203598"/>
                <a:ext cx="486282" cy="30777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 flipH="1">
                <a:off x="7880289" y="1230112"/>
                <a:ext cx="3882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880289" y="1230112"/>
                <a:ext cx="388236" cy="30777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 flipH="1">
                <a:off x="7001045" y="2057804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𝐷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001045" y="2057804"/>
                <a:ext cx="486282" cy="30777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Прямая соединительная линия 22"/>
          <p:cNvCxnSpPr/>
          <p:nvPr/>
        </p:nvCxnSpPr>
        <p:spPr>
          <a:xfrm flipV="1">
            <a:off x="7937344" y="1435864"/>
            <a:ext cx="0" cy="2372072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 flipV="1">
            <a:off x="5917696" y="1435864"/>
            <a:ext cx="0" cy="2372072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 flipH="1" flipV="1">
            <a:off x="5894450" y="2236871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 flipH="1">
                <a:off x="5503370" y="2105298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𝐾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503370" y="2105298"/>
                <a:ext cx="486282" cy="30777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 flipH="1">
                <a:off x="5518416" y="1745984"/>
                <a:ext cx="4862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charset="0"/>
                        </a:rPr>
                        <m:t>(1)</m:t>
                      </m:r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518416" y="1745984"/>
                <a:ext cx="486282" cy="261610"/>
              </a:xfrm>
              <a:prstGeom prst="rect">
                <a:avLst/>
              </a:prstGeom>
              <a:blipFill rotWithShape="0">
                <a:blip r:embed="rId12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 flipH="1">
                <a:off x="5518416" y="2865244"/>
                <a:ext cx="4862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charset="0"/>
                        </a:rPr>
                        <m:t>(2)</m:t>
                      </m:r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518416" y="2865244"/>
                <a:ext cx="486282" cy="261610"/>
              </a:xfrm>
              <a:prstGeom prst="rect">
                <a:avLst/>
              </a:prstGeom>
              <a:blipFill rotWithShape="0">
                <a:blip r:embed="rId13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Овал 28"/>
          <p:cNvSpPr/>
          <p:nvPr/>
        </p:nvSpPr>
        <p:spPr>
          <a:xfrm flipH="1" flipV="1">
            <a:off x="6076985" y="4502531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 flipH="1">
                <a:off x="5879526" y="4510802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𝑀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879526" y="4510802"/>
                <a:ext cx="486282" cy="307777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Полилиния 30"/>
          <p:cNvSpPr/>
          <p:nvPr/>
        </p:nvSpPr>
        <p:spPr>
          <a:xfrm>
            <a:off x="5609423" y="4469081"/>
            <a:ext cx="0" cy="133564"/>
          </a:xfrm>
          <a:custGeom>
            <a:avLst/>
            <a:gdLst>
              <a:gd name="connsiteX0" fmla="*/ 0 w 0"/>
              <a:gd name="connsiteY0" fmla="*/ 0 h 133564"/>
              <a:gd name="connsiteX1" fmla="*/ 0 w 0"/>
              <a:gd name="connsiteY1" fmla="*/ 133564 h 133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33564">
                <a:moveTo>
                  <a:pt x="0" y="0"/>
                </a:moveTo>
                <a:lnTo>
                  <a:pt x="0" y="133564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олилиния 31"/>
          <p:cNvSpPr/>
          <p:nvPr/>
        </p:nvSpPr>
        <p:spPr>
          <a:xfrm>
            <a:off x="6588224" y="4444843"/>
            <a:ext cx="0" cy="133564"/>
          </a:xfrm>
          <a:custGeom>
            <a:avLst/>
            <a:gdLst>
              <a:gd name="connsiteX0" fmla="*/ 0 w 0"/>
              <a:gd name="connsiteY0" fmla="*/ 0 h 133564"/>
              <a:gd name="connsiteX1" fmla="*/ 0 w 0"/>
              <a:gd name="connsiteY1" fmla="*/ 133564 h 133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33564">
                <a:moveTo>
                  <a:pt x="0" y="0"/>
                </a:moveTo>
                <a:lnTo>
                  <a:pt x="0" y="133564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Овал 32"/>
          <p:cNvSpPr/>
          <p:nvPr/>
        </p:nvSpPr>
        <p:spPr>
          <a:xfrm flipH="1" flipV="1">
            <a:off x="7490376" y="4144985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 flipH="1">
                <a:off x="7401686" y="4119393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𝑁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401686" y="4119393"/>
                <a:ext cx="486282" cy="307777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Полилиния 34"/>
          <p:cNvSpPr/>
          <p:nvPr/>
        </p:nvSpPr>
        <p:spPr>
          <a:xfrm>
            <a:off x="7690738" y="3945588"/>
            <a:ext cx="71919" cy="71919"/>
          </a:xfrm>
          <a:custGeom>
            <a:avLst/>
            <a:gdLst>
              <a:gd name="connsiteX0" fmla="*/ 0 w 71919"/>
              <a:gd name="connsiteY0" fmla="*/ 0 h 71919"/>
              <a:gd name="connsiteX1" fmla="*/ 71919 w 71919"/>
              <a:gd name="connsiteY1" fmla="*/ 71919 h 71919"/>
              <a:gd name="connsiteX2" fmla="*/ 71919 w 71919"/>
              <a:gd name="connsiteY2" fmla="*/ 71919 h 71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919" h="71919">
                <a:moveTo>
                  <a:pt x="0" y="0"/>
                </a:moveTo>
                <a:lnTo>
                  <a:pt x="71919" y="71919"/>
                </a:lnTo>
                <a:lnTo>
                  <a:pt x="71919" y="71919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олилиния 35"/>
          <p:cNvSpPr/>
          <p:nvPr/>
        </p:nvSpPr>
        <p:spPr>
          <a:xfrm>
            <a:off x="7654777" y="3988671"/>
            <a:ext cx="71919" cy="71919"/>
          </a:xfrm>
          <a:custGeom>
            <a:avLst/>
            <a:gdLst>
              <a:gd name="connsiteX0" fmla="*/ 0 w 71919"/>
              <a:gd name="connsiteY0" fmla="*/ 0 h 71919"/>
              <a:gd name="connsiteX1" fmla="*/ 71919 w 71919"/>
              <a:gd name="connsiteY1" fmla="*/ 71919 h 71919"/>
              <a:gd name="connsiteX2" fmla="*/ 71919 w 71919"/>
              <a:gd name="connsiteY2" fmla="*/ 71919 h 71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919" h="71919">
                <a:moveTo>
                  <a:pt x="0" y="0"/>
                </a:moveTo>
                <a:lnTo>
                  <a:pt x="71919" y="71919"/>
                </a:lnTo>
                <a:lnTo>
                  <a:pt x="71919" y="71919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олилиния 36"/>
          <p:cNvSpPr/>
          <p:nvPr/>
        </p:nvSpPr>
        <p:spPr>
          <a:xfrm>
            <a:off x="7290221" y="4276838"/>
            <a:ext cx="71919" cy="71919"/>
          </a:xfrm>
          <a:custGeom>
            <a:avLst/>
            <a:gdLst>
              <a:gd name="connsiteX0" fmla="*/ 0 w 71919"/>
              <a:gd name="connsiteY0" fmla="*/ 0 h 71919"/>
              <a:gd name="connsiteX1" fmla="*/ 71919 w 71919"/>
              <a:gd name="connsiteY1" fmla="*/ 71919 h 71919"/>
              <a:gd name="connsiteX2" fmla="*/ 71919 w 71919"/>
              <a:gd name="connsiteY2" fmla="*/ 71919 h 71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919" h="71919">
                <a:moveTo>
                  <a:pt x="0" y="0"/>
                </a:moveTo>
                <a:lnTo>
                  <a:pt x="71919" y="71919"/>
                </a:lnTo>
                <a:lnTo>
                  <a:pt x="71919" y="71919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олилиния 37"/>
          <p:cNvSpPr/>
          <p:nvPr/>
        </p:nvSpPr>
        <p:spPr>
          <a:xfrm>
            <a:off x="7253205" y="4316476"/>
            <a:ext cx="71919" cy="71919"/>
          </a:xfrm>
          <a:custGeom>
            <a:avLst/>
            <a:gdLst>
              <a:gd name="connsiteX0" fmla="*/ 0 w 71919"/>
              <a:gd name="connsiteY0" fmla="*/ 0 h 71919"/>
              <a:gd name="connsiteX1" fmla="*/ 71919 w 71919"/>
              <a:gd name="connsiteY1" fmla="*/ 71919 h 71919"/>
              <a:gd name="connsiteX2" fmla="*/ 71919 w 71919"/>
              <a:gd name="connsiteY2" fmla="*/ 71919 h 71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919" h="71919">
                <a:moveTo>
                  <a:pt x="0" y="0"/>
                </a:moveTo>
                <a:lnTo>
                  <a:pt x="71919" y="71919"/>
                </a:lnTo>
                <a:lnTo>
                  <a:pt x="71919" y="71919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9" name="Прямая соединительная линия 38"/>
          <p:cNvCxnSpPr>
            <a:stCxn id="32" idx="3"/>
          </p:cNvCxnSpPr>
          <p:nvPr/>
        </p:nvCxnSpPr>
        <p:spPr>
          <a:xfrm flipV="1">
            <a:off x="6116009" y="4151049"/>
            <a:ext cx="1397226" cy="358177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/>
          <p:cNvCxnSpPr/>
          <p:nvPr/>
        </p:nvCxnSpPr>
        <p:spPr>
          <a:xfrm flipV="1">
            <a:off x="7477773" y="3809667"/>
            <a:ext cx="1397226" cy="358177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/>
          <p:nvPr/>
        </p:nvCxnSpPr>
        <p:spPr>
          <a:xfrm>
            <a:off x="7944512" y="3797150"/>
            <a:ext cx="938110" cy="5174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2" name="Овал 41"/>
          <p:cNvSpPr/>
          <p:nvPr/>
        </p:nvSpPr>
        <p:spPr>
          <a:xfrm flipH="1" flipV="1">
            <a:off x="8874021" y="3787154"/>
            <a:ext cx="45719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 flipH="1">
                <a:off x="8642920" y="3479030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𝑃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642920" y="3479030"/>
                <a:ext cx="486282" cy="307777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Прямая соединительная линия 43"/>
          <p:cNvCxnSpPr>
            <a:endCxn id="53" idx="1"/>
          </p:cNvCxnSpPr>
          <p:nvPr/>
        </p:nvCxnSpPr>
        <p:spPr>
          <a:xfrm>
            <a:off x="7935144" y="3327285"/>
            <a:ext cx="977901" cy="495345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/>
          <p:cNvCxnSpPr/>
          <p:nvPr/>
        </p:nvCxnSpPr>
        <p:spPr>
          <a:xfrm>
            <a:off x="5894450" y="2243043"/>
            <a:ext cx="2040694" cy="1086870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Овал 45"/>
          <p:cNvSpPr/>
          <p:nvPr/>
        </p:nvSpPr>
        <p:spPr>
          <a:xfrm flipH="1" flipV="1">
            <a:off x="7923521" y="3304625"/>
            <a:ext cx="45719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 flipH="1">
                <a:off x="7831266" y="3060791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𝐹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831266" y="3060791"/>
                <a:ext cx="486282" cy="307777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Прямая соединительная линия 47"/>
          <p:cNvCxnSpPr/>
          <p:nvPr/>
        </p:nvCxnSpPr>
        <p:spPr>
          <a:xfrm flipV="1">
            <a:off x="4598076" y="4526470"/>
            <a:ext cx="1464960" cy="366427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9" name="Прямая соединительная линия 48"/>
          <p:cNvCxnSpPr/>
          <p:nvPr/>
        </p:nvCxnSpPr>
        <p:spPr>
          <a:xfrm flipV="1">
            <a:off x="4445643" y="4518723"/>
            <a:ext cx="618286" cy="505168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0" name="Овал 49"/>
          <p:cNvSpPr/>
          <p:nvPr/>
        </p:nvSpPr>
        <p:spPr>
          <a:xfrm flipH="1" flipV="1">
            <a:off x="4598076" y="4874005"/>
            <a:ext cx="45719" cy="377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 flipH="1">
                <a:off x="4241957" y="4686300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𝑈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241957" y="4686300"/>
                <a:ext cx="486282" cy="307777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Прямая соединительная линия 51"/>
          <p:cNvCxnSpPr/>
          <p:nvPr/>
        </p:nvCxnSpPr>
        <p:spPr>
          <a:xfrm flipH="1">
            <a:off x="4541738" y="3981547"/>
            <a:ext cx="520478" cy="106308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 flipH="1">
            <a:off x="5052896" y="2234355"/>
            <a:ext cx="861696" cy="1777112"/>
          </a:xfrm>
          <a:prstGeom prst="line">
            <a:avLst/>
          </a:prstGeom>
          <a:ln>
            <a:prstDash val="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4" name="Овал 53"/>
          <p:cNvSpPr/>
          <p:nvPr/>
        </p:nvSpPr>
        <p:spPr>
          <a:xfrm flipH="1" flipV="1">
            <a:off x="5032307" y="3982564"/>
            <a:ext cx="45719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 flipH="1">
                <a:off x="4680969" y="3807935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𝐸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680969" y="3807935"/>
                <a:ext cx="486282" cy="307777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Прямая соединительная линия 56"/>
          <p:cNvCxnSpPr/>
          <p:nvPr/>
        </p:nvCxnSpPr>
        <p:spPr>
          <a:xfrm flipV="1">
            <a:off x="7513235" y="3324105"/>
            <a:ext cx="431277" cy="834578"/>
          </a:xfrm>
          <a:prstGeom prst="line">
            <a:avLst/>
          </a:prstGeom>
          <a:ln>
            <a:prstDash val="soli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>
            <a:off x="5917309" y="2247145"/>
            <a:ext cx="2027203" cy="1083857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>
            <a:stCxn id="26" idx="6"/>
          </p:cNvCxnSpPr>
          <p:nvPr/>
        </p:nvCxnSpPr>
        <p:spPr>
          <a:xfrm flipH="1">
            <a:off x="5044833" y="2259730"/>
            <a:ext cx="849617" cy="17601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Прямая соединительная линия 59"/>
          <p:cNvCxnSpPr>
            <a:endCxn id="32" idx="5"/>
          </p:cNvCxnSpPr>
          <p:nvPr/>
        </p:nvCxnSpPr>
        <p:spPr>
          <a:xfrm>
            <a:off x="5045729" y="4008588"/>
            <a:ext cx="1037951" cy="500638"/>
          </a:xfrm>
          <a:prstGeom prst="line">
            <a:avLst/>
          </a:prstGeom>
          <a:ln>
            <a:prstDash val="soli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1" name="Полилиния 60"/>
          <p:cNvSpPr/>
          <p:nvPr/>
        </p:nvSpPr>
        <p:spPr>
          <a:xfrm>
            <a:off x="5045729" y="2259705"/>
            <a:ext cx="2887039" cy="2250040"/>
          </a:xfrm>
          <a:custGeom>
            <a:avLst/>
            <a:gdLst>
              <a:gd name="connsiteX0" fmla="*/ 0 w 2887039"/>
              <a:gd name="connsiteY0" fmla="*/ 1746607 h 2250040"/>
              <a:gd name="connsiteX1" fmla="*/ 873304 w 2887039"/>
              <a:gd name="connsiteY1" fmla="*/ 0 h 2250040"/>
              <a:gd name="connsiteX2" fmla="*/ 2887039 w 2887039"/>
              <a:gd name="connsiteY2" fmla="*/ 1068512 h 2250040"/>
              <a:gd name="connsiteX3" fmla="*/ 2465798 w 2887039"/>
              <a:gd name="connsiteY3" fmla="*/ 1900719 h 2250040"/>
              <a:gd name="connsiteX4" fmla="*/ 1058239 w 2887039"/>
              <a:gd name="connsiteY4" fmla="*/ 2250040 h 2250040"/>
              <a:gd name="connsiteX5" fmla="*/ 0 w 2887039"/>
              <a:gd name="connsiteY5" fmla="*/ 1746607 h 2250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87039" h="2250040">
                <a:moveTo>
                  <a:pt x="0" y="1746607"/>
                </a:moveTo>
                <a:lnTo>
                  <a:pt x="873304" y="0"/>
                </a:lnTo>
                <a:lnTo>
                  <a:pt x="2887039" y="1068512"/>
                </a:lnTo>
                <a:lnTo>
                  <a:pt x="2465798" y="1900719"/>
                </a:lnTo>
                <a:lnTo>
                  <a:pt x="1058239" y="2250040"/>
                </a:lnTo>
                <a:lnTo>
                  <a:pt x="0" y="1746607"/>
                </a:lnTo>
                <a:close/>
              </a:path>
            </a:pathLst>
          </a:custGeom>
          <a:solidFill>
            <a:srgbClr val="FF0000">
              <a:alpha val="1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107505" y="1216059"/>
                <a:ext cx="40324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 smtClean="0">
                    <a:solidFill>
                      <a:schemeClr val="tx1"/>
                    </a:solidFill>
                  </a:rPr>
                  <a:t>а)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𝑃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𝑀𝑁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∩</m:t>
                    </m:r>
                    <m:r>
                      <a:rPr lang="en-US" sz="120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𝐵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𝐶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;  </m:t>
                    </m:r>
                    <m:r>
                      <a:rPr lang="en-US" sz="12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𝑀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𝑁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∈</m:t>
                    </m:r>
                    <m:d>
                      <m:dPr>
                        <m:ctrlPr>
                          <a:rPr lang="en-US" sz="1200" i="1" smtClean="0">
                            <a:solidFill>
                              <a:schemeClr val="tx1"/>
                            </a:solidFill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𝑀𝑁𝐾</m:t>
                        </m:r>
                      </m:e>
                    </m:d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  <m:r>
                      <a:rPr lang="en-US" sz="1200" i="1">
                        <a:latin typeface="Cambria Math" charset="0"/>
                      </a:rPr>
                      <m:t>𝑃</m:t>
                    </m:r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∈</m:t>
                    </m:r>
                    <m:d>
                      <m:dPr>
                        <m:ctrlPr>
                          <a:rPr lang="en-US" sz="1200" i="1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sz="1200" b="0" i="1" dirty="0" smtClean="0">
                            <a:latin typeface="Cambria Math" charset="0"/>
                          </a:rPr>
                          <m:t>𝑀𝑁𝐾</m:t>
                        </m:r>
                      </m:e>
                    </m:d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5" y="1216059"/>
                <a:ext cx="4032448" cy="276999"/>
              </a:xfrm>
              <a:prstGeom prst="rect">
                <a:avLst/>
              </a:prstGeom>
              <a:blipFill rotWithShape="0">
                <a:blip r:embed="rId20"/>
                <a:stretch>
                  <a:fillRect l="-151"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113462" y="1502663"/>
                <a:ext cx="12241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𝑃𝐾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∈</m:t>
                      </m:r>
                      <m:d>
                        <m:dPr>
                          <m:ctrlPr>
                            <a:rPr lang="en-US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𝐵</m:t>
                          </m:r>
                          <m:sSub>
                            <m:sSubPr>
                              <m:ctrlPr>
                                <a:rPr lang="en-US" sz="1200" b="0" i="1" dirty="0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200" b="0" i="1" dirty="0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200" i="1" dirty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200" b="0" i="1" dirty="0" smtClean="0"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62" y="1502663"/>
                <a:ext cx="1224136" cy="276999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1079408" y="1500308"/>
                <a:ext cx="13133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𝐹</m:t>
                      </m:r>
                      <m:r>
                        <a:rPr lang="en-US" sz="1200" i="1">
                          <a:latin typeface="Cambria Math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𝑃𝐾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∩</m:t>
                      </m:r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𝐶</m:t>
                      </m:r>
                      <m:sSub>
                        <m:sSubPr>
                          <m:ctrlPr>
                            <a:rPr lang="en-US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408" y="1500308"/>
                <a:ext cx="1313360" cy="276999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2195736" y="1499378"/>
                <a:ext cx="12241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𝐹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∈</m:t>
                      </m:r>
                      <m:d>
                        <m:dPr>
                          <m:ctrlPr>
                            <a:rPr lang="en-US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𝑀𝑁𝐾</m:t>
                          </m:r>
                        </m:e>
                      </m:d>
                      <m:r>
                        <a:rPr lang="en-US" sz="1200" b="0" i="1" dirty="0" smtClean="0">
                          <a:latin typeface="Cambria Math" charset="0"/>
                        </a:rPr>
                        <m:t>.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736" y="1499378"/>
                <a:ext cx="1224136" cy="276999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-252536" y="1761430"/>
                <a:ext cx="40324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𝑈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𝑀𝑁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∩</m:t>
                      </m:r>
                      <m:r>
                        <a:rPr lang="en-US" sz="120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;  </m:t>
                      </m:r>
                      <m:r>
                        <a:rPr lang="en-US" sz="120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𝑀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𝑁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∈</m:t>
                      </m:r>
                      <m:d>
                        <m:dPr>
                          <m:ctrlPr>
                            <a:rPr lang="en-US" sz="120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𝑀𝑁𝐾</m:t>
                          </m:r>
                        </m:e>
                      </m:d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𝑈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∈</m:t>
                      </m:r>
                      <m:d>
                        <m:dPr>
                          <m:ctrlPr>
                            <a:rPr lang="en-US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𝑀𝑁𝐾</m:t>
                          </m:r>
                        </m:e>
                      </m:d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2536" y="1761430"/>
                <a:ext cx="4032448" cy="276999"/>
              </a:xfrm>
              <a:prstGeom prst="rect">
                <a:avLst/>
              </a:prstGeom>
              <a:blipFill rotWithShape="0">
                <a:blip r:embed="rId24"/>
                <a:stretch>
                  <a:fillRect t="-80000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107504" y="2038193"/>
                <a:ext cx="12241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𝑈𝐾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∈</m:t>
                      </m:r>
                      <m:d>
                        <m:dPr>
                          <m:ctrlPr>
                            <a:rPr lang="en-US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sz="1200" b="0" i="1" dirty="0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200" b="0" i="1" dirty="0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200" i="1" dirty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200" b="0" i="1" dirty="0" smtClean="0"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2038193"/>
                <a:ext cx="1224136" cy="276999"/>
              </a:xfrm>
              <a:prstGeom prst="rect">
                <a:avLst/>
              </a:prstGeom>
              <a:blipFill rotWithShape="0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1073450" y="2035838"/>
                <a:ext cx="13133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𝐸</m:t>
                      </m:r>
                      <m:r>
                        <a:rPr lang="en-US" sz="1200" i="1">
                          <a:latin typeface="Cambria Math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𝑈𝐾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∩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</m:t>
                      </m:r>
                      <m:sSub>
                        <m:sSubPr>
                          <m:ctrlPr>
                            <a:rPr lang="en-US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450" y="2035838"/>
                <a:ext cx="1313360" cy="276999"/>
              </a:xfrm>
              <a:prstGeom prst="rect">
                <a:avLst/>
              </a:prstGeom>
              <a:blipFill rotWithShape="0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2189778" y="2034908"/>
                <a:ext cx="12241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𝐸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∈</m:t>
                      </m:r>
                      <m:d>
                        <m:dPr>
                          <m:ctrlPr>
                            <a:rPr lang="en-US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𝑀𝑁𝐾</m:t>
                          </m:r>
                        </m:e>
                      </m:d>
                      <m:r>
                        <a:rPr lang="en-US" sz="1200" b="0" i="1" dirty="0" smtClean="0"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9778" y="2034908"/>
                <a:ext cx="1224136" cy="276999"/>
              </a:xfrm>
              <a:prstGeom prst="rect">
                <a:avLst/>
              </a:prstGeom>
              <a:blipFill rotWithShape="0"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101499" y="2319994"/>
                <a:ext cx="526258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𝐸𝐾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𝐹</m:t>
                    </m:r>
                    <m:r>
                      <a:rPr lang="en-US" sz="12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𝑁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𝑀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− 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сечение параллелепипеда </a:t>
                </a:r>
                <a14:m>
                  <m:oMath xmlns:m="http://schemas.openxmlformats.org/officeDocument/2006/math"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charset="0"/>
                      </a:rPr>
                      <m:t>𝐴𝐵𝐶</m:t>
                    </m:r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𝐷𝐴</m:t>
                        </m:r>
                      </m:e>
                      <m:sub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𝐶</m:t>
                        </m:r>
                      </m:e>
                      <m:sub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𝐷</m:t>
                        </m:r>
                      </m:e>
                      <m:sub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плоскостью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𝑀𝑁𝐾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99" y="2319994"/>
                <a:ext cx="5262589" cy="276999"/>
              </a:xfrm>
              <a:prstGeom prst="rect">
                <a:avLst/>
              </a:prstGeom>
              <a:blipFill rotWithShape="0">
                <a:blip r:embed="rId28"/>
                <a:stretch>
                  <a:fillRect t="-82222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191237" y="2606285"/>
                <a:ext cx="28129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120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∠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𝑀𝐷𝑁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=∠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𝑁𝐶𝑃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(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как накрест лежащие);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237" y="2606285"/>
                <a:ext cx="2812990" cy="276999"/>
              </a:xfrm>
              <a:prstGeom prst="rect">
                <a:avLst/>
              </a:prstGeom>
              <a:blipFill rotWithShape="0">
                <a:blip r:embed="rId29"/>
                <a:stretch>
                  <a:fillRect t="-82222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189703" y="2880434"/>
                <a:ext cx="28129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120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∠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𝑀𝑁𝐷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=∠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𝐶𝑁𝑃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(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как вертикальные);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703" y="2880434"/>
                <a:ext cx="2812990" cy="276999"/>
              </a:xfrm>
              <a:prstGeom prst="rect">
                <a:avLst/>
              </a:prstGeom>
              <a:blipFill rotWithShape="0">
                <a:blip r:embed="rId30"/>
                <a:stretch>
                  <a:fillRect t="-82222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2757848" y="2879749"/>
                <a:ext cx="17639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𝐷𝑁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𝑁𝐶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(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по условию)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848" y="2879749"/>
                <a:ext cx="1763900" cy="276999"/>
              </a:xfrm>
              <a:prstGeom prst="rect">
                <a:avLst/>
              </a:prstGeom>
              <a:blipFill rotWithShape="0">
                <a:blip r:embed="rId31"/>
                <a:stretch>
                  <a:fillRect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159712" y="3181592"/>
                <a:ext cx="150017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∆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𝑀𝐷𝑁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=∆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𝑁𝐶𝑃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12" y="3181592"/>
                <a:ext cx="1500174" cy="276999"/>
              </a:xfrm>
              <a:prstGeom prst="rect">
                <a:avLst/>
              </a:prstGeom>
              <a:blipFill rotWithShape="0"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1539701" y="3094415"/>
                <a:ext cx="1650191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𝐶𝑃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𝑀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𝐷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𝐵𝐶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9701" y="3094415"/>
                <a:ext cx="1650191" cy="438005"/>
              </a:xfrm>
              <a:prstGeom prst="rect">
                <a:avLst/>
              </a:prstGeom>
              <a:blipFill rotWithShape="0">
                <a:blip r:embed="rId33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2743497" y="3091352"/>
                <a:ext cx="1650191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𝐶𝑃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𝐵𝑃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497" y="3091352"/>
                <a:ext cx="1650191" cy="438005"/>
              </a:xfrm>
              <a:prstGeom prst="rect">
                <a:avLst/>
              </a:prstGeom>
              <a:blipFill rotWithShape="0">
                <a:blip r:embed="rId34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205633" y="3402891"/>
                <a:ext cx="4489835" cy="3540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𝐹𝐶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f>
                      <m:fPr>
                        <m:ctrlPr>
                          <a:rPr lang="en-US" sz="1200" b="0" i="1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3</m:t>
                        </m:r>
                      </m:den>
                    </m:f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𝐵𝐾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:r>
                  <a:rPr lang="ru-RU" sz="1200" dirty="0" smtClean="0"/>
                  <a:t>(из подобия треугольников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𝐵𝐾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𝑃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𝐶𝐹</m:t>
                    </m:r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𝑃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)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633" y="3402891"/>
                <a:ext cx="4489835" cy="354008"/>
              </a:xfrm>
              <a:prstGeom prst="rect">
                <a:avLst/>
              </a:prstGeom>
              <a:blipFill rotWithShape="0">
                <a:blip r:embed="rId35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117489" y="3703680"/>
                <a:ext cx="1709871" cy="439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𝐵𝐾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𝐶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89" y="3703680"/>
                <a:ext cx="1709871" cy="439223"/>
              </a:xfrm>
              <a:prstGeom prst="rect">
                <a:avLst/>
              </a:prstGeom>
              <a:blipFill rotWithShape="0"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1487900" y="3702455"/>
                <a:ext cx="1637865" cy="439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𝐹𝐶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(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𝐶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)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900" y="3702455"/>
                <a:ext cx="1637865" cy="439223"/>
              </a:xfrm>
              <a:prstGeom prst="rect">
                <a:avLst/>
              </a:prstGeom>
              <a:blipFill rotWithShape="0">
                <a:blip r:embed="rId3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2725940" y="3699253"/>
                <a:ext cx="961228" cy="439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9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𝐶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5940" y="3699253"/>
                <a:ext cx="961228" cy="439223"/>
              </a:xfrm>
              <a:prstGeom prst="rect">
                <a:avLst/>
              </a:prstGeom>
              <a:blipFill rotWithShape="0"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49917" y="4108543"/>
                <a:ext cx="163786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𝐶𝐹</m:t>
                      </m:r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: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𝐹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=2:7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7" y="4108543"/>
                <a:ext cx="1637865" cy="276999"/>
              </a:xfrm>
              <a:prstGeom prst="rect">
                <a:avLst/>
              </a:prstGeom>
              <a:blipFill rotWithShape="0"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9567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5" grpId="0" animBg="1"/>
      <p:bldP spid="26" grpId="0"/>
      <p:bldP spid="27" grpId="0"/>
      <p:bldP spid="28" grpId="0"/>
      <p:bldP spid="29" grpId="0" animBg="1"/>
      <p:bldP spid="30" grpId="0"/>
      <p:bldP spid="31" grpId="0" animBg="1"/>
      <p:bldP spid="32" grpId="0" animBg="1"/>
      <p:bldP spid="33" grpId="0" animBg="1"/>
      <p:bldP spid="34" grpId="0"/>
      <p:bldP spid="35" grpId="0" animBg="1"/>
      <p:bldP spid="36" grpId="0" animBg="1"/>
      <p:bldP spid="37" grpId="0" animBg="1"/>
      <p:bldP spid="38" grpId="0" animBg="1"/>
      <p:bldP spid="42" grpId="0" animBg="1"/>
      <p:bldP spid="43" grpId="0"/>
      <p:bldP spid="46" grpId="0" animBg="1"/>
      <p:bldP spid="47" grpId="0"/>
      <p:bldP spid="50" grpId="0" animBg="1"/>
      <p:bldP spid="51" grpId="0"/>
      <p:bldP spid="54" grpId="0" animBg="1"/>
      <p:bldP spid="56" grpId="0"/>
      <p:bldP spid="61" grpId="0" animBg="1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33</a:t>
            </a:fld>
            <a:endParaRPr kumimoji="0" lang="ru-RU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0" y="-22136"/>
                <a:ext cx="9144000" cy="115372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dirty="0" smtClean="0">
                    <a:solidFill>
                      <a:srgbClr val="7030A0"/>
                    </a:solidFill>
                  </a:rPr>
                  <a:t>19.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Дан параллелепипед</a:t>
                </a:r>
                <a14:m>
                  <m:oMath xmlns:m="http://schemas.openxmlformats.org/officeDocument/2006/math">
                    <m:r>
                      <a:rPr lang="ru-RU" sz="1200" b="1" i="0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𝑨𝑩𝑪</m:t>
                    </m:r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𝑫</m:t>
                        </m:r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𝑫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с основаниями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𝑨𝑩𝑪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𝑫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𝑫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  <m:r>
                          <a:rPr lang="ru-RU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.</m:t>
                        </m:r>
                      </m:sub>
                    </m:sSub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Точки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𝑴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𝑵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mr-IN" sz="1200" b="1" dirty="0" smtClean="0">
                    <a:solidFill>
                      <a:srgbClr val="002060"/>
                    </a:solidFill>
                  </a:rPr>
                  <a:t>–</a:t>
                </a:r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середины ребер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𝑨𝑫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𝑪𝑫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соответственно. Точка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𝑲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лежит на ребре 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𝑩</m:t>
                    </m:r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ru-RU" sz="1200" b="1" i="0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,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причем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𝑲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: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𝑲𝑩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𝟏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: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𝟐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 </a:t>
                </a: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а) Докажите, что плоскость, проходящая через точки</a:t>
                </a:r>
                <a14:m>
                  <m:oMath xmlns:m="http://schemas.openxmlformats.org/officeDocument/2006/math">
                    <m:r>
                      <a:rPr lang="ru-RU" sz="1200" b="1" i="0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𝑴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,  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𝑵</m:t>
                    </m:r>
                  </m:oMath>
                </a14:m>
                <a:r>
                  <a:rPr lang="en-US" sz="1200" b="1" dirty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>
                    <a:solidFill>
                      <a:srgbClr val="002060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𝑲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делит ребро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𝑪</m:t>
                    </m:r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в отношении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𝟐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: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𝟕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, считая от точки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𝑪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.</a:t>
                </a:r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б) Найдите площадь сечения параллелепипеда этой плоскостью, если параллелепипед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𝑨𝑩𝑪</m:t>
                    </m:r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𝑫𝑨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𝑫</m:t>
                        </m:r>
                      </m:e>
                      <m:sub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- правильная четырехугольная призма, сторона основания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𝑨𝑩𝑪𝑫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равна </a:t>
                </a:r>
                <a14:m>
                  <m:oMath xmlns:m="http://schemas.openxmlformats.org/officeDocument/2006/math"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𝟒</m:t>
                    </m:r>
                    <m:rad>
                      <m:radPr>
                        <m:degHide m:val="on"/>
                        <m:ctrlPr>
                          <a:rPr lang="ru-RU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ru-RU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𝟐</m:t>
                        </m:r>
                      </m:e>
                    </m:rad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,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а боковое ребро равно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𝟏𝟐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.</a:t>
                </a:r>
                <a:endParaRPr lang="en-US" sz="12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6"/>
                <a:ext cx="9144000" cy="115372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Прямая соединительная линия 4"/>
          <p:cNvCxnSpPr/>
          <p:nvPr/>
        </p:nvCxnSpPr>
        <p:spPr>
          <a:xfrm>
            <a:off x="5922655" y="3798643"/>
            <a:ext cx="2016224" cy="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>
            <a:off x="5058559" y="4518723"/>
            <a:ext cx="2016224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flipV="1">
            <a:off x="5058559" y="3798643"/>
            <a:ext cx="864096" cy="72008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 flipV="1">
            <a:off x="7074783" y="3798643"/>
            <a:ext cx="864096" cy="72008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 flipV="1">
            <a:off x="5058559" y="2146651"/>
            <a:ext cx="0" cy="2372072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5922655" y="1432181"/>
            <a:ext cx="2016224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5058559" y="2152261"/>
            <a:ext cx="2016224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 flipV="1">
            <a:off x="5058559" y="1432181"/>
            <a:ext cx="864096" cy="72008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 flipV="1">
            <a:off x="7074783" y="1432181"/>
            <a:ext cx="864096" cy="72008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 flipV="1">
            <a:off x="7074783" y="2146651"/>
            <a:ext cx="0" cy="2372072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776335" y="4315192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6335" y="4315192"/>
                <a:ext cx="340286" cy="3077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 flipH="1">
                <a:off x="5570822" y="3612949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570822" y="3612949"/>
                <a:ext cx="486282" cy="3077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 flipH="1">
                <a:off x="7880289" y="3507854"/>
                <a:ext cx="3882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880289" y="3507854"/>
                <a:ext cx="388236" cy="3077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 flipH="1">
                <a:off x="6942669" y="4462261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𝐷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942669" y="4462261"/>
                <a:ext cx="486282" cy="3077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4716016" y="1988919"/>
                <a:ext cx="41716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016" y="1988919"/>
                <a:ext cx="417165" cy="30777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 flipH="1">
                <a:off x="5511601" y="1203598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511601" y="1203598"/>
                <a:ext cx="486282" cy="30777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 flipH="1">
                <a:off x="7880289" y="1230112"/>
                <a:ext cx="3882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880289" y="1230112"/>
                <a:ext cx="388236" cy="30777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 flipH="1">
                <a:off x="7001045" y="2057804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𝐷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001045" y="2057804"/>
                <a:ext cx="486282" cy="30777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Прямая соединительная линия 22"/>
          <p:cNvCxnSpPr/>
          <p:nvPr/>
        </p:nvCxnSpPr>
        <p:spPr>
          <a:xfrm flipV="1">
            <a:off x="7937344" y="1435864"/>
            <a:ext cx="0" cy="2372072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 flipV="1">
            <a:off x="5917696" y="1435864"/>
            <a:ext cx="0" cy="2372072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 flipH="1" flipV="1">
            <a:off x="5894450" y="2236871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 flipH="1">
                <a:off x="5503370" y="2105298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𝐾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503370" y="2105298"/>
                <a:ext cx="486282" cy="30777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 flipH="1">
                <a:off x="5518416" y="1745984"/>
                <a:ext cx="4862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charset="0"/>
                        </a:rPr>
                        <m:t>(1)</m:t>
                      </m:r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518416" y="1745984"/>
                <a:ext cx="486282" cy="261610"/>
              </a:xfrm>
              <a:prstGeom prst="rect">
                <a:avLst/>
              </a:prstGeom>
              <a:blipFill rotWithShape="0">
                <a:blip r:embed="rId12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 flipH="1">
                <a:off x="5518416" y="2865244"/>
                <a:ext cx="4862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charset="0"/>
                        </a:rPr>
                        <m:t>(2)</m:t>
                      </m:r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518416" y="2865244"/>
                <a:ext cx="486282" cy="261610"/>
              </a:xfrm>
              <a:prstGeom prst="rect">
                <a:avLst/>
              </a:prstGeom>
              <a:blipFill rotWithShape="0">
                <a:blip r:embed="rId13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Овал 30"/>
          <p:cNvSpPr/>
          <p:nvPr/>
        </p:nvSpPr>
        <p:spPr>
          <a:xfrm flipH="1" flipV="1">
            <a:off x="6076985" y="4502531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 flipH="1">
                <a:off x="5867795" y="4520562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𝑀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867795" y="4520562"/>
                <a:ext cx="486282" cy="307777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Полилиния 33"/>
          <p:cNvSpPr/>
          <p:nvPr/>
        </p:nvSpPr>
        <p:spPr>
          <a:xfrm>
            <a:off x="5609423" y="4469081"/>
            <a:ext cx="0" cy="133564"/>
          </a:xfrm>
          <a:custGeom>
            <a:avLst/>
            <a:gdLst>
              <a:gd name="connsiteX0" fmla="*/ 0 w 0"/>
              <a:gd name="connsiteY0" fmla="*/ 0 h 133564"/>
              <a:gd name="connsiteX1" fmla="*/ 0 w 0"/>
              <a:gd name="connsiteY1" fmla="*/ 133564 h 133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33564">
                <a:moveTo>
                  <a:pt x="0" y="0"/>
                </a:moveTo>
                <a:lnTo>
                  <a:pt x="0" y="133564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олилиния 34"/>
          <p:cNvSpPr/>
          <p:nvPr/>
        </p:nvSpPr>
        <p:spPr>
          <a:xfrm>
            <a:off x="6588224" y="4444843"/>
            <a:ext cx="0" cy="133564"/>
          </a:xfrm>
          <a:custGeom>
            <a:avLst/>
            <a:gdLst>
              <a:gd name="connsiteX0" fmla="*/ 0 w 0"/>
              <a:gd name="connsiteY0" fmla="*/ 0 h 133564"/>
              <a:gd name="connsiteX1" fmla="*/ 0 w 0"/>
              <a:gd name="connsiteY1" fmla="*/ 133564 h 133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33564">
                <a:moveTo>
                  <a:pt x="0" y="0"/>
                </a:moveTo>
                <a:lnTo>
                  <a:pt x="0" y="133564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Овал 35"/>
          <p:cNvSpPr/>
          <p:nvPr/>
        </p:nvSpPr>
        <p:spPr>
          <a:xfrm flipH="1" flipV="1">
            <a:off x="7490376" y="4144985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 flipH="1">
                <a:off x="7401686" y="4119393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𝑁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401686" y="4119393"/>
                <a:ext cx="486282" cy="307777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Полилиния 37"/>
          <p:cNvSpPr/>
          <p:nvPr/>
        </p:nvSpPr>
        <p:spPr>
          <a:xfrm>
            <a:off x="7690738" y="3945588"/>
            <a:ext cx="71919" cy="71919"/>
          </a:xfrm>
          <a:custGeom>
            <a:avLst/>
            <a:gdLst>
              <a:gd name="connsiteX0" fmla="*/ 0 w 71919"/>
              <a:gd name="connsiteY0" fmla="*/ 0 h 71919"/>
              <a:gd name="connsiteX1" fmla="*/ 71919 w 71919"/>
              <a:gd name="connsiteY1" fmla="*/ 71919 h 71919"/>
              <a:gd name="connsiteX2" fmla="*/ 71919 w 71919"/>
              <a:gd name="connsiteY2" fmla="*/ 71919 h 71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919" h="71919">
                <a:moveTo>
                  <a:pt x="0" y="0"/>
                </a:moveTo>
                <a:lnTo>
                  <a:pt x="71919" y="71919"/>
                </a:lnTo>
                <a:lnTo>
                  <a:pt x="71919" y="71919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олилиния 38"/>
          <p:cNvSpPr/>
          <p:nvPr/>
        </p:nvSpPr>
        <p:spPr>
          <a:xfrm>
            <a:off x="7654777" y="3988671"/>
            <a:ext cx="71919" cy="71919"/>
          </a:xfrm>
          <a:custGeom>
            <a:avLst/>
            <a:gdLst>
              <a:gd name="connsiteX0" fmla="*/ 0 w 71919"/>
              <a:gd name="connsiteY0" fmla="*/ 0 h 71919"/>
              <a:gd name="connsiteX1" fmla="*/ 71919 w 71919"/>
              <a:gd name="connsiteY1" fmla="*/ 71919 h 71919"/>
              <a:gd name="connsiteX2" fmla="*/ 71919 w 71919"/>
              <a:gd name="connsiteY2" fmla="*/ 71919 h 71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919" h="71919">
                <a:moveTo>
                  <a:pt x="0" y="0"/>
                </a:moveTo>
                <a:lnTo>
                  <a:pt x="71919" y="71919"/>
                </a:lnTo>
                <a:lnTo>
                  <a:pt x="71919" y="71919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олилиния 39"/>
          <p:cNvSpPr/>
          <p:nvPr/>
        </p:nvSpPr>
        <p:spPr>
          <a:xfrm>
            <a:off x="7290221" y="4276838"/>
            <a:ext cx="71919" cy="71919"/>
          </a:xfrm>
          <a:custGeom>
            <a:avLst/>
            <a:gdLst>
              <a:gd name="connsiteX0" fmla="*/ 0 w 71919"/>
              <a:gd name="connsiteY0" fmla="*/ 0 h 71919"/>
              <a:gd name="connsiteX1" fmla="*/ 71919 w 71919"/>
              <a:gd name="connsiteY1" fmla="*/ 71919 h 71919"/>
              <a:gd name="connsiteX2" fmla="*/ 71919 w 71919"/>
              <a:gd name="connsiteY2" fmla="*/ 71919 h 71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919" h="71919">
                <a:moveTo>
                  <a:pt x="0" y="0"/>
                </a:moveTo>
                <a:lnTo>
                  <a:pt x="71919" y="71919"/>
                </a:lnTo>
                <a:lnTo>
                  <a:pt x="71919" y="71919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олилиния 41"/>
          <p:cNvSpPr/>
          <p:nvPr/>
        </p:nvSpPr>
        <p:spPr>
          <a:xfrm>
            <a:off x="7253205" y="4316476"/>
            <a:ext cx="71919" cy="71919"/>
          </a:xfrm>
          <a:custGeom>
            <a:avLst/>
            <a:gdLst>
              <a:gd name="connsiteX0" fmla="*/ 0 w 71919"/>
              <a:gd name="connsiteY0" fmla="*/ 0 h 71919"/>
              <a:gd name="connsiteX1" fmla="*/ 71919 w 71919"/>
              <a:gd name="connsiteY1" fmla="*/ 71919 h 71919"/>
              <a:gd name="connsiteX2" fmla="*/ 71919 w 71919"/>
              <a:gd name="connsiteY2" fmla="*/ 71919 h 71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919" h="71919">
                <a:moveTo>
                  <a:pt x="0" y="0"/>
                </a:moveTo>
                <a:lnTo>
                  <a:pt x="71919" y="71919"/>
                </a:lnTo>
                <a:lnTo>
                  <a:pt x="71919" y="71919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4" name="Прямая соединительная линия 43"/>
          <p:cNvCxnSpPr>
            <a:stCxn id="31" idx="3"/>
          </p:cNvCxnSpPr>
          <p:nvPr/>
        </p:nvCxnSpPr>
        <p:spPr>
          <a:xfrm flipV="1">
            <a:off x="6116009" y="4151049"/>
            <a:ext cx="1397226" cy="358177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/>
          <p:nvPr/>
        </p:nvCxnSpPr>
        <p:spPr>
          <a:xfrm flipV="1">
            <a:off x="7477773" y="3809667"/>
            <a:ext cx="1397226" cy="358177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/>
          <p:cNvCxnSpPr/>
          <p:nvPr/>
        </p:nvCxnSpPr>
        <p:spPr>
          <a:xfrm>
            <a:off x="7944512" y="3797150"/>
            <a:ext cx="938110" cy="5174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2" name="Овал 51"/>
          <p:cNvSpPr/>
          <p:nvPr/>
        </p:nvSpPr>
        <p:spPr>
          <a:xfrm flipH="1" flipV="1">
            <a:off x="8874021" y="3787154"/>
            <a:ext cx="45719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 flipH="1">
                <a:off x="8653217" y="3487733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𝑃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653217" y="3487733"/>
                <a:ext cx="486282" cy="307777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Прямая соединительная линия 55"/>
          <p:cNvCxnSpPr>
            <a:endCxn id="52" idx="1"/>
          </p:cNvCxnSpPr>
          <p:nvPr/>
        </p:nvCxnSpPr>
        <p:spPr>
          <a:xfrm>
            <a:off x="7935144" y="3327285"/>
            <a:ext cx="977901" cy="495345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>
            <a:off x="5894450" y="2243043"/>
            <a:ext cx="2040694" cy="1086870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Овал 62"/>
          <p:cNvSpPr/>
          <p:nvPr/>
        </p:nvSpPr>
        <p:spPr>
          <a:xfrm flipH="1" flipV="1">
            <a:off x="7923521" y="3304625"/>
            <a:ext cx="45719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 flipH="1">
                <a:off x="7831266" y="3060791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𝐹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831266" y="3060791"/>
                <a:ext cx="486282" cy="307777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Прямая соединительная линия 65"/>
          <p:cNvCxnSpPr/>
          <p:nvPr/>
        </p:nvCxnSpPr>
        <p:spPr>
          <a:xfrm flipV="1">
            <a:off x="4598076" y="4526470"/>
            <a:ext cx="1464960" cy="366427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 flipV="1">
            <a:off x="4445643" y="4518723"/>
            <a:ext cx="618286" cy="505168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5" name="Овал 74"/>
          <p:cNvSpPr/>
          <p:nvPr/>
        </p:nvSpPr>
        <p:spPr>
          <a:xfrm flipH="1" flipV="1">
            <a:off x="4598076" y="4874005"/>
            <a:ext cx="45719" cy="377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 flipH="1">
                <a:off x="4241957" y="4686300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𝑈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241957" y="4686300"/>
                <a:ext cx="486282" cy="307777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Прямая соединительная линия 78"/>
          <p:cNvCxnSpPr/>
          <p:nvPr/>
        </p:nvCxnSpPr>
        <p:spPr>
          <a:xfrm flipH="1">
            <a:off x="4541738" y="3981547"/>
            <a:ext cx="520478" cy="106308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2" name="Прямая соединительная линия 81"/>
          <p:cNvCxnSpPr/>
          <p:nvPr/>
        </p:nvCxnSpPr>
        <p:spPr>
          <a:xfrm flipH="1">
            <a:off x="5052896" y="2234355"/>
            <a:ext cx="861696" cy="1777112"/>
          </a:xfrm>
          <a:prstGeom prst="line">
            <a:avLst/>
          </a:prstGeom>
          <a:ln>
            <a:prstDash val="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5" name="Овал 84"/>
          <p:cNvSpPr/>
          <p:nvPr/>
        </p:nvSpPr>
        <p:spPr>
          <a:xfrm flipH="1" flipV="1">
            <a:off x="5032307" y="3982564"/>
            <a:ext cx="45719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 flipH="1">
                <a:off x="4680969" y="3807935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𝐸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680969" y="3807935"/>
                <a:ext cx="486282" cy="307777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Прямая соединительная линия 87"/>
          <p:cNvCxnSpPr/>
          <p:nvPr/>
        </p:nvCxnSpPr>
        <p:spPr>
          <a:xfrm flipV="1">
            <a:off x="7513235" y="3324105"/>
            <a:ext cx="431277" cy="834578"/>
          </a:xfrm>
          <a:prstGeom prst="line">
            <a:avLst/>
          </a:prstGeom>
          <a:ln>
            <a:prstDash val="soli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1" name="Прямая соединительная линия 90"/>
          <p:cNvCxnSpPr/>
          <p:nvPr/>
        </p:nvCxnSpPr>
        <p:spPr>
          <a:xfrm>
            <a:off x="5917309" y="2247145"/>
            <a:ext cx="2027203" cy="1083857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4" name="Прямая соединительная линия 93"/>
          <p:cNvCxnSpPr>
            <a:stCxn id="25" idx="6"/>
          </p:cNvCxnSpPr>
          <p:nvPr/>
        </p:nvCxnSpPr>
        <p:spPr>
          <a:xfrm flipH="1">
            <a:off x="5044833" y="2259730"/>
            <a:ext cx="849617" cy="17601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7" name="Прямая соединительная линия 96"/>
          <p:cNvCxnSpPr>
            <a:endCxn id="31" idx="5"/>
          </p:cNvCxnSpPr>
          <p:nvPr/>
        </p:nvCxnSpPr>
        <p:spPr>
          <a:xfrm>
            <a:off x="5045729" y="4008588"/>
            <a:ext cx="1037951" cy="500638"/>
          </a:xfrm>
          <a:prstGeom prst="line">
            <a:avLst/>
          </a:prstGeom>
          <a:ln>
            <a:prstDash val="soli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1" name="Полилиния 100"/>
          <p:cNvSpPr/>
          <p:nvPr/>
        </p:nvSpPr>
        <p:spPr>
          <a:xfrm>
            <a:off x="5045729" y="2259186"/>
            <a:ext cx="2887039" cy="2250040"/>
          </a:xfrm>
          <a:custGeom>
            <a:avLst/>
            <a:gdLst>
              <a:gd name="connsiteX0" fmla="*/ 0 w 2887039"/>
              <a:gd name="connsiteY0" fmla="*/ 1746607 h 2250040"/>
              <a:gd name="connsiteX1" fmla="*/ 873304 w 2887039"/>
              <a:gd name="connsiteY1" fmla="*/ 0 h 2250040"/>
              <a:gd name="connsiteX2" fmla="*/ 2887039 w 2887039"/>
              <a:gd name="connsiteY2" fmla="*/ 1068512 h 2250040"/>
              <a:gd name="connsiteX3" fmla="*/ 2465798 w 2887039"/>
              <a:gd name="connsiteY3" fmla="*/ 1900719 h 2250040"/>
              <a:gd name="connsiteX4" fmla="*/ 1058239 w 2887039"/>
              <a:gd name="connsiteY4" fmla="*/ 2250040 h 2250040"/>
              <a:gd name="connsiteX5" fmla="*/ 0 w 2887039"/>
              <a:gd name="connsiteY5" fmla="*/ 1746607 h 2250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87039" h="2250040">
                <a:moveTo>
                  <a:pt x="0" y="1746607"/>
                </a:moveTo>
                <a:lnTo>
                  <a:pt x="873304" y="0"/>
                </a:lnTo>
                <a:lnTo>
                  <a:pt x="2887039" y="1068512"/>
                </a:lnTo>
                <a:lnTo>
                  <a:pt x="2465798" y="1900719"/>
                </a:lnTo>
                <a:lnTo>
                  <a:pt x="1058239" y="2250040"/>
                </a:lnTo>
                <a:lnTo>
                  <a:pt x="0" y="1746607"/>
                </a:lnTo>
                <a:close/>
              </a:path>
            </a:pathLst>
          </a:custGeom>
          <a:solidFill>
            <a:srgbClr val="FF0000">
              <a:alpha val="1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/>
              <p:cNvSpPr txBox="1"/>
              <p:nvPr/>
            </p:nvSpPr>
            <p:spPr>
              <a:xfrm>
                <a:off x="3493520" y="1254681"/>
                <a:ext cx="1625824" cy="327077"/>
              </a:xfrm>
              <a:prstGeom prst="rect">
                <a:avLst/>
              </a:prstGeom>
              <a:solidFill>
                <a:srgbClr val="D4ECBA"/>
              </a:solidFill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2060"/>
                              </a:solidFill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ru-RU" sz="1400" b="0" i="1" smtClean="0">
                              <a:solidFill>
                                <a:srgbClr val="002060"/>
                              </a:solidFill>
                              <a:latin typeface="Cambria Math" charset="0"/>
                            </a:rPr>
                            <m:t>пр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002060"/>
                          </a:solidFill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2060"/>
                              </a:solidFill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ru-RU" sz="1400" i="1">
                              <a:solidFill>
                                <a:srgbClr val="002060"/>
                              </a:solidFill>
                              <a:latin typeface="Cambria Math" charset="0"/>
                            </a:rPr>
                            <m:t>мн</m:t>
                          </m:r>
                        </m:sub>
                      </m:sSub>
                      <m:r>
                        <a:rPr lang="ru-RU" sz="1400" i="1" smtClean="0">
                          <a:solidFill>
                            <a:srgbClr val="00206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400" b="0" i="1" smtClean="0">
                          <a:solidFill>
                            <a:srgbClr val="00206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𝑐𝑜𝑠</m:t>
                      </m:r>
                      <m:r>
                        <a:rPr lang="en-US" sz="1400" b="0" i="1" smtClean="0">
                          <a:solidFill>
                            <a:srgbClr val="00206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𝜑</m:t>
                      </m:r>
                    </m:oMath>
                  </m:oMathPara>
                </a14:m>
                <a:endParaRPr lang="ru-RU" sz="1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8" name="TextBox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3520" y="1254681"/>
                <a:ext cx="1625824" cy="327077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/>
              <p:cNvSpPr txBox="1"/>
              <p:nvPr/>
            </p:nvSpPr>
            <p:spPr>
              <a:xfrm flipH="1">
                <a:off x="6577485" y="3475038"/>
                <a:ext cx="486282" cy="333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b="0" i="1" smtClean="0">
                          <a:latin typeface="Cambria Math" charset="0"/>
                        </a:rPr>
                        <m:t>4</m:t>
                      </m:r>
                      <m:rad>
                        <m:radPr>
                          <m:degHide m:val="on"/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ru-RU" sz="1400" b="0" i="1" smtClean="0">
                              <a:latin typeface="Cambria Math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30" name="TextBox 1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577485" y="3475038"/>
                <a:ext cx="486282" cy="333168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/>
              <p:cNvSpPr txBox="1"/>
              <p:nvPr/>
            </p:nvSpPr>
            <p:spPr>
              <a:xfrm flipH="1">
                <a:off x="7849322" y="2426954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b="0" i="1" smtClean="0">
                          <a:latin typeface="Cambria Math" charset="0"/>
                        </a:rPr>
                        <m:t>12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31" name="TextBox 1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849322" y="2426954"/>
                <a:ext cx="486282" cy="307777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Полилиния 131"/>
          <p:cNvSpPr/>
          <p:nvPr/>
        </p:nvSpPr>
        <p:spPr>
          <a:xfrm>
            <a:off x="5054885" y="3801438"/>
            <a:ext cx="2876764" cy="729465"/>
          </a:xfrm>
          <a:custGeom>
            <a:avLst/>
            <a:gdLst>
              <a:gd name="connsiteX0" fmla="*/ 1047964 w 2876764"/>
              <a:gd name="connsiteY0" fmla="*/ 729465 h 729465"/>
              <a:gd name="connsiteX1" fmla="*/ 0 w 2876764"/>
              <a:gd name="connsiteY1" fmla="*/ 719191 h 729465"/>
              <a:gd name="connsiteX2" fmla="*/ 883578 w 2876764"/>
              <a:gd name="connsiteY2" fmla="*/ 0 h 729465"/>
              <a:gd name="connsiteX3" fmla="*/ 2876764 w 2876764"/>
              <a:gd name="connsiteY3" fmla="*/ 10274 h 729465"/>
              <a:gd name="connsiteX4" fmla="*/ 2455524 w 2876764"/>
              <a:gd name="connsiteY4" fmla="*/ 369870 h 729465"/>
              <a:gd name="connsiteX5" fmla="*/ 1047964 w 2876764"/>
              <a:gd name="connsiteY5" fmla="*/ 729465 h 729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76764" h="729465">
                <a:moveTo>
                  <a:pt x="1047964" y="729465"/>
                </a:moveTo>
                <a:lnTo>
                  <a:pt x="0" y="719191"/>
                </a:lnTo>
                <a:lnTo>
                  <a:pt x="883578" y="0"/>
                </a:lnTo>
                <a:lnTo>
                  <a:pt x="2876764" y="10274"/>
                </a:lnTo>
                <a:lnTo>
                  <a:pt x="2455524" y="369870"/>
                </a:lnTo>
                <a:lnTo>
                  <a:pt x="1047964" y="729465"/>
                </a:lnTo>
                <a:close/>
              </a:path>
            </a:pathLst>
          </a:custGeom>
          <a:solidFill>
            <a:schemeClr val="accent1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/>
              <p:cNvSpPr txBox="1"/>
              <p:nvPr/>
            </p:nvSpPr>
            <p:spPr>
              <a:xfrm>
                <a:off x="46182" y="1234376"/>
                <a:ext cx="23047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 smtClean="0"/>
                  <a:t>б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)</a:t>
                </a:r>
                <a:r>
                  <a:rPr lang="en-US" sz="1200" dirty="0" smtClean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S</m:t>
                        </m:r>
                      </m:e>
                      <m:sub>
                        <m:r>
                          <a:rPr lang="en-US" sz="1200" b="0" i="1" smtClean="0">
                            <a:latin typeface="Cambria Math" charset="0"/>
                          </a:rPr>
                          <m:t>𝐴𝐵𝐶𝑁𝑀</m:t>
                        </m:r>
                      </m:sub>
                    </m:sSub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sSub>
                      <m:sSubPr>
                        <m:ctrlPr>
                          <a:rPr lang="en-US" sz="1200" b="0" i="1" dirty="0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sz="1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𝐸𝐾</m:t>
                        </m:r>
                        <m:r>
                          <a:rPr lang="en-US" sz="1200" i="1">
                            <a:latin typeface="Cambria Math" charset="0"/>
                          </a:rPr>
                          <m:t>𝐹𝑁𝑀</m:t>
                        </m:r>
                      </m:sub>
                    </m:sSub>
                    <m:r>
                      <a:rPr lang="en-US" sz="1200" dirty="0">
                        <a:latin typeface="Cambria Math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sz="1200" b="0" i="0" dirty="0" smtClean="0">
                        <a:latin typeface="Cambria Math" charset="0"/>
                      </a:rPr>
                      <m:t>cos</m:t>
                    </m:r>
                    <m:r>
                      <m:rPr>
                        <m:sty m:val="p"/>
                      </m:rPr>
                      <a:rPr lang="el-GR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φ</m:t>
                    </m:r>
                  </m:oMath>
                </a14:m>
                <a:endParaRPr lang="ru-RU" sz="1200" dirty="0"/>
              </a:p>
            </p:txBody>
          </p:sp>
        </mc:Choice>
        <mc:Fallback xmlns="">
          <p:sp>
            <p:nvSpPr>
              <p:cNvPr id="133" name="TextBox 1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82" y="1234376"/>
                <a:ext cx="2304760" cy="276999"/>
              </a:xfrm>
              <a:prstGeom prst="rect">
                <a:avLst/>
              </a:prstGeom>
              <a:blipFill rotWithShape="0">
                <a:blip r:embed="rId23"/>
                <a:stretch>
                  <a:fillRect l="-265"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5" name="Прямая соединительная линия 134"/>
          <p:cNvCxnSpPr>
            <a:stCxn id="132" idx="2"/>
          </p:cNvCxnSpPr>
          <p:nvPr/>
        </p:nvCxnSpPr>
        <p:spPr>
          <a:xfrm>
            <a:off x="5938463" y="3801438"/>
            <a:ext cx="1137217" cy="726783"/>
          </a:xfrm>
          <a:prstGeom prst="line">
            <a:avLst/>
          </a:prstGeom>
          <a:ln>
            <a:solidFill>
              <a:srgbClr val="00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Прямая соединительная линия 137"/>
          <p:cNvCxnSpPr/>
          <p:nvPr/>
        </p:nvCxnSpPr>
        <p:spPr>
          <a:xfrm>
            <a:off x="5910529" y="1437167"/>
            <a:ext cx="1154704" cy="705120"/>
          </a:xfrm>
          <a:prstGeom prst="line">
            <a:avLst/>
          </a:prstGeom>
          <a:ln>
            <a:solidFill>
              <a:srgbClr val="0066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Полилиния 142"/>
          <p:cNvSpPr/>
          <p:nvPr/>
        </p:nvSpPr>
        <p:spPr>
          <a:xfrm>
            <a:off x="5917915" y="1448656"/>
            <a:ext cx="1171254" cy="3082247"/>
          </a:xfrm>
          <a:custGeom>
            <a:avLst/>
            <a:gdLst>
              <a:gd name="connsiteX0" fmla="*/ 0 w 1171254"/>
              <a:gd name="connsiteY0" fmla="*/ 2363056 h 3082247"/>
              <a:gd name="connsiteX1" fmla="*/ 10274 w 1171254"/>
              <a:gd name="connsiteY1" fmla="*/ 0 h 3082247"/>
              <a:gd name="connsiteX2" fmla="*/ 1171254 w 1171254"/>
              <a:gd name="connsiteY2" fmla="*/ 708917 h 3082247"/>
              <a:gd name="connsiteX3" fmla="*/ 1160979 w 1171254"/>
              <a:gd name="connsiteY3" fmla="*/ 3082247 h 3082247"/>
              <a:gd name="connsiteX4" fmla="*/ 0 w 1171254"/>
              <a:gd name="connsiteY4" fmla="*/ 2363056 h 3082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1254" h="3082247">
                <a:moveTo>
                  <a:pt x="0" y="2363056"/>
                </a:moveTo>
                <a:cubicBezTo>
                  <a:pt x="3425" y="1575371"/>
                  <a:pt x="6849" y="787685"/>
                  <a:pt x="10274" y="0"/>
                </a:cubicBezTo>
                <a:lnTo>
                  <a:pt x="1171254" y="708917"/>
                </a:lnTo>
                <a:lnTo>
                  <a:pt x="1160979" y="3082247"/>
                </a:lnTo>
                <a:lnTo>
                  <a:pt x="0" y="2363056"/>
                </a:lnTo>
                <a:close/>
              </a:path>
            </a:pathLst>
          </a:custGeom>
          <a:solidFill>
            <a:srgbClr val="006600">
              <a:alpha val="1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/>
              <p:cNvSpPr txBox="1"/>
              <p:nvPr/>
            </p:nvSpPr>
            <p:spPr>
              <a:xfrm>
                <a:off x="99771" y="1730595"/>
                <a:ext cx="287127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charset="0"/>
                      </a:rPr>
                      <m:t>𝑀𝑁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⊥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𝐵𝐷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;</m:t>
                    </m:r>
                    <m:r>
                      <a:rPr lang="en-US" sz="1200" b="0" i="1" dirty="0" smtClean="0">
                        <a:latin typeface="Cambria Math" charset="0"/>
                      </a:rPr>
                      <m:t>𝑀𝑁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⊥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𝐷</m:t>
                    </m:r>
                    <m:sSub>
                      <m:sSubPr>
                        <m:ctrlPr>
                          <a:rPr lang="en-US" sz="1200" b="0" i="1" dirty="0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𝐷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charset="0"/>
                      </a:rPr>
                      <m:t>⟹</m:t>
                    </m:r>
                    <m:r>
                      <a:rPr lang="en-US" sz="1200" b="0" i="1" dirty="0" smtClean="0">
                        <a:latin typeface="Cambria Math" charset="0"/>
                      </a:rPr>
                      <m:t>𝑀𝑁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⊥</m:t>
                    </m:r>
                    <m:r>
                      <a:rPr lang="ru-RU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𝐵</m:t>
                    </m:r>
                    <m:sSub>
                      <m:sSubPr>
                        <m:ctrlPr>
                          <a:rPr lang="en-US" sz="12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charset="0"/>
                          </a:rPr>
                          <m:t>𝐷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ru-RU" sz="1200" b="0" i="0" dirty="0" smtClean="0">
                        <a:latin typeface="Cambria Math" charset="0"/>
                      </a:rPr>
                      <m:t>)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4" name="TextBox 1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71" y="1730595"/>
                <a:ext cx="2871276" cy="276999"/>
              </a:xfrm>
              <a:prstGeom prst="rect">
                <a:avLst/>
              </a:prstGeom>
              <a:blipFill rotWithShape="0">
                <a:blip r:embed="rId24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/>
              <p:cNvSpPr txBox="1"/>
              <p:nvPr/>
            </p:nvSpPr>
            <p:spPr>
              <a:xfrm>
                <a:off x="-491234" y="1502272"/>
                <a:ext cx="287127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𝑀𝑁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=(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𝐴𝐵𝐶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)∩(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𝑀𝑁𝐾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)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6" name="TextBox 1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91234" y="1502272"/>
                <a:ext cx="2871276" cy="276999"/>
              </a:xfrm>
              <a:prstGeom prst="rect">
                <a:avLst/>
              </a:prstGeom>
              <a:blipFill rotWithShape="0">
                <a:blip r:embed="rId25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7" name="Прямая соединительная линия 146"/>
          <p:cNvCxnSpPr>
            <a:stCxn id="101" idx="1"/>
          </p:cNvCxnSpPr>
          <p:nvPr/>
        </p:nvCxnSpPr>
        <p:spPr>
          <a:xfrm>
            <a:off x="5919033" y="2259186"/>
            <a:ext cx="885215" cy="2089571"/>
          </a:xfrm>
          <a:prstGeom prst="line">
            <a:avLst/>
          </a:prstGeom>
          <a:ln>
            <a:solidFill>
              <a:srgbClr val="00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Овал 155"/>
          <p:cNvSpPr/>
          <p:nvPr/>
        </p:nvSpPr>
        <p:spPr>
          <a:xfrm flipH="1" flipV="1">
            <a:off x="6770108" y="4329959"/>
            <a:ext cx="37785" cy="4156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/>
              <p:cNvSpPr txBox="1"/>
              <p:nvPr/>
            </p:nvSpPr>
            <p:spPr>
              <a:xfrm flipH="1">
                <a:off x="6622567" y="4040980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𝑇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58" name="TextBox 1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622567" y="4040980"/>
                <a:ext cx="486282" cy="307777"/>
              </a:xfrm>
              <a:prstGeom prst="rect">
                <a:avLst/>
              </a:prstGeom>
              <a:blipFill rotWithShape="0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/>
              <p:cNvSpPr txBox="1"/>
              <p:nvPr/>
            </p:nvSpPr>
            <p:spPr>
              <a:xfrm>
                <a:off x="-56213" y="2019519"/>
                <a:ext cx="21319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𝐾𝑇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d>
                        <m:dPr>
                          <m:ctrlPr>
                            <a:rPr lang="ru-RU" sz="1200" i="1" dirty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charset="0"/>
                            </a:rPr>
                            <m:t>𝐵</m:t>
                          </m:r>
                          <m:sSub>
                            <m:sSubPr>
                              <m:ctrlPr>
                                <a:rPr lang="en-US" sz="12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i="1" dirty="0">
                                  <a:latin typeface="Cambria Math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200" i="1" dirty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i="1" dirty="0">
                                  <a:latin typeface="Cambria Math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200" i="1" dirty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∩</m:t>
                      </m:r>
                      <m:d>
                        <m:dPr>
                          <m:ctrlPr>
                            <a:rPr lang="en-US" sz="1200" i="1" dirty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𝑀𝑁𝐾</m:t>
                          </m:r>
                        </m:e>
                      </m:d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59" name="TextBox 1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6213" y="2019519"/>
                <a:ext cx="2131973" cy="276999"/>
              </a:xfrm>
              <a:prstGeom prst="rect">
                <a:avLst/>
              </a:prstGeom>
              <a:blipFill rotWithShape="0"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/>
              <p:cNvSpPr txBox="1"/>
              <p:nvPr/>
            </p:nvSpPr>
            <p:spPr>
              <a:xfrm>
                <a:off x="1636811" y="2019519"/>
                <a:ext cx="21319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𝐵𝑇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d>
                        <m:dPr>
                          <m:ctrlPr>
                            <a:rPr lang="ru-RU" sz="1200" i="1" dirty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charset="0"/>
                            </a:rPr>
                            <m:t>𝐵</m:t>
                          </m:r>
                          <m:sSub>
                            <m:sSubPr>
                              <m:ctrlPr>
                                <a:rPr lang="en-US" sz="12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i="1" dirty="0">
                                  <a:latin typeface="Cambria Math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200" i="1" dirty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i="1" dirty="0">
                                  <a:latin typeface="Cambria Math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200" i="1" dirty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∩</m:t>
                      </m:r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(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𝐴𝐵𝐶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)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60" name="TextBox 1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6811" y="2019519"/>
                <a:ext cx="2131973" cy="276999"/>
              </a:xfrm>
              <a:prstGeom prst="rect">
                <a:avLst/>
              </a:prstGeom>
              <a:blipFill rotWithShape="0">
                <a:blip r:embed="rId28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Сектор 161"/>
          <p:cNvSpPr/>
          <p:nvPr/>
        </p:nvSpPr>
        <p:spPr>
          <a:xfrm>
            <a:off x="6347050" y="3903598"/>
            <a:ext cx="914400" cy="914400"/>
          </a:xfrm>
          <a:prstGeom prst="pie">
            <a:avLst>
              <a:gd name="adj1" fmla="val 12872899"/>
              <a:gd name="adj2" fmla="val 14836769"/>
            </a:avLst>
          </a:prstGeom>
          <a:solidFill>
            <a:srgbClr val="006600">
              <a:alpha val="30000"/>
            </a:srgbClr>
          </a:solidFill>
          <a:ln w="6350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TextBox 162"/>
              <p:cNvSpPr txBox="1"/>
              <p:nvPr/>
            </p:nvSpPr>
            <p:spPr>
              <a:xfrm flipH="1">
                <a:off x="6347612" y="3945588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𝜑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63" name="TextBox 1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347612" y="3945588"/>
                <a:ext cx="486282" cy="307777"/>
              </a:xfrm>
              <a:prstGeom prst="rect">
                <a:avLst/>
              </a:prstGeom>
              <a:blipFill rotWithShape="0"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/>
              <p:cNvSpPr txBox="1"/>
              <p:nvPr/>
            </p:nvSpPr>
            <p:spPr>
              <a:xfrm>
                <a:off x="-49020" y="2296518"/>
                <a:ext cx="117357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∠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𝐵𝑇𝐾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𝜑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64" name="TextBox 1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9020" y="2296518"/>
                <a:ext cx="1173570" cy="276999"/>
              </a:xfrm>
              <a:prstGeom prst="rect">
                <a:avLst/>
              </a:prstGeom>
              <a:blipFill rotWithShape="0"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/>
              <p:cNvSpPr txBox="1"/>
              <p:nvPr/>
            </p:nvSpPr>
            <p:spPr>
              <a:xfrm>
                <a:off x="-40199" y="2562099"/>
                <a:ext cx="1677010" cy="43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b="0" i="0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∠</m:t>
                              </m:r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𝐵𝑇𝐾</m:t>
                              </m:r>
                            </m:e>
                          </m:d>
                        </m:e>
                      </m:func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𝐵𝑇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𝐾𝑇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65" name="TextBox 1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199" y="2562099"/>
                <a:ext cx="1677010" cy="436851"/>
              </a:xfrm>
              <a:prstGeom prst="rect">
                <a:avLst/>
              </a:prstGeom>
              <a:blipFill rotWithShape="0">
                <a:blip r:embed="rId31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TextBox 165"/>
              <p:cNvSpPr txBox="1"/>
              <p:nvPr/>
            </p:nvSpPr>
            <p:spPr>
              <a:xfrm>
                <a:off x="1343175" y="2574056"/>
                <a:ext cx="1193406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𝐵𝑇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4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𝐵𝐷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66" name="TextBox 1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175" y="2574056"/>
                <a:ext cx="1193406" cy="438005"/>
              </a:xfrm>
              <a:prstGeom prst="rect">
                <a:avLst/>
              </a:prstGeom>
              <a:blipFill rotWithShape="0">
                <a:blip r:embed="rId3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/>
              <p:cNvSpPr txBox="1"/>
              <p:nvPr/>
            </p:nvSpPr>
            <p:spPr>
              <a:xfrm>
                <a:off x="1835392" y="2570070"/>
                <a:ext cx="1986337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4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(4</m:t>
                      </m:r>
                      <m:rad>
                        <m:radPr>
                          <m:degHide m:val="on"/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e>
                      </m:rad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ad>
                        <m:radPr>
                          <m:degHide m:val="on"/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e>
                      </m:rad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)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67" name="TextBox 1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392" y="2570070"/>
                <a:ext cx="1986337" cy="438005"/>
              </a:xfrm>
              <a:prstGeom prst="rect">
                <a:avLst/>
              </a:prstGeom>
              <a:blipFill rotWithShape="0">
                <a:blip r:embed="rId33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Box 167"/>
              <p:cNvSpPr txBox="1"/>
              <p:nvPr/>
            </p:nvSpPr>
            <p:spPr>
              <a:xfrm>
                <a:off x="3141259" y="2656964"/>
                <a:ext cx="70452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=6;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68" name="TextBox 1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1259" y="2656964"/>
                <a:ext cx="704521" cy="276999"/>
              </a:xfrm>
              <a:prstGeom prst="rect">
                <a:avLst/>
              </a:prstGeom>
              <a:blipFill rotWithShape="0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168"/>
              <p:cNvSpPr txBox="1"/>
              <p:nvPr/>
            </p:nvSpPr>
            <p:spPr>
              <a:xfrm>
                <a:off x="-32938" y="2916335"/>
                <a:ext cx="1151950" cy="439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𝐵𝐾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69" name="TextBox 1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938" y="2916335"/>
                <a:ext cx="1151950" cy="439223"/>
              </a:xfrm>
              <a:prstGeom prst="rect">
                <a:avLst/>
              </a:prstGeom>
              <a:blipFill rotWithShape="0">
                <a:blip r:embed="rId3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TextBox 169"/>
              <p:cNvSpPr txBox="1"/>
              <p:nvPr/>
            </p:nvSpPr>
            <p:spPr>
              <a:xfrm>
                <a:off x="819903" y="2916334"/>
                <a:ext cx="770499" cy="439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∙12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70" name="TextBox 1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903" y="2916334"/>
                <a:ext cx="770499" cy="439223"/>
              </a:xfrm>
              <a:prstGeom prst="rect">
                <a:avLst/>
              </a:prstGeom>
              <a:blipFill rotWithShape="0">
                <a:blip r:embed="rId36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TextBox 170"/>
              <p:cNvSpPr txBox="1"/>
              <p:nvPr/>
            </p:nvSpPr>
            <p:spPr>
              <a:xfrm>
                <a:off x="1258754" y="3016047"/>
                <a:ext cx="77049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=8;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71" name="TextBox 1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754" y="3016047"/>
                <a:ext cx="770499" cy="276999"/>
              </a:xfrm>
              <a:prstGeom prst="rect">
                <a:avLst/>
              </a:prstGeom>
              <a:blipFill rotWithShape="0"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/>
              <p:cNvSpPr txBox="1"/>
              <p:nvPr/>
            </p:nvSpPr>
            <p:spPr>
              <a:xfrm>
                <a:off x="0" y="3337739"/>
                <a:ext cx="1674028" cy="3211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𝐾𝑇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mr-IN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mr-IN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𝐵𝑇</m:t>
                              </m:r>
                            </m:e>
                            <m:sup>
                              <m:r>
                                <a:rPr lang="mr-IN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mr-IN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mr-IN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𝐵𝐾</m:t>
                              </m:r>
                            </m:e>
                            <m:sup>
                              <m:r>
                                <a:rPr lang="mr-IN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72" name="TextBox 1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337739"/>
                <a:ext cx="1674028" cy="321114"/>
              </a:xfrm>
              <a:prstGeom prst="rect">
                <a:avLst/>
              </a:prstGeom>
              <a:blipFill rotWithShape="0"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TextBox 172"/>
              <p:cNvSpPr txBox="1"/>
              <p:nvPr/>
            </p:nvSpPr>
            <p:spPr>
              <a:xfrm>
                <a:off x="1416457" y="3335174"/>
                <a:ext cx="1012440" cy="3211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mr-IN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mr-IN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6</m:t>
                              </m:r>
                            </m:e>
                            <m:sup>
                              <m:r>
                                <a:rPr lang="mr-IN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mr-IN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mr-IN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8</m:t>
                              </m:r>
                            </m:e>
                            <m:sup>
                              <m:r>
                                <a:rPr lang="mr-IN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73" name="TextBox 1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457" y="3335174"/>
                <a:ext cx="1012440" cy="321114"/>
              </a:xfrm>
              <a:prstGeom prst="rect">
                <a:avLst/>
              </a:prstGeom>
              <a:blipFill rotWithShape="0"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/>
              <p:cNvSpPr txBox="1"/>
              <p:nvPr/>
            </p:nvSpPr>
            <p:spPr>
              <a:xfrm>
                <a:off x="2199567" y="3375288"/>
                <a:ext cx="68881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=10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74" name="TextBox 1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9567" y="3375288"/>
                <a:ext cx="688812" cy="276999"/>
              </a:xfrm>
              <a:prstGeom prst="rect">
                <a:avLst/>
              </a:prstGeom>
              <a:blipFill rotWithShape="0"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Box 174"/>
              <p:cNvSpPr txBox="1"/>
              <p:nvPr/>
            </p:nvSpPr>
            <p:spPr>
              <a:xfrm>
                <a:off x="-50920" y="3658853"/>
                <a:ext cx="167701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b="0" i="0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∠</m:t>
                              </m:r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𝐵𝑇𝐾</m:t>
                              </m:r>
                            </m:e>
                          </m:d>
                        </m:e>
                      </m:func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=0,6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75" name="TextBox 1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0920" y="3658853"/>
                <a:ext cx="1677010" cy="276999"/>
              </a:xfrm>
              <a:prstGeom prst="rect">
                <a:avLst/>
              </a:prstGeom>
              <a:blipFill rotWithShape="0"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TextBox 175"/>
              <p:cNvSpPr txBox="1"/>
              <p:nvPr/>
            </p:nvSpPr>
            <p:spPr>
              <a:xfrm>
                <a:off x="35496" y="3996387"/>
                <a:ext cx="19047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S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</a:rPr>
                            <m:t>𝐴𝐵𝐶𝑁𝑀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𝐴𝐵𝐶𝐷</m:t>
                          </m:r>
                        </m:sub>
                      </m:sSub>
                      <m:r>
                        <a:rPr lang="en-US" sz="1200" i="1" dirty="0" smtClean="0">
                          <a:latin typeface="Cambria Math" charset="0"/>
                        </a:rPr>
                        <m:t>−</m:t>
                      </m:r>
                      <m:sSub>
                        <m:sSubPr>
                          <m:ctrlPr>
                            <a:rPr lang="en-US" sz="1200" i="1" dirty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𝑀𝑁𝐷</m:t>
                          </m:r>
                        </m:sub>
                      </m:sSub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76" name="TextBox 1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6" y="3996387"/>
                <a:ext cx="1904760" cy="276999"/>
              </a:xfrm>
              <a:prstGeom prst="rect">
                <a:avLst/>
              </a:prstGeom>
              <a:blipFill rotWithShape="0"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TextBox 176"/>
              <p:cNvSpPr txBox="1"/>
              <p:nvPr/>
            </p:nvSpPr>
            <p:spPr>
              <a:xfrm>
                <a:off x="1810585" y="3923180"/>
                <a:ext cx="634135" cy="4380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7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8</m:t>
                          </m:r>
                        </m:den>
                      </m:f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𝐴𝐵𝐶𝐷</m:t>
                          </m:r>
                        </m:sub>
                      </m:sSub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77" name="TextBox 1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0585" y="3923180"/>
                <a:ext cx="634135" cy="438069"/>
              </a:xfrm>
              <a:prstGeom prst="rect">
                <a:avLst/>
              </a:prstGeom>
              <a:blipFill rotWithShape="0">
                <a:blip r:embed="rId43"/>
                <a:stretch>
                  <a:fillRect r="-20192" b="-14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TextBox 177"/>
              <p:cNvSpPr txBox="1"/>
              <p:nvPr/>
            </p:nvSpPr>
            <p:spPr>
              <a:xfrm>
                <a:off x="2512540" y="3920299"/>
                <a:ext cx="634135" cy="4380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7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8</m:t>
                          </m:r>
                        </m:den>
                      </m:f>
                      <m:sSup>
                        <m:sSup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4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200" b="0" i="1" dirty="0" smtClean="0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200" b="0" i="1" dirty="0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</m:d>
                        </m:e>
                        <m:sup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78" name="TextBox 1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2540" y="3920299"/>
                <a:ext cx="634135" cy="438069"/>
              </a:xfrm>
              <a:prstGeom prst="rect">
                <a:avLst/>
              </a:prstGeom>
              <a:blipFill rotWithShape="0">
                <a:blip r:embed="rId44"/>
                <a:stretch>
                  <a:fillRect r="-35577"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TextBox 178"/>
              <p:cNvSpPr txBox="1"/>
              <p:nvPr/>
            </p:nvSpPr>
            <p:spPr>
              <a:xfrm>
                <a:off x="3168759" y="4012549"/>
                <a:ext cx="63413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=28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79" name="TextBox 1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759" y="4012549"/>
                <a:ext cx="634135" cy="276999"/>
              </a:xfrm>
              <a:prstGeom prst="rect">
                <a:avLst/>
              </a:prstGeom>
              <a:blipFill rotWithShape="0"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Box 179"/>
              <p:cNvSpPr txBox="1"/>
              <p:nvPr/>
            </p:nvSpPr>
            <p:spPr>
              <a:xfrm>
                <a:off x="-189970" y="4406513"/>
                <a:ext cx="23047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𝐸𝐾</m:t>
                          </m:r>
                          <m:r>
                            <a:rPr lang="en-US" sz="1200" i="1">
                              <a:latin typeface="Cambria Math" charset="0"/>
                            </a:rPr>
                            <m:t>𝐹𝑁𝑀</m:t>
                          </m:r>
                        </m:sub>
                      </m:sSub>
                      <m:sSub>
                        <m:sSubPr>
                          <m:ctrlPr>
                            <a:rPr lang="en-US" sz="1200" i="1" dirty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0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1200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S</m:t>
                          </m:r>
                        </m:e>
                        <m:sub>
                          <m:r>
                            <a:rPr lang="en-US" sz="1200" i="1">
                              <a:latin typeface="Cambria Math" charset="0"/>
                            </a:rPr>
                            <m:t>𝐴𝐵𝐶𝑁𝑀</m:t>
                          </m:r>
                        </m:sub>
                      </m:sSub>
                      <m:r>
                        <a:rPr lang="en-US" sz="1200" b="0" i="0" smtClean="0">
                          <a:latin typeface="Cambria Math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 sz="1200" b="0" i="0" dirty="0" smtClean="0">
                          <a:latin typeface="Cambria Math" charset="0"/>
                        </a:rPr>
                        <m:t>cos</m:t>
                      </m:r>
                      <m:r>
                        <m:rPr>
                          <m:sty m:val="p"/>
                        </m:rPr>
                        <a:rPr lang="el-GR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φ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80" name="TextBox 1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9970" y="4406513"/>
                <a:ext cx="2304760" cy="276999"/>
              </a:xfrm>
              <a:prstGeom prst="rect">
                <a:avLst/>
              </a:prstGeom>
              <a:blipFill rotWithShape="0"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TextBox 180"/>
              <p:cNvSpPr txBox="1"/>
              <p:nvPr/>
            </p:nvSpPr>
            <p:spPr>
              <a:xfrm>
                <a:off x="1673116" y="4406513"/>
                <a:ext cx="8420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28</m:t>
                      </m:r>
                      <m:r>
                        <a:rPr lang="en-US" sz="1200" b="0" i="0" smtClean="0">
                          <a:latin typeface="Cambria Math" charset="0"/>
                        </a:rPr>
                        <m:t>:0,6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81" name="TextBox 1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3116" y="4406513"/>
                <a:ext cx="842019" cy="276999"/>
              </a:xfrm>
              <a:prstGeom prst="rect">
                <a:avLst/>
              </a:prstGeom>
              <a:blipFill rotWithShape="0"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TextBox 181"/>
              <p:cNvSpPr txBox="1"/>
              <p:nvPr/>
            </p:nvSpPr>
            <p:spPr>
              <a:xfrm>
                <a:off x="2228505" y="4315009"/>
                <a:ext cx="842019" cy="439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140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82" name="TextBox 1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8505" y="4315009"/>
                <a:ext cx="842019" cy="439223"/>
              </a:xfrm>
              <a:prstGeom prst="rect">
                <a:avLst/>
              </a:prstGeom>
              <a:blipFill rotWithShape="0"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TextBox 182"/>
              <p:cNvSpPr txBox="1"/>
              <p:nvPr/>
            </p:nvSpPr>
            <p:spPr>
              <a:xfrm>
                <a:off x="3001693" y="4463461"/>
                <a:ext cx="1168461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b="1" dirty="0" smtClean="0">
                    <a:solidFill>
                      <a:srgbClr val="FF0000"/>
                    </a:solidFill>
                  </a:rPr>
                  <a:t>Ответ: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𝟏𝟒𝟎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𝟑</m:t>
                        </m:r>
                      </m:den>
                    </m:f>
                  </m:oMath>
                </a14:m>
                <a:endParaRPr lang="ru-RU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3" name="TextBox 1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1693" y="4463461"/>
                <a:ext cx="1168461" cy="492443"/>
              </a:xfrm>
              <a:prstGeom prst="rect">
                <a:avLst/>
              </a:prstGeom>
              <a:blipFill rotWithShape="0">
                <a:blip r:embed="rId49"/>
                <a:stretch>
                  <a:fillRect l="-4167" b="-740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" name="Полилиния 183"/>
          <p:cNvSpPr/>
          <p:nvPr/>
        </p:nvSpPr>
        <p:spPr>
          <a:xfrm>
            <a:off x="5928189" y="3554859"/>
            <a:ext cx="195209" cy="359595"/>
          </a:xfrm>
          <a:custGeom>
            <a:avLst/>
            <a:gdLst>
              <a:gd name="connsiteX0" fmla="*/ 0 w 195209"/>
              <a:gd name="connsiteY0" fmla="*/ 0 h 359595"/>
              <a:gd name="connsiteX1" fmla="*/ 184935 w 195209"/>
              <a:gd name="connsiteY1" fmla="*/ 133564 h 359595"/>
              <a:gd name="connsiteX2" fmla="*/ 195209 w 195209"/>
              <a:gd name="connsiteY2" fmla="*/ 359595 h 359595"/>
              <a:gd name="connsiteX3" fmla="*/ 0 w 195209"/>
              <a:gd name="connsiteY3" fmla="*/ 246580 h 359595"/>
              <a:gd name="connsiteX4" fmla="*/ 0 w 195209"/>
              <a:gd name="connsiteY4" fmla="*/ 0 h 359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209" h="359595">
                <a:moveTo>
                  <a:pt x="0" y="0"/>
                </a:moveTo>
                <a:lnTo>
                  <a:pt x="184935" y="133564"/>
                </a:lnTo>
                <a:lnTo>
                  <a:pt x="195209" y="359595"/>
                </a:lnTo>
                <a:lnTo>
                  <a:pt x="0" y="24658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50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1229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 animBg="1"/>
      <p:bldP spid="130" grpId="0"/>
      <p:bldP spid="131" grpId="0"/>
      <p:bldP spid="132" grpId="0" animBg="1"/>
      <p:bldP spid="133" grpId="0"/>
      <p:bldP spid="143" grpId="0" animBg="1"/>
      <p:bldP spid="144" grpId="0"/>
      <p:bldP spid="146" grpId="0"/>
      <p:bldP spid="146" grpId="1"/>
      <p:bldP spid="156" grpId="0" animBg="1"/>
      <p:bldP spid="158" grpId="0"/>
      <p:bldP spid="159" grpId="0"/>
      <p:bldP spid="160" grpId="0"/>
      <p:bldP spid="162" grpId="0" animBg="1"/>
      <p:bldP spid="163" grpId="0"/>
      <p:bldP spid="164" grpId="0"/>
      <p:bldP spid="165" grpId="0"/>
      <p:bldP spid="166" grpId="0"/>
      <p:bldP spid="167" grpId="0"/>
      <p:bldP spid="168" grpId="0"/>
      <p:bldP spid="169" grpId="0"/>
      <p:bldP spid="170" grpId="0"/>
      <p:bldP spid="171" grpId="0"/>
      <p:bldP spid="172" grpId="0"/>
      <p:bldP spid="173" grpId="0"/>
      <p:bldP spid="174" grpId="0"/>
      <p:bldP spid="175" grpId="0"/>
      <p:bldP spid="176" grpId="0"/>
      <p:bldP spid="177" grpId="0"/>
      <p:bldP spid="178" grpId="0"/>
      <p:bldP spid="179" grpId="0"/>
      <p:bldP spid="180" grpId="0"/>
      <p:bldP spid="181" grpId="0"/>
      <p:bldP spid="182" grpId="0"/>
      <p:bldP spid="183" grpId="0"/>
      <p:bldP spid="18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34</a:t>
            </a:fld>
            <a:endParaRPr kumimoji="0" lang="ru-RU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0" y="-22136"/>
                <a:ext cx="9144000" cy="93770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dirty="0" smtClean="0">
                    <a:solidFill>
                      <a:srgbClr val="7030A0"/>
                    </a:solidFill>
                  </a:rPr>
                  <a:t>20.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В правильной шестиугольной пирамиде с вершиной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</m:t>
                    </m:r>
                  </m:oMath>
                </a14:m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стороны основания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𝑨𝑩𝑪𝑫𝑬𝑭</m:t>
                    </m:r>
                  </m:oMath>
                </a14:m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равны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𝟔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, а боковые ребра равны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𝟏𝟐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. Точки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𝑲</m:t>
                    </m:r>
                  </m:oMath>
                </a14:m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 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𝑴</m:t>
                    </m:r>
                  </m:oMath>
                </a14:m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mr-IN" sz="1200" b="1" i="0" dirty="0" smtClean="0">
                    <a:solidFill>
                      <a:srgbClr val="002060"/>
                    </a:solidFill>
                    <a:latin typeface="+mj-lt"/>
                  </a:rPr>
                  <a:t>–</a:t>
                </a:r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середины ребер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𝑺𝑭</m:t>
                    </m:r>
                  </m:oMath>
                </a14:m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𝑺𝑬</m:t>
                    </m:r>
                  </m:oMath>
                </a14:m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соответственно. </a:t>
                </a:r>
                <a:endParaRPr lang="en-US" sz="1200" b="1" i="0" dirty="0" smtClean="0">
                  <a:solidFill>
                    <a:srgbClr val="002060"/>
                  </a:solidFill>
                  <a:latin typeface="+mj-lt"/>
                </a:endParaRPr>
              </a:p>
              <a:p>
                <a:pPr algn="ctr"/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а) Постройте сечение пирамиды плоскостью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𝑩𝑲𝑴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 </m:t>
                    </m:r>
                  </m:oMath>
                </a14:m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б) Найдите площадь </a:t>
                </a:r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полученного сечения</a:t>
                </a:r>
                <a:r>
                  <a:rPr lang="en-US" sz="1200" b="1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6"/>
                <a:ext cx="9144000" cy="93770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Прямая соединительная линия 7"/>
          <p:cNvCxnSpPr/>
          <p:nvPr/>
        </p:nvCxnSpPr>
        <p:spPr>
          <a:xfrm flipV="1">
            <a:off x="5292080" y="4053096"/>
            <a:ext cx="2088232" cy="72008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 flipV="1">
            <a:off x="6081496" y="4587962"/>
            <a:ext cx="2097678" cy="63018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7380312" y="4053096"/>
            <a:ext cx="1433694" cy="239362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4650627" y="4416534"/>
            <a:ext cx="1433849" cy="236698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 flipV="1">
            <a:off x="4633101" y="4114830"/>
            <a:ext cx="667420" cy="301704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 flipV="1">
            <a:off x="8179174" y="4286258"/>
            <a:ext cx="660646" cy="301704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6732240" y="1347614"/>
            <a:ext cx="2096172" cy="2938644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6732550" y="1341331"/>
            <a:ext cx="1446624" cy="3235389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>
            <a:off x="6732540" y="1352429"/>
            <a:ext cx="667428" cy="2698415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 flipH="1">
            <a:off x="5292080" y="1341832"/>
            <a:ext cx="1458650" cy="2772998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/>
          <p:nvPr/>
        </p:nvCxnSpPr>
        <p:spPr>
          <a:xfrm flipH="1">
            <a:off x="4642842" y="1369434"/>
            <a:ext cx="2082932" cy="304710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Овал 30"/>
          <p:cNvSpPr/>
          <p:nvPr/>
        </p:nvSpPr>
        <p:spPr>
          <a:xfrm flipH="1" flipV="1">
            <a:off x="5987968" y="2738588"/>
            <a:ext cx="45719" cy="41563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Овал 32"/>
          <p:cNvSpPr/>
          <p:nvPr/>
        </p:nvSpPr>
        <p:spPr>
          <a:xfrm flipH="1" flipV="1">
            <a:off x="7054608" y="2717806"/>
            <a:ext cx="45719" cy="41563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1" name="Прямая соединительная линия 40"/>
          <p:cNvCxnSpPr/>
          <p:nvPr/>
        </p:nvCxnSpPr>
        <p:spPr>
          <a:xfrm flipH="1">
            <a:off x="6090942" y="1360739"/>
            <a:ext cx="641296" cy="3290241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4355976" y="4315192"/>
                <a:ext cx="29972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976" y="4315192"/>
                <a:ext cx="299721" cy="3077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 flipH="1">
                <a:off x="8021992" y="4577581"/>
                <a:ext cx="3419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021992" y="4577581"/>
                <a:ext cx="341955" cy="3077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 flipH="1">
                <a:off x="5876629" y="4649416"/>
                <a:ext cx="42831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876629" y="4649416"/>
                <a:ext cx="428313" cy="3077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 flipH="1">
                <a:off x="7344910" y="3781323"/>
                <a:ext cx="3419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𝐸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344910" y="3781323"/>
                <a:ext cx="341955" cy="3077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 flipH="1">
                <a:off x="8714753" y="4255424"/>
                <a:ext cx="3419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𝐷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714753" y="4255424"/>
                <a:ext cx="341955" cy="30777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 flipH="1">
                <a:off x="5012325" y="3865000"/>
                <a:ext cx="3419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𝐹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012325" y="3865000"/>
                <a:ext cx="341955" cy="30777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 flipH="1">
                <a:off x="6616818" y="1080890"/>
                <a:ext cx="3419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𝑆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616818" y="1080890"/>
                <a:ext cx="341955" cy="30777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 flipH="1">
                <a:off x="5981313" y="2503152"/>
                <a:ext cx="42831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𝐾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981313" y="2503152"/>
                <a:ext cx="428313" cy="276999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Полилиния 59"/>
          <p:cNvSpPr/>
          <p:nvPr/>
        </p:nvSpPr>
        <p:spPr>
          <a:xfrm>
            <a:off x="5619964" y="3411020"/>
            <a:ext cx="92467" cy="30823"/>
          </a:xfrm>
          <a:custGeom>
            <a:avLst/>
            <a:gdLst>
              <a:gd name="connsiteX0" fmla="*/ 0 w 92467"/>
              <a:gd name="connsiteY0" fmla="*/ 0 h 30823"/>
              <a:gd name="connsiteX1" fmla="*/ 92467 w 92467"/>
              <a:gd name="connsiteY1" fmla="*/ 30823 h 30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2467" h="30823">
                <a:moveTo>
                  <a:pt x="0" y="0"/>
                </a:moveTo>
                <a:lnTo>
                  <a:pt x="92467" y="30823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Полилиния 60"/>
          <p:cNvSpPr/>
          <p:nvPr/>
        </p:nvSpPr>
        <p:spPr>
          <a:xfrm>
            <a:off x="6243729" y="2208007"/>
            <a:ext cx="92467" cy="30823"/>
          </a:xfrm>
          <a:custGeom>
            <a:avLst/>
            <a:gdLst>
              <a:gd name="connsiteX0" fmla="*/ 0 w 92467"/>
              <a:gd name="connsiteY0" fmla="*/ 0 h 30823"/>
              <a:gd name="connsiteX1" fmla="*/ 92467 w 92467"/>
              <a:gd name="connsiteY1" fmla="*/ 30823 h 30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2467" h="30823">
                <a:moveTo>
                  <a:pt x="0" y="0"/>
                </a:moveTo>
                <a:lnTo>
                  <a:pt x="92467" y="30823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 flipH="1">
                <a:off x="6713504" y="2482370"/>
                <a:ext cx="42831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𝑀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713504" y="2482370"/>
                <a:ext cx="428313" cy="276999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Полилиния 62"/>
          <p:cNvSpPr/>
          <p:nvPr/>
        </p:nvSpPr>
        <p:spPr>
          <a:xfrm>
            <a:off x="6904234" y="2208944"/>
            <a:ext cx="92467" cy="41096"/>
          </a:xfrm>
          <a:custGeom>
            <a:avLst/>
            <a:gdLst>
              <a:gd name="connsiteX0" fmla="*/ 0 w 92467"/>
              <a:gd name="connsiteY0" fmla="*/ 41096 h 41096"/>
              <a:gd name="connsiteX1" fmla="*/ 92467 w 92467"/>
              <a:gd name="connsiteY1" fmla="*/ 0 h 4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2467" h="41096">
                <a:moveTo>
                  <a:pt x="0" y="41096"/>
                </a:moveTo>
                <a:lnTo>
                  <a:pt x="92467" y="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Полилиния 63"/>
          <p:cNvSpPr/>
          <p:nvPr/>
        </p:nvSpPr>
        <p:spPr>
          <a:xfrm>
            <a:off x="7164467" y="3282537"/>
            <a:ext cx="92467" cy="41096"/>
          </a:xfrm>
          <a:custGeom>
            <a:avLst/>
            <a:gdLst>
              <a:gd name="connsiteX0" fmla="*/ 0 w 92467"/>
              <a:gd name="connsiteY0" fmla="*/ 41096 h 41096"/>
              <a:gd name="connsiteX1" fmla="*/ 92467 w 92467"/>
              <a:gd name="connsiteY1" fmla="*/ 0 h 4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2467" h="41096">
                <a:moveTo>
                  <a:pt x="0" y="41096"/>
                </a:moveTo>
                <a:lnTo>
                  <a:pt x="92467" y="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Овал 65"/>
          <p:cNvSpPr/>
          <p:nvPr/>
        </p:nvSpPr>
        <p:spPr>
          <a:xfrm flipH="1" flipV="1">
            <a:off x="6067770" y="4632863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9" name="Прямая соединительная линия 68"/>
          <p:cNvCxnSpPr/>
          <p:nvPr/>
        </p:nvCxnSpPr>
        <p:spPr>
          <a:xfrm flipV="1">
            <a:off x="6021405" y="2738821"/>
            <a:ext cx="1056062" cy="20782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1" name="Прямая соединительная линия 70"/>
          <p:cNvCxnSpPr>
            <a:stCxn id="66" idx="2"/>
          </p:cNvCxnSpPr>
          <p:nvPr/>
        </p:nvCxnSpPr>
        <p:spPr>
          <a:xfrm flipV="1">
            <a:off x="6113489" y="4595398"/>
            <a:ext cx="2065685" cy="60324"/>
          </a:xfrm>
          <a:prstGeom prst="line">
            <a:avLst/>
          </a:prstGeom>
          <a:ln>
            <a:prstDash val="soli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7" name="Прямая соединительная линия 76"/>
          <p:cNvCxnSpPr/>
          <p:nvPr/>
        </p:nvCxnSpPr>
        <p:spPr>
          <a:xfrm flipV="1">
            <a:off x="4633101" y="4297500"/>
            <a:ext cx="4195311" cy="114138"/>
          </a:xfrm>
          <a:prstGeom prst="line">
            <a:avLst/>
          </a:prstGeom>
          <a:ln>
            <a:solidFill>
              <a:srgbClr val="006600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0" name="Полилиния 79"/>
          <p:cNvSpPr/>
          <p:nvPr/>
        </p:nvSpPr>
        <p:spPr>
          <a:xfrm>
            <a:off x="4654183" y="1337296"/>
            <a:ext cx="4181582" cy="3061699"/>
          </a:xfrm>
          <a:custGeom>
            <a:avLst/>
            <a:gdLst>
              <a:gd name="connsiteX0" fmla="*/ 0 w 4181582"/>
              <a:gd name="connsiteY0" fmla="*/ 3061699 h 3061699"/>
              <a:gd name="connsiteX1" fmla="*/ 2095928 w 4181582"/>
              <a:gd name="connsiteY1" fmla="*/ 0 h 3061699"/>
              <a:gd name="connsiteX2" fmla="*/ 4181582 w 4181582"/>
              <a:gd name="connsiteY2" fmla="*/ 2938409 h 3061699"/>
              <a:gd name="connsiteX3" fmla="*/ 0 w 4181582"/>
              <a:gd name="connsiteY3" fmla="*/ 3061699 h 3061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1582" h="3061699">
                <a:moveTo>
                  <a:pt x="0" y="3061699"/>
                </a:moveTo>
                <a:lnTo>
                  <a:pt x="2095928" y="0"/>
                </a:lnTo>
                <a:lnTo>
                  <a:pt x="4181582" y="2938409"/>
                </a:lnTo>
                <a:lnTo>
                  <a:pt x="0" y="3061699"/>
                </a:lnTo>
                <a:close/>
              </a:path>
            </a:pathLst>
          </a:custGeom>
          <a:solidFill>
            <a:srgbClr val="006600">
              <a:alpha val="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1" name="Прямая соединительная линия 80"/>
          <p:cNvCxnSpPr/>
          <p:nvPr/>
        </p:nvCxnSpPr>
        <p:spPr>
          <a:xfrm>
            <a:off x="5300521" y="4125104"/>
            <a:ext cx="767249" cy="532882"/>
          </a:xfrm>
          <a:prstGeom prst="line">
            <a:avLst/>
          </a:prstGeom>
          <a:ln>
            <a:solidFill>
              <a:srgbClr val="006600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 flipH="1">
                <a:off x="5432939" y="4357403"/>
                <a:ext cx="42831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𝑇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432939" y="4357403"/>
                <a:ext cx="428313" cy="276999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Прямая соединительная линия 87"/>
          <p:cNvCxnSpPr/>
          <p:nvPr/>
        </p:nvCxnSpPr>
        <p:spPr>
          <a:xfrm flipV="1">
            <a:off x="5693933" y="1359225"/>
            <a:ext cx="1052568" cy="3039770"/>
          </a:xfrm>
          <a:prstGeom prst="line">
            <a:avLst/>
          </a:prstGeom>
          <a:ln>
            <a:solidFill>
              <a:srgbClr val="006600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2" name="Прямая соединительная линия 91"/>
          <p:cNvCxnSpPr>
            <a:endCxn id="66" idx="7"/>
          </p:cNvCxnSpPr>
          <p:nvPr/>
        </p:nvCxnSpPr>
        <p:spPr>
          <a:xfrm>
            <a:off x="6021406" y="2759369"/>
            <a:ext cx="53059" cy="1912518"/>
          </a:xfrm>
          <a:prstGeom prst="line">
            <a:avLst/>
          </a:prstGeom>
          <a:ln>
            <a:solidFill>
              <a:srgbClr val="006600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6" name="Овал 95"/>
          <p:cNvSpPr/>
          <p:nvPr/>
        </p:nvSpPr>
        <p:spPr>
          <a:xfrm flipH="1" flipV="1">
            <a:off x="6017436" y="3380052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/>
              <p:cNvSpPr txBox="1"/>
              <p:nvPr/>
            </p:nvSpPr>
            <p:spPr>
              <a:xfrm flipH="1">
                <a:off x="5937438" y="3370856"/>
                <a:ext cx="42831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𝑃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8" name="TextBox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937438" y="3370856"/>
                <a:ext cx="428313" cy="276999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Прямая соединительная линия 98"/>
          <p:cNvCxnSpPr/>
          <p:nvPr/>
        </p:nvCxnSpPr>
        <p:spPr>
          <a:xfrm flipV="1">
            <a:off x="5327354" y="3352178"/>
            <a:ext cx="2838580" cy="60241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1" name="Овал 100"/>
          <p:cNvSpPr/>
          <p:nvPr/>
        </p:nvSpPr>
        <p:spPr>
          <a:xfrm flipH="1" flipV="1">
            <a:off x="5307163" y="3397642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2" name="Овал 101"/>
          <p:cNvSpPr/>
          <p:nvPr/>
        </p:nvSpPr>
        <p:spPr>
          <a:xfrm flipH="1" flipV="1">
            <a:off x="8130991" y="3324963"/>
            <a:ext cx="41563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/>
              <p:cNvSpPr txBox="1"/>
              <p:nvPr/>
            </p:nvSpPr>
            <p:spPr>
              <a:xfrm flipH="1">
                <a:off x="4935031" y="3232356"/>
                <a:ext cx="42831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𝐿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4" name="TextBox 1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935031" y="3232356"/>
                <a:ext cx="428313" cy="276999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/>
              <p:cNvSpPr txBox="1"/>
              <p:nvPr/>
            </p:nvSpPr>
            <p:spPr>
              <a:xfrm flipH="1">
                <a:off x="8075479" y="3124902"/>
                <a:ext cx="42831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𝑁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5" name="Text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075479" y="3124902"/>
                <a:ext cx="428313" cy="276999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Овал 106"/>
          <p:cNvSpPr/>
          <p:nvPr/>
        </p:nvSpPr>
        <p:spPr>
          <a:xfrm flipH="1" flipV="1">
            <a:off x="8151772" y="4554924"/>
            <a:ext cx="41563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9" name="Прямая соединительная линия 108"/>
          <p:cNvCxnSpPr>
            <a:endCxn id="102" idx="1"/>
          </p:cNvCxnSpPr>
          <p:nvPr/>
        </p:nvCxnSpPr>
        <p:spPr>
          <a:xfrm>
            <a:off x="7077467" y="2743755"/>
            <a:ext cx="1089000" cy="616684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3" name="Прямая соединительная линия 112"/>
          <p:cNvCxnSpPr>
            <a:stCxn id="107" idx="7"/>
          </p:cNvCxnSpPr>
          <p:nvPr/>
        </p:nvCxnSpPr>
        <p:spPr>
          <a:xfrm flipH="1" flipV="1">
            <a:off x="8146244" y="3351915"/>
            <a:ext cx="11615" cy="1238485"/>
          </a:xfrm>
          <a:prstGeom prst="line">
            <a:avLst/>
          </a:prstGeom>
          <a:ln>
            <a:prstDash val="soli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6" name="Прямая соединительная линия 115"/>
          <p:cNvCxnSpPr>
            <a:stCxn id="101" idx="2"/>
          </p:cNvCxnSpPr>
          <p:nvPr/>
        </p:nvCxnSpPr>
        <p:spPr>
          <a:xfrm flipV="1">
            <a:off x="5352882" y="2742763"/>
            <a:ext cx="654589" cy="677738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0" name="Прямая соединительная линия 119"/>
          <p:cNvCxnSpPr>
            <a:stCxn id="66" idx="0"/>
            <a:endCxn id="101" idx="1"/>
          </p:cNvCxnSpPr>
          <p:nvPr/>
        </p:nvCxnSpPr>
        <p:spPr>
          <a:xfrm flipH="1" flipV="1">
            <a:off x="5346187" y="3436666"/>
            <a:ext cx="744442" cy="1241916"/>
          </a:xfrm>
          <a:prstGeom prst="line">
            <a:avLst/>
          </a:prstGeom>
          <a:ln>
            <a:prstDash val="soli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4" name="Полилиния 123"/>
          <p:cNvSpPr/>
          <p:nvPr/>
        </p:nvSpPr>
        <p:spPr>
          <a:xfrm>
            <a:off x="5332233" y="2756120"/>
            <a:ext cx="2835667" cy="1910993"/>
          </a:xfrm>
          <a:custGeom>
            <a:avLst/>
            <a:gdLst>
              <a:gd name="connsiteX0" fmla="*/ 760287 w 2835667"/>
              <a:gd name="connsiteY0" fmla="*/ 1910993 h 1910993"/>
              <a:gd name="connsiteX1" fmla="*/ 0 w 2835667"/>
              <a:gd name="connsiteY1" fmla="*/ 667820 h 1910993"/>
              <a:gd name="connsiteX2" fmla="*/ 678094 w 2835667"/>
              <a:gd name="connsiteY2" fmla="*/ 10274 h 1910993"/>
              <a:gd name="connsiteX3" fmla="*/ 1756881 w 2835667"/>
              <a:gd name="connsiteY3" fmla="*/ 0 h 1910993"/>
              <a:gd name="connsiteX4" fmla="*/ 2825393 w 2835667"/>
              <a:gd name="connsiteY4" fmla="*/ 606175 h 1910993"/>
              <a:gd name="connsiteX5" fmla="*/ 2835667 w 2835667"/>
              <a:gd name="connsiteY5" fmla="*/ 1828800 h 1910993"/>
              <a:gd name="connsiteX6" fmla="*/ 760287 w 2835667"/>
              <a:gd name="connsiteY6" fmla="*/ 1910993 h 1910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35667" h="1910993">
                <a:moveTo>
                  <a:pt x="760287" y="1910993"/>
                </a:moveTo>
                <a:lnTo>
                  <a:pt x="0" y="667820"/>
                </a:lnTo>
                <a:lnTo>
                  <a:pt x="678094" y="10274"/>
                </a:lnTo>
                <a:lnTo>
                  <a:pt x="1756881" y="0"/>
                </a:lnTo>
                <a:lnTo>
                  <a:pt x="2825393" y="606175"/>
                </a:lnTo>
                <a:cubicBezTo>
                  <a:pt x="2828818" y="1013717"/>
                  <a:pt x="2832242" y="1421258"/>
                  <a:pt x="2835667" y="1828800"/>
                </a:cubicBezTo>
                <a:lnTo>
                  <a:pt x="760287" y="1910993"/>
                </a:lnTo>
                <a:close/>
              </a:path>
            </a:pathLst>
          </a:cu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/>
              <p:cNvSpPr txBox="1"/>
              <p:nvPr/>
            </p:nvSpPr>
            <p:spPr>
              <a:xfrm>
                <a:off x="163109" y="1005877"/>
                <a:ext cx="40324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 smtClean="0">
                    <a:solidFill>
                      <a:schemeClr val="tx1"/>
                    </a:solidFill>
                  </a:rPr>
                  <a:t>а)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𝐾𝑀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− 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средняя линия треугольника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𝐹𝑆𝐸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  <m:r>
                      <a:rPr lang="en-US" sz="1200" i="1">
                        <a:latin typeface="Cambria Math" charset="0"/>
                      </a:rPr>
                      <m:t>𝐾𝑀</m:t>
                    </m:r>
                    <m:r>
                      <a:rPr lang="en-US" sz="12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∥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𝐹𝐸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;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09" y="1005877"/>
                <a:ext cx="4032448" cy="276999"/>
              </a:xfrm>
              <a:prstGeom prst="rect">
                <a:avLst/>
              </a:prstGeom>
              <a:blipFill rotWithShape="0">
                <a:blip r:embed="rId16"/>
                <a:stretch>
                  <a:fillRect l="-151" t="-80000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/>
              <p:cNvSpPr txBox="1"/>
              <p:nvPr/>
            </p:nvSpPr>
            <p:spPr>
              <a:xfrm>
                <a:off x="119891" y="1271211"/>
                <a:ext cx="501868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charset="0"/>
                      </a:rPr>
                      <m:t>𝐵𝐶</m:t>
                    </m:r>
                    <m:r>
                      <a:rPr lang="en-US" sz="12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∥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𝐹𝐸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charset="0"/>
                      </a:rPr>
                      <m:t>𝐾𝑀</m:t>
                    </m:r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∥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𝐵𝑆𝐶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) ⟹ </m:t>
                    </m:r>
                  </m:oMath>
                </a14:m>
                <a:r>
                  <a:rPr lang="ru-RU" sz="1200" dirty="0" smtClean="0"/>
                  <a:t>прямая пересечения плоскостей </a:t>
                </a:r>
                <a14:m>
                  <m:oMath xmlns:m="http://schemas.openxmlformats.org/officeDocument/2006/math">
                    <m:r>
                      <a:rPr lang="en-US" sz="1200" b="0" i="0" smtClean="0">
                        <a:latin typeface="Cambria Math" charset="0"/>
                      </a:rPr>
                      <m:t>(</m:t>
                    </m:r>
                    <m:r>
                      <a:rPr lang="en-US" sz="1200" b="0" i="1" smtClean="0">
                        <a:latin typeface="Cambria Math" charset="0"/>
                      </a:rPr>
                      <m:t>𝐵</m:t>
                    </m:r>
                    <m:r>
                      <a:rPr lang="en-US" sz="1200" i="1">
                        <a:latin typeface="Cambria Math" charset="0"/>
                      </a:rPr>
                      <m:t>𝑆</m:t>
                    </m:r>
                    <m:r>
                      <a:rPr lang="en-US" sz="1200" b="0" i="1" smtClean="0">
                        <a:latin typeface="Cambria Math" charset="0"/>
                      </a:rPr>
                      <m:t>𝐶</m:t>
                    </m:r>
                    <m:r>
                      <a:rPr lang="en-US" sz="1200" b="0" i="1" smtClean="0">
                        <a:latin typeface="Cambria Math" charset="0"/>
                      </a:rPr>
                      <m:t>) </m:t>
                    </m:r>
                  </m:oMath>
                </a14:m>
                <a:r>
                  <a:rPr lang="ru-RU" sz="1200" dirty="0" smtClean="0"/>
                  <a:t>и </a:t>
                </a:r>
                <a14:m>
                  <m:oMath xmlns:m="http://schemas.openxmlformats.org/officeDocument/2006/math">
                    <m:r>
                      <a:rPr lang="en-US" sz="1200" b="0" i="0" smtClean="0">
                        <a:latin typeface="Cambria Math" charset="0"/>
                      </a:rPr>
                      <m:t>(</m:t>
                    </m:r>
                    <m:r>
                      <a:rPr lang="en-US" sz="1200" i="1">
                        <a:latin typeface="Cambria Math" charset="0"/>
                      </a:rPr>
                      <m:t>𝐵</m:t>
                    </m:r>
                    <m:r>
                      <a:rPr lang="en-US" sz="1200" b="0" i="1" smtClean="0">
                        <a:latin typeface="Cambria Math" charset="0"/>
                      </a:rPr>
                      <m:t>𝐾𝑀</m:t>
                    </m:r>
                    <m:r>
                      <a:rPr lang="en-US" sz="1200" b="0" i="1" smtClean="0">
                        <a:latin typeface="Cambria Math" charset="0"/>
                      </a:rPr>
                      <m:t>) </m:t>
                    </m:r>
                  </m:oMath>
                </a14:m>
                <a:r>
                  <a:rPr lang="ru-RU" sz="1200" dirty="0" smtClean="0"/>
                  <a:t>параллельна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charset="0"/>
                      </a:rPr>
                      <m:t>𝐾𝑀</m:t>
                    </m:r>
                    <m:r>
                      <a:rPr lang="en-US" sz="1200" b="0" i="0" smtClean="0">
                        <a:latin typeface="Cambria Math" charset="0"/>
                      </a:rPr>
                      <m:t>.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91" y="1271211"/>
                <a:ext cx="5018685" cy="461665"/>
              </a:xfrm>
              <a:prstGeom prst="rect">
                <a:avLst/>
              </a:prstGeom>
              <a:blipFill rotWithShape="0">
                <a:blip r:embed="rId17"/>
                <a:stretch>
                  <a:fillRect t="-49333" b="-61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/>
              <p:cNvSpPr txBox="1"/>
              <p:nvPr/>
            </p:nvSpPr>
            <p:spPr>
              <a:xfrm>
                <a:off x="94870" y="1697594"/>
                <a:ext cx="501868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charset="0"/>
                      </a:rPr>
                      <m:t>𝐵𝐶</m:t>
                    </m:r>
                    <m:r>
                      <a:rPr lang="en-US" sz="1200" b="0" i="1" smtClean="0">
                        <a:latin typeface="Cambria Math" charset="0"/>
                      </a:rPr>
                      <m:t>=(</m:t>
                    </m:r>
                    <m:r>
                      <a:rPr lang="en-US" sz="1200" b="0" i="1" smtClean="0">
                        <a:latin typeface="Cambria Math" charset="0"/>
                      </a:rPr>
                      <m:t>𝐵𝑆𝐶</m:t>
                    </m:r>
                    <m:r>
                      <a:rPr lang="en-US" sz="1200" b="0" i="1" smtClean="0">
                        <a:latin typeface="Cambria Math" charset="0"/>
                      </a:rPr>
                      <m:t>)∩</m:t>
                    </m:r>
                    <m:r>
                      <a:rPr lang="en-US" sz="1200">
                        <a:latin typeface="Cambria Math" charset="0"/>
                      </a:rPr>
                      <m:t>(</m:t>
                    </m:r>
                    <m:r>
                      <a:rPr lang="en-US" sz="1200" i="1">
                        <a:latin typeface="Cambria Math" charset="0"/>
                      </a:rPr>
                      <m:t>𝐵𝐾𝑀</m:t>
                    </m:r>
                    <m:r>
                      <a:rPr lang="en-US" sz="1200" i="1">
                        <a:latin typeface="Cambria Math" charset="0"/>
                      </a:rPr>
                      <m:t>)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70" y="1697594"/>
                <a:ext cx="5018685" cy="276999"/>
              </a:xfrm>
              <a:prstGeom prst="rect">
                <a:avLst/>
              </a:prstGeom>
              <a:blipFill rotWithShape="0">
                <a:blip r:embed="rId18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/>
              <p:cNvSpPr txBox="1"/>
              <p:nvPr/>
            </p:nvSpPr>
            <p:spPr>
              <a:xfrm>
                <a:off x="109471" y="1950620"/>
                <a:ext cx="397697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 smtClean="0">
                    <a:solidFill>
                      <a:schemeClr val="tx1"/>
                    </a:solidFill>
                  </a:rPr>
                  <a:t>Найдем прямую пересечения плоскости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charset="0"/>
                          </a:rPr>
                          <m:t>𝐴</m:t>
                        </m:r>
                        <m:r>
                          <a:rPr lang="en-US" sz="1200" i="1">
                            <a:latin typeface="Cambria Math" charset="0"/>
                          </a:rPr>
                          <m:t>𝑆</m:t>
                        </m:r>
                        <m:r>
                          <a:rPr lang="en-US" sz="1200" b="0" i="1" smtClean="0">
                            <a:latin typeface="Cambria Math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и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charset="0"/>
                          </a:rPr>
                          <m:t>𝐵𝐾𝑀</m:t>
                        </m:r>
                      </m:e>
                    </m:d>
                    <m:r>
                      <a:rPr lang="ru-RU" sz="1200" b="0" i="1" smtClean="0">
                        <a:latin typeface="Cambria Math" charset="0"/>
                      </a:rPr>
                      <m:t>.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8" name="TextBox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71" y="1950620"/>
                <a:ext cx="3976977" cy="276999"/>
              </a:xfrm>
              <a:prstGeom prst="rect">
                <a:avLst/>
              </a:prstGeom>
              <a:blipFill rotWithShape="0">
                <a:blip r:embed="rId19"/>
                <a:stretch>
                  <a:fillRect l="-153"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/>
              <p:cNvSpPr txBox="1"/>
              <p:nvPr/>
            </p:nvSpPr>
            <p:spPr>
              <a:xfrm>
                <a:off x="1662040" y="2194118"/>
                <a:ext cx="158514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i="1" smtClean="0">
                        <a:latin typeface="Cambria Math" charset="0"/>
                      </a:rPr>
                      <m:t>S</m:t>
                    </m:r>
                    <m:r>
                      <a:rPr lang="en-US" sz="1200" b="0" i="1" smtClean="0">
                        <a:latin typeface="Cambria Math" charset="0"/>
                      </a:rPr>
                      <m:t>𝑇</m:t>
                    </m:r>
                    <m:r>
                      <a:rPr lang="en-US" sz="1200" b="0" i="1" smtClean="0">
                        <a:latin typeface="Cambria Math" charset="0"/>
                      </a:rPr>
                      <m:t>=</m:t>
                    </m:r>
                    <m:d>
                      <m:dPr>
                        <m:ctrlPr>
                          <a:rPr lang="en-US" sz="12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charset="0"/>
                          </a:rPr>
                          <m:t>𝐴</m:t>
                        </m:r>
                        <m:r>
                          <a:rPr lang="en-US" sz="1200" i="1">
                            <a:latin typeface="Cambria Math" charset="0"/>
                          </a:rPr>
                          <m:t>𝑆</m:t>
                        </m:r>
                        <m:r>
                          <a:rPr lang="en-US" sz="1200" b="0" i="1" smtClean="0">
                            <a:latin typeface="Cambria Math" charset="0"/>
                          </a:rPr>
                          <m:t>𝐷</m:t>
                        </m:r>
                      </m:e>
                    </m:d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∩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charset="0"/>
                          </a:rPr>
                          <m:t>𝐹𝑆𝐵</m:t>
                        </m:r>
                      </m:e>
                    </m:d>
                    <m:r>
                      <a:rPr lang="en-US" sz="1200" b="0" i="1" smtClean="0">
                        <a:latin typeface="Cambria Math" charset="0"/>
                      </a:rPr>
                      <m:t>.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9" name="TextBox 1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040" y="2194118"/>
                <a:ext cx="1585143" cy="276999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/>
              <p:cNvSpPr txBox="1"/>
              <p:nvPr/>
            </p:nvSpPr>
            <p:spPr>
              <a:xfrm>
                <a:off x="74683" y="2194170"/>
                <a:ext cx="18137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smtClean="0">
                        <a:latin typeface="Cambria Math" charset="0"/>
                      </a:rPr>
                      <m:t>𝐵</m:t>
                    </m:r>
                    <m:r>
                      <a:rPr lang="en-US" sz="1200" b="0" i="1" smtClean="0">
                        <a:latin typeface="Cambria Math" charset="0"/>
                      </a:rPr>
                      <m:t>𝐾</m:t>
                    </m:r>
                    <m:r>
                      <a:rPr lang="en-US" sz="1200" b="0" i="1" smtClean="0">
                        <a:latin typeface="Cambria Math" charset="0"/>
                      </a:rPr>
                      <m:t>=</m:t>
                    </m:r>
                    <m:d>
                      <m:dPr>
                        <m:ctrlPr>
                          <a:rPr lang="en-US" sz="12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charset="0"/>
                          </a:rPr>
                          <m:t>𝐵𝐾𝑀</m:t>
                        </m:r>
                      </m:e>
                    </m:d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∩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charset="0"/>
                          </a:rPr>
                          <m:t>𝐹𝑆𝐵</m:t>
                        </m:r>
                      </m:e>
                    </m:d>
                    <m:r>
                      <a:rPr lang="en-US" sz="1200" b="0" i="1" smtClean="0">
                        <a:latin typeface="Cambria Math" charset="0"/>
                      </a:rPr>
                      <m:t>;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0" name="TextBox 1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83" y="2194170"/>
                <a:ext cx="1813760" cy="276999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/>
              <p:cNvSpPr txBox="1"/>
              <p:nvPr/>
            </p:nvSpPr>
            <p:spPr>
              <a:xfrm>
                <a:off x="-61712" y="2472213"/>
                <a:ext cx="13464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𝑆𝑇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∩</m:t>
                      </m:r>
                      <m:r>
                        <a:rPr lang="en-US" sz="1200" i="1" smtClean="0">
                          <a:latin typeface="Cambria Math" charset="0"/>
                        </a:rPr>
                        <m:t>𝐵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𝐾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1" name="TextBox 1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1712" y="2472213"/>
                <a:ext cx="1346400" cy="276999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/>
              <p:cNvSpPr txBox="1"/>
              <p:nvPr/>
            </p:nvSpPr>
            <p:spPr>
              <a:xfrm>
                <a:off x="1070825" y="2477242"/>
                <a:ext cx="249306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charset="0"/>
                      </a:rPr>
                      <m:t>𝑃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∈</m:t>
                    </m:r>
                    <m:r>
                      <a:rPr lang="en-US" sz="1200" b="0" i="1" smtClean="0">
                        <a:latin typeface="Cambria Math" charset="0"/>
                      </a:rPr>
                      <m:t> </m:t>
                    </m:r>
                    <m:d>
                      <m:dPr>
                        <m:ctrlPr>
                          <a:rPr lang="en-US" sz="1200" b="0" i="1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charset="0"/>
                          </a:rPr>
                          <m:t>𝐵𝐾𝑀</m:t>
                        </m:r>
                      </m:e>
                    </m:d>
                    <m:r>
                      <a:rPr lang="en-US" sz="1200" b="0" i="1" smtClean="0">
                        <a:latin typeface="Cambria Math" charset="0"/>
                      </a:rPr>
                      <m:t>;</m:t>
                    </m:r>
                  </m:oMath>
                </a14:m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charset="0"/>
                      </a:rPr>
                      <m:t>𝑃</m:t>
                    </m:r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∈</m:t>
                    </m:r>
                    <m:r>
                      <a:rPr lang="en-US" sz="1200" i="1">
                        <a:latin typeface="Cambria Math" charset="0"/>
                      </a:rPr>
                      <m:t> </m:t>
                    </m:r>
                    <m:d>
                      <m:dPr>
                        <m:ctrlPr>
                          <a:rPr lang="en-US" sz="1200" i="1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charset="0"/>
                          </a:rPr>
                          <m:t>𝐴𝑆𝐷</m:t>
                        </m:r>
                      </m:e>
                    </m:d>
                    <m:r>
                      <a:rPr lang="en-US" sz="1200" i="1">
                        <a:latin typeface="Cambria Math" charset="0"/>
                      </a:rPr>
                      <m:t>;</m:t>
                    </m:r>
                  </m:oMath>
                </a14:m>
                <a:endParaRPr lang="ru-RU" sz="1200" dirty="0"/>
              </a:p>
            </p:txBody>
          </p:sp>
        </mc:Choice>
        <mc:Fallback xmlns="">
          <p:sp>
            <p:nvSpPr>
              <p:cNvPr id="132" name="TextBox 1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825" y="2477242"/>
                <a:ext cx="2493064" cy="276999"/>
              </a:xfrm>
              <a:prstGeom prst="rect">
                <a:avLst/>
              </a:prstGeom>
              <a:blipFill rotWithShape="0">
                <a:blip r:embed="rId23"/>
                <a:stretch>
                  <a:fillRect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/>
              <p:cNvSpPr txBox="1"/>
              <p:nvPr/>
            </p:nvSpPr>
            <p:spPr>
              <a:xfrm>
                <a:off x="92606" y="2770691"/>
                <a:ext cx="482212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charset="0"/>
                      </a:rPr>
                      <m:t>𝐵𝐶</m:t>
                    </m:r>
                    <m:r>
                      <a:rPr lang="en-US" sz="12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∥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𝐴𝐷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charset="0"/>
                      </a:rPr>
                      <m:t>𝐵𝐶</m:t>
                    </m:r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∥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𝐴𝑆𝐷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) ⟹ </m:t>
                    </m:r>
                  </m:oMath>
                </a14:m>
                <a:r>
                  <a:rPr lang="ru-RU" sz="1200" dirty="0" smtClean="0"/>
                  <a:t>прямая пересечения плоскостей </a:t>
                </a:r>
                <a14:m>
                  <m:oMath xmlns:m="http://schemas.openxmlformats.org/officeDocument/2006/math">
                    <m:r>
                      <a:rPr lang="en-US" sz="1200" b="0" i="0" smtClean="0">
                        <a:latin typeface="Cambria Math" charset="0"/>
                      </a:rPr>
                      <m:t>(</m:t>
                    </m:r>
                    <m:r>
                      <a:rPr lang="en-US" sz="1200" b="0" i="1" smtClean="0">
                        <a:latin typeface="Cambria Math" charset="0"/>
                      </a:rPr>
                      <m:t>𝐴𝑆𝐷</m:t>
                    </m:r>
                    <m:r>
                      <a:rPr lang="en-US" sz="1200" b="0" i="1" smtClean="0">
                        <a:latin typeface="Cambria Math" charset="0"/>
                      </a:rPr>
                      <m:t>) </m:t>
                    </m:r>
                  </m:oMath>
                </a14:m>
                <a:r>
                  <a:rPr lang="ru-RU" sz="1200" dirty="0" smtClean="0"/>
                  <a:t>и </a:t>
                </a:r>
                <a14:m>
                  <m:oMath xmlns:m="http://schemas.openxmlformats.org/officeDocument/2006/math">
                    <m:r>
                      <a:rPr lang="en-US" sz="1200" b="0" i="0" smtClean="0">
                        <a:latin typeface="Cambria Math" charset="0"/>
                      </a:rPr>
                      <m:t>(</m:t>
                    </m:r>
                    <m:r>
                      <a:rPr lang="en-US" sz="1200" i="1">
                        <a:latin typeface="Cambria Math" charset="0"/>
                      </a:rPr>
                      <m:t>𝐵</m:t>
                    </m:r>
                    <m:r>
                      <a:rPr lang="en-US" sz="1200" b="0" i="1" smtClean="0">
                        <a:latin typeface="Cambria Math" charset="0"/>
                      </a:rPr>
                      <m:t>𝐾𝑀</m:t>
                    </m:r>
                    <m:r>
                      <a:rPr lang="en-US" sz="1200" b="0" i="1" smtClean="0">
                        <a:latin typeface="Cambria Math" charset="0"/>
                      </a:rPr>
                      <m:t>) </m:t>
                    </m:r>
                  </m:oMath>
                </a14:m>
                <a:r>
                  <a:rPr lang="ru-RU" sz="1200" dirty="0" smtClean="0"/>
                  <a:t>параллельна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charset="0"/>
                      </a:rPr>
                      <m:t>𝐵𝐶</m:t>
                    </m:r>
                    <m:r>
                      <a:rPr lang="en-US" sz="1200" b="0" i="0" smtClean="0">
                        <a:latin typeface="Cambria Math" charset="0"/>
                      </a:rPr>
                      <m:t>.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3" name="TextBox 1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06" y="2770691"/>
                <a:ext cx="4822122" cy="461665"/>
              </a:xfrm>
              <a:prstGeom prst="rect">
                <a:avLst/>
              </a:prstGeom>
              <a:blipFill rotWithShape="0">
                <a:blip r:embed="rId24"/>
                <a:stretch>
                  <a:fillRect t="-49333" b="-61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/>
              <p:cNvSpPr txBox="1"/>
              <p:nvPr/>
            </p:nvSpPr>
            <p:spPr>
              <a:xfrm>
                <a:off x="92874" y="3232355"/>
                <a:ext cx="29669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charset="0"/>
                      </a:rPr>
                      <m:t>𝑃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∈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𝐿𝑁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; 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𝐿𝑁</m:t>
                    </m:r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∥</m:t>
                    </m:r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𝐴𝐷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; </m:t>
                    </m:r>
                    <m:r>
                      <a:rPr lang="en-US" sz="1200" i="1" smtClean="0">
                        <a:latin typeface="Cambria Math" charset="0"/>
                      </a:rPr>
                      <m:t>𝐿</m:t>
                    </m:r>
                    <m:r>
                      <a:rPr lang="en-US" sz="1200" b="0" i="1" smtClean="0">
                        <a:latin typeface="Cambria Math" charset="0"/>
                      </a:rPr>
                      <m:t>𝑁</m:t>
                    </m:r>
                    <m:r>
                      <a:rPr lang="en-US" sz="1200" b="0" i="1" smtClean="0">
                        <a:latin typeface="Cambria Math" charset="0"/>
                      </a:rPr>
                      <m:t>=</m:t>
                    </m:r>
                    <m:d>
                      <m:dPr>
                        <m:ctrlPr>
                          <a:rPr lang="en-US" sz="12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charset="0"/>
                          </a:rPr>
                          <m:t>𝐴</m:t>
                        </m:r>
                        <m:r>
                          <a:rPr lang="en-US" sz="1200" i="1">
                            <a:latin typeface="Cambria Math" charset="0"/>
                          </a:rPr>
                          <m:t>𝑆</m:t>
                        </m:r>
                        <m:r>
                          <a:rPr lang="en-US" sz="1200" b="0" i="1" smtClean="0">
                            <a:latin typeface="Cambria Math" charset="0"/>
                          </a:rPr>
                          <m:t>𝐷</m:t>
                        </m:r>
                      </m:e>
                    </m:d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∩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charset="0"/>
                          </a:rPr>
                          <m:t>𝐵𝐾𝑀</m:t>
                        </m:r>
                      </m:e>
                    </m:d>
                    <m:r>
                      <a:rPr lang="en-US" sz="1200" b="0" i="1" smtClean="0">
                        <a:latin typeface="Cambria Math" charset="0"/>
                      </a:rPr>
                      <m:t>;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4" name="TextBox 1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74" y="3232355"/>
                <a:ext cx="2966958" cy="276999"/>
              </a:xfrm>
              <a:prstGeom prst="rect">
                <a:avLst/>
              </a:prstGeom>
              <a:blipFill rotWithShape="0">
                <a:blip r:embed="rId25"/>
                <a:stretch>
                  <a:fillRect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/>
              <p:cNvSpPr txBox="1"/>
              <p:nvPr/>
            </p:nvSpPr>
            <p:spPr>
              <a:xfrm>
                <a:off x="61908" y="3507267"/>
                <a:ext cx="29669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  <m:r>
                      <a:rPr lang="en-US" sz="1200" i="1" smtClean="0">
                        <a:latin typeface="Cambria Math" charset="0"/>
                      </a:rPr>
                      <m:t>𝐿</m:t>
                    </m:r>
                    <m:r>
                      <a:rPr lang="en-US" sz="1200" b="0" i="1" smtClean="0">
                        <a:latin typeface="Cambria Math" charset="0"/>
                      </a:rPr>
                      <m:t>; </m:t>
                    </m:r>
                    <m:r>
                      <a:rPr lang="en-US" sz="1200" b="0" i="1" smtClean="0">
                        <a:latin typeface="Cambria Math" charset="0"/>
                      </a:rPr>
                      <m:t>𝑁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∈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charset="0"/>
                          </a:rPr>
                          <m:t>𝐵𝐾𝑀</m:t>
                        </m:r>
                      </m:e>
                    </m:d>
                    <m:r>
                      <a:rPr lang="en-US" sz="1200" b="0" i="1" smtClean="0">
                        <a:latin typeface="Cambria Math" charset="0"/>
                      </a:rPr>
                      <m:t>.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 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5" name="TextBox 1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08" y="3507267"/>
                <a:ext cx="2966958" cy="276999"/>
              </a:xfrm>
              <a:prstGeom prst="rect">
                <a:avLst/>
              </a:prstGeom>
              <a:blipFill rotWithShape="0">
                <a:blip r:embed="rId26"/>
                <a:stretch>
                  <a:fillRect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5"/>
              <p:cNvSpPr txBox="1"/>
              <p:nvPr/>
            </p:nvSpPr>
            <p:spPr>
              <a:xfrm>
                <a:off x="49598" y="3771141"/>
                <a:ext cx="423144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𝐵𝐿𝐾𝑀𝑁𝐶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− 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сечение </a:t>
                </a:r>
                <a:r>
                  <a:rPr lang="ru-RU" sz="1200" dirty="0" smtClean="0"/>
                  <a:t>пирамиды 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𝑆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charset="0"/>
                      </a:rPr>
                      <m:t>𝐴𝐵𝐶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𝐷𝐸𝐹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плоскостью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𝐵𝐾𝑀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6" name="TextBox 1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98" y="3771141"/>
                <a:ext cx="4231447" cy="276999"/>
              </a:xfrm>
              <a:prstGeom prst="rect">
                <a:avLst/>
              </a:prstGeom>
              <a:blipFill rotWithShape="0">
                <a:blip r:embed="rId27"/>
                <a:stretch>
                  <a:fillRect t="-82222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365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1" grpId="0" animBg="1"/>
      <p:bldP spid="33" grpId="0" animBg="1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60" grpId="0" animBg="1"/>
      <p:bldP spid="61" grpId="0" animBg="1"/>
      <p:bldP spid="62" grpId="0"/>
      <p:bldP spid="63" grpId="0" animBg="1"/>
      <p:bldP spid="64" grpId="0" animBg="1"/>
      <p:bldP spid="66" grpId="0" animBg="1"/>
      <p:bldP spid="80" grpId="0" animBg="1"/>
      <p:bldP spid="80" grpId="1" animBg="1"/>
      <p:bldP spid="87" grpId="0"/>
      <p:bldP spid="96" grpId="0" animBg="1"/>
      <p:bldP spid="98" grpId="0"/>
      <p:bldP spid="101" grpId="0" animBg="1"/>
      <p:bldP spid="102" grpId="0" animBg="1"/>
      <p:bldP spid="104" grpId="0"/>
      <p:bldP spid="105" grpId="0"/>
      <p:bldP spid="107" grpId="0" animBg="1"/>
      <p:bldP spid="124" grpId="0" animBg="1"/>
      <p:bldP spid="125" grpId="0"/>
      <p:bldP spid="126" grpId="0"/>
      <p:bldP spid="127" grpId="0"/>
      <p:bldP spid="128" grpId="0"/>
      <p:bldP spid="129" grpId="0"/>
      <p:bldP spid="130" grpId="0"/>
      <p:bldP spid="131" grpId="0"/>
      <p:bldP spid="132" grpId="0"/>
      <p:bldP spid="133" grpId="0"/>
      <p:bldP spid="134" grpId="0"/>
      <p:bldP spid="135" grpId="0"/>
      <p:bldP spid="13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35</a:t>
            </a:fld>
            <a:endParaRPr kumimoji="0" lang="ru-RU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/>
              <p:cNvSpPr/>
              <p:nvPr/>
            </p:nvSpPr>
            <p:spPr>
              <a:xfrm>
                <a:off x="0" y="-22136"/>
                <a:ext cx="9144000" cy="93770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dirty="0" smtClean="0">
                    <a:solidFill>
                      <a:srgbClr val="7030A0"/>
                    </a:solidFill>
                  </a:rPr>
                  <a:t>20.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В правильной шестиугольной пирамиде с вершиной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</m:t>
                    </m:r>
                  </m:oMath>
                </a14:m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стороны основания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𝑨𝑩𝑪𝑫𝑬𝑭</m:t>
                    </m:r>
                  </m:oMath>
                </a14:m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равны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𝟔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, а боковые ребра равны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𝟏𝟐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. Точки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𝑲</m:t>
                    </m:r>
                  </m:oMath>
                </a14:m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 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𝑴</m:t>
                    </m:r>
                  </m:oMath>
                </a14:m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mr-IN" sz="1200" b="1" i="0" dirty="0" smtClean="0">
                    <a:solidFill>
                      <a:srgbClr val="002060"/>
                    </a:solidFill>
                    <a:latin typeface="+mj-lt"/>
                  </a:rPr>
                  <a:t>–</a:t>
                </a:r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середины ребер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𝑺𝑭</m:t>
                    </m:r>
                  </m:oMath>
                </a14:m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𝑺𝑬</m:t>
                    </m:r>
                  </m:oMath>
                </a14:m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соответственно. </a:t>
                </a:r>
                <a:endParaRPr lang="en-US" sz="1200" b="1" i="0" dirty="0" smtClean="0">
                  <a:solidFill>
                    <a:srgbClr val="002060"/>
                  </a:solidFill>
                  <a:latin typeface="+mj-lt"/>
                </a:endParaRPr>
              </a:p>
              <a:p>
                <a:pPr algn="ctr"/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а) Постройте сечение пирамиды плоскостью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𝑩𝑲𝑴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 </m:t>
                    </m:r>
                  </m:oMath>
                </a14:m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</a:rPr>
                  <a:t>б) Найдите площадь </a:t>
                </a:r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полученного сечения</a:t>
                </a:r>
                <a:r>
                  <a:rPr lang="en-US" sz="1200" b="1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6"/>
                <a:ext cx="9144000" cy="93770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8998" y="951993"/>
            <a:ext cx="3043808" cy="2497483"/>
          </a:xfrm>
          <a:prstGeom prst="rect">
            <a:avLst/>
          </a:prstGeom>
        </p:spPr>
      </p:pic>
      <p:sp>
        <p:nvSpPr>
          <p:cNvPr id="5" name="Трапеция 4"/>
          <p:cNvSpPr/>
          <p:nvPr/>
        </p:nvSpPr>
        <p:spPr>
          <a:xfrm>
            <a:off x="3474462" y="1166868"/>
            <a:ext cx="1944216" cy="1800200"/>
          </a:xfrm>
          <a:prstGeom prst="trapezoid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2880980" y="1923678"/>
            <a:ext cx="3131180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4976356" y="1166868"/>
            <a:ext cx="1035804" cy="75681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 flipH="1">
            <a:off x="2880980" y="1166867"/>
            <a:ext cx="1035804" cy="756811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 flipH="1" flipV="1">
            <a:off x="2880980" y="1923678"/>
            <a:ext cx="593482" cy="104339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 flipH="1">
            <a:off x="5418678" y="1923677"/>
            <a:ext cx="593482" cy="1043391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 flipH="1">
                <a:off x="5323280" y="2911545"/>
                <a:ext cx="3419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323280" y="2911545"/>
                <a:ext cx="341955" cy="3077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 flipH="1">
                <a:off x="3207114" y="2911545"/>
                <a:ext cx="42831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207114" y="2911545"/>
                <a:ext cx="428313" cy="3077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 flipH="1">
                <a:off x="3513889" y="1667257"/>
                <a:ext cx="36790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𝑃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513889" y="1667257"/>
                <a:ext cx="367901" cy="276999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 flipH="1">
                <a:off x="2555829" y="1714028"/>
                <a:ext cx="42831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𝐿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555829" y="1714028"/>
                <a:ext cx="428313" cy="30777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 flipH="1">
                <a:off x="5926659" y="1769787"/>
                <a:ext cx="42831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𝑁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926659" y="1769787"/>
                <a:ext cx="428313" cy="30777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 flipH="1">
                <a:off x="4885477" y="937946"/>
                <a:ext cx="42831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𝑀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885477" y="937946"/>
                <a:ext cx="428313" cy="30777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 flipH="1">
                <a:off x="3611749" y="932206"/>
                <a:ext cx="42831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𝐾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611749" y="932206"/>
                <a:ext cx="428313" cy="30777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60706" y="1007819"/>
                <a:ext cx="368532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 smtClean="0"/>
                  <a:t>б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)</a:t>
                </a:r>
                <a:r>
                  <a:rPr lang="en-US" sz="1200" dirty="0" smtClean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𝐵𝑃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: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𝑃𝐾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=2:1 </m:t>
                    </m:r>
                  </m:oMath>
                </a14:m>
                <a:r>
                  <a:rPr lang="ru-RU" sz="1200" dirty="0" smtClean="0"/>
                  <a:t>(по свойству медиан</a:t>
                </a:r>
                <a:r>
                  <a:rPr lang="en-US" sz="1200" dirty="0" smtClean="0"/>
                  <a:t>).</a:t>
                </a:r>
                <a:endParaRPr lang="ru-RU" sz="12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06" y="1007819"/>
                <a:ext cx="3685324" cy="276999"/>
              </a:xfrm>
              <a:prstGeom prst="rect">
                <a:avLst/>
              </a:prstGeom>
              <a:blipFill rotWithShape="0">
                <a:blip r:embed="rId11"/>
                <a:stretch>
                  <a:fillRect l="-165"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 flipH="1">
                <a:off x="3267995" y="2241831"/>
                <a:ext cx="36790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latin typeface="Cambria Math" charset="0"/>
                        </a:rPr>
                        <m:t>(2)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267995" y="2241831"/>
                <a:ext cx="367901" cy="276999"/>
              </a:xfrm>
              <a:prstGeom prst="rect">
                <a:avLst/>
              </a:prstGeom>
              <a:blipFill rotWithShape="0">
                <a:blip r:embed="rId12"/>
                <a:stretch>
                  <a:fillRect r="-1667" b="-44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 flipH="1">
                <a:off x="3505708" y="1380463"/>
                <a:ext cx="36790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latin typeface="Cambria Math" charset="0"/>
                        </a:rPr>
                        <m:t>(1)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505708" y="1380463"/>
                <a:ext cx="367901" cy="276999"/>
              </a:xfrm>
              <a:prstGeom prst="rect">
                <a:avLst/>
              </a:prstGeom>
              <a:blipFill rotWithShape="0">
                <a:blip r:embed="rId13"/>
                <a:stretch>
                  <a:fillRect r="-1667" b="-4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-195649" y="1235592"/>
                <a:ext cx="2742057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𝐵𝐶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=6;  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𝐾𝑀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𝐹𝐸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i="1" dirty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𝐵𝐶</m:t>
                      </m:r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=3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5649" y="1235592"/>
                <a:ext cx="2742057" cy="438005"/>
              </a:xfrm>
              <a:prstGeom prst="rect">
                <a:avLst/>
              </a:prstGeom>
              <a:blipFill rotWithShape="0">
                <a:blip r:embed="rId14"/>
                <a:stretch>
                  <a:fillRect t="-29167" b="-486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 flipH="1">
                <a:off x="4273230" y="2980222"/>
                <a:ext cx="36790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6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273230" y="2980222"/>
                <a:ext cx="367901" cy="276999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 flipH="1">
                <a:off x="4248522" y="921443"/>
                <a:ext cx="36790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3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248522" y="921443"/>
                <a:ext cx="367901" cy="276999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Прямая соединительная линия 39"/>
          <p:cNvCxnSpPr/>
          <p:nvPr/>
        </p:nvCxnSpPr>
        <p:spPr>
          <a:xfrm>
            <a:off x="3927058" y="1166867"/>
            <a:ext cx="7387" cy="1800201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3" name="Прямоугольник 42"/>
          <p:cNvSpPr/>
          <p:nvPr/>
        </p:nvSpPr>
        <p:spPr>
          <a:xfrm>
            <a:off x="3934445" y="2777499"/>
            <a:ext cx="181028" cy="185871"/>
          </a:xfrm>
          <a:prstGeom prst="rect">
            <a:avLst/>
          </a:prstGeom>
          <a:solidFill>
            <a:schemeClr val="bg1">
              <a:lumMod val="85000"/>
              <a:alpha val="51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 flipH="1">
                <a:off x="3757846" y="2978479"/>
                <a:ext cx="36790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𝑅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757846" y="2978479"/>
                <a:ext cx="367901" cy="276999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3873609" y="1883305"/>
                <a:ext cx="34974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𝐻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609" y="1883305"/>
                <a:ext cx="349745" cy="276999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 flipH="1">
                <a:off x="3892506" y="2315415"/>
                <a:ext cx="36790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latin typeface="Cambria Math" charset="0"/>
                        </a:rPr>
                        <m:t>(2)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892506" y="2315415"/>
                <a:ext cx="367901" cy="276999"/>
              </a:xfrm>
              <a:prstGeom prst="rect">
                <a:avLst/>
              </a:prstGeom>
              <a:blipFill rotWithShape="0">
                <a:blip r:embed="rId19"/>
                <a:stretch>
                  <a:fillRect r="-1667" b="-44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 flipH="1">
                <a:off x="3885036" y="1392342"/>
                <a:ext cx="36790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latin typeface="Cambria Math" charset="0"/>
                        </a:rPr>
                        <m:t>(1)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885036" y="1392342"/>
                <a:ext cx="367901" cy="276999"/>
              </a:xfrm>
              <a:prstGeom prst="rect">
                <a:avLst/>
              </a:prstGeom>
              <a:blipFill rotWithShape="0">
                <a:blip r:embed="rId1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-112511" y="1925895"/>
                <a:ext cx="1199230" cy="439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𝐿𝑁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𝐴𝐷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2511" y="1925895"/>
                <a:ext cx="1199230" cy="439223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752852" y="1916949"/>
                <a:ext cx="777649" cy="439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∙12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852" y="1916949"/>
                <a:ext cx="777649" cy="439223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1221935" y="2007006"/>
                <a:ext cx="77764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=8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935" y="2007006"/>
                <a:ext cx="777649" cy="276999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 flipH="1">
                <a:off x="4220409" y="1683200"/>
                <a:ext cx="36790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8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220409" y="1683200"/>
                <a:ext cx="367901" cy="276999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Треугольник 55"/>
          <p:cNvSpPr/>
          <p:nvPr/>
        </p:nvSpPr>
        <p:spPr>
          <a:xfrm>
            <a:off x="7020272" y="3546906"/>
            <a:ext cx="1288831" cy="1291005"/>
          </a:xfrm>
          <a:prstGeom prst="triangle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 flipH="1">
                <a:off x="6750325" y="4664273"/>
                <a:ext cx="3419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𝐹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750325" y="4664273"/>
                <a:ext cx="341955" cy="307777"/>
              </a:xfrm>
              <a:prstGeom prst="rect">
                <a:avLst/>
              </a:prstGeom>
              <a:blipFill rotWithShape="0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 flipH="1">
                <a:off x="7544649" y="3295587"/>
                <a:ext cx="3419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𝑆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544649" y="3295587"/>
                <a:ext cx="341955" cy="307777"/>
              </a:xfrm>
              <a:prstGeom prst="rect">
                <a:avLst/>
              </a:prstGeom>
              <a:blipFill rotWithShape="0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 flipH="1">
                <a:off x="8312805" y="4685049"/>
                <a:ext cx="282607" cy="2797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312805" y="4685049"/>
                <a:ext cx="282607" cy="279797"/>
              </a:xfrm>
              <a:prstGeom prst="rect">
                <a:avLst/>
              </a:prstGeom>
              <a:blipFill rotWithShape="0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Овал 59"/>
          <p:cNvSpPr/>
          <p:nvPr/>
        </p:nvSpPr>
        <p:spPr>
          <a:xfrm flipH="1" flipV="1">
            <a:off x="7329473" y="4177382"/>
            <a:ext cx="41563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 flipH="1">
                <a:off x="7057767" y="4023493"/>
                <a:ext cx="3419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𝐾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057767" y="4023493"/>
                <a:ext cx="341955" cy="307777"/>
              </a:xfrm>
              <a:prstGeom prst="rect">
                <a:avLst/>
              </a:prstGeom>
              <a:blipFill rotWithShape="0"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Полилиния 62"/>
          <p:cNvSpPr/>
          <p:nvPr/>
        </p:nvSpPr>
        <p:spPr>
          <a:xfrm>
            <a:off x="7428216" y="3914454"/>
            <a:ext cx="113015" cy="51371"/>
          </a:xfrm>
          <a:custGeom>
            <a:avLst/>
            <a:gdLst>
              <a:gd name="connsiteX0" fmla="*/ 0 w 113015"/>
              <a:gd name="connsiteY0" fmla="*/ 0 h 51371"/>
              <a:gd name="connsiteX1" fmla="*/ 113015 w 113015"/>
              <a:gd name="connsiteY1" fmla="*/ 51371 h 51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3015" h="51371">
                <a:moveTo>
                  <a:pt x="0" y="0"/>
                </a:moveTo>
                <a:lnTo>
                  <a:pt x="113015" y="51371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Полилиния 63"/>
          <p:cNvSpPr/>
          <p:nvPr/>
        </p:nvSpPr>
        <p:spPr>
          <a:xfrm>
            <a:off x="7123281" y="4507534"/>
            <a:ext cx="113015" cy="51371"/>
          </a:xfrm>
          <a:custGeom>
            <a:avLst/>
            <a:gdLst>
              <a:gd name="connsiteX0" fmla="*/ 0 w 113015"/>
              <a:gd name="connsiteY0" fmla="*/ 0 h 51371"/>
              <a:gd name="connsiteX1" fmla="*/ 113015 w 113015"/>
              <a:gd name="connsiteY1" fmla="*/ 51371 h 51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3015" h="51371">
                <a:moveTo>
                  <a:pt x="0" y="0"/>
                </a:moveTo>
                <a:lnTo>
                  <a:pt x="113015" y="51371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6" name="Прямая соединительная линия 65"/>
          <p:cNvCxnSpPr>
            <a:stCxn id="56" idx="0"/>
            <a:endCxn id="56" idx="3"/>
          </p:cNvCxnSpPr>
          <p:nvPr/>
        </p:nvCxnSpPr>
        <p:spPr>
          <a:xfrm>
            <a:off x="7664688" y="3546906"/>
            <a:ext cx="0" cy="1291005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Прямоугольник 70"/>
          <p:cNvSpPr/>
          <p:nvPr/>
        </p:nvSpPr>
        <p:spPr>
          <a:xfrm>
            <a:off x="7671578" y="4643304"/>
            <a:ext cx="181028" cy="185871"/>
          </a:xfrm>
          <a:prstGeom prst="rect">
            <a:avLst/>
          </a:prstGeom>
          <a:solidFill>
            <a:schemeClr val="bg1">
              <a:lumMod val="85000"/>
              <a:alpha val="51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 flipH="1">
                <a:off x="7515112" y="4812288"/>
                <a:ext cx="3419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𝑇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515112" y="4812288"/>
                <a:ext cx="341955" cy="307777"/>
              </a:xfrm>
              <a:prstGeom prst="rect">
                <a:avLst/>
              </a:prstGeom>
              <a:blipFill rotWithShape="0"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Прямая соединительная линия 72"/>
          <p:cNvCxnSpPr>
            <a:stCxn id="56" idx="1"/>
            <a:endCxn id="56" idx="4"/>
          </p:cNvCxnSpPr>
          <p:nvPr/>
        </p:nvCxnSpPr>
        <p:spPr>
          <a:xfrm>
            <a:off x="7342480" y="4192409"/>
            <a:ext cx="966623" cy="645502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Сектор 5"/>
          <p:cNvSpPr/>
          <p:nvPr/>
        </p:nvSpPr>
        <p:spPr>
          <a:xfrm>
            <a:off x="6568832" y="4380582"/>
            <a:ext cx="914400" cy="914400"/>
          </a:xfrm>
          <a:prstGeom prst="pie">
            <a:avLst>
              <a:gd name="adj1" fmla="val 17760031"/>
              <a:gd name="adj2" fmla="val 21585303"/>
            </a:avLst>
          </a:prstGeom>
          <a:solidFill>
            <a:schemeClr val="accent1">
              <a:alpha val="26000"/>
            </a:schemeClr>
          </a:solidFill>
          <a:ln w="63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-22683" y="2271043"/>
                <a:ext cx="1518637" cy="438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b="0" i="0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∠</m:t>
                              </m:r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𝑆𝐹𝑇</m:t>
                              </m:r>
                            </m:e>
                          </m:d>
                        </m:e>
                      </m:func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𝐹𝑇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𝑆𝐹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683" y="2271043"/>
                <a:ext cx="1518637" cy="438133"/>
              </a:xfrm>
              <a:prstGeom prst="rect">
                <a:avLst/>
              </a:prstGeom>
              <a:blipFill rotWithShape="0">
                <a:blip r:embed="rId29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-5034" y="2635028"/>
                <a:ext cx="1005651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𝐹𝑇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𝐵𝐹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034" y="2635028"/>
                <a:ext cx="1005651" cy="438005"/>
              </a:xfrm>
              <a:prstGeom prst="rect">
                <a:avLst/>
              </a:prstGeom>
              <a:blipFill rotWithShape="0">
                <a:blip r:embed="rId30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764863" y="2624753"/>
                <a:ext cx="871419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∙6</m:t>
                      </m:r>
                      <m:rad>
                        <m:radPr>
                          <m:degHide m:val="on"/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863" y="2624753"/>
                <a:ext cx="871419" cy="438005"/>
              </a:xfrm>
              <a:prstGeom prst="rect">
                <a:avLst/>
              </a:prstGeom>
              <a:blipFill rotWithShape="0">
                <a:blip r:embed="rId31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1350082" y="2693438"/>
                <a:ext cx="871419" cy="298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=3</m:t>
                      </m:r>
                      <m:rad>
                        <m:radPr>
                          <m:degHide m:val="on"/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082" y="2693438"/>
                <a:ext cx="871419" cy="298736"/>
              </a:xfrm>
              <a:prstGeom prst="rect">
                <a:avLst/>
              </a:prstGeom>
              <a:blipFill rotWithShape="0"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-45929" y="2954850"/>
                <a:ext cx="1518637" cy="4808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b="0" i="0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∠</m:t>
                              </m:r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𝑆𝐹𝑇</m:t>
                              </m:r>
                            </m:e>
                          </m:d>
                        </m:e>
                      </m:func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  <m:rad>
                            <m:radPr>
                              <m:degHide m:val="on"/>
                              <m:ctrlPr>
                                <a:rPr lang="en-US" sz="1200" i="1" dirty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e>
                          </m:rad>
                          <m:r>
                            <m:rPr>
                              <m:nor/>
                            </m:rPr>
                            <a:rPr lang="ru-RU" sz="1200" dirty="0"/>
                            <m:t> 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5929" y="2954850"/>
                <a:ext cx="1518637" cy="480837"/>
              </a:xfrm>
              <a:prstGeom prst="rect">
                <a:avLst/>
              </a:prstGeom>
              <a:blipFill rotWithShape="0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1171492" y="2954988"/>
                <a:ext cx="821587" cy="4808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1200" i="1" dirty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e>
                          </m:rad>
                          <m:r>
                            <m:rPr>
                              <m:nor/>
                            </m:rPr>
                            <a:rPr lang="ru-RU" sz="1200" dirty="0"/>
                            <m:t> 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492" y="2954988"/>
                <a:ext cx="821587" cy="480837"/>
              </a:xfrm>
              <a:prstGeom prst="rect">
                <a:avLst/>
              </a:prstGeom>
              <a:blipFill rotWithShape="0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8986" y="3431986"/>
                <a:ext cx="318299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</m:t>
                      </m:r>
                      <m:sSup>
                        <m:sSup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𝐾</m:t>
                          </m:r>
                        </m:e>
                        <m:sup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𝐹</m:t>
                      </m:r>
                      <m:sSup>
                        <m:sSup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𝐾</m:t>
                          </m:r>
                        </m:e>
                        <m:sup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+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</m:t>
                      </m:r>
                      <m:sSup>
                        <m:sSup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𝐹</m:t>
                          </m:r>
                        </m:e>
                        <m:sup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−2∙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𝐹𝐾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𝐵𝐹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func>
                        <m:funcPr>
                          <m:ctrlPr>
                            <a:rPr lang="en-US" sz="1200" i="1" dirty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200" i="1" dirty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sz="12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∠</m:t>
                              </m:r>
                              <m:r>
                                <a:rPr lang="en-US" sz="12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𝑆𝐹𝑇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6" y="3431986"/>
                <a:ext cx="3182997" cy="276999"/>
              </a:xfrm>
              <a:prstGeom prst="rect">
                <a:avLst/>
              </a:prstGeom>
              <a:blipFill rotWithShape="0"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2814687" y="3295587"/>
                <a:ext cx="2728295" cy="4795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sSup>
                        <m:sSup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6</m:t>
                          </m:r>
                        </m:e>
                        <m:sup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+</m:t>
                      </m:r>
                      <m:sSup>
                        <m:sSup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6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200" b="0" i="1" dirty="0" smtClean="0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200" b="0" i="1" dirty="0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3</m:t>
                                  </m:r>
                                </m:e>
                              </m:rad>
                            </m:e>
                          </m:d>
                        </m:e>
                        <m:sup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−2∙6∙6</m:t>
                      </m:r>
                      <m:rad>
                        <m:radPr>
                          <m:degHide m:val="on"/>
                          <m:ctrlPr>
                            <a:rPr lang="en-US" sz="1200" i="1" dirty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e>
                      </m:rad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f>
                        <m:fPr>
                          <m:ctrlPr>
                            <a:rPr lang="mr-IN" sz="1200" i="1" dirty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1200" i="1" dirty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e>
                          </m:rad>
                          <m:r>
                            <m:rPr>
                              <m:nor/>
                            </m:rPr>
                            <a:rPr lang="ru-RU" sz="1200" dirty="0"/>
                            <m:t> </m:t>
                          </m:r>
                        </m:num>
                        <m:den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687" y="3295587"/>
                <a:ext cx="2728295" cy="479555"/>
              </a:xfrm>
              <a:prstGeom prst="rect">
                <a:avLst/>
              </a:prstGeom>
              <a:blipFill rotWithShape="0">
                <a:blip r:embed="rId36"/>
                <a:stretch>
                  <a:fillRect b="-12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4827634" y="3431986"/>
                <a:ext cx="133114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=90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7634" y="3431986"/>
                <a:ext cx="1331140" cy="276999"/>
              </a:xfrm>
              <a:prstGeom prst="rect">
                <a:avLst/>
              </a:prstGeom>
              <a:blipFill rotWithShape="0"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-106839" y="3725694"/>
                <a:ext cx="1887199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𝐵𝑅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𝐵𝐶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𝐾𝑀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6839" y="3725694"/>
                <a:ext cx="1887199" cy="438005"/>
              </a:xfrm>
              <a:prstGeom prst="rect">
                <a:avLst/>
              </a:prstGeom>
              <a:blipFill rotWithShape="0">
                <a:blip r:embed="rId3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1538205" y="3771726"/>
                <a:ext cx="1518637" cy="3211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𝐾𝑅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mr-IN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mr-IN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𝐵𝐾</m:t>
                              </m:r>
                            </m:e>
                            <m:sup>
                              <m:r>
                                <a:rPr lang="mr-IN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mr-IN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𝐵𝑅</m:t>
                              </m:r>
                            </m:e>
                            <m:sup>
                              <m:r>
                                <a:rPr lang="mr-IN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8205" y="3771726"/>
                <a:ext cx="1518637" cy="321114"/>
              </a:xfrm>
              <a:prstGeom prst="rect">
                <a:avLst/>
              </a:prstGeom>
              <a:blipFill rotWithShape="0"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2605679" y="3610390"/>
                <a:ext cx="1518637" cy="637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mr-IN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90−</m:t>
                          </m:r>
                          <m:f>
                            <m:f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4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5679" y="3610390"/>
                <a:ext cx="1518637" cy="637995"/>
              </a:xfrm>
              <a:prstGeom prst="rect">
                <a:avLst/>
              </a:prstGeom>
              <a:blipFill rotWithShape="0"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3461930" y="3599157"/>
                <a:ext cx="1248653" cy="637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mr-IN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351</m:t>
                              </m:r>
                            </m:num>
                            <m:den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4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1930" y="3599157"/>
                <a:ext cx="1248653" cy="637995"/>
              </a:xfrm>
              <a:prstGeom prst="rect">
                <a:avLst/>
              </a:prstGeom>
              <a:blipFill rotWithShape="0"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4294060" y="3682309"/>
                <a:ext cx="834911" cy="4881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  <m:rad>
                            <m:radPr>
                              <m:degHide m:val="on"/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39</m:t>
                              </m:r>
                            </m:e>
                          </m:rad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060" y="3682309"/>
                <a:ext cx="834911" cy="488147"/>
              </a:xfrm>
              <a:prstGeom prst="rect">
                <a:avLst/>
              </a:prstGeom>
              <a:blipFill rotWithShape="0"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-104148" y="4223101"/>
                <a:ext cx="225506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𝐵𝐿𝐾𝑀𝑁𝐶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𝐿𝐾𝑀𝑁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sz="1200" i="1" dirty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𝐵𝐿𝑁𝐶</m:t>
                          </m:r>
                        </m:sub>
                      </m:sSub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4148" y="4223101"/>
                <a:ext cx="2255061" cy="276999"/>
              </a:xfrm>
              <a:prstGeom prst="rect">
                <a:avLst/>
              </a:prstGeom>
              <a:blipFill rotWithShape="0"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1729630" y="4170456"/>
                <a:ext cx="2733867" cy="439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𝐿𝑁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𝐾𝑀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mr-IN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𝐾𝑅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+</m:t>
                      </m:r>
                      <m:f>
                        <m:fPr>
                          <m:ctrlPr>
                            <a:rPr lang="mr-IN" sz="1200" i="1" dirty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𝐿𝑁</m:t>
                          </m:r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𝐵𝐶</m:t>
                          </m:r>
                        </m:num>
                        <m:den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mr-IN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f>
                        <m:fPr>
                          <m:ctrlPr>
                            <a:rPr lang="en-US" sz="1200" i="1" dirty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num>
                        <m:den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den>
                      </m:f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𝐾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𝑅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630" y="4170456"/>
                <a:ext cx="2733867" cy="439223"/>
              </a:xfrm>
              <a:prstGeom prst="rect">
                <a:avLst/>
              </a:prstGeom>
              <a:blipFill rotWithShape="0">
                <a:blip r:embed="rId44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4096877" y="4157734"/>
                <a:ext cx="2733867" cy="439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𝐾𝑅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6</m:t>
                          </m:r>
                        </m:den>
                      </m:f>
                      <m:d>
                        <m:d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𝐿𝑁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𝐾𝑀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+2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𝐿𝑁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+2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𝐵𝐶</m:t>
                          </m:r>
                        </m:e>
                      </m:d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6877" y="4157734"/>
                <a:ext cx="2733867" cy="439223"/>
              </a:xfrm>
              <a:prstGeom prst="rect">
                <a:avLst/>
              </a:prstGeom>
              <a:blipFill rotWithShape="0">
                <a:blip r:embed="rId4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136224" y="4538356"/>
                <a:ext cx="2545457" cy="4380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𝐾𝑅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6</m:t>
                          </m:r>
                        </m:den>
                      </m:f>
                      <m:d>
                        <m:d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𝐿𝑁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𝐾𝑀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+2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𝐵𝐶</m:t>
                          </m:r>
                        </m:e>
                      </m: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224" y="4538356"/>
                <a:ext cx="2545457" cy="438069"/>
              </a:xfrm>
              <a:prstGeom prst="rect">
                <a:avLst/>
              </a:prstGeom>
              <a:blipFill rotWithShape="0">
                <a:blip r:embed="rId46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2083971" y="4495852"/>
                <a:ext cx="1927321" cy="480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i="1" dirty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  <m:rad>
                            <m:radPr>
                              <m:degHide m:val="on"/>
                              <m:ctrlPr>
                                <a:rPr lang="en-US" sz="1200" i="1" dirty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39</m:t>
                              </m:r>
                            </m:e>
                          </m:rad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2∙6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(24+3+12)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3971" y="4495852"/>
                <a:ext cx="1927321" cy="480773"/>
              </a:xfrm>
              <a:prstGeom prst="rect">
                <a:avLst/>
              </a:prstGeom>
              <a:blipFill rotWithShape="0">
                <a:blip r:embed="rId47"/>
                <a:stretch>
                  <a:fillRect b="-12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3641419" y="4493104"/>
                <a:ext cx="1014289" cy="480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i="1" dirty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9</m:t>
                          </m:r>
                          <m:rad>
                            <m:radPr>
                              <m:degHide m:val="on"/>
                              <m:ctrlPr>
                                <a:rPr lang="en-US" sz="1200" i="1" dirty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39</m:t>
                              </m:r>
                            </m:e>
                          </m:rad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1419" y="4493104"/>
                <a:ext cx="1014289" cy="480773"/>
              </a:xfrm>
              <a:prstGeom prst="rect">
                <a:avLst/>
              </a:prstGeom>
              <a:blipFill rotWithShape="0">
                <a:blip r:embed="rId48"/>
                <a:stretch>
                  <a:fillRect b="-12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5045767" y="4515160"/>
                <a:ext cx="1429815" cy="5364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b="1" dirty="0" smtClean="0">
                    <a:solidFill>
                      <a:srgbClr val="FF0000"/>
                    </a:solidFill>
                  </a:rPr>
                  <a:t>Ответ: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  </m:t>
                    </m:r>
                    <m:f>
                      <m:fPr>
                        <m:ctrlPr>
                          <a:rPr lang="mr-IN" b="1" i="1" dirty="0">
                            <a:solidFill>
                              <a:srgbClr val="FF0000"/>
                            </a:solidFill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𝟑𝟗</m:t>
                        </m:r>
                        <m:rad>
                          <m:radPr>
                            <m:degHide m:val="on"/>
                            <m:ctrlPr>
                              <a:rPr lang="en-US" b="1" i="1" dirty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 charset="0"/>
                                <a:cs typeface="Cambria Math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 dirty="0">
                                <a:solidFill>
                                  <a:srgbClr val="FF0000"/>
                                </a:solidFill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𝟑𝟗</m:t>
                            </m:r>
                          </m:e>
                        </m:rad>
                      </m:num>
                      <m:den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𝟒</m:t>
                        </m:r>
                      </m:den>
                    </m:f>
                  </m:oMath>
                </a14:m>
                <a:endParaRPr lang="ru-RU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5767" y="4515160"/>
                <a:ext cx="1429815" cy="536494"/>
              </a:xfrm>
              <a:prstGeom prst="rect">
                <a:avLst/>
              </a:prstGeom>
              <a:blipFill rotWithShape="0">
                <a:blip r:embed="rId49"/>
                <a:stretch>
                  <a:fillRect l="-3846" b="-68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19355" y="1643677"/>
                <a:ext cx="120258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𝑅𝐻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: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𝐻𝐾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=2:1 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5" y="1643677"/>
                <a:ext cx="1202580" cy="276999"/>
              </a:xfrm>
              <a:prstGeom prst="rect">
                <a:avLst/>
              </a:prstGeom>
              <a:blipFill rotWithShape="0">
                <a:blip r:embed="rId50"/>
                <a:stretch>
                  <a:fillRect t="-82222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1914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5" grpId="1"/>
      <p:bldP spid="26" grpId="1"/>
      <p:bldP spid="27" grpId="1"/>
      <p:bldP spid="28" grpId="1"/>
      <p:bldP spid="29" grpId="0"/>
      <p:bldP spid="30" grpId="1"/>
      <p:bldP spid="31" grpId="1"/>
      <p:bldP spid="32" grpId="0"/>
      <p:bldP spid="33" grpId="0"/>
      <p:bldP spid="34" grpId="0"/>
      <p:bldP spid="35" grpId="0"/>
      <p:bldP spid="37" grpId="0"/>
      <p:bldP spid="38" grpId="0"/>
      <p:bldP spid="43" grpId="0" animBg="1"/>
      <p:bldP spid="44" grpId="0"/>
      <p:bldP spid="48" grpId="0"/>
      <p:bldP spid="50" grpId="0"/>
      <p:bldP spid="51" grpId="0"/>
      <p:bldP spid="52" grpId="0"/>
      <p:bldP spid="53" grpId="0"/>
      <p:bldP spid="54" grpId="0"/>
      <p:bldP spid="55" grpId="0"/>
      <p:bldP spid="56" grpId="0" animBg="1"/>
      <p:bldP spid="57" grpId="0"/>
      <p:bldP spid="58" grpId="0"/>
      <p:bldP spid="59" grpId="0"/>
      <p:bldP spid="60" grpId="0" animBg="1"/>
      <p:bldP spid="62" grpId="0"/>
      <p:bldP spid="63" grpId="0" animBg="1"/>
      <p:bldP spid="64" grpId="0" animBg="1"/>
      <p:bldP spid="71" grpId="0" animBg="1"/>
      <p:bldP spid="72" grpId="0"/>
      <p:bldP spid="6" grpId="0" animBg="1"/>
      <p:bldP spid="49" grpId="0"/>
      <p:bldP spid="65" grpId="0"/>
      <p:bldP spid="67" grpId="0"/>
      <p:bldP spid="68" grpId="0"/>
      <p:bldP spid="70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69" grpId="0"/>
      <p:bldP spid="84" grpId="0"/>
      <p:bldP spid="85" grpId="0"/>
      <p:bldP spid="86" grpId="0"/>
      <p:bldP spid="87" grpId="0"/>
      <p:bldP spid="88" grpId="0"/>
      <p:bldP spid="8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36</a:t>
            </a:fld>
            <a:endParaRPr kumimoji="0" lang="ru-RU">
              <a:solidFill>
                <a:schemeClr val="tx2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27584" y="1851670"/>
            <a:ext cx="7416824" cy="627534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rgbClr val="FF0000"/>
                </a:solidFill>
              </a:rPr>
              <a:t>Объем многогранника</a:t>
            </a:r>
            <a:endParaRPr lang="ru-R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750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37</a:t>
            </a:fld>
            <a:endParaRPr kumimoji="0" lang="ru-RU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0" y="-22136"/>
                <a:ext cx="9144000" cy="93770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dirty="0" smtClean="0">
                    <a:solidFill>
                      <a:srgbClr val="7030A0"/>
                    </a:solidFill>
                  </a:rPr>
                  <a:t>21.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Точка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𝑴</m:t>
                    </m:r>
                  </m:oMath>
                </a14:m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mr-IN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–</m:t>
                    </m:r>
                  </m:oMath>
                </a14:m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середина ребра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𝑩𝑫</m:t>
                    </m:r>
                  </m:oMath>
                </a14:m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правильного тетраэдра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𝑨𝑩𝑪𝑫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 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Плоскость, проходящая через точку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𝑴</m:t>
                    </m:r>
                  </m:oMath>
                </a14:m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перпендикулярно ребру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𝑨𝑫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,</m:t>
                    </m:r>
                  </m:oMath>
                </a14:m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пересекает это ребро в точке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𝑲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, 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а ребро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𝑪𝑫</m:t>
                    </m:r>
                  </m:oMath>
                </a14:m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 в точке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𝑵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 </m:t>
                    </m:r>
                  </m:oMath>
                </a14:m>
                <a:endParaRPr lang="en-US" sz="1200" b="1" i="0" dirty="0" smtClean="0">
                  <a:solidFill>
                    <a:srgbClr val="002060"/>
                  </a:solidFill>
                  <a:latin typeface="+mj-lt"/>
                </a:endParaRPr>
              </a:p>
              <a:p>
                <a:pPr algn="ctr"/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а) Докажите, что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𝑵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  <m:r>
                      <a:rPr lang="mr-IN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–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середина ребра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𝑪𝑫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 smtClean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1200" b="1" dirty="0">
                    <a:solidFill>
                      <a:srgbClr val="002060"/>
                    </a:solidFill>
                  </a:rPr>
                  <a:t>б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) Найдите объем тетраэдра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𝑨𝑩𝑪𝑫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,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если объем пирамиды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𝑫𝑲𝑴𝑵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равен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𝑽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 </m:t>
                    </m:r>
                  </m:oMath>
                </a14:m>
                <a:endParaRPr lang="en-US" sz="12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6"/>
                <a:ext cx="9144000" cy="93770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Прямая соединительная линия 4"/>
          <p:cNvCxnSpPr/>
          <p:nvPr/>
        </p:nvCxnSpPr>
        <p:spPr>
          <a:xfrm>
            <a:off x="5222227" y="3219822"/>
            <a:ext cx="3546179" cy="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>
            <a:off x="5222227" y="3219822"/>
            <a:ext cx="2745197" cy="108012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flipV="1">
            <a:off x="7967424" y="3219822"/>
            <a:ext cx="800982" cy="108012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7458921" y="1491630"/>
            <a:ext cx="1309485" cy="1728191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 flipH="1">
            <a:off x="5222227" y="1491628"/>
            <a:ext cx="2236694" cy="1728193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348055" y="1187758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8055" y="1187758"/>
                <a:ext cx="340286" cy="3077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674485" y="3144340"/>
                <a:ext cx="3481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4485" y="3144340"/>
                <a:ext cx="348172" cy="3077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 flipH="1">
                <a:off x="7811820" y="4293397"/>
                <a:ext cx="2465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811820" y="4293397"/>
                <a:ext cx="246540" cy="307777"/>
              </a:xfrm>
              <a:prstGeom prst="rect">
                <a:avLst/>
              </a:prstGeom>
              <a:blipFill rotWithShape="0">
                <a:blip r:embed="rId5"/>
                <a:stretch>
                  <a:fillRect r="-73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Прямая соединительная линия 17"/>
          <p:cNvCxnSpPr/>
          <p:nvPr/>
        </p:nvCxnSpPr>
        <p:spPr>
          <a:xfrm>
            <a:off x="7458921" y="1491629"/>
            <a:ext cx="508503" cy="2808313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 flipH="1">
                <a:off x="4948635" y="3137173"/>
                <a:ext cx="2465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𝐷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948635" y="3137173"/>
                <a:ext cx="246540" cy="307777"/>
              </a:xfrm>
              <a:prstGeom prst="rect">
                <a:avLst/>
              </a:prstGeom>
              <a:blipFill rotWithShape="0">
                <a:blip r:embed="rId6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Овал 31"/>
          <p:cNvSpPr/>
          <p:nvPr/>
        </p:nvSpPr>
        <p:spPr>
          <a:xfrm flipH="1">
            <a:off x="6626883" y="3755915"/>
            <a:ext cx="41563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 flipH="1">
                <a:off x="6408297" y="3787288"/>
                <a:ext cx="2465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𝑀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408297" y="3787288"/>
                <a:ext cx="246540" cy="307777"/>
              </a:xfrm>
              <a:prstGeom prst="rect">
                <a:avLst/>
              </a:prstGeom>
              <a:blipFill rotWithShape="0">
                <a:blip r:embed="rId7"/>
                <a:stretch>
                  <a:fillRect r="-219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Полилиния 35"/>
          <p:cNvSpPr/>
          <p:nvPr/>
        </p:nvSpPr>
        <p:spPr>
          <a:xfrm>
            <a:off x="5938463" y="3452117"/>
            <a:ext cx="61645" cy="143838"/>
          </a:xfrm>
          <a:custGeom>
            <a:avLst/>
            <a:gdLst>
              <a:gd name="connsiteX0" fmla="*/ 61645 w 61645"/>
              <a:gd name="connsiteY0" fmla="*/ 0 h 143838"/>
              <a:gd name="connsiteX1" fmla="*/ 0 w 61645"/>
              <a:gd name="connsiteY1" fmla="*/ 143838 h 14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1645" h="143838">
                <a:moveTo>
                  <a:pt x="61645" y="0"/>
                </a:moveTo>
                <a:lnTo>
                  <a:pt x="0" y="143838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олилиния 36"/>
          <p:cNvSpPr/>
          <p:nvPr/>
        </p:nvSpPr>
        <p:spPr>
          <a:xfrm>
            <a:off x="7259696" y="3971225"/>
            <a:ext cx="61645" cy="143838"/>
          </a:xfrm>
          <a:custGeom>
            <a:avLst/>
            <a:gdLst>
              <a:gd name="connsiteX0" fmla="*/ 61645 w 61645"/>
              <a:gd name="connsiteY0" fmla="*/ 0 h 143838"/>
              <a:gd name="connsiteX1" fmla="*/ 0 w 61645"/>
              <a:gd name="connsiteY1" fmla="*/ 143838 h 14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1645" h="143838">
                <a:moveTo>
                  <a:pt x="61645" y="0"/>
                </a:moveTo>
                <a:lnTo>
                  <a:pt x="0" y="143838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9" name="Прямая соединительная линия 38"/>
          <p:cNvCxnSpPr/>
          <p:nvPr/>
        </p:nvCxnSpPr>
        <p:spPr>
          <a:xfrm flipH="1" flipV="1">
            <a:off x="6353007" y="2355724"/>
            <a:ext cx="1624191" cy="1944219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 flipH="1">
                <a:off x="6148575" y="2079556"/>
                <a:ext cx="2465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𝐿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148575" y="2079556"/>
                <a:ext cx="246540" cy="30777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Полилиния 43"/>
          <p:cNvSpPr/>
          <p:nvPr/>
        </p:nvSpPr>
        <p:spPr>
          <a:xfrm>
            <a:off x="6236413" y="2363056"/>
            <a:ext cx="226032" cy="215758"/>
          </a:xfrm>
          <a:custGeom>
            <a:avLst/>
            <a:gdLst>
              <a:gd name="connsiteX0" fmla="*/ 0 w 226032"/>
              <a:gd name="connsiteY0" fmla="*/ 82194 h 215758"/>
              <a:gd name="connsiteX1" fmla="*/ 113016 w 226032"/>
              <a:gd name="connsiteY1" fmla="*/ 215758 h 215758"/>
              <a:gd name="connsiteX2" fmla="*/ 226032 w 226032"/>
              <a:gd name="connsiteY2" fmla="*/ 123290 h 215758"/>
              <a:gd name="connsiteX3" fmla="*/ 113016 w 226032"/>
              <a:gd name="connsiteY3" fmla="*/ 0 h 215758"/>
              <a:gd name="connsiteX4" fmla="*/ 0 w 226032"/>
              <a:gd name="connsiteY4" fmla="*/ 82194 h 215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032" h="215758">
                <a:moveTo>
                  <a:pt x="0" y="82194"/>
                </a:moveTo>
                <a:lnTo>
                  <a:pt x="113016" y="215758"/>
                </a:lnTo>
                <a:lnTo>
                  <a:pt x="226032" y="123290"/>
                </a:lnTo>
                <a:lnTo>
                  <a:pt x="113016" y="0"/>
                </a:lnTo>
                <a:lnTo>
                  <a:pt x="0" y="82194"/>
                </a:lnTo>
                <a:close/>
              </a:path>
            </a:pathLst>
          </a:custGeom>
          <a:solidFill>
            <a:schemeClr val="bg1">
              <a:lumMod val="85000"/>
              <a:alpha val="47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олилиния 44"/>
          <p:cNvSpPr/>
          <p:nvPr/>
        </p:nvSpPr>
        <p:spPr>
          <a:xfrm>
            <a:off x="5832738" y="2632359"/>
            <a:ext cx="113015" cy="102741"/>
          </a:xfrm>
          <a:custGeom>
            <a:avLst/>
            <a:gdLst>
              <a:gd name="connsiteX0" fmla="*/ 0 w 113015"/>
              <a:gd name="connsiteY0" fmla="*/ 0 h 102741"/>
              <a:gd name="connsiteX1" fmla="*/ 113015 w 113015"/>
              <a:gd name="connsiteY1" fmla="*/ 102741 h 102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3015" h="102741">
                <a:moveTo>
                  <a:pt x="0" y="0"/>
                </a:moveTo>
                <a:lnTo>
                  <a:pt x="113015" y="102741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олилиния 45"/>
          <p:cNvSpPr/>
          <p:nvPr/>
        </p:nvSpPr>
        <p:spPr>
          <a:xfrm>
            <a:off x="6827129" y="1882532"/>
            <a:ext cx="113015" cy="102741"/>
          </a:xfrm>
          <a:custGeom>
            <a:avLst/>
            <a:gdLst>
              <a:gd name="connsiteX0" fmla="*/ 0 w 113015"/>
              <a:gd name="connsiteY0" fmla="*/ 0 h 102741"/>
              <a:gd name="connsiteX1" fmla="*/ 113015 w 113015"/>
              <a:gd name="connsiteY1" fmla="*/ 102741 h 102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3015" h="102741">
                <a:moveTo>
                  <a:pt x="0" y="0"/>
                </a:moveTo>
                <a:lnTo>
                  <a:pt x="113015" y="102741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Овал 46"/>
          <p:cNvSpPr/>
          <p:nvPr/>
        </p:nvSpPr>
        <p:spPr>
          <a:xfrm flipH="1">
            <a:off x="5777191" y="2767799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8" name="Прямая соединительная линия 47"/>
          <p:cNvCxnSpPr/>
          <p:nvPr/>
        </p:nvCxnSpPr>
        <p:spPr>
          <a:xfrm flipH="1" flipV="1">
            <a:off x="5792016" y="2788838"/>
            <a:ext cx="843114" cy="987858"/>
          </a:xfrm>
          <a:prstGeom prst="line">
            <a:avLst/>
          </a:prstGeom>
          <a:ln>
            <a:solidFill>
              <a:srgbClr val="00660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 flipH="1">
                <a:off x="5548572" y="2529840"/>
                <a:ext cx="2465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𝐾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548572" y="2529840"/>
                <a:ext cx="246540" cy="307777"/>
              </a:xfrm>
              <a:prstGeom prst="rect">
                <a:avLst/>
              </a:prstGeom>
              <a:blipFill rotWithShape="0">
                <a:blip r:embed="rId9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Полилиния 51"/>
          <p:cNvSpPr/>
          <p:nvPr/>
        </p:nvSpPr>
        <p:spPr>
          <a:xfrm>
            <a:off x="5671842" y="2793347"/>
            <a:ext cx="226032" cy="215758"/>
          </a:xfrm>
          <a:custGeom>
            <a:avLst/>
            <a:gdLst>
              <a:gd name="connsiteX0" fmla="*/ 0 w 226032"/>
              <a:gd name="connsiteY0" fmla="*/ 82194 h 215758"/>
              <a:gd name="connsiteX1" fmla="*/ 113016 w 226032"/>
              <a:gd name="connsiteY1" fmla="*/ 215758 h 215758"/>
              <a:gd name="connsiteX2" fmla="*/ 226032 w 226032"/>
              <a:gd name="connsiteY2" fmla="*/ 123290 h 215758"/>
              <a:gd name="connsiteX3" fmla="*/ 113016 w 226032"/>
              <a:gd name="connsiteY3" fmla="*/ 0 h 215758"/>
              <a:gd name="connsiteX4" fmla="*/ 0 w 226032"/>
              <a:gd name="connsiteY4" fmla="*/ 82194 h 215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032" h="215758">
                <a:moveTo>
                  <a:pt x="0" y="82194"/>
                </a:moveTo>
                <a:lnTo>
                  <a:pt x="113016" y="215758"/>
                </a:lnTo>
                <a:lnTo>
                  <a:pt x="226032" y="123290"/>
                </a:lnTo>
                <a:lnTo>
                  <a:pt x="113016" y="0"/>
                </a:lnTo>
                <a:lnTo>
                  <a:pt x="0" y="82194"/>
                </a:lnTo>
                <a:close/>
              </a:path>
            </a:pathLst>
          </a:custGeom>
          <a:solidFill>
            <a:schemeClr val="bg1">
              <a:lumMod val="85000"/>
              <a:alpha val="47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3" name="Прямая соединительная линия 52"/>
          <p:cNvCxnSpPr>
            <a:endCxn id="44" idx="3"/>
          </p:cNvCxnSpPr>
          <p:nvPr/>
        </p:nvCxnSpPr>
        <p:spPr>
          <a:xfrm flipH="1" flipV="1">
            <a:off x="6349429" y="2363056"/>
            <a:ext cx="2418977" cy="856765"/>
          </a:xfrm>
          <a:prstGeom prst="line">
            <a:avLst/>
          </a:prstGeom>
          <a:ln>
            <a:prstDash val="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7" name="Полилиния 56"/>
          <p:cNvSpPr/>
          <p:nvPr/>
        </p:nvSpPr>
        <p:spPr>
          <a:xfrm>
            <a:off x="6349429" y="2252746"/>
            <a:ext cx="369870" cy="182229"/>
          </a:xfrm>
          <a:custGeom>
            <a:avLst/>
            <a:gdLst>
              <a:gd name="connsiteX0" fmla="*/ 0 w 369870"/>
              <a:gd name="connsiteY0" fmla="*/ 102741 h 164386"/>
              <a:gd name="connsiteX1" fmla="*/ 205483 w 369870"/>
              <a:gd name="connsiteY1" fmla="*/ 164386 h 164386"/>
              <a:gd name="connsiteX2" fmla="*/ 369870 w 369870"/>
              <a:gd name="connsiteY2" fmla="*/ 71919 h 164386"/>
              <a:gd name="connsiteX3" fmla="*/ 143838 w 369870"/>
              <a:gd name="connsiteY3" fmla="*/ 0 h 164386"/>
              <a:gd name="connsiteX4" fmla="*/ 0 w 369870"/>
              <a:gd name="connsiteY4" fmla="*/ 102741 h 164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70" h="164386">
                <a:moveTo>
                  <a:pt x="0" y="102741"/>
                </a:moveTo>
                <a:lnTo>
                  <a:pt x="205483" y="164386"/>
                </a:lnTo>
                <a:lnTo>
                  <a:pt x="369870" y="71919"/>
                </a:lnTo>
                <a:lnTo>
                  <a:pt x="143838" y="0"/>
                </a:lnTo>
                <a:lnTo>
                  <a:pt x="0" y="102741"/>
                </a:lnTo>
                <a:close/>
              </a:path>
            </a:pathLst>
          </a:custGeom>
          <a:solidFill>
            <a:schemeClr val="bg1">
              <a:lumMod val="85000"/>
              <a:alpha val="41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8" name="Прямая соединительная линия 57"/>
          <p:cNvCxnSpPr/>
          <p:nvPr/>
        </p:nvCxnSpPr>
        <p:spPr>
          <a:xfrm flipH="1" flipV="1">
            <a:off x="5769098" y="2780378"/>
            <a:ext cx="1209488" cy="434645"/>
          </a:xfrm>
          <a:prstGeom prst="line">
            <a:avLst/>
          </a:prstGeom>
          <a:ln>
            <a:solidFill>
              <a:srgbClr val="006600"/>
            </a:solidFill>
            <a:prstDash val="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0" name="Полилиния 59"/>
          <p:cNvSpPr/>
          <p:nvPr/>
        </p:nvSpPr>
        <p:spPr>
          <a:xfrm>
            <a:off x="5792835" y="2671919"/>
            <a:ext cx="369870" cy="182229"/>
          </a:xfrm>
          <a:custGeom>
            <a:avLst/>
            <a:gdLst>
              <a:gd name="connsiteX0" fmla="*/ 0 w 369870"/>
              <a:gd name="connsiteY0" fmla="*/ 102741 h 164386"/>
              <a:gd name="connsiteX1" fmla="*/ 205483 w 369870"/>
              <a:gd name="connsiteY1" fmla="*/ 164386 h 164386"/>
              <a:gd name="connsiteX2" fmla="*/ 369870 w 369870"/>
              <a:gd name="connsiteY2" fmla="*/ 71919 h 164386"/>
              <a:gd name="connsiteX3" fmla="*/ 143838 w 369870"/>
              <a:gd name="connsiteY3" fmla="*/ 0 h 164386"/>
              <a:gd name="connsiteX4" fmla="*/ 0 w 369870"/>
              <a:gd name="connsiteY4" fmla="*/ 102741 h 164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70" h="164386">
                <a:moveTo>
                  <a:pt x="0" y="102741"/>
                </a:moveTo>
                <a:lnTo>
                  <a:pt x="205483" y="164386"/>
                </a:lnTo>
                <a:lnTo>
                  <a:pt x="369870" y="71919"/>
                </a:lnTo>
                <a:lnTo>
                  <a:pt x="143838" y="0"/>
                </a:lnTo>
                <a:lnTo>
                  <a:pt x="0" y="102741"/>
                </a:lnTo>
                <a:close/>
              </a:path>
            </a:pathLst>
          </a:custGeom>
          <a:solidFill>
            <a:schemeClr val="bg1">
              <a:lumMod val="85000"/>
              <a:alpha val="41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Овал 60"/>
          <p:cNvSpPr/>
          <p:nvPr/>
        </p:nvSpPr>
        <p:spPr>
          <a:xfrm flipH="1">
            <a:off x="6951848" y="3201439"/>
            <a:ext cx="41563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 flipH="1">
                <a:off x="6856356" y="3229556"/>
                <a:ext cx="2465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𝑁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856356" y="3229556"/>
                <a:ext cx="246540" cy="307777"/>
              </a:xfrm>
              <a:prstGeom prst="rect">
                <a:avLst/>
              </a:prstGeom>
              <a:blipFill rotWithShape="0">
                <a:blip r:embed="rId10"/>
                <a:stretch>
                  <a:fillRect r="-1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Прямая соединительная линия 63"/>
          <p:cNvCxnSpPr>
            <a:stCxn id="63" idx="0"/>
            <a:endCxn id="32" idx="1"/>
          </p:cNvCxnSpPr>
          <p:nvPr/>
        </p:nvCxnSpPr>
        <p:spPr>
          <a:xfrm flipH="1">
            <a:off x="6662359" y="3229556"/>
            <a:ext cx="317267" cy="532446"/>
          </a:xfrm>
          <a:prstGeom prst="line">
            <a:avLst/>
          </a:prstGeom>
          <a:ln>
            <a:solidFill>
              <a:srgbClr val="006600"/>
            </a:solidFill>
            <a:prstDash val="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9" name="Полилиния 68"/>
          <p:cNvSpPr/>
          <p:nvPr/>
        </p:nvSpPr>
        <p:spPr>
          <a:xfrm>
            <a:off x="5784351" y="2784297"/>
            <a:ext cx="1202076" cy="996593"/>
          </a:xfrm>
          <a:custGeom>
            <a:avLst/>
            <a:gdLst>
              <a:gd name="connsiteX0" fmla="*/ 863029 w 1202076"/>
              <a:gd name="connsiteY0" fmla="*/ 996593 h 996593"/>
              <a:gd name="connsiteX1" fmla="*/ 0 w 1202076"/>
              <a:gd name="connsiteY1" fmla="*/ 0 h 996593"/>
              <a:gd name="connsiteX2" fmla="*/ 1202076 w 1202076"/>
              <a:gd name="connsiteY2" fmla="*/ 452063 h 996593"/>
              <a:gd name="connsiteX3" fmla="*/ 863029 w 1202076"/>
              <a:gd name="connsiteY3" fmla="*/ 996593 h 996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2076" h="996593">
                <a:moveTo>
                  <a:pt x="863029" y="996593"/>
                </a:moveTo>
                <a:lnTo>
                  <a:pt x="0" y="0"/>
                </a:lnTo>
                <a:lnTo>
                  <a:pt x="1202076" y="452063"/>
                </a:lnTo>
                <a:lnTo>
                  <a:pt x="863029" y="996593"/>
                </a:lnTo>
                <a:close/>
              </a:path>
            </a:pathLst>
          </a:custGeom>
          <a:solidFill>
            <a:srgbClr val="006600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163108" y="1005877"/>
                <a:ext cx="538546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 smtClean="0">
                    <a:solidFill>
                      <a:schemeClr val="tx1"/>
                    </a:solidFill>
                  </a:rPr>
                  <a:t>а)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𝐵𝐿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−</m:t>
                    </m:r>
                  </m:oMath>
                </a14:m>
                <a:r>
                  <a:rPr lang="ru-RU" sz="1200" b="0" i="0" dirty="0" smtClean="0">
                    <a:solidFill>
                      <a:schemeClr val="tx1"/>
                    </a:solidFill>
                    <a:latin typeface="+mj-lt"/>
                  </a:rPr>
                  <a:t>медиана и высота правильного 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треугольника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𝐴𝐵𝐷</m:t>
                    </m:r>
                    <m:r>
                      <a:rPr lang="ru-RU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0" i="0" dirty="0" smtClean="0">
                    <a:solidFill>
                      <a:schemeClr val="tx1"/>
                    </a:solidFill>
                    <a:latin typeface="+mj-lt"/>
                  </a:rPr>
                  <a:t>(по построению)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;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08" y="1005877"/>
                <a:ext cx="5385463" cy="276999"/>
              </a:xfrm>
              <a:prstGeom prst="rect">
                <a:avLst/>
              </a:prstGeom>
              <a:blipFill rotWithShape="0">
                <a:blip r:embed="rId11"/>
                <a:stretch>
                  <a:fillRect l="-113" t="-80000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130399" y="1254514"/>
                <a:ext cx="553138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𝑀𝐾</m:t>
                    </m:r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∥</m:t>
                    </m:r>
                    <m:r>
                      <a:rPr lang="en-US" sz="1200" i="1">
                        <a:latin typeface="Cambria Math" charset="0"/>
                      </a:rPr>
                      <m:t>𝐵𝐿</m:t>
                    </m:r>
                    <m:r>
                      <a:rPr lang="ru-RU" sz="1200" b="0" i="1" smtClean="0">
                        <a:latin typeface="Cambria Math" charset="0"/>
                      </a:rPr>
                      <m:t>  </m:t>
                    </m:r>
                    <m:r>
                      <m:rPr>
                        <m:nor/>
                      </m:rPr>
                      <a:rPr lang="ru-RU" sz="1200" dirty="0"/>
                      <m:t>(по построению)</m:t>
                    </m:r>
                    <m:r>
                      <m:rPr>
                        <m:nor/>
                      </m:rPr>
                      <a:rPr lang="ru-RU" sz="1200" b="0" i="0" dirty="0" smtClean="0"/>
                      <m:t> </m:t>
                    </m:r>
                    <m:r>
                      <a:rPr lang="en-US" sz="1200" b="0" i="1" dirty="0" smtClean="0">
                        <a:latin typeface="Cambria Math" charset="0"/>
                      </a:rPr>
                      <m:t>;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𝐵𝑀</m:t>
                    </m:r>
                    <m:r>
                      <a:rPr lang="en-US" sz="1200" b="0" i="1" dirty="0" smtClean="0">
                        <a:latin typeface="Cambria Math" charset="0"/>
                      </a:rPr>
                      <m:t>=</m:t>
                    </m:r>
                    <m:r>
                      <a:rPr lang="en-US" sz="1200" b="0" i="1" dirty="0" smtClean="0">
                        <a:latin typeface="Cambria Math" charset="0"/>
                      </a:rPr>
                      <m:t>𝑀𝐷</m:t>
                    </m:r>
                    <m:r>
                      <a:rPr lang="en-US" sz="1200" b="0" i="1" dirty="0" smtClean="0">
                        <a:latin typeface="Cambria Math" charset="0"/>
                      </a:rPr>
                      <m:t>(</m:t>
                    </m:r>
                  </m:oMath>
                </a14:m>
                <a:r>
                  <a:rPr lang="ru-RU" sz="1200" b="0" i="0" dirty="0" smtClean="0">
                    <a:latin typeface="+mj-lt"/>
                  </a:rPr>
                  <a:t>по условию</a:t>
                </a:r>
                <a14:m>
                  <m:oMath xmlns:m="http://schemas.openxmlformats.org/officeDocument/2006/math">
                    <m:r>
                      <a:rPr lang="ru-RU" sz="1200" b="0" i="1" dirty="0" smtClean="0">
                        <a:latin typeface="Cambria Math" charset="0"/>
                      </a:rPr>
                      <m:t>)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  <m:r>
                      <a:rPr lang="en-US" sz="1200" i="1" dirty="0">
                        <a:latin typeface="Cambria Math" charset="0"/>
                      </a:rPr>
                      <m:t>𝑀𝐾</m:t>
                    </m:r>
                    <m:r>
                      <a:rPr lang="en-US" sz="12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⊥</m:t>
                    </m:r>
                    <m:r>
                      <a:rPr lang="en-US" sz="1200" b="0" i="1" smtClean="0">
                        <a:latin typeface="Cambria Math" charset="0"/>
                      </a:rPr>
                      <m:t>𝐴𝐷</m:t>
                    </m:r>
                    <m:r>
                      <a:rPr lang="en-US" sz="1200" b="0" i="1" smtClean="0">
                        <a:latin typeface="Cambria Math" charset="0"/>
                      </a:rPr>
                      <m:t>;</m:t>
                    </m:r>
                    <m:r>
                      <a:rPr lang="en-US" sz="1200" b="0" i="1" smtClean="0">
                        <a:latin typeface="Cambria Math" charset="0"/>
                      </a:rPr>
                      <m:t>𝐷𝐾</m:t>
                    </m:r>
                    <m:r>
                      <a:rPr lang="en-US" sz="1200" b="0" i="1" smtClean="0">
                        <a:latin typeface="Cambria Math" charset="0"/>
                      </a:rPr>
                      <m:t>=</m:t>
                    </m:r>
                    <m:r>
                      <a:rPr lang="en-US" sz="1200" b="0" i="1" smtClean="0">
                        <a:latin typeface="Cambria Math" charset="0"/>
                      </a:rPr>
                      <m:t>𝐾𝐿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99" y="1254514"/>
                <a:ext cx="5531382" cy="276999"/>
              </a:xfrm>
              <a:prstGeom prst="rect">
                <a:avLst/>
              </a:prstGeom>
              <a:blipFill rotWithShape="0">
                <a:blip r:embed="rId12"/>
                <a:stretch>
                  <a:fillRect t="-80000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200636" y="1491628"/>
                <a:ext cx="527713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𝐶𝐿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−</m:t>
                    </m:r>
                  </m:oMath>
                </a14:m>
                <a:r>
                  <a:rPr lang="ru-RU" sz="1200" b="0" i="0" dirty="0" smtClean="0">
                    <a:solidFill>
                      <a:schemeClr val="tx1"/>
                    </a:solidFill>
                    <a:latin typeface="+mj-lt"/>
                  </a:rPr>
                  <a:t>медиана и высота </a:t>
                </a:r>
                <a:r>
                  <a:rPr lang="ru-RU" sz="1200" dirty="0"/>
                  <a:t>правильного </a:t>
                </a:r>
                <a:r>
                  <a:rPr lang="ru-RU" sz="1200" dirty="0" smtClean="0"/>
                  <a:t> 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треугольника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𝐴𝐶𝐷</m:t>
                    </m:r>
                    <m:r>
                      <m:rPr>
                        <m:nor/>
                      </m:rPr>
                      <a:rPr lang="ru-RU" sz="1200" b="0" i="0" smtClean="0">
                        <a:solidFill>
                          <a:schemeClr val="tx1"/>
                        </a:solidFill>
                        <a:latin typeface="Cambria Math" charset="0"/>
                      </a:rPr>
                      <m:t>   </m:t>
                    </m:r>
                    <m:r>
                      <m:rPr>
                        <m:nor/>
                      </m:rPr>
                      <a:rPr lang="ru-RU" sz="1200" dirty="0"/>
                      <m:t>(по построению)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;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636" y="1491628"/>
                <a:ext cx="5277131" cy="276999"/>
              </a:xfrm>
              <a:prstGeom prst="rect">
                <a:avLst/>
              </a:prstGeom>
              <a:blipFill rotWithShape="0">
                <a:blip r:embed="rId13"/>
                <a:stretch>
                  <a:fillRect t="-82222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-39778" y="1788124"/>
                <a:ext cx="450370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𝑁</m:t>
                      </m:r>
                      <m:r>
                        <a:rPr lang="en-US" sz="120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𝐾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∥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𝐶</m:t>
                      </m:r>
                      <m:r>
                        <a:rPr lang="en-US" sz="1200" i="1">
                          <a:latin typeface="Cambria Math" charset="0"/>
                        </a:rPr>
                        <m:t>𝐿</m:t>
                      </m:r>
                      <m:r>
                        <m:rPr>
                          <m:nor/>
                        </m:rPr>
                        <a:rPr lang="ru-RU" sz="1200" dirty="0"/>
                        <m:t>(по построению)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; 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𝐷𝐾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𝐾𝐿</m:t>
                      </m:r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𝑁</m:t>
                      </m:r>
                      <m:r>
                        <a:rPr lang="en-US" sz="1200" i="1" dirty="0">
                          <a:latin typeface="Cambria Math" charset="0"/>
                        </a:rPr>
                        <m:t>𝐾</m:t>
                      </m:r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⊥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𝐴𝐷</m:t>
                      </m:r>
                      <m:r>
                        <a:rPr lang="en-US" sz="1200" b="0" i="1" smtClean="0">
                          <a:latin typeface="Cambria Math" charset="0"/>
                        </a:rPr>
                        <m:t>;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𝐷𝑁</m:t>
                      </m:r>
                      <m:r>
                        <a:rPr lang="en-US" sz="1200" b="0" i="1" smtClean="0">
                          <a:latin typeface="Cambria Math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𝑁𝐶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9778" y="1788124"/>
                <a:ext cx="4503701" cy="276999"/>
              </a:xfrm>
              <a:prstGeom prst="rect">
                <a:avLst/>
              </a:prstGeom>
              <a:blipFill rotWithShape="0">
                <a:blip r:embed="rId14"/>
                <a:stretch>
                  <a:fillRect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200637" y="2021031"/>
                <a:ext cx="336953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𝐴𝐷</m:t>
                    </m:r>
                    <m:r>
                      <a:rPr lang="en-US" sz="12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⊥</m:t>
                    </m:r>
                    <m:d>
                      <m:dPr>
                        <m:ctrlPr>
                          <a:rPr lang="en-US" sz="1200" b="0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charset="0"/>
                          </a:rPr>
                          <m:t>𝐾𝑀𝑁</m:t>
                        </m:r>
                      </m:e>
                    </m:d>
                    <m:r>
                      <a:rPr lang="en-US" sz="1200" b="0" i="1" smtClean="0">
                        <a:latin typeface="Cambria Math" charset="0"/>
                      </a:rPr>
                      <m:t>;  </m:t>
                    </m:r>
                    <m:r>
                      <a:rPr lang="en-US" sz="1200" b="0" i="1" smtClean="0">
                        <a:latin typeface="Cambria Math" charset="0"/>
                      </a:rPr>
                      <m:t>𝑁</m:t>
                    </m:r>
                    <m:r>
                      <a:rPr lang="en-US" sz="1200" b="0" i="1" smtClean="0">
                        <a:latin typeface="Cambria Math" charset="0"/>
                      </a:rPr>
                      <m:t> − 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середина ребра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charset="0"/>
                      </a:rPr>
                      <m:t>𝐶𝐷</m:t>
                    </m:r>
                    <m:r>
                      <a:rPr lang="en-US" sz="1200" b="0" i="1" smtClean="0">
                        <a:latin typeface="Cambria Math" charset="0"/>
                      </a:rPr>
                      <m:t>.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637" y="2021031"/>
                <a:ext cx="3369532" cy="276999"/>
              </a:xfrm>
              <a:prstGeom prst="rect">
                <a:avLst/>
              </a:prstGeom>
              <a:blipFill rotWithShape="0">
                <a:blip r:embed="rId15"/>
                <a:stretch>
                  <a:fillRect t="-82222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163109" y="2281641"/>
                <a:ext cx="43841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 smtClean="0">
                    <a:solidFill>
                      <a:schemeClr val="tx1"/>
                    </a:solidFill>
                  </a:rPr>
                  <a:t>б) </a:t>
                </a:r>
                <a:r>
                  <a:rPr lang="ru-RU" sz="1200" i="0" dirty="0" smtClean="0">
                    <a:solidFill>
                      <a:schemeClr val="tx1"/>
                    </a:solidFill>
                    <a:latin typeface="+mj-lt"/>
                  </a:rPr>
                  <a:t>Найдем соотношения объемов тетраэдра </a:t>
                </a:r>
                <a14:m>
                  <m:oMath xmlns:m="http://schemas.openxmlformats.org/officeDocument/2006/math"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charset="0"/>
                      </a:rPr>
                      <m:t>𝐴𝐵𝐶𝐷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и </a:t>
                </a:r>
                <a:r>
                  <a:rPr lang="ru-RU" sz="1200" dirty="0">
                    <a:solidFill>
                      <a:schemeClr val="tx1"/>
                    </a:solidFill>
                  </a:rPr>
                  <a:t>пирамиды </a:t>
                </a:r>
                <a14:m>
                  <m:oMath xmlns:m="http://schemas.openxmlformats.org/officeDocument/2006/math"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charset="0"/>
                      </a:rPr>
                      <m:t>𝐷𝐾𝑀𝑁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r>
                  <a:rPr lang="ru-RU" sz="12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09" y="2281641"/>
                <a:ext cx="4384160" cy="461665"/>
              </a:xfrm>
              <a:prstGeom prst="rect">
                <a:avLst/>
              </a:prstGeom>
              <a:blipFill rotWithShape="0">
                <a:blip r:embed="rId16"/>
                <a:stretch>
                  <a:fillRect l="-13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Полилиния 75"/>
          <p:cNvSpPr/>
          <p:nvPr/>
        </p:nvSpPr>
        <p:spPr>
          <a:xfrm>
            <a:off x="5208998" y="2784297"/>
            <a:ext cx="1777429" cy="996593"/>
          </a:xfrm>
          <a:custGeom>
            <a:avLst/>
            <a:gdLst>
              <a:gd name="connsiteX0" fmla="*/ 0 w 1777429"/>
              <a:gd name="connsiteY0" fmla="*/ 441788 h 996593"/>
              <a:gd name="connsiteX1" fmla="*/ 585627 w 1777429"/>
              <a:gd name="connsiteY1" fmla="*/ 0 h 996593"/>
              <a:gd name="connsiteX2" fmla="*/ 1777429 w 1777429"/>
              <a:gd name="connsiteY2" fmla="*/ 452063 h 996593"/>
              <a:gd name="connsiteX3" fmla="*/ 1448656 w 1777429"/>
              <a:gd name="connsiteY3" fmla="*/ 996593 h 996593"/>
              <a:gd name="connsiteX4" fmla="*/ 0 w 1777429"/>
              <a:gd name="connsiteY4" fmla="*/ 441788 h 996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77429" h="996593">
                <a:moveTo>
                  <a:pt x="0" y="441788"/>
                </a:moveTo>
                <a:lnTo>
                  <a:pt x="585627" y="0"/>
                </a:lnTo>
                <a:lnTo>
                  <a:pt x="1777429" y="452063"/>
                </a:lnTo>
                <a:lnTo>
                  <a:pt x="1448656" y="996593"/>
                </a:lnTo>
                <a:lnTo>
                  <a:pt x="0" y="441788"/>
                </a:lnTo>
                <a:close/>
              </a:path>
            </a:pathLst>
          </a:custGeom>
          <a:solidFill>
            <a:srgbClr val="006600">
              <a:alpha val="1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7" name="Прямая соединительная линия 76"/>
          <p:cNvCxnSpPr/>
          <p:nvPr/>
        </p:nvCxnSpPr>
        <p:spPr>
          <a:xfrm flipH="1" flipV="1">
            <a:off x="7445535" y="1499442"/>
            <a:ext cx="129855" cy="2090830"/>
          </a:xfrm>
          <a:prstGeom prst="line">
            <a:avLst/>
          </a:prstGeom>
          <a:ln>
            <a:prstDash val="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3" name="Овал 82"/>
          <p:cNvSpPr/>
          <p:nvPr/>
        </p:nvSpPr>
        <p:spPr>
          <a:xfrm flipH="1">
            <a:off x="7565938" y="3590272"/>
            <a:ext cx="41563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 flipH="1">
                <a:off x="7565071" y="3374739"/>
                <a:ext cx="2465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𝑂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565071" y="3374739"/>
                <a:ext cx="246540" cy="307777"/>
              </a:xfrm>
              <a:prstGeom prst="rect">
                <a:avLst/>
              </a:prstGeom>
              <a:blipFill rotWithShape="0">
                <a:blip r:embed="rId17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6" name="Прямая соединительная линия 85"/>
          <p:cNvCxnSpPr>
            <a:endCxn id="76" idx="0"/>
          </p:cNvCxnSpPr>
          <p:nvPr/>
        </p:nvCxnSpPr>
        <p:spPr>
          <a:xfrm flipH="1" flipV="1">
            <a:off x="5208998" y="3226085"/>
            <a:ext cx="3150460" cy="510942"/>
          </a:xfrm>
          <a:prstGeom prst="line">
            <a:avLst/>
          </a:prstGeom>
          <a:ln>
            <a:prstDash val="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9" name="Полилиния 88"/>
          <p:cNvSpPr/>
          <p:nvPr/>
        </p:nvSpPr>
        <p:spPr>
          <a:xfrm>
            <a:off x="7417942" y="3389023"/>
            <a:ext cx="167222" cy="221797"/>
          </a:xfrm>
          <a:custGeom>
            <a:avLst/>
            <a:gdLst>
              <a:gd name="connsiteX0" fmla="*/ 143838 w 174660"/>
              <a:gd name="connsiteY0" fmla="*/ 20549 h 195209"/>
              <a:gd name="connsiteX1" fmla="*/ 0 w 174660"/>
              <a:gd name="connsiteY1" fmla="*/ 0 h 195209"/>
              <a:gd name="connsiteX2" fmla="*/ 20548 w 174660"/>
              <a:gd name="connsiteY2" fmla="*/ 174661 h 195209"/>
              <a:gd name="connsiteX3" fmla="*/ 174660 w 174660"/>
              <a:gd name="connsiteY3" fmla="*/ 195209 h 195209"/>
              <a:gd name="connsiteX4" fmla="*/ 143838 w 174660"/>
              <a:gd name="connsiteY4" fmla="*/ 20549 h 195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660" h="195209">
                <a:moveTo>
                  <a:pt x="143838" y="20549"/>
                </a:moveTo>
                <a:lnTo>
                  <a:pt x="0" y="0"/>
                </a:lnTo>
                <a:lnTo>
                  <a:pt x="20548" y="174661"/>
                </a:lnTo>
                <a:lnTo>
                  <a:pt x="174660" y="195209"/>
                </a:lnTo>
                <a:lnTo>
                  <a:pt x="143838" y="20549"/>
                </a:lnTo>
                <a:close/>
              </a:path>
            </a:pathLst>
          </a:custGeom>
          <a:solidFill>
            <a:schemeClr val="bg1">
              <a:lumMod val="85000"/>
              <a:alpha val="34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0" name="Прямая соединительная линия 89"/>
          <p:cNvCxnSpPr/>
          <p:nvPr/>
        </p:nvCxnSpPr>
        <p:spPr>
          <a:xfrm flipH="1" flipV="1">
            <a:off x="5790494" y="2741873"/>
            <a:ext cx="43736" cy="585960"/>
          </a:xfrm>
          <a:prstGeom prst="line">
            <a:avLst/>
          </a:prstGeom>
          <a:ln>
            <a:prstDash val="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93" name="Полилиния 92"/>
          <p:cNvSpPr/>
          <p:nvPr/>
        </p:nvSpPr>
        <p:spPr>
          <a:xfrm>
            <a:off x="5679809" y="3132478"/>
            <a:ext cx="152929" cy="193497"/>
          </a:xfrm>
          <a:custGeom>
            <a:avLst/>
            <a:gdLst>
              <a:gd name="connsiteX0" fmla="*/ 143838 w 174660"/>
              <a:gd name="connsiteY0" fmla="*/ 20549 h 195209"/>
              <a:gd name="connsiteX1" fmla="*/ 0 w 174660"/>
              <a:gd name="connsiteY1" fmla="*/ 0 h 195209"/>
              <a:gd name="connsiteX2" fmla="*/ 20548 w 174660"/>
              <a:gd name="connsiteY2" fmla="*/ 174661 h 195209"/>
              <a:gd name="connsiteX3" fmla="*/ 174660 w 174660"/>
              <a:gd name="connsiteY3" fmla="*/ 195209 h 195209"/>
              <a:gd name="connsiteX4" fmla="*/ 143838 w 174660"/>
              <a:gd name="connsiteY4" fmla="*/ 20549 h 195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660" h="195209">
                <a:moveTo>
                  <a:pt x="143838" y="20549"/>
                </a:moveTo>
                <a:lnTo>
                  <a:pt x="0" y="0"/>
                </a:lnTo>
                <a:lnTo>
                  <a:pt x="20548" y="174661"/>
                </a:lnTo>
                <a:lnTo>
                  <a:pt x="174660" y="195209"/>
                </a:lnTo>
                <a:lnTo>
                  <a:pt x="143838" y="20549"/>
                </a:lnTo>
                <a:close/>
              </a:path>
            </a:pathLst>
          </a:custGeom>
          <a:solidFill>
            <a:schemeClr val="bg1">
              <a:lumMod val="85000"/>
              <a:alpha val="34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/>
              <p:cNvSpPr txBox="1"/>
              <p:nvPr/>
            </p:nvSpPr>
            <p:spPr>
              <a:xfrm flipH="1">
                <a:off x="5784763" y="3267514"/>
                <a:ext cx="24654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𝑂</m:t>
                          </m:r>
                        </m:e>
                        <m:sub>
                          <m:r>
                            <a:rPr lang="ru-RU" sz="12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784763" y="3267514"/>
                <a:ext cx="246540" cy="276999"/>
              </a:xfrm>
              <a:prstGeom prst="rect">
                <a:avLst/>
              </a:prstGeom>
              <a:blipFill rotWithShape="0">
                <a:blip r:embed="rId18"/>
                <a:stretch>
                  <a:fillRect r="-1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Овал 94"/>
          <p:cNvSpPr/>
          <p:nvPr/>
        </p:nvSpPr>
        <p:spPr>
          <a:xfrm flipH="1">
            <a:off x="5808269" y="3294123"/>
            <a:ext cx="41563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151697" y="2720599"/>
                <a:ext cx="1642903" cy="439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i="1" dirty="0" smtClean="0">
                              <a:latin typeface="Cambria Math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</a:rPr>
                            <m:t>𝐴𝐵𝐶𝐷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</a:rPr>
                            <m:t>3</m:t>
                          </m:r>
                        </m:den>
                      </m:f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𝐵𝐶𝐷</m:t>
                          </m:r>
                        </m:sub>
                      </m:sSub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𝐴𝑂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697" y="2720599"/>
                <a:ext cx="1642903" cy="439223"/>
              </a:xfrm>
              <a:prstGeom prst="rect">
                <a:avLst/>
              </a:prstGeom>
              <a:blipFill rotWithShape="0">
                <a:blip r:embed="rId19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/>
              <p:cNvSpPr txBox="1"/>
              <p:nvPr/>
            </p:nvSpPr>
            <p:spPr>
              <a:xfrm>
                <a:off x="1597212" y="2712240"/>
                <a:ext cx="2081072" cy="4831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i="1" dirty="0" smtClean="0">
                              <a:latin typeface="Cambria Math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</a:rPr>
                            <m:t>𝐷𝐾𝑀𝑁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</a:rPr>
                            <m:t>3</m:t>
                          </m:r>
                        </m:den>
                      </m:f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𝐷𝑀𝑁</m:t>
                          </m:r>
                        </m:sub>
                      </m:sSub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𝐾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𝑂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7" name="TextBox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212" y="2712240"/>
                <a:ext cx="2081072" cy="483145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/>
              <p:cNvSpPr txBox="1"/>
              <p:nvPr/>
            </p:nvSpPr>
            <p:spPr>
              <a:xfrm>
                <a:off x="155277" y="3132887"/>
                <a:ext cx="4262513" cy="353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charset="0"/>
                      </a:rPr>
                      <m:t>𝑀𝑁</m:t>
                    </m:r>
                    <m:r>
                      <a:rPr lang="en-US" sz="1200" b="0" i="1" dirty="0" smtClean="0">
                        <a:latin typeface="Cambria Math" charset="0"/>
                      </a:rPr>
                      <m:t> − 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средняя линия треугольника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𝐵𝐶𝐷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  <m:sSub>
                      <m:sSubPr>
                        <m:ctrlPr>
                          <a:rPr lang="en-US" sz="1200" i="1" dirty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sz="1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𝐷𝑀𝑁</m:t>
                        </m:r>
                      </m:sub>
                    </m:sSub>
                    <m:r>
                      <a:rPr lang="ru-RU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f>
                      <m:fPr>
                        <m:ctrlPr>
                          <a:rPr lang="ru-RU" sz="1200" b="0" i="1" dirty="0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ru-RU" sz="12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num>
                      <m:den>
                        <m:r>
                          <a:rPr lang="ru-RU" sz="12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4</m:t>
                        </m:r>
                      </m:den>
                    </m:f>
                    <m:sSub>
                      <m:sSubPr>
                        <m:ctrlPr>
                          <a:rPr lang="en-US" sz="1200" i="1" dirty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sz="1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𝐵𝐶𝐷</m:t>
                        </m:r>
                      </m:sub>
                    </m:sSub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8" name="TextBox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277" y="3132887"/>
                <a:ext cx="4262513" cy="353110"/>
              </a:xfrm>
              <a:prstGeom prst="rect">
                <a:avLst/>
              </a:prstGeom>
              <a:blipFill rotWithShape="0">
                <a:blip r:embed="rId21"/>
                <a:stretch>
                  <a:fillRect t="-50000" b="-689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152163" y="3459051"/>
                <a:ext cx="47289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charset="0"/>
                      </a:rPr>
                      <m:t>𝐾</m:t>
                    </m:r>
                    <m:sSub>
                      <m:sSubPr>
                        <m:ctrlPr>
                          <a:rPr lang="en-US" sz="12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charset="0"/>
                          </a:rPr>
                          <m:t>𝑂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dirty="0" smtClean="0">
                        <a:latin typeface="Cambria Math" charset="0"/>
                      </a:rPr>
                      <m:t>: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𝐴𝑂</m:t>
                    </m:r>
                    <m:r>
                      <a:rPr lang="en-US" sz="1200" b="0" i="1" dirty="0" smtClean="0">
                        <a:latin typeface="Cambria Math" charset="0"/>
                      </a:rPr>
                      <m:t>=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𝐷𝐾</m:t>
                    </m:r>
                    <m:r>
                      <a:rPr lang="en-US" sz="1200" b="0" i="1" dirty="0" smtClean="0">
                        <a:latin typeface="Cambria Math" charset="0"/>
                      </a:rPr>
                      <m:t>: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𝐷𝐴</m:t>
                    </m:r>
                    <m:r>
                      <a:rPr lang="en-US" sz="1200" b="0" i="1" dirty="0" smtClean="0">
                        <a:latin typeface="Cambria Math" charset="0"/>
                      </a:rPr>
                      <m:t>=1:4 −</m:t>
                    </m:r>
                  </m:oMath>
                </a14:m>
                <a:r>
                  <a:rPr lang="ru-RU" sz="1200" b="0" i="0" dirty="0" smtClean="0">
                    <a:latin typeface="+mj-lt"/>
                  </a:rPr>
                  <a:t>из подобия треугольников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charset="0"/>
                          </a:rPr>
                          <m:t>𝐷𝐾𝑂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200" b="0" i="0" dirty="0" smtClean="0">
                    <a:latin typeface="+mj-lt"/>
                  </a:rPr>
                  <a:t>и</a:t>
                </a:r>
                <a14:m>
                  <m:oMath xmlns:m="http://schemas.openxmlformats.org/officeDocument/2006/math">
                    <m:r>
                      <a:rPr lang="ru-RU" sz="1200" b="0" i="1" dirty="0" smtClean="0">
                        <a:latin typeface="Cambria Math" charset="0"/>
                      </a:rPr>
                      <m:t> </m:t>
                    </m:r>
                    <m:r>
                      <a:rPr lang="en-US" sz="1200" b="0" i="1" dirty="0" smtClean="0">
                        <a:latin typeface="Cambria Math" charset="0"/>
                      </a:rPr>
                      <m:t>𝐷𝐴𝑂</m:t>
                    </m:r>
                    <m:r>
                      <a:rPr lang="en-US" sz="1200" b="0" i="1" dirty="0" smtClean="0">
                        <a:latin typeface="Cambria Math" charset="0"/>
                      </a:rPr>
                      <m:t>.</m:t>
                    </m:r>
                  </m:oMath>
                </a14:m>
                <a:endParaRPr lang="ru-RU" sz="12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163" y="3459051"/>
                <a:ext cx="4728900" cy="276999"/>
              </a:xfrm>
              <a:prstGeom prst="rect">
                <a:avLst/>
              </a:prstGeom>
              <a:blipFill rotWithShape="0">
                <a:blip r:embed="rId22"/>
                <a:stretch>
                  <a:fillRect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/>
              <p:cNvSpPr txBox="1"/>
              <p:nvPr/>
            </p:nvSpPr>
            <p:spPr>
              <a:xfrm>
                <a:off x="35694" y="3664105"/>
                <a:ext cx="1425391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i="1" dirty="0">
                          <a:latin typeface="Cambria Math" charset="0"/>
                        </a:rPr>
                        <m:t>𝐾</m:t>
                      </m:r>
                      <m:sSub>
                        <m:sSubPr>
                          <m:ctrlPr>
                            <a:rPr lang="en-US" sz="12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charset="0"/>
                            </a:rPr>
                            <m:t>𝑂</m:t>
                          </m:r>
                        </m:e>
                        <m:sub>
                          <m:r>
                            <a:rPr lang="en-US" sz="1200" i="1" dirty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</a:rPr>
                            <m:t>4</m:t>
                          </m:r>
                        </m:den>
                      </m:f>
                      <m:r>
                        <a:rPr lang="en-US" sz="1200" i="1" dirty="0">
                          <a:latin typeface="Cambria Math" charset="0"/>
                        </a:rPr>
                        <m:t>𝐴𝑂</m:t>
                      </m:r>
                    </m:oMath>
                  </m:oMathPara>
                </a14:m>
                <a:endParaRPr lang="ru-RU" sz="12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0" name="TextBox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94" y="3664105"/>
                <a:ext cx="1425391" cy="438005"/>
              </a:xfrm>
              <a:prstGeom prst="rect">
                <a:avLst/>
              </a:prstGeom>
              <a:blipFill rotWithShape="0">
                <a:blip r:embed="rId2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/>
              <p:cNvSpPr txBox="1"/>
              <p:nvPr/>
            </p:nvSpPr>
            <p:spPr>
              <a:xfrm>
                <a:off x="-28668" y="4070187"/>
                <a:ext cx="2368420" cy="439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i="1" dirty="0" smtClean="0">
                              <a:latin typeface="Cambria Math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</a:rPr>
                            <m:t>𝐷𝐾𝑀𝑁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</a:rPr>
                            <m:t>3</m:t>
                          </m:r>
                        </m:den>
                      </m:f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𝐵𝐶𝐷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)</m:t>
                      </m:r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(</m:t>
                      </m:r>
                      <m:f>
                        <m:fPr>
                          <m:ctrlPr>
                            <a:rPr lang="en-US" sz="1200" i="1" dirty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i="1" dirty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i="1" dirty="0">
                              <a:latin typeface="Cambria Math" charset="0"/>
                            </a:rPr>
                            <m:t>4</m:t>
                          </m:r>
                        </m:den>
                      </m:f>
                      <m:r>
                        <a:rPr lang="en-US" sz="1200" i="1" dirty="0">
                          <a:latin typeface="Cambria Math" charset="0"/>
                        </a:rPr>
                        <m:t>𝐴𝑂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ru-RU" sz="1200" i="1" dirty="0"/>
              </a:p>
            </p:txBody>
          </p:sp>
        </mc:Choice>
        <mc:Fallback xmlns="">
          <p:sp>
            <p:nvSpPr>
              <p:cNvPr id="101" name="TextBox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8668" y="4070187"/>
                <a:ext cx="2368420" cy="439223"/>
              </a:xfrm>
              <a:prstGeom prst="rect">
                <a:avLst/>
              </a:prstGeom>
              <a:blipFill rotWithShape="0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/>
              <p:cNvSpPr txBox="1"/>
              <p:nvPr/>
            </p:nvSpPr>
            <p:spPr>
              <a:xfrm>
                <a:off x="2047416" y="4070186"/>
                <a:ext cx="1035298" cy="439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</a:rPr>
                            <m:t>16</m:t>
                          </m:r>
                        </m:den>
                      </m:f>
                      <m:sSub>
                        <m:sSubPr>
                          <m:ctrlPr>
                            <a:rPr lang="en-US" sz="12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i="1" dirty="0">
                              <a:latin typeface="Cambria Math" charset="0"/>
                            </a:rPr>
                            <m:t>𝐴𝐵𝐶𝐷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i="1" dirty="0"/>
              </a:p>
            </p:txBody>
          </p:sp>
        </mc:Choice>
        <mc:Fallback xmlns="">
          <p:sp>
            <p:nvSpPr>
              <p:cNvPr id="102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7416" y="4070186"/>
                <a:ext cx="1035298" cy="439223"/>
              </a:xfrm>
              <a:prstGeom prst="rect">
                <a:avLst/>
              </a:prstGeom>
              <a:blipFill rotWithShape="0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/>
              <p:cNvSpPr txBox="1"/>
              <p:nvPr/>
            </p:nvSpPr>
            <p:spPr>
              <a:xfrm>
                <a:off x="2896090" y="4163338"/>
                <a:ext cx="215761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i="1" dirty="0">
                              <a:latin typeface="Cambria Math" charset="0"/>
                            </a:rPr>
                            <m:t>𝐴𝐵𝐶𝐷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charset="0"/>
                        </a:rPr>
                        <m:t>=16</m:t>
                      </m:r>
                      <m:sSub>
                        <m:sSubPr>
                          <m:ctrlPr>
                            <a:rPr lang="en-US" sz="12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i="1" dirty="0">
                              <a:latin typeface="Cambria Math" charset="0"/>
                            </a:rPr>
                            <m:t>𝐷𝐾𝑀𝑁</m:t>
                          </m:r>
                        </m:sub>
                      </m:sSub>
                      <m:r>
                        <a:rPr lang="en-US" sz="1200" i="1" dirty="0">
                          <a:latin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16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𝑉</m:t>
                      </m:r>
                    </m:oMath>
                  </m:oMathPara>
                </a14:m>
                <a:endParaRPr lang="ru-RU" sz="1200" i="1" dirty="0"/>
              </a:p>
            </p:txBody>
          </p:sp>
        </mc:Choice>
        <mc:Fallback xmlns=""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6090" y="4163338"/>
                <a:ext cx="2157616" cy="276999"/>
              </a:xfrm>
              <a:prstGeom prst="rect">
                <a:avLst/>
              </a:prstGeom>
              <a:blipFill rotWithShape="0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/>
              <p:cNvSpPr txBox="1"/>
              <p:nvPr/>
            </p:nvSpPr>
            <p:spPr>
              <a:xfrm>
                <a:off x="4848341" y="4414505"/>
                <a:ext cx="13880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b="1" dirty="0" smtClean="0">
                    <a:solidFill>
                      <a:srgbClr val="FF0000"/>
                    </a:solidFill>
                  </a:rPr>
                  <a:t>Ответ: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  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𝟏𝟔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𝑽</m:t>
                    </m:r>
                  </m:oMath>
                </a14:m>
                <a:endParaRPr lang="ru-RU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4" name="TextBox 1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8341" y="4414505"/>
                <a:ext cx="1388072" cy="369332"/>
              </a:xfrm>
              <a:prstGeom prst="rect">
                <a:avLst/>
              </a:prstGeom>
              <a:blipFill rotWithShape="0">
                <a:blip r:embed="rId27"/>
                <a:stretch>
                  <a:fillRect l="-3509" t="-96721" b="-11967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0506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/>
      <p:bldP spid="12" grpId="0"/>
      <p:bldP spid="13" grpId="0"/>
      <p:bldP spid="31" grpId="0"/>
      <p:bldP spid="32" grpId="0" animBg="1"/>
      <p:bldP spid="35" grpId="0"/>
      <p:bldP spid="36" grpId="0" animBg="1"/>
      <p:bldP spid="37" grpId="0" animBg="1"/>
      <p:bldP spid="42" grpId="0"/>
      <p:bldP spid="44" grpId="0" animBg="1"/>
      <p:bldP spid="45" grpId="0" animBg="1"/>
      <p:bldP spid="46" grpId="0" animBg="1"/>
      <p:bldP spid="47" grpId="0" animBg="1"/>
      <p:bldP spid="51" grpId="0"/>
      <p:bldP spid="52" grpId="0" animBg="1"/>
      <p:bldP spid="57" grpId="0" animBg="1"/>
      <p:bldP spid="60" grpId="0" animBg="1"/>
      <p:bldP spid="61" grpId="0" animBg="1"/>
      <p:bldP spid="63" grpId="0"/>
      <p:bldP spid="69" grpId="0" animBg="1"/>
      <p:bldP spid="70" grpId="0"/>
      <p:bldP spid="71" grpId="0"/>
      <p:bldP spid="72" grpId="0"/>
      <p:bldP spid="73" grpId="0"/>
      <p:bldP spid="74" grpId="0"/>
      <p:bldP spid="75" grpId="0"/>
      <p:bldP spid="76" grpId="0" animBg="1"/>
      <p:bldP spid="83" grpId="0" animBg="1"/>
      <p:bldP spid="85" grpId="0"/>
      <p:bldP spid="89" grpId="0" animBg="1"/>
      <p:bldP spid="93" grpId="0" animBg="1"/>
      <p:bldP spid="94" grpId="0"/>
      <p:bldP spid="95" grpId="0" animBg="1"/>
      <p:bldP spid="96" grpId="0"/>
      <p:bldP spid="97" grpId="0"/>
      <p:bldP spid="98" grpId="0"/>
      <p:bldP spid="99" grpId="0"/>
      <p:bldP spid="100" grpId="0"/>
      <p:bldP spid="101" grpId="0"/>
      <p:bldP spid="102" grpId="0"/>
      <p:bldP spid="103" grpId="0"/>
      <p:bldP spid="10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38</a:t>
            </a:fld>
            <a:endParaRPr kumimoji="0" lang="ru-RU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0" y="-22136"/>
                <a:ext cx="9144000" cy="831921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dirty="0" smtClean="0">
                    <a:solidFill>
                      <a:srgbClr val="7030A0"/>
                    </a:solidFill>
                  </a:rPr>
                  <a:t>2</a:t>
                </a:r>
                <a:r>
                  <a:rPr lang="ru-RU" sz="1200" b="1" dirty="0">
                    <a:solidFill>
                      <a:srgbClr val="7030A0"/>
                    </a:solidFill>
                  </a:rPr>
                  <a:t>2</a:t>
                </a:r>
                <a:r>
                  <a:rPr lang="ru-RU" sz="1200" b="1" dirty="0" smtClean="0">
                    <a:solidFill>
                      <a:srgbClr val="7030A0"/>
                    </a:solidFill>
                  </a:rPr>
                  <a:t>.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Плоскость</a:t>
                </a:r>
                <a14:m>
                  <m:oMath xmlns:m="http://schemas.openxmlformats.org/officeDocument/2006/math">
                    <m:r>
                      <a:rPr lang="ru-RU" sz="1200" b="1" i="0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𝜶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  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  <a:ea typeface="Cambria Math" charset="0"/>
                    <a:cs typeface="Cambria Math" charset="0"/>
                  </a:rPr>
                  <a:t>пересекает </a:t>
                </a:r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  <a:ea typeface="Cambria Math" charset="0"/>
                    <a:cs typeface="Cambria Math" charset="0"/>
                  </a:rPr>
                  <a:t>боковые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  <a:ea typeface="Cambria Math" charset="0"/>
                    <a:cs typeface="Cambria Math" charset="0"/>
                  </a:rPr>
                  <a:t>ребра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𝑺𝑨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,  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𝑺𝑩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  <a:ea typeface="Cambria Math" charset="0"/>
                    <a:cs typeface="Cambria Math" charset="0"/>
                  </a:rPr>
                  <a:t>и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𝑺𝑪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  <a:ea typeface="Cambria Math" charset="0"/>
                    <a:cs typeface="Cambria Math" charset="0"/>
                  </a:rPr>
                  <a:t>треугольной пирамиды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𝑺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𝑨𝑩𝑪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(или их продолжения) соответственно в точках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, </m:t>
                    </m:r>
                    <m:sSub>
                      <m:sSubPr>
                        <m:ctrlP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, </m:t>
                    </m:r>
                    <m:sSub>
                      <m:sSubPr>
                        <m:ctrlP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  <m:r>
                      <a:rPr lang="ru-RU" sz="1200" b="1" i="0" smtClean="0">
                        <a:solidFill>
                          <a:srgbClr val="002060"/>
                        </a:solidFill>
                        <a:latin typeface="Cambria Math" charset="0"/>
                      </a:rPr>
                      <m:t>  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Докажите, что</a:t>
                </a: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mr-IN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200" b="1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solidFill>
                                  <a:srgbClr val="002060"/>
                                </a:solidFill>
                                <a:latin typeface="Cambria Math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1200" b="1" i="1" smtClean="0">
                                <a:solidFill>
                                  <a:srgbClr val="002060"/>
                                </a:solidFill>
                                <a:latin typeface="Cambria Math" charset="0"/>
                              </a:rPr>
                              <m:t>𝑺</m:t>
                            </m:r>
                            <m:sSub>
                              <m:sSubPr>
                                <m:ctrlPr>
                                  <a:rPr lang="en-US" sz="1200" b="1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solidFill>
                                      <a:srgbClr val="002060"/>
                                    </a:solidFill>
                                    <a:latin typeface="Cambria Math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lang="en-US" sz="1200" b="1" i="1" smtClean="0">
                                    <a:solidFill>
                                      <a:srgbClr val="002060"/>
                                    </a:solidFill>
                                    <a:latin typeface="Cambria Math" charset="0"/>
                                  </a:rPr>
                                  <m:t>𝟏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200" b="1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solidFill>
                                      <a:srgbClr val="002060"/>
                                    </a:solidFill>
                                    <a:latin typeface="Cambria Math" charset="0"/>
                                  </a:rPr>
                                  <m:t>𝑩</m:t>
                                </m:r>
                              </m:e>
                              <m:sub>
                                <m:r>
                                  <a:rPr lang="en-US" sz="1200" b="1" i="1" smtClean="0">
                                    <a:solidFill>
                                      <a:srgbClr val="002060"/>
                                    </a:solidFill>
                                    <a:latin typeface="Cambria Math" charset="0"/>
                                  </a:rPr>
                                  <m:t>𝟏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200" b="1" i="1" smtClean="0">
                                    <a:solidFill>
                                      <a:srgbClr val="00206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solidFill>
                                      <a:srgbClr val="002060"/>
                                    </a:solidFill>
                                    <a:latin typeface="Cambria Math" charset="0"/>
                                  </a:rPr>
                                  <m:t>𝑪</m:t>
                                </m:r>
                              </m:e>
                              <m:sub>
                                <m:r>
                                  <a:rPr lang="en-US" sz="1200" b="1" i="1" smtClean="0">
                                    <a:solidFill>
                                      <a:srgbClr val="002060"/>
                                    </a:solidFill>
                                    <a:latin typeface="Cambria Math" charset="0"/>
                                  </a:rPr>
                                  <m:t>𝟏</m:t>
                                </m:r>
                              </m:sub>
                            </m:sSub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200" b="1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solidFill>
                                  <a:srgbClr val="002060"/>
                                </a:solidFill>
                                <a:latin typeface="Cambria Math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1200" b="1" i="1" smtClean="0">
                                <a:solidFill>
                                  <a:srgbClr val="002060"/>
                                </a:solidFill>
                                <a:latin typeface="Cambria Math" charset="0"/>
                              </a:rPr>
                              <m:t>𝑺𝑨𝑩𝑪</m:t>
                            </m:r>
                          </m:sub>
                        </m:sSub>
                      </m:den>
                    </m:f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mr-IN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𝑺</m:t>
                        </m:r>
                        <m:sSub>
                          <m:sSubPr>
                            <m:ctrlPr>
                              <a:rPr lang="en-US" sz="1200" b="1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solidFill>
                                  <a:srgbClr val="002060"/>
                                </a:solidFill>
                                <a:latin typeface="Cambria Math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sz="1200" b="1" i="1" smtClean="0">
                                <a:solidFill>
                                  <a:srgbClr val="002060"/>
                                </a:solidFill>
                                <a:latin typeface="Cambria Math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𝑺𝑨</m:t>
                        </m:r>
                      </m:den>
                    </m:f>
                    <m:r>
                      <a:rPr lang="mr-IN" sz="1200" b="1" i="1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∙</m:t>
                    </m:r>
                    <m:f>
                      <m:fPr>
                        <m:ctrlPr>
                          <a:rPr lang="mr-IN" sz="1200" b="1" i="1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1200" b="1" i="1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𝑺</m:t>
                        </m:r>
                        <m:sSub>
                          <m:sSubPr>
                            <m:ctrlPr>
                              <a:rPr lang="en-US" sz="1200" b="1" i="1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solidFill>
                                  <a:srgbClr val="002060"/>
                                </a:solidFill>
                                <a:latin typeface="Cambria Math" charset="0"/>
                              </a:rPr>
                              <m:t>𝑩</m:t>
                            </m:r>
                          </m:e>
                          <m:sub>
                            <m:r>
                              <a:rPr lang="en-US" sz="1200" b="1" i="1">
                                <a:solidFill>
                                  <a:srgbClr val="002060"/>
                                </a:solidFill>
                                <a:latin typeface="Cambria Math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a:rPr lang="en-US" sz="1200" b="1" i="1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𝑺</m:t>
                        </m:r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den>
                    </m:f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∙</m:t>
                    </m:r>
                    <m:f>
                      <m:fPr>
                        <m:ctrlPr>
                          <a:rPr lang="mr-IN" sz="1200" b="1" i="1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1200" b="1" i="1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𝑺</m:t>
                        </m:r>
                        <m:sSub>
                          <m:sSubPr>
                            <m:ctrlPr>
                              <a:rPr lang="en-US" sz="1200" b="1" i="1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solidFill>
                                  <a:srgbClr val="002060"/>
                                </a:solidFill>
                                <a:latin typeface="Cambria Math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1200" b="1" i="1">
                                <a:solidFill>
                                  <a:srgbClr val="002060"/>
                                </a:solidFill>
                                <a:latin typeface="Cambria Math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a:rPr lang="en-US" sz="1200" b="1" i="1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𝑺</m:t>
                        </m:r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den>
                    </m:f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.</a:t>
                </a:r>
                <a:endParaRPr lang="en-US" sz="12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6"/>
                <a:ext cx="9144000" cy="83192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Прямая соединительная линия 5"/>
          <p:cNvCxnSpPr/>
          <p:nvPr/>
        </p:nvCxnSpPr>
        <p:spPr>
          <a:xfrm>
            <a:off x="5703382" y="3259679"/>
            <a:ext cx="2952328" cy="0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5703382" y="3259679"/>
            <a:ext cx="2232248" cy="792088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 flipV="1">
            <a:off x="7935630" y="3259679"/>
            <a:ext cx="720080" cy="792088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7431574" y="1603495"/>
            <a:ext cx="1224136" cy="1656184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7431574" y="1603495"/>
            <a:ext cx="504056" cy="2448272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 flipH="1">
            <a:off x="5703382" y="1603495"/>
            <a:ext cx="1728192" cy="1656184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408266" y="3098411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8266" y="3098411"/>
                <a:ext cx="340286" cy="3077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7869556" y="3989751"/>
                <a:ext cx="3481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9556" y="3989751"/>
                <a:ext cx="348172" cy="3077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 flipH="1">
                <a:off x="8645940" y="3098410"/>
                <a:ext cx="2465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645940" y="3098410"/>
                <a:ext cx="246540" cy="307777"/>
              </a:xfrm>
              <a:prstGeom prst="rect">
                <a:avLst/>
              </a:prstGeom>
              <a:blipFill rotWithShape="0">
                <a:blip r:embed="rId5"/>
                <a:stretch>
                  <a:fillRect r="-73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7280675" y="1327508"/>
                <a:ext cx="32284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𝑆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0675" y="1327508"/>
                <a:ext cx="322844" cy="3077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Овал 26"/>
          <p:cNvSpPr/>
          <p:nvPr/>
        </p:nvSpPr>
        <p:spPr>
          <a:xfrm flipH="1" flipV="1">
            <a:off x="6207438" y="2744053"/>
            <a:ext cx="45719" cy="3778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/>
          <p:cNvSpPr/>
          <p:nvPr/>
        </p:nvSpPr>
        <p:spPr>
          <a:xfrm flipH="1" flipV="1">
            <a:off x="8336888" y="2837385"/>
            <a:ext cx="41563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Овал 28"/>
          <p:cNvSpPr/>
          <p:nvPr/>
        </p:nvSpPr>
        <p:spPr>
          <a:xfrm flipH="1" flipV="1">
            <a:off x="7814823" y="3550139"/>
            <a:ext cx="41563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784315" y="2529608"/>
                <a:ext cx="54792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4315" y="2529608"/>
                <a:ext cx="547926" cy="30777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 flipH="1">
                <a:off x="8332007" y="2590164"/>
                <a:ext cx="2465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332007" y="2590164"/>
                <a:ext cx="246540" cy="307777"/>
              </a:xfrm>
              <a:prstGeom prst="rect">
                <a:avLst/>
              </a:prstGeom>
              <a:blipFill rotWithShape="0">
                <a:blip r:embed="rId8"/>
                <a:stretch>
                  <a:fillRect r="-27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7811816" y="3468469"/>
                <a:ext cx="4002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1816" y="3468469"/>
                <a:ext cx="400238" cy="30777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Прямая соединительная линия 34"/>
          <p:cNvCxnSpPr>
            <a:endCxn id="29" idx="2"/>
          </p:cNvCxnSpPr>
          <p:nvPr/>
        </p:nvCxnSpPr>
        <p:spPr>
          <a:xfrm>
            <a:off x="6252608" y="2781838"/>
            <a:ext cx="1603778" cy="79116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29" idx="3"/>
            <a:endCxn id="28" idx="3"/>
          </p:cNvCxnSpPr>
          <p:nvPr/>
        </p:nvCxnSpPr>
        <p:spPr>
          <a:xfrm flipV="1">
            <a:off x="7850299" y="2843472"/>
            <a:ext cx="522065" cy="71336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/>
          <p:cNvCxnSpPr>
            <a:endCxn id="28" idx="6"/>
          </p:cNvCxnSpPr>
          <p:nvPr/>
        </p:nvCxnSpPr>
        <p:spPr>
          <a:xfrm>
            <a:off x="6246521" y="2762945"/>
            <a:ext cx="2090367" cy="95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8" name="Полилиния 47"/>
          <p:cNvSpPr/>
          <p:nvPr/>
        </p:nvSpPr>
        <p:spPr>
          <a:xfrm>
            <a:off x="6226742" y="2762242"/>
            <a:ext cx="2137024" cy="821933"/>
          </a:xfrm>
          <a:custGeom>
            <a:avLst/>
            <a:gdLst>
              <a:gd name="connsiteX0" fmla="*/ 0 w 2137024"/>
              <a:gd name="connsiteY0" fmla="*/ 0 h 821933"/>
              <a:gd name="connsiteX1" fmla="*/ 2137024 w 2137024"/>
              <a:gd name="connsiteY1" fmla="*/ 113016 h 821933"/>
              <a:gd name="connsiteX2" fmla="*/ 1613042 w 2137024"/>
              <a:gd name="connsiteY2" fmla="*/ 821933 h 821933"/>
              <a:gd name="connsiteX3" fmla="*/ 0 w 2137024"/>
              <a:gd name="connsiteY3" fmla="*/ 0 h 821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024" h="821933">
                <a:moveTo>
                  <a:pt x="0" y="0"/>
                </a:moveTo>
                <a:lnTo>
                  <a:pt x="2137024" y="113016"/>
                </a:lnTo>
                <a:lnTo>
                  <a:pt x="1613042" y="821933"/>
                </a:lnTo>
                <a:lnTo>
                  <a:pt x="0" y="0"/>
                </a:lnTo>
                <a:close/>
              </a:path>
            </a:pathLst>
          </a:custGeom>
          <a:solidFill>
            <a:srgbClr val="FF0000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Полилиния 48"/>
          <p:cNvSpPr/>
          <p:nvPr/>
        </p:nvSpPr>
        <p:spPr>
          <a:xfrm>
            <a:off x="6226742" y="1602101"/>
            <a:ext cx="2137024" cy="1962364"/>
          </a:xfrm>
          <a:custGeom>
            <a:avLst/>
            <a:gdLst>
              <a:gd name="connsiteX0" fmla="*/ 0 w 2137024"/>
              <a:gd name="connsiteY0" fmla="*/ 1140431 h 1962364"/>
              <a:gd name="connsiteX1" fmla="*/ 1222624 w 2137024"/>
              <a:gd name="connsiteY1" fmla="*/ 0 h 1962364"/>
              <a:gd name="connsiteX2" fmla="*/ 2137024 w 2137024"/>
              <a:gd name="connsiteY2" fmla="*/ 1243173 h 1962364"/>
              <a:gd name="connsiteX3" fmla="*/ 1633591 w 2137024"/>
              <a:gd name="connsiteY3" fmla="*/ 1962364 h 1962364"/>
              <a:gd name="connsiteX4" fmla="*/ 0 w 2137024"/>
              <a:gd name="connsiteY4" fmla="*/ 1140431 h 1962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37024" h="1962364">
                <a:moveTo>
                  <a:pt x="0" y="1140431"/>
                </a:moveTo>
                <a:lnTo>
                  <a:pt x="1222624" y="0"/>
                </a:lnTo>
                <a:lnTo>
                  <a:pt x="2137024" y="1243173"/>
                </a:lnTo>
                <a:lnTo>
                  <a:pt x="1633591" y="1962364"/>
                </a:lnTo>
                <a:lnTo>
                  <a:pt x="0" y="1140431"/>
                </a:lnTo>
                <a:close/>
              </a:path>
            </a:pathLst>
          </a:custGeom>
          <a:solidFill>
            <a:srgbClr val="FF000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0" name="Прямая соединительная линия 49"/>
          <p:cNvCxnSpPr>
            <a:endCxn id="23" idx="3"/>
          </p:cNvCxnSpPr>
          <p:nvPr/>
        </p:nvCxnSpPr>
        <p:spPr>
          <a:xfrm flipH="1">
            <a:off x="5748552" y="3043655"/>
            <a:ext cx="2331094" cy="208645"/>
          </a:xfrm>
          <a:prstGeom prst="line">
            <a:avLst/>
          </a:prstGeom>
          <a:ln>
            <a:prstDash val="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4" name="Овал 53"/>
          <p:cNvSpPr/>
          <p:nvPr/>
        </p:nvSpPr>
        <p:spPr>
          <a:xfrm flipH="1" flipV="1">
            <a:off x="8056923" y="3017347"/>
            <a:ext cx="41563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 flipH="1">
                <a:off x="7811816" y="2786632"/>
                <a:ext cx="2465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𝐻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811816" y="2786632"/>
                <a:ext cx="246540" cy="307777"/>
              </a:xfrm>
              <a:prstGeom prst="rect">
                <a:avLst/>
              </a:prstGeom>
              <a:blipFill rotWithShape="0">
                <a:blip r:embed="rId10"/>
                <a:stretch>
                  <a:fillRect r="-121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Прямая соединительная линия 55"/>
          <p:cNvCxnSpPr/>
          <p:nvPr/>
        </p:nvCxnSpPr>
        <p:spPr>
          <a:xfrm flipH="1" flipV="1">
            <a:off x="7427467" y="1617020"/>
            <a:ext cx="925288" cy="2004397"/>
          </a:xfrm>
          <a:prstGeom prst="line">
            <a:avLst/>
          </a:prstGeom>
          <a:ln>
            <a:prstDash val="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7" name="Полилиния 66"/>
          <p:cNvSpPr/>
          <p:nvPr/>
        </p:nvSpPr>
        <p:spPr>
          <a:xfrm>
            <a:off x="7891156" y="3039644"/>
            <a:ext cx="256853" cy="184935"/>
          </a:xfrm>
          <a:custGeom>
            <a:avLst/>
            <a:gdLst>
              <a:gd name="connsiteX0" fmla="*/ 0 w 256853"/>
              <a:gd name="connsiteY0" fmla="*/ 20549 h 184935"/>
              <a:gd name="connsiteX1" fmla="*/ 92467 w 256853"/>
              <a:gd name="connsiteY1" fmla="*/ 184935 h 184935"/>
              <a:gd name="connsiteX2" fmla="*/ 256853 w 256853"/>
              <a:gd name="connsiteY2" fmla="*/ 154113 h 184935"/>
              <a:gd name="connsiteX3" fmla="*/ 184934 w 256853"/>
              <a:gd name="connsiteY3" fmla="*/ 0 h 184935"/>
              <a:gd name="connsiteX4" fmla="*/ 0 w 256853"/>
              <a:gd name="connsiteY4" fmla="*/ 20549 h 184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853" h="184935">
                <a:moveTo>
                  <a:pt x="0" y="20549"/>
                </a:moveTo>
                <a:lnTo>
                  <a:pt x="92467" y="184935"/>
                </a:lnTo>
                <a:lnTo>
                  <a:pt x="256853" y="154113"/>
                </a:lnTo>
                <a:lnTo>
                  <a:pt x="184934" y="0"/>
                </a:lnTo>
                <a:lnTo>
                  <a:pt x="0" y="20549"/>
                </a:lnTo>
                <a:close/>
              </a:path>
            </a:pathLst>
          </a:custGeom>
          <a:solidFill>
            <a:schemeClr val="bg1">
              <a:lumMod val="85000"/>
              <a:alpha val="44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8" name="Прямая соединительная линия 67"/>
          <p:cNvCxnSpPr/>
          <p:nvPr/>
        </p:nvCxnSpPr>
        <p:spPr>
          <a:xfrm flipH="1">
            <a:off x="6185569" y="2596881"/>
            <a:ext cx="1704542" cy="150451"/>
          </a:xfrm>
          <a:prstGeom prst="line">
            <a:avLst/>
          </a:prstGeom>
          <a:ln>
            <a:prstDash val="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1" name="Полилиния 70"/>
          <p:cNvSpPr/>
          <p:nvPr/>
        </p:nvSpPr>
        <p:spPr>
          <a:xfrm>
            <a:off x="7688694" y="2601243"/>
            <a:ext cx="256853" cy="184935"/>
          </a:xfrm>
          <a:custGeom>
            <a:avLst/>
            <a:gdLst>
              <a:gd name="connsiteX0" fmla="*/ 0 w 256853"/>
              <a:gd name="connsiteY0" fmla="*/ 20549 h 184935"/>
              <a:gd name="connsiteX1" fmla="*/ 92467 w 256853"/>
              <a:gd name="connsiteY1" fmla="*/ 184935 h 184935"/>
              <a:gd name="connsiteX2" fmla="*/ 256853 w 256853"/>
              <a:gd name="connsiteY2" fmla="*/ 154113 h 184935"/>
              <a:gd name="connsiteX3" fmla="*/ 184934 w 256853"/>
              <a:gd name="connsiteY3" fmla="*/ 0 h 184935"/>
              <a:gd name="connsiteX4" fmla="*/ 0 w 256853"/>
              <a:gd name="connsiteY4" fmla="*/ 20549 h 184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853" h="184935">
                <a:moveTo>
                  <a:pt x="0" y="20549"/>
                </a:moveTo>
                <a:lnTo>
                  <a:pt x="92467" y="184935"/>
                </a:lnTo>
                <a:lnTo>
                  <a:pt x="256853" y="154113"/>
                </a:lnTo>
                <a:lnTo>
                  <a:pt x="184934" y="0"/>
                </a:lnTo>
                <a:lnTo>
                  <a:pt x="0" y="20549"/>
                </a:lnTo>
                <a:close/>
              </a:path>
            </a:pathLst>
          </a:custGeom>
          <a:solidFill>
            <a:schemeClr val="bg1">
              <a:lumMod val="85000"/>
              <a:alpha val="44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Овал 71"/>
          <p:cNvSpPr/>
          <p:nvPr/>
        </p:nvSpPr>
        <p:spPr>
          <a:xfrm flipH="1" flipV="1">
            <a:off x="7855890" y="2586357"/>
            <a:ext cx="41563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 flipH="1">
                <a:off x="7789601" y="2343405"/>
                <a:ext cx="2465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𝐻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789601" y="2343405"/>
                <a:ext cx="246540" cy="307777"/>
              </a:xfrm>
              <a:prstGeom prst="rect">
                <a:avLst/>
              </a:prstGeom>
              <a:blipFill rotWithShape="0">
                <a:blip r:embed="rId11"/>
                <a:stretch>
                  <a:fillRect r="-3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266700" y="1078979"/>
                <a:ext cx="1834990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𝑉</m:t>
                          </m:r>
                        </m:e>
                        <m:sub>
                          <m: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𝑆𝐴𝐵𝐶</m:t>
                          </m:r>
                        </m:sub>
                      </m:sSub>
                      <m:r>
                        <a:rPr lang="ru-RU" sz="14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ru-RU" sz="1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ru-RU" sz="1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ru-RU" sz="1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3</m:t>
                          </m:r>
                        </m:den>
                      </m:f>
                      <m:r>
                        <a:rPr lang="ru-RU" sz="14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𝐵𝑆𝐶</m:t>
                          </m:r>
                        </m:sub>
                      </m:sSub>
                      <m:r>
                        <a:rPr lang="en-US" sz="14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4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𝐴𝐻</m:t>
                      </m:r>
                    </m:oMath>
                  </m:oMathPara>
                </a14:m>
                <a:endParaRPr lang="ru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" y="1078979"/>
                <a:ext cx="1834990" cy="497059"/>
              </a:xfrm>
              <a:prstGeom prst="rect">
                <a:avLst/>
              </a:prstGeom>
              <a:blipFill rotWithShape="0">
                <a:blip r:embed="rId12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242862" y="1490921"/>
                <a:ext cx="2213298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𝑉</m:t>
                          </m:r>
                        </m:e>
                        <m:sub>
                          <m: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ru-RU" sz="14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ru-RU" sz="1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ru-RU" sz="1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ru-RU" sz="1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3</m:t>
                          </m:r>
                        </m:den>
                      </m:f>
                      <m:r>
                        <a:rPr lang="ru-RU" sz="14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</m:t>
                          </m:r>
                        </m:e>
                        <m:sub>
                          <m:sSub>
                            <m:sSubPr>
                              <m:ctrlPr>
                                <a:rPr lang="en-US" sz="14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sz="14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4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𝐻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62" y="1490921"/>
                <a:ext cx="2213298" cy="497059"/>
              </a:xfrm>
              <a:prstGeom prst="rect">
                <a:avLst/>
              </a:prstGeom>
              <a:blipFill rotWithShape="0">
                <a:blip r:embed="rId13"/>
                <a:stretch>
                  <a:fillRect b="-24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238328" y="2556455"/>
                <a:ext cx="1613711" cy="5409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mr-IN" sz="14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𝑆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400" i="1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4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𝐵𝑆𝐶</m:t>
                              </m:r>
                            </m:sub>
                          </m:sSub>
                        </m:den>
                      </m:f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r>
                            <a:rPr lang="en-US" sz="14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𝑆𝐶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𝑆𝐵</m:t>
                          </m:r>
                        </m:den>
                      </m:f>
                    </m:oMath>
                  </m:oMathPara>
                </a14:m>
                <a:endParaRPr lang="ru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28" y="2556455"/>
                <a:ext cx="1613711" cy="540982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Прямоугольник 79"/>
          <p:cNvSpPr/>
          <p:nvPr/>
        </p:nvSpPr>
        <p:spPr>
          <a:xfrm>
            <a:off x="2649084" y="1048013"/>
            <a:ext cx="3572941" cy="707886"/>
          </a:xfrm>
          <a:prstGeom prst="rect">
            <a:avLst/>
          </a:prstGeom>
          <a:solidFill>
            <a:srgbClr val="D4ECBA"/>
          </a:solidFill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ru-RU" sz="1000" dirty="0">
                <a:solidFill>
                  <a:srgbClr val="002060"/>
                </a:solidFill>
                <a:latin typeface="arial" charset="0"/>
              </a:rPr>
              <a:t>Если угол одного треугольника равен углу </a:t>
            </a:r>
            <a:r>
              <a:rPr lang="ru-RU" sz="1000" dirty="0" smtClean="0">
                <a:solidFill>
                  <a:srgbClr val="002060"/>
                </a:solidFill>
                <a:latin typeface="arial" charset="0"/>
              </a:rPr>
              <a:t>другого треугольника</a:t>
            </a:r>
            <a:r>
              <a:rPr lang="ru-RU" sz="1000" dirty="0">
                <a:solidFill>
                  <a:srgbClr val="002060"/>
                </a:solidFill>
                <a:latin typeface="arial" charset="0"/>
              </a:rPr>
              <a:t>, то отношение площадей этих треугольников равно отношению произведений сторон, заключающих равные углы.</a:t>
            </a:r>
            <a:endParaRPr lang="ru-RU" sz="10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249662" y="1978590"/>
                <a:ext cx="1982851" cy="5409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mr-IN" sz="14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charset="0"/>
                                </a:rPr>
                                <m:t>𝑆𝐴𝐵𝐶</m:t>
                              </m:r>
                            </m:sub>
                          </m:sSub>
                        </m:den>
                      </m:f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𝑆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400" i="1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14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r>
                            <a:rPr lang="en-US" sz="14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4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𝐵𝑆𝐶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r>
                            <a:rPr lang="en-US" sz="14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𝐴𝐻</m:t>
                          </m:r>
                          <m:r>
                            <m:rPr>
                              <m:nor/>
                            </m:rPr>
                            <a:rPr lang="ru-RU" sz="1400" dirty="0"/>
                            <m:t> </m:t>
                          </m:r>
                        </m:den>
                      </m:f>
                    </m:oMath>
                  </m:oMathPara>
                </a14:m>
                <a:endParaRPr lang="ru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662" y="1978590"/>
                <a:ext cx="1982851" cy="540982"/>
              </a:xfrm>
              <a:prstGeom prst="rect">
                <a:avLst/>
              </a:prstGeom>
              <a:blipFill rotWithShape="0">
                <a:blip r:embed="rId15"/>
                <a:stretch>
                  <a:fillRect b="-68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2039167" y="1978590"/>
                <a:ext cx="1317861" cy="5409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𝑆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400" i="1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4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𝐵𝑆𝐶</m:t>
                              </m:r>
                            </m:sub>
                          </m:sSub>
                        </m:den>
                      </m:f>
                      <m:r>
                        <a:rPr lang="mr-IN" sz="14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f>
                        <m:fPr>
                          <m:ctrlPr>
                            <a:rPr lang="mr-IN" sz="14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14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𝐴𝐻</m:t>
                          </m:r>
                        </m:den>
                      </m:f>
                    </m:oMath>
                  </m:oMathPara>
                </a14:m>
                <a:endParaRPr lang="ru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9167" y="1978590"/>
                <a:ext cx="1317861" cy="540982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262441" y="3097437"/>
                <a:ext cx="1064779" cy="4956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mr-IN" sz="14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14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𝐴𝐻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4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𝑆𝐴</m:t>
                          </m:r>
                        </m:den>
                      </m:f>
                    </m:oMath>
                  </m:oMathPara>
                </a14:m>
                <a:endParaRPr lang="ru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441" y="3097437"/>
                <a:ext cx="1064779" cy="495649"/>
              </a:xfrm>
              <a:prstGeom prst="rect">
                <a:avLst/>
              </a:prstGeom>
              <a:blipFill rotWithShape="0">
                <a:blip r:embed="rId17"/>
                <a:stretch>
                  <a:fillRect b="-24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1262281" y="3134320"/>
                <a:ext cx="33994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smtClean="0">
                    <a:solidFill>
                      <a:schemeClr val="tx1"/>
                    </a:solidFill>
                  </a:rPr>
                  <a:t>(</a:t>
                </a:r>
                <a:r>
                  <a:rPr lang="ru-RU" sz="1400" dirty="0" smtClean="0">
                    <a:solidFill>
                      <a:schemeClr val="tx1"/>
                    </a:solidFill>
                  </a:rPr>
                  <a:t>из подобия треугольников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𝑆</m:t>
                    </m:r>
                    <m:sSub>
                      <m:sSubPr>
                        <m:ctrlP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𝐻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400" b="0" i="0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400" b="0" i="0" dirty="0" smtClean="0">
                    <a:solidFill>
                      <a:schemeClr val="tx1"/>
                    </a:solidFill>
                    <a:latin typeface="+mj-lt"/>
                  </a:rPr>
                  <a:t>и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charset="0"/>
                      </a:rPr>
                      <m:t>𝐴</m:t>
                    </m:r>
                    <m:r>
                      <a:rPr lang="en-US" sz="1400" i="1">
                        <a:latin typeface="Cambria Math" charset="0"/>
                      </a:rPr>
                      <m:t>𝐶</m:t>
                    </m:r>
                    <m:r>
                      <a:rPr lang="en-US" sz="1400" b="0" i="1" smtClean="0">
                        <a:latin typeface="Cambria Math" charset="0"/>
                      </a:rPr>
                      <m:t>𝐻</m:t>
                    </m:r>
                  </m:oMath>
                </a14:m>
                <a:r>
                  <a:rPr lang="ru-RU" sz="1400" dirty="0" smtClean="0">
                    <a:solidFill>
                      <a:schemeClr val="tx1"/>
                    </a:solidFill>
                  </a:rPr>
                  <a:t>)</a:t>
                </a:r>
                <a:endParaRPr lang="ru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2281" y="3134320"/>
                <a:ext cx="3399457" cy="307777"/>
              </a:xfrm>
              <a:prstGeom prst="rect">
                <a:avLst/>
              </a:prstGeom>
              <a:blipFill rotWithShape="0">
                <a:blip r:embed="rId18"/>
                <a:stretch>
                  <a:fillRect l="-538" t="-84314" b="-1058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227362" y="3598711"/>
                <a:ext cx="1982851" cy="5409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mr-IN" sz="14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charset="0"/>
                                </a:rPr>
                                <m:t>𝑆𝐴𝐵𝐶</m:t>
                              </m:r>
                            </m:sub>
                          </m:sSub>
                        </m:den>
                      </m:f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400" i="1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𝑆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400" i="1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4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𝐵𝑆𝐶</m:t>
                              </m:r>
                            </m:sub>
                          </m:sSub>
                        </m:den>
                      </m:f>
                      <m:r>
                        <a:rPr lang="mr-IN" sz="14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f>
                        <m:fPr>
                          <m:ctrlPr>
                            <a:rPr lang="mr-IN" sz="14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14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𝐴𝐻</m:t>
                          </m:r>
                        </m:den>
                      </m:f>
                    </m:oMath>
                  </m:oMathPara>
                </a14:m>
                <a:endParaRPr lang="ru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362" y="3598711"/>
                <a:ext cx="1982851" cy="540982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2039167" y="3615790"/>
                <a:ext cx="1547540" cy="4971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4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r>
                            <a:rPr lang="en-US" sz="14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1400" i="1">
                              <a:latin typeface="Cambria Math" charset="0"/>
                            </a:rPr>
                            <m:t>𝑆𝐶</m:t>
                          </m:r>
                          <m:r>
                            <a:rPr lang="en-US" sz="14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r>
                            <a:rPr lang="en-US" sz="14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𝑆𝐵</m:t>
                          </m:r>
                        </m:den>
                      </m:f>
                      <m:r>
                        <a:rPr lang="mr-IN" sz="14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f>
                        <m:fPr>
                          <m:ctrlPr>
                            <a:rPr lang="mr-IN" sz="14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14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𝑆𝐴</m:t>
                          </m:r>
                        </m:den>
                      </m:f>
                    </m:oMath>
                  </m:oMathPara>
                </a14:m>
                <a:endParaRPr lang="ru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9167" y="3615790"/>
                <a:ext cx="1547540" cy="497124"/>
              </a:xfrm>
              <a:prstGeom prst="rect">
                <a:avLst/>
              </a:prstGeom>
              <a:blipFill rotWithShape="0">
                <a:blip r:embed="rId20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3424484" y="3599650"/>
                <a:ext cx="1522981" cy="4971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𝑆𝐴</m:t>
                          </m:r>
                        </m:den>
                      </m:f>
                      <m:r>
                        <a:rPr lang="mr-IN" sz="1400" b="0" i="1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f>
                        <m:fPr>
                          <m:ctrlPr>
                            <a:rPr lang="mr-IN" sz="1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𝑆𝐵</m:t>
                          </m:r>
                        </m:den>
                      </m:f>
                      <m:r>
                        <a:rPr lang="en-US" sz="1400" b="0" i="1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f>
                        <m:fPr>
                          <m:ctrlPr>
                            <a:rPr lang="mr-IN" sz="1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400" b="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1400" b="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𝑆𝐶</m:t>
                          </m:r>
                        </m:den>
                      </m:f>
                    </m:oMath>
                  </m:oMathPara>
                </a14:m>
                <a:endParaRPr lang="ru-RU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4484" y="3599650"/>
                <a:ext cx="1522981" cy="497124"/>
              </a:xfrm>
              <a:prstGeom prst="rect">
                <a:avLst/>
              </a:prstGeom>
              <a:blipFill rotWithShape="0">
                <a:blip r:embed="rId21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8014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3" grpId="0"/>
      <p:bldP spid="24" grpId="0"/>
      <p:bldP spid="25" grpId="0"/>
      <p:bldP spid="26" grpId="0"/>
      <p:bldP spid="27" grpId="0" animBg="1"/>
      <p:bldP spid="28" grpId="0" animBg="1"/>
      <p:bldP spid="29" grpId="0" animBg="1"/>
      <p:bldP spid="30" grpId="0"/>
      <p:bldP spid="31" grpId="0"/>
      <p:bldP spid="33" grpId="0"/>
      <p:bldP spid="48" grpId="0" animBg="1"/>
      <p:bldP spid="49" grpId="0" animBg="1"/>
      <p:bldP spid="54" grpId="0" animBg="1"/>
      <p:bldP spid="55" grpId="0"/>
      <p:bldP spid="67" grpId="0" animBg="1"/>
      <p:bldP spid="71" grpId="0" animBg="1"/>
      <p:bldP spid="72" grpId="0" animBg="1"/>
      <p:bldP spid="75" grpId="0"/>
      <p:bldP spid="76" grpId="0"/>
      <p:bldP spid="77" grpId="0"/>
      <p:bldP spid="78" grpId="0"/>
      <p:bldP spid="80" grpId="0" animBg="1"/>
      <p:bldP spid="81" grpId="0"/>
      <p:bldP spid="82" grpId="0"/>
      <p:bldP spid="83" grpId="0"/>
      <p:bldP spid="84" grpId="0"/>
      <p:bldP spid="85" grpId="0"/>
      <p:bldP spid="86" grpId="0"/>
      <p:bldP spid="8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39</a:t>
            </a:fld>
            <a:endParaRPr kumimoji="0" lang="ru-RU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/>
              <p:cNvSpPr/>
              <p:nvPr/>
            </p:nvSpPr>
            <p:spPr>
              <a:xfrm>
                <a:off x="0" y="-22135"/>
                <a:ext cx="9144000" cy="79368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dirty="0" smtClean="0">
                    <a:solidFill>
                      <a:srgbClr val="7030A0"/>
                    </a:solidFill>
                  </a:rPr>
                  <a:t>23.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Точки</a:t>
                </a:r>
                <a:r>
                  <a:rPr lang="ru-RU" sz="1200" b="1" dirty="0" smtClean="0">
                    <a:solidFill>
                      <a:srgbClr val="7030A0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𝑴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𝑵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 -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середины ребер соответственно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𝑪</m:t>
                    </m:r>
                    <m:sSub>
                      <m:sSubPr>
                        <m:ctrlP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и   </m:t>
                    </m:r>
                    <m:sSub>
                      <m:sSubPr>
                        <m:ctrlP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треугольной призмы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𝑨𝑩𝑪</m:t>
                    </m:r>
                    <m:sSub>
                      <m:sSubPr>
                        <m:ctrlPr>
                          <a:rPr lang="ru-RU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ru-RU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ru-RU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ru-RU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ru-RU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ru-RU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 с основаниями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𝑨𝑩𝑪</m:t>
                    </m:r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ru-RU" sz="1200" b="1" i="0" dirty="0" smtClean="0">
                  <a:solidFill>
                    <a:srgbClr val="002060"/>
                  </a:solidFill>
                  <a:latin typeface="+mj-lt"/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а)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Докажите, что плоскость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𝑩</m:t>
                    </m:r>
                    <m:sSub>
                      <m:sSubPr>
                        <m:ctrlP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𝑴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  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делит отрезок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𝑵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 в отношении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𝟒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: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𝟑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, 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считая от точки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.</a:t>
                </a: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б) Найдите, </a:t>
                </a:r>
                <a:r>
                  <a:rPr lang="ru-RU" sz="1200" b="1" dirty="0">
                    <a:solidFill>
                      <a:srgbClr val="002060"/>
                    </a:solidFill>
                    <a:latin typeface="+mj-lt"/>
                  </a:rPr>
                  <a:t>в</a:t>
                </a:r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 каком отношении плоскость </a:t>
                </a:r>
                <a14:m>
                  <m:oMath xmlns:m="http://schemas.openxmlformats.org/officeDocument/2006/math">
                    <m:r>
                      <a:rPr lang="en-US" sz="1200" b="1" i="1">
                        <a:solidFill>
                          <a:srgbClr val="002060"/>
                        </a:solidFill>
                        <a:latin typeface="Cambria Math" charset="0"/>
                      </a:rPr>
                      <m:t>𝑩</m:t>
                    </m:r>
                    <m:sSub>
                      <m:sSubPr>
                        <m:ctrlPr>
                          <a:rPr lang="en-US" sz="1200" b="1" i="1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en-US" sz="1200" b="1" i="1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>
                        <a:solidFill>
                          <a:srgbClr val="002060"/>
                        </a:solidFill>
                        <a:latin typeface="Cambria Math" charset="0"/>
                      </a:rPr>
                      <m:t>𝑴</m:t>
                    </m:r>
                    <m:r>
                      <a:rPr lang="en-US" sz="1200" b="1" i="1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 делит объем призмы. </a:t>
                </a:r>
              </a:p>
            </p:txBody>
          </p:sp>
        </mc:Choice>
        <mc:Fallback xmlns=""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5"/>
                <a:ext cx="9144000" cy="79368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Прямая соединительная линия 5"/>
          <p:cNvCxnSpPr/>
          <p:nvPr/>
        </p:nvCxnSpPr>
        <p:spPr>
          <a:xfrm>
            <a:off x="5724128" y="3212544"/>
            <a:ext cx="2736304" cy="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5724128" y="3212544"/>
            <a:ext cx="1944216" cy="576064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 flipV="1">
            <a:off x="7668344" y="3212544"/>
            <a:ext cx="792088" cy="576064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>
            <a:endCxn id="4" idx="0"/>
          </p:cNvCxnSpPr>
          <p:nvPr/>
        </p:nvCxnSpPr>
        <p:spPr>
          <a:xfrm>
            <a:off x="5544109" y="1268328"/>
            <a:ext cx="169247" cy="194885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5544109" y="1273049"/>
            <a:ext cx="2736304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5534169" y="1270718"/>
            <a:ext cx="1944216" cy="576064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 flipV="1">
            <a:off x="7488325" y="1273049"/>
            <a:ext cx="792088" cy="576064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8285005" y="1268328"/>
            <a:ext cx="172149" cy="196720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7485611" y="1844392"/>
            <a:ext cx="182733" cy="1954369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8380685" y="3107855"/>
                <a:ext cx="3983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0685" y="3107855"/>
                <a:ext cx="398330" cy="3077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 flipH="1">
                <a:off x="7504884" y="3782370"/>
                <a:ext cx="2465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504884" y="3782370"/>
                <a:ext cx="246540" cy="307777"/>
              </a:xfrm>
              <a:prstGeom prst="rect">
                <a:avLst/>
              </a:prstGeom>
              <a:blipFill rotWithShape="0">
                <a:blip r:embed="rId4"/>
                <a:stretch>
                  <a:fillRect r="-73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 flipH="1">
                <a:off x="5567098" y="2960153"/>
                <a:ext cx="49693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567098" y="2960153"/>
                <a:ext cx="496934" cy="3077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8232347" y="1048283"/>
                <a:ext cx="41716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2347" y="1048283"/>
                <a:ext cx="417165" cy="3077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 flipH="1">
                <a:off x="7302370" y="1532009"/>
                <a:ext cx="2465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302370" y="1532009"/>
                <a:ext cx="246540" cy="307777"/>
              </a:xfrm>
              <a:prstGeom prst="rect">
                <a:avLst/>
              </a:prstGeom>
              <a:blipFill rotWithShape="0">
                <a:blip r:embed="rId7"/>
                <a:stretch>
                  <a:fillRect r="-27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 flipH="1">
                <a:off x="5017249" y="1062085"/>
                <a:ext cx="7122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017249" y="1062085"/>
                <a:ext cx="712236" cy="30777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Овал 28"/>
          <p:cNvSpPr/>
          <p:nvPr/>
        </p:nvSpPr>
        <p:spPr>
          <a:xfrm flipH="1" flipV="1">
            <a:off x="5614755" y="2243648"/>
            <a:ext cx="45719" cy="433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 flipH="1">
                <a:off x="5478748" y="1923678"/>
                <a:ext cx="49693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𝑀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478748" y="1923678"/>
                <a:ext cx="496934" cy="30777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Овал 33"/>
          <p:cNvSpPr/>
          <p:nvPr/>
        </p:nvSpPr>
        <p:spPr>
          <a:xfrm flipH="1" flipV="1">
            <a:off x="6570867" y="1571355"/>
            <a:ext cx="41563" cy="433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 flipH="1">
                <a:off x="6420493" y="1318991"/>
                <a:ext cx="2465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𝑁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420493" y="1318991"/>
                <a:ext cx="246540" cy="307777"/>
              </a:xfrm>
              <a:prstGeom prst="rect">
                <a:avLst/>
              </a:prstGeom>
              <a:blipFill rotWithShape="0">
                <a:blip r:embed="rId10"/>
                <a:stretch>
                  <a:fillRect r="-121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Прямая соединительная линия 36"/>
          <p:cNvCxnSpPr/>
          <p:nvPr/>
        </p:nvCxnSpPr>
        <p:spPr>
          <a:xfrm flipV="1">
            <a:off x="7674782" y="1277658"/>
            <a:ext cx="604274" cy="2510950"/>
          </a:xfrm>
          <a:prstGeom prst="line">
            <a:avLst/>
          </a:prstGeom>
          <a:ln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>
            <a:endCxn id="29" idx="1"/>
          </p:cNvCxnSpPr>
          <p:nvPr/>
        </p:nvCxnSpPr>
        <p:spPr>
          <a:xfrm flipH="1" flipV="1">
            <a:off x="5653779" y="2280656"/>
            <a:ext cx="2010378" cy="1507952"/>
          </a:xfrm>
          <a:prstGeom prst="line">
            <a:avLst/>
          </a:prstGeom>
          <a:ln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/>
          <p:cNvCxnSpPr>
            <a:endCxn id="29" idx="4"/>
          </p:cNvCxnSpPr>
          <p:nvPr/>
        </p:nvCxnSpPr>
        <p:spPr>
          <a:xfrm flipH="1">
            <a:off x="5637614" y="1283201"/>
            <a:ext cx="2640596" cy="960447"/>
          </a:xfrm>
          <a:prstGeom prst="line">
            <a:avLst/>
          </a:prstGeom>
          <a:ln>
            <a:solidFill>
              <a:srgbClr val="00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единительная линия 50"/>
          <p:cNvCxnSpPr>
            <a:stCxn id="34" idx="5"/>
          </p:cNvCxnSpPr>
          <p:nvPr/>
        </p:nvCxnSpPr>
        <p:spPr>
          <a:xfrm>
            <a:off x="6576954" y="1577704"/>
            <a:ext cx="1860402" cy="1657824"/>
          </a:xfrm>
          <a:prstGeom prst="line">
            <a:avLst/>
          </a:prstGeom>
          <a:ln w="12700">
            <a:solidFill>
              <a:srgbClr val="00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/>
          <p:nvPr/>
        </p:nvCxnSpPr>
        <p:spPr>
          <a:xfrm>
            <a:off x="6593663" y="1569775"/>
            <a:ext cx="144639" cy="1953968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 flipH="1">
            <a:off x="6573746" y="1283140"/>
            <a:ext cx="1699830" cy="308763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/>
          <p:nvPr/>
        </p:nvCxnSpPr>
        <p:spPr>
          <a:xfrm flipH="1">
            <a:off x="6751190" y="3226566"/>
            <a:ext cx="1695883" cy="293166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 flipH="1">
                <a:off x="6536951" y="3506432"/>
                <a:ext cx="2465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𝐿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536951" y="3506432"/>
                <a:ext cx="246540" cy="30777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Овал 69"/>
          <p:cNvSpPr/>
          <p:nvPr/>
        </p:nvSpPr>
        <p:spPr>
          <a:xfrm flipH="1" flipV="1">
            <a:off x="6684246" y="3048751"/>
            <a:ext cx="55320" cy="4769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 flipH="1">
                <a:off x="6388369" y="2932224"/>
                <a:ext cx="2465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𝐾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388369" y="2932224"/>
                <a:ext cx="246540" cy="307777"/>
              </a:xfrm>
              <a:prstGeom prst="rect">
                <a:avLst/>
              </a:prstGeom>
              <a:blipFill rotWithShape="0">
                <a:blip r:embed="rId12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Полилиния 73"/>
          <p:cNvSpPr/>
          <p:nvPr/>
        </p:nvSpPr>
        <p:spPr>
          <a:xfrm>
            <a:off x="5527496" y="1746607"/>
            <a:ext cx="133564" cy="0"/>
          </a:xfrm>
          <a:custGeom>
            <a:avLst/>
            <a:gdLst>
              <a:gd name="connsiteX0" fmla="*/ 0 w 133564"/>
              <a:gd name="connsiteY0" fmla="*/ 0 h 0"/>
              <a:gd name="connsiteX1" fmla="*/ 133564 w 133564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3564">
                <a:moveTo>
                  <a:pt x="0" y="0"/>
                </a:moveTo>
                <a:lnTo>
                  <a:pt x="133564" y="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5" name="Полилиния 74"/>
          <p:cNvSpPr/>
          <p:nvPr/>
        </p:nvSpPr>
        <p:spPr>
          <a:xfrm>
            <a:off x="5621118" y="2787774"/>
            <a:ext cx="133564" cy="0"/>
          </a:xfrm>
          <a:custGeom>
            <a:avLst/>
            <a:gdLst>
              <a:gd name="connsiteX0" fmla="*/ 0 w 133564"/>
              <a:gd name="connsiteY0" fmla="*/ 0 h 0"/>
              <a:gd name="connsiteX1" fmla="*/ 133564 w 133564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3564">
                <a:moveTo>
                  <a:pt x="0" y="0"/>
                </a:moveTo>
                <a:lnTo>
                  <a:pt x="133564" y="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6" name="Полилиния 75"/>
          <p:cNvSpPr/>
          <p:nvPr/>
        </p:nvSpPr>
        <p:spPr>
          <a:xfrm>
            <a:off x="6000108" y="1345915"/>
            <a:ext cx="0" cy="143838"/>
          </a:xfrm>
          <a:custGeom>
            <a:avLst/>
            <a:gdLst>
              <a:gd name="connsiteX0" fmla="*/ 0 w 0"/>
              <a:gd name="connsiteY0" fmla="*/ 0 h 143838"/>
              <a:gd name="connsiteX1" fmla="*/ 0 w 0"/>
              <a:gd name="connsiteY1" fmla="*/ 143838 h 14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43838">
                <a:moveTo>
                  <a:pt x="0" y="0"/>
                </a:moveTo>
                <a:lnTo>
                  <a:pt x="0" y="143838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8" name="Полилиния 77"/>
          <p:cNvSpPr/>
          <p:nvPr/>
        </p:nvSpPr>
        <p:spPr>
          <a:xfrm>
            <a:off x="6053346" y="1357349"/>
            <a:ext cx="0" cy="143838"/>
          </a:xfrm>
          <a:custGeom>
            <a:avLst/>
            <a:gdLst>
              <a:gd name="connsiteX0" fmla="*/ 0 w 0"/>
              <a:gd name="connsiteY0" fmla="*/ 0 h 143838"/>
              <a:gd name="connsiteX1" fmla="*/ 0 w 0"/>
              <a:gd name="connsiteY1" fmla="*/ 143838 h 14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43838">
                <a:moveTo>
                  <a:pt x="0" y="0"/>
                </a:moveTo>
                <a:lnTo>
                  <a:pt x="0" y="143838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9" name="Полилиния 78"/>
          <p:cNvSpPr/>
          <p:nvPr/>
        </p:nvSpPr>
        <p:spPr>
          <a:xfrm>
            <a:off x="7195020" y="1697290"/>
            <a:ext cx="0" cy="143838"/>
          </a:xfrm>
          <a:custGeom>
            <a:avLst/>
            <a:gdLst>
              <a:gd name="connsiteX0" fmla="*/ 0 w 0"/>
              <a:gd name="connsiteY0" fmla="*/ 0 h 143838"/>
              <a:gd name="connsiteX1" fmla="*/ 0 w 0"/>
              <a:gd name="connsiteY1" fmla="*/ 143838 h 14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43838">
                <a:moveTo>
                  <a:pt x="0" y="0"/>
                </a:moveTo>
                <a:lnTo>
                  <a:pt x="0" y="143838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0" name="Полилиния 79"/>
          <p:cNvSpPr/>
          <p:nvPr/>
        </p:nvSpPr>
        <p:spPr>
          <a:xfrm>
            <a:off x="7236296" y="1705510"/>
            <a:ext cx="0" cy="143838"/>
          </a:xfrm>
          <a:custGeom>
            <a:avLst/>
            <a:gdLst>
              <a:gd name="connsiteX0" fmla="*/ 0 w 0"/>
              <a:gd name="connsiteY0" fmla="*/ 0 h 143838"/>
              <a:gd name="connsiteX1" fmla="*/ 0 w 0"/>
              <a:gd name="connsiteY1" fmla="*/ 143838 h 14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43838">
                <a:moveTo>
                  <a:pt x="0" y="0"/>
                </a:moveTo>
                <a:lnTo>
                  <a:pt x="0" y="143838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82" name="Прямая соединительная линия 81"/>
          <p:cNvCxnSpPr>
            <a:stCxn id="70" idx="6"/>
          </p:cNvCxnSpPr>
          <p:nvPr/>
        </p:nvCxnSpPr>
        <p:spPr>
          <a:xfrm flipV="1">
            <a:off x="6684246" y="1273995"/>
            <a:ext cx="1594810" cy="1798602"/>
          </a:xfrm>
          <a:prstGeom prst="line">
            <a:avLst/>
          </a:prstGeom>
          <a:ln>
            <a:solidFill>
              <a:srgbClr val="00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Овал 85"/>
          <p:cNvSpPr/>
          <p:nvPr/>
        </p:nvSpPr>
        <p:spPr>
          <a:xfrm flipH="1" flipV="1">
            <a:off x="7360342" y="2284033"/>
            <a:ext cx="45720" cy="433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 flipH="1">
                <a:off x="7163079" y="2322648"/>
                <a:ext cx="2465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𝑃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163079" y="2322648"/>
                <a:ext cx="246540" cy="307777"/>
              </a:xfrm>
              <a:prstGeom prst="rect">
                <a:avLst/>
              </a:prstGeom>
              <a:blipFill rotWithShape="0">
                <a:blip r:embed="rId13"/>
                <a:stretch>
                  <a:fillRect r="-7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107504" y="896815"/>
                <a:ext cx="206510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 smtClean="0">
                    <a:solidFill>
                      <a:schemeClr val="tx1"/>
                    </a:solidFill>
                  </a:rPr>
                  <a:t>а)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𝐴𝑁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∈</m:t>
                    </m:r>
                    <m:d>
                      <m:d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𝐿𝑁</m:t>
                        </m:r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;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896815"/>
                <a:ext cx="2065102" cy="276999"/>
              </a:xfrm>
              <a:prstGeom prst="rect">
                <a:avLst/>
              </a:prstGeom>
              <a:blipFill rotWithShape="0">
                <a:blip r:embed="rId14"/>
                <a:stretch>
                  <a:fillRect l="-296"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1067378" y="901638"/>
                <a:ext cx="124054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𝐿𝑁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∥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378" y="901638"/>
                <a:ext cx="1240540" cy="276999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1832800" y="906461"/>
                <a:ext cx="124054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𝐶𝐿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𝐿𝐵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2800" y="906461"/>
                <a:ext cx="1240540" cy="276999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51802" y="1183460"/>
                <a:ext cx="124054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𝐾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𝐵𝑀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∩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𝐿𝑁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02" y="1183460"/>
                <a:ext cx="1240540" cy="276999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1164354" y="1191697"/>
                <a:ext cx="19089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𝐾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d>
                        <m:dPr>
                          <m:ctrlPr>
                            <a:rPr lang="en-US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𝐿𝑁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∩(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</m:t>
                      </m:r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𝑀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);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354" y="1191697"/>
                <a:ext cx="1908986" cy="276999"/>
              </a:xfrm>
              <a:prstGeom prst="rect">
                <a:avLst/>
              </a:prstGeom>
              <a:blipFill rotWithShape="0">
                <a:blip r:embed="rId18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9217" y="1500430"/>
                <a:ext cx="132571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𝑃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∩</m:t>
                      </m:r>
                      <m:sSub>
                        <m:sSubPr>
                          <m:ctrlPr>
                            <a:rPr lang="en-US" sz="12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i="1" dirty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i="1" dirty="0">
                          <a:latin typeface="Cambria Math" charset="0"/>
                        </a:rPr>
                        <m:t>𝐾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7" y="1500430"/>
                <a:ext cx="1325710" cy="276999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/>
              <p:cNvSpPr txBox="1"/>
              <p:nvPr/>
            </p:nvSpPr>
            <p:spPr>
              <a:xfrm>
                <a:off x="984011" y="1490156"/>
                <a:ext cx="19045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𝑃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∩</m:t>
                      </m:r>
                      <m:d>
                        <m:d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</m:t>
                          </m:r>
                          <m:sSub>
                            <m:sSubPr>
                              <m:ctrlPr>
                                <a:rPr lang="en-US" sz="1200" i="1" dirty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2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𝑀</m:t>
                          </m:r>
                        </m:e>
                      </m:d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.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011" y="1490156"/>
                <a:ext cx="1904546" cy="276999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/>
              <p:cNvSpPr txBox="1"/>
              <p:nvPr/>
            </p:nvSpPr>
            <p:spPr>
              <a:xfrm>
                <a:off x="103592" y="1807126"/>
                <a:ext cx="123133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 smtClean="0">
                    <a:solidFill>
                      <a:schemeClr val="tx1"/>
                    </a:solidFill>
                  </a:rPr>
                  <a:t>Найдем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𝐴𝑃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: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𝑃𝑁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92" y="1807126"/>
                <a:ext cx="1231335" cy="276999"/>
              </a:xfrm>
              <a:prstGeom prst="rect">
                <a:avLst/>
              </a:prstGeom>
              <a:blipFill rotWithShape="0">
                <a:blip r:embed="rId21"/>
                <a:stretch>
                  <a:fillRect l="-495"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Полилиния 117"/>
          <p:cNvSpPr/>
          <p:nvPr/>
        </p:nvSpPr>
        <p:spPr>
          <a:xfrm>
            <a:off x="6599020" y="1291367"/>
            <a:ext cx="1849348" cy="2239766"/>
          </a:xfrm>
          <a:custGeom>
            <a:avLst/>
            <a:gdLst>
              <a:gd name="connsiteX0" fmla="*/ 143838 w 1849348"/>
              <a:gd name="connsiteY0" fmla="*/ 2239766 h 2239766"/>
              <a:gd name="connsiteX1" fmla="*/ 0 w 1849348"/>
              <a:gd name="connsiteY1" fmla="*/ 308224 h 2239766"/>
              <a:gd name="connsiteX2" fmla="*/ 1684962 w 1849348"/>
              <a:gd name="connsiteY2" fmla="*/ 0 h 2239766"/>
              <a:gd name="connsiteX3" fmla="*/ 1849348 w 1849348"/>
              <a:gd name="connsiteY3" fmla="*/ 1941815 h 2239766"/>
              <a:gd name="connsiteX4" fmla="*/ 143838 w 1849348"/>
              <a:gd name="connsiteY4" fmla="*/ 2239766 h 2239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9348" h="2239766">
                <a:moveTo>
                  <a:pt x="143838" y="2239766"/>
                </a:moveTo>
                <a:lnTo>
                  <a:pt x="0" y="308224"/>
                </a:lnTo>
                <a:lnTo>
                  <a:pt x="1684962" y="0"/>
                </a:lnTo>
                <a:lnTo>
                  <a:pt x="1849348" y="1941815"/>
                </a:lnTo>
                <a:lnTo>
                  <a:pt x="143838" y="2239766"/>
                </a:lnTo>
                <a:close/>
              </a:path>
            </a:pathLst>
          </a:custGeom>
          <a:solidFill>
            <a:srgbClr val="FF0000">
              <a:alpha val="1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9" name="Полилиния 118"/>
          <p:cNvSpPr/>
          <p:nvPr/>
        </p:nvSpPr>
        <p:spPr>
          <a:xfrm>
            <a:off x="5648793" y="1295097"/>
            <a:ext cx="2630184" cy="2496620"/>
          </a:xfrm>
          <a:custGeom>
            <a:avLst/>
            <a:gdLst>
              <a:gd name="connsiteX0" fmla="*/ 0 w 2630184"/>
              <a:gd name="connsiteY0" fmla="*/ 976045 h 2496620"/>
              <a:gd name="connsiteX1" fmla="*/ 2630184 w 2630184"/>
              <a:gd name="connsiteY1" fmla="*/ 0 h 2496620"/>
              <a:gd name="connsiteX2" fmla="*/ 2034283 w 2630184"/>
              <a:gd name="connsiteY2" fmla="*/ 2496620 h 2496620"/>
              <a:gd name="connsiteX3" fmla="*/ 0 w 2630184"/>
              <a:gd name="connsiteY3" fmla="*/ 976045 h 2496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0184" h="2496620">
                <a:moveTo>
                  <a:pt x="0" y="976045"/>
                </a:moveTo>
                <a:lnTo>
                  <a:pt x="2630184" y="0"/>
                </a:lnTo>
                <a:lnTo>
                  <a:pt x="2034283" y="2496620"/>
                </a:lnTo>
                <a:lnTo>
                  <a:pt x="0" y="976045"/>
                </a:lnTo>
                <a:close/>
              </a:path>
            </a:pathLst>
          </a:custGeom>
          <a:solidFill>
            <a:srgbClr val="339933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/>
              <p:cNvSpPr txBox="1"/>
              <p:nvPr/>
            </p:nvSpPr>
            <p:spPr>
              <a:xfrm>
                <a:off x="93875" y="2045649"/>
                <a:ext cx="123133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∆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𝑀𝐵𝐶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∼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∆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𝐿𝐾𝐵</m:t>
                      </m:r>
                      <m:r>
                        <a:rPr lang="en-US" sz="1200" b="0" i="1" smtClean="0"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0" name="TextBox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75" y="2045649"/>
                <a:ext cx="1231335" cy="276999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1235383" y="2048771"/>
                <a:ext cx="186102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𝐿𝐾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: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𝑀𝐶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𝐵𝐿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: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𝐵𝐶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=1:2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383" y="2048771"/>
                <a:ext cx="1861027" cy="276999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17068" y="2291973"/>
                <a:ext cx="2344898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𝐿𝐾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ru-RU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𝑀𝐶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4</m:t>
                          </m:r>
                        </m:den>
                      </m:f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𝐶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4</m:t>
                          </m:r>
                        </m:den>
                      </m:f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𝐿𝑁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68" y="2291973"/>
                <a:ext cx="2344898" cy="438005"/>
              </a:xfrm>
              <a:prstGeom prst="rect">
                <a:avLst/>
              </a:prstGeom>
              <a:blipFill rotWithShape="0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2118847" y="2279580"/>
                <a:ext cx="1861027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𝐾𝑁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num>
                        <m:den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4</m:t>
                          </m:r>
                        </m:den>
                      </m:f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𝐿𝑁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num>
                        <m:den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4</m:t>
                          </m:r>
                        </m:den>
                      </m:f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8847" y="2279580"/>
                <a:ext cx="1861027" cy="438005"/>
              </a:xfrm>
              <a:prstGeom prst="rect">
                <a:avLst/>
              </a:prstGeom>
              <a:blipFill rotWithShape="0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-59850" y="2757633"/>
                <a:ext cx="155821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∆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𝐾𝑁𝑃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∼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∆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𝐴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9850" y="2757633"/>
                <a:ext cx="1558218" cy="276999"/>
              </a:xfrm>
              <a:prstGeom prst="rect">
                <a:avLst/>
              </a:prstGeom>
              <a:blipFill rotWithShape="0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1264159" y="2756190"/>
                <a:ext cx="19063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</a:rPr>
                        <m:t>𝐴𝑃</m:t>
                      </m:r>
                      <m:r>
                        <a:rPr lang="en-US" sz="1200" i="1" smtClean="0">
                          <a:latin typeface="Cambria Math" charset="0"/>
                        </a:rPr>
                        <m:t>:</m:t>
                      </m:r>
                      <m:r>
                        <a:rPr lang="en-US" sz="1200" i="1" smtClean="0">
                          <a:latin typeface="Cambria Math" charset="0"/>
                        </a:rPr>
                        <m:t>𝑃𝑁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𝐾𝑁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: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=3:4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4159" y="2756190"/>
                <a:ext cx="1906372" cy="276999"/>
              </a:xfrm>
              <a:prstGeom prst="rect">
                <a:avLst/>
              </a:prstGeom>
              <a:blipFill rotWithShape="0"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65393" y="3033189"/>
                <a:ext cx="43841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 smtClean="0">
                    <a:solidFill>
                      <a:schemeClr val="tx1"/>
                    </a:solidFill>
                  </a:rPr>
                  <a:t>б) </a:t>
                </a:r>
                <a:r>
                  <a:rPr lang="ru-RU" sz="1200" dirty="0" smtClean="0">
                    <a:latin typeface="+mj-lt"/>
                  </a:rPr>
                  <a:t>Пусть объем призмы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𝐴𝐵𝐶</m:t>
                    </m:r>
                    <m:sSub>
                      <m:sSubPr>
                        <m:ctrlPr>
                          <a:rPr lang="ru-RU" sz="1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ru-RU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ru-RU" sz="1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𝐵</m:t>
                        </m:r>
                      </m:e>
                      <m:sub>
                        <m:r>
                          <a:rPr lang="ru-RU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ru-RU" sz="1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𝐶</m:t>
                        </m:r>
                      </m:e>
                      <m:sub>
                        <m:r>
                          <a:rPr lang="ru-RU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ru-RU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равен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𝑉</m:t>
                    </m:r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93" y="3033189"/>
                <a:ext cx="4384160" cy="276999"/>
              </a:xfrm>
              <a:prstGeom prst="rect">
                <a:avLst/>
              </a:prstGeom>
              <a:blipFill rotWithShape="0">
                <a:blip r:embed="rId28"/>
                <a:stretch>
                  <a:fillRect l="-139" t="-82222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75012" y="3287577"/>
                <a:ext cx="356088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 smtClean="0">
                    <a:latin typeface="+mj-lt"/>
                  </a:rPr>
                  <a:t>Выразим  объем многогранника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𝐶𝑀𝐵</m:t>
                    </m:r>
                    <m:sSub>
                      <m:sSub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𝐴</m:t>
                    </m:r>
                    <m:r>
                      <a:rPr lang="ru-RU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через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𝑉</m:t>
                    </m:r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12" y="3287577"/>
                <a:ext cx="3560884" cy="276999"/>
              </a:xfrm>
              <a:prstGeom prst="rect">
                <a:avLst/>
              </a:prstGeom>
              <a:blipFill rotWithShape="0">
                <a:blip r:embed="rId29"/>
                <a:stretch>
                  <a:fillRect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олилиния 3"/>
          <p:cNvSpPr/>
          <p:nvPr/>
        </p:nvSpPr>
        <p:spPr>
          <a:xfrm>
            <a:off x="5631162" y="1275363"/>
            <a:ext cx="2804845" cy="2517168"/>
          </a:xfrm>
          <a:custGeom>
            <a:avLst/>
            <a:gdLst>
              <a:gd name="connsiteX0" fmla="*/ 82194 w 2804845"/>
              <a:gd name="connsiteY0" fmla="*/ 1941815 h 2517168"/>
              <a:gd name="connsiteX1" fmla="*/ 0 w 2804845"/>
              <a:gd name="connsiteY1" fmla="*/ 986319 h 2517168"/>
              <a:gd name="connsiteX2" fmla="*/ 2054832 w 2804845"/>
              <a:gd name="connsiteY2" fmla="*/ 2517168 h 2517168"/>
              <a:gd name="connsiteX3" fmla="*/ 2650733 w 2804845"/>
              <a:gd name="connsiteY3" fmla="*/ 0 h 2517168"/>
              <a:gd name="connsiteX4" fmla="*/ 2804845 w 2804845"/>
              <a:gd name="connsiteY4" fmla="*/ 1941815 h 2517168"/>
              <a:gd name="connsiteX5" fmla="*/ 2034284 w 2804845"/>
              <a:gd name="connsiteY5" fmla="*/ 2517168 h 2517168"/>
              <a:gd name="connsiteX6" fmla="*/ 82194 w 2804845"/>
              <a:gd name="connsiteY6" fmla="*/ 1941815 h 2517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04845" h="2517168">
                <a:moveTo>
                  <a:pt x="82194" y="1941815"/>
                </a:moveTo>
                <a:lnTo>
                  <a:pt x="0" y="986319"/>
                </a:lnTo>
                <a:lnTo>
                  <a:pt x="2054832" y="2517168"/>
                </a:lnTo>
                <a:lnTo>
                  <a:pt x="2650733" y="0"/>
                </a:lnTo>
                <a:lnTo>
                  <a:pt x="2804845" y="1941815"/>
                </a:lnTo>
                <a:lnTo>
                  <a:pt x="2034284" y="2517168"/>
                </a:lnTo>
                <a:lnTo>
                  <a:pt x="82194" y="1941815"/>
                </a:lnTo>
                <a:close/>
              </a:path>
            </a:pathLst>
          </a:custGeom>
          <a:solidFill>
            <a:srgbClr val="339933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5" name="Прямая соединительная линия 64"/>
          <p:cNvCxnSpPr>
            <a:stCxn id="118" idx="3"/>
            <a:endCxn id="119" idx="0"/>
          </p:cNvCxnSpPr>
          <p:nvPr/>
        </p:nvCxnSpPr>
        <p:spPr>
          <a:xfrm flipH="1" flipV="1">
            <a:off x="5648793" y="2271142"/>
            <a:ext cx="2799575" cy="962040"/>
          </a:xfrm>
          <a:prstGeom prst="line">
            <a:avLst/>
          </a:prstGeom>
          <a:ln>
            <a:solidFill>
              <a:srgbClr val="00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олилиния 8"/>
          <p:cNvSpPr/>
          <p:nvPr/>
        </p:nvSpPr>
        <p:spPr>
          <a:xfrm>
            <a:off x="5640512" y="2279580"/>
            <a:ext cx="2815119" cy="1520575"/>
          </a:xfrm>
          <a:custGeom>
            <a:avLst/>
            <a:gdLst>
              <a:gd name="connsiteX0" fmla="*/ 0 w 2815119"/>
              <a:gd name="connsiteY0" fmla="*/ 0 h 1520575"/>
              <a:gd name="connsiteX1" fmla="*/ 2815119 w 2815119"/>
              <a:gd name="connsiteY1" fmla="*/ 955496 h 1520575"/>
              <a:gd name="connsiteX2" fmla="*/ 2044558 w 2815119"/>
              <a:gd name="connsiteY2" fmla="*/ 1520575 h 1520575"/>
              <a:gd name="connsiteX3" fmla="*/ 82194 w 2815119"/>
              <a:gd name="connsiteY3" fmla="*/ 955496 h 1520575"/>
              <a:gd name="connsiteX4" fmla="*/ 0 w 2815119"/>
              <a:gd name="connsiteY4" fmla="*/ 0 h 1520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15119" h="1520575">
                <a:moveTo>
                  <a:pt x="0" y="0"/>
                </a:moveTo>
                <a:lnTo>
                  <a:pt x="2815119" y="955496"/>
                </a:lnTo>
                <a:lnTo>
                  <a:pt x="2044558" y="1520575"/>
                </a:lnTo>
                <a:lnTo>
                  <a:pt x="82194" y="955496"/>
                </a:lnTo>
                <a:lnTo>
                  <a:pt x="0" y="0"/>
                </a:lnTo>
                <a:close/>
              </a:path>
            </a:pathLst>
          </a:custGeom>
          <a:solidFill>
            <a:srgbClr val="FFC000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олилиния 9"/>
          <p:cNvSpPr/>
          <p:nvPr/>
        </p:nvSpPr>
        <p:spPr>
          <a:xfrm>
            <a:off x="5638778" y="1293356"/>
            <a:ext cx="2815119" cy="2496620"/>
          </a:xfrm>
          <a:custGeom>
            <a:avLst/>
            <a:gdLst>
              <a:gd name="connsiteX0" fmla="*/ 0 w 2815119"/>
              <a:gd name="connsiteY0" fmla="*/ 965771 h 2496620"/>
              <a:gd name="connsiteX1" fmla="*/ 2650733 w 2815119"/>
              <a:gd name="connsiteY1" fmla="*/ 0 h 2496620"/>
              <a:gd name="connsiteX2" fmla="*/ 2815119 w 2815119"/>
              <a:gd name="connsiteY2" fmla="*/ 1941816 h 2496620"/>
              <a:gd name="connsiteX3" fmla="*/ 2024009 w 2815119"/>
              <a:gd name="connsiteY3" fmla="*/ 2496620 h 2496620"/>
              <a:gd name="connsiteX4" fmla="*/ 0 w 2815119"/>
              <a:gd name="connsiteY4" fmla="*/ 965771 h 2496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15119" h="2496620">
                <a:moveTo>
                  <a:pt x="0" y="965771"/>
                </a:moveTo>
                <a:lnTo>
                  <a:pt x="2650733" y="0"/>
                </a:lnTo>
                <a:lnTo>
                  <a:pt x="2815119" y="1941816"/>
                </a:lnTo>
                <a:lnTo>
                  <a:pt x="2024009" y="2496620"/>
                </a:lnTo>
                <a:lnTo>
                  <a:pt x="0" y="965771"/>
                </a:lnTo>
                <a:close/>
              </a:path>
            </a:pathLst>
          </a:custGeom>
          <a:solidFill>
            <a:schemeClr val="accent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73655" y="3532540"/>
                <a:ext cx="2098951" cy="292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𝐶𝑀𝐵</m:t>
                          </m:r>
                          <m:sSub>
                            <m:sSubPr>
                              <m:ctrlP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𝐴</m:t>
                          </m:r>
                        </m:sub>
                      </m:sSub>
                      <m:r>
                        <a:rPr lang="ru-RU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i="1" dirty="0">
                              <a:latin typeface="Cambria Math" charset="0"/>
                            </a:rPr>
                            <m:t>𝐶𝑀𝐵𝐴</m:t>
                          </m:r>
                        </m:sub>
                      </m:sSub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sz="12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</a:rPr>
                            <m:t>𝐵𝑀</m:t>
                          </m:r>
                          <m:sSub>
                            <m:sSubPr>
                              <m:ctrlPr>
                                <a:rPr lang="en-US" sz="1200" b="0" i="1" dirty="0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200" b="0" i="1" dirty="0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dirty="0" smtClean="0">
                              <a:latin typeface="Cambria Math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55" y="3532540"/>
                <a:ext cx="2098951" cy="292901"/>
              </a:xfrm>
              <a:prstGeom prst="rect">
                <a:avLst/>
              </a:prstGeom>
              <a:blipFill rotWithShape="0"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-162667" y="3811177"/>
                <a:ext cx="2098951" cy="439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i="1" dirty="0">
                              <a:latin typeface="Cambria Math" charset="0"/>
                            </a:rPr>
                            <m:t>𝐶𝑀𝐵𝐴</m:t>
                          </m:r>
                        </m:sub>
                      </m:sSub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𝐴𝐵𝐶</m:t>
                          </m:r>
                        </m:sub>
                      </m:sSub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𝑀𝐻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2667" y="3811177"/>
                <a:ext cx="2098951" cy="439223"/>
              </a:xfrm>
              <a:prstGeom prst="rect">
                <a:avLst/>
              </a:prstGeom>
              <a:blipFill rotWithShape="0">
                <a:blip r:embed="rId31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1462030" y="3809734"/>
                <a:ext cx="1428577" cy="439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𝐴𝐵𝐶</m:t>
                          </m:r>
                        </m:sub>
                      </m:sSub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(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)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2030" y="3809734"/>
                <a:ext cx="1428577" cy="439223"/>
              </a:xfrm>
              <a:prstGeom prst="rect">
                <a:avLst/>
              </a:prstGeom>
              <a:blipFill rotWithShape="0"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2599297" y="3808291"/>
                <a:ext cx="1428577" cy="439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6</m:t>
                          </m:r>
                        </m:den>
                      </m:f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𝐴𝐵𝐶</m:t>
                          </m:r>
                        </m:sub>
                      </m:sSub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9297" y="3808291"/>
                <a:ext cx="1428577" cy="439223"/>
              </a:xfrm>
              <a:prstGeom prst="rect">
                <a:avLst/>
              </a:prstGeom>
              <a:blipFill rotWithShape="0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3588638" y="3802304"/>
                <a:ext cx="770327" cy="439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6</m:t>
                          </m:r>
                        </m:den>
                      </m:f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𝑉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8638" y="3802304"/>
                <a:ext cx="770327" cy="439223"/>
              </a:xfrm>
              <a:prstGeom prst="rect">
                <a:avLst/>
              </a:prstGeom>
              <a:blipFill rotWithShape="0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Прямая соединительная линия 12"/>
          <p:cNvCxnSpPr/>
          <p:nvPr/>
        </p:nvCxnSpPr>
        <p:spPr>
          <a:xfrm>
            <a:off x="5634230" y="2261682"/>
            <a:ext cx="7616" cy="9648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Полилиния 29"/>
          <p:cNvSpPr/>
          <p:nvPr/>
        </p:nvSpPr>
        <p:spPr>
          <a:xfrm>
            <a:off x="5513486" y="3102796"/>
            <a:ext cx="130763" cy="133564"/>
          </a:xfrm>
          <a:custGeom>
            <a:avLst/>
            <a:gdLst>
              <a:gd name="connsiteX0" fmla="*/ 133564 w 143839"/>
              <a:gd name="connsiteY0" fmla="*/ 0 h 133564"/>
              <a:gd name="connsiteX1" fmla="*/ 0 w 143839"/>
              <a:gd name="connsiteY1" fmla="*/ 0 h 133564"/>
              <a:gd name="connsiteX2" fmla="*/ 0 w 143839"/>
              <a:gd name="connsiteY2" fmla="*/ 133564 h 133564"/>
              <a:gd name="connsiteX3" fmla="*/ 143839 w 143839"/>
              <a:gd name="connsiteY3" fmla="*/ 133564 h 133564"/>
              <a:gd name="connsiteX4" fmla="*/ 133564 w 143839"/>
              <a:gd name="connsiteY4" fmla="*/ 0 h 133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839" h="133564">
                <a:moveTo>
                  <a:pt x="133564" y="0"/>
                </a:moveTo>
                <a:lnTo>
                  <a:pt x="0" y="0"/>
                </a:lnTo>
                <a:lnTo>
                  <a:pt x="0" y="133564"/>
                </a:lnTo>
                <a:lnTo>
                  <a:pt x="143839" y="133564"/>
                </a:lnTo>
                <a:lnTo>
                  <a:pt x="133564" y="0"/>
                </a:lnTo>
                <a:close/>
              </a:path>
            </a:pathLst>
          </a:custGeom>
          <a:solidFill>
            <a:schemeClr val="bg1">
              <a:lumMod val="85000"/>
              <a:alpha val="36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 flipH="1">
                <a:off x="5462228" y="3196059"/>
                <a:ext cx="49693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charset="0"/>
                      </a:rPr>
                      <m:t>𝐻</m:t>
                    </m:r>
                  </m:oMath>
                </a14:m>
                <a:r>
                  <a:rPr lang="ru-RU" sz="1400" dirty="0" smtClean="0"/>
                  <a:t> </a:t>
                </a:r>
                <a:endParaRPr lang="ru-RU" sz="1400" dirty="0"/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462228" y="3196059"/>
                <a:ext cx="496934" cy="307777"/>
              </a:xfrm>
              <a:prstGeom prst="rect">
                <a:avLst/>
              </a:prstGeom>
              <a:blipFill rotWithShape="0"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Прямая соединительная линия 95"/>
          <p:cNvCxnSpPr/>
          <p:nvPr/>
        </p:nvCxnSpPr>
        <p:spPr>
          <a:xfrm flipH="1">
            <a:off x="5495828" y="1261745"/>
            <a:ext cx="46053" cy="19714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Полилиния 96"/>
          <p:cNvSpPr/>
          <p:nvPr/>
        </p:nvSpPr>
        <p:spPr>
          <a:xfrm>
            <a:off x="5375054" y="3096444"/>
            <a:ext cx="122188" cy="138160"/>
          </a:xfrm>
          <a:custGeom>
            <a:avLst/>
            <a:gdLst>
              <a:gd name="connsiteX0" fmla="*/ 133564 w 143839"/>
              <a:gd name="connsiteY0" fmla="*/ 0 h 133564"/>
              <a:gd name="connsiteX1" fmla="*/ 0 w 143839"/>
              <a:gd name="connsiteY1" fmla="*/ 0 h 133564"/>
              <a:gd name="connsiteX2" fmla="*/ 0 w 143839"/>
              <a:gd name="connsiteY2" fmla="*/ 133564 h 133564"/>
              <a:gd name="connsiteX3" fmla="*/ 143839 w 143839"/>
              <a:gd name="connsiteY3" fmla="*/ 133564 h 133564"/>
              <a:gd name="connsiteX4" fmla="*/ 133564 w 143839"/>
              <a:gd name="connsiteY4" fmla="*/ 0 h 133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839" h="133564">
                <a:moveTo>
                  <a:pt x="133564" y="0"/>
                </a:moveTo>
                <a:lnTo>
                  <a:pt x="0" y="0"/>
                </a:lnTo>
                <a:lnTo>
                  <a:pt x="0" y="133564"/>
                </a:lnTo>
                <a:lnTo>
                  <a:pt x="143839" y="133564"/>
                </a:lnTo>
                <a:lnTo>
                  <a:pt x="133564" y="0"/>
                </a:lnTo>
                <a:close/>
              </a:path>
            </a:pathLst>
          </a:custGeom>
          <a:solidFill>
            <a:schemeClr val="bg1">
              <a:lumMod val="85000"/>
              <a:alpha val="36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/>
              <p:cNvSpPr txBox="1"/>
              <p:nvPr/>
            </p:nvSpPr>
            <p:spPr>
              <a:xfrm flipH="1">
                <a:off x="5190772" y="3178908"/>
                <a:ext cx="49693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𝐻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98" name="TextBox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190772" y="3178908"/>
                <a:ext cx="496934" cy="307777"/>
              </a:xfrm>
              <a:prstGeom prst="rect">
                <a:avLst/>
              </a:prstGeom>
              <a:blipFill rotWithShape="0"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5988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9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2" grpId="0"/>
      <p:bldP spid="23" grpId="0"/>
      <p:bldP spid="24" grpId="0"/>
      <p:bldP spid="25" grpId="0"/>
      <p:bldP spid="26" grpId="0"/>
      <p:bldP spid="27" grpId="0"/>
      <p:bldP spid="29" grpId="0" animBg="1"/>
      <p:bldP spid="33" grpId="0"/>
      <p:bldP spid="34" grpId="0" animBg="1"/>
      <p:bldP spid="35" grpId="0"/>
      <p:bldP spid="67" grpId="1"/>
      <p:bldP spid="67" grpId="2"/>
      <p:bldP spid="70" grpId="0" animBg="1"/>
      <p:bldP spid="71" grpId="0"/>
      <p:bldP spid="74" grpId="0" animBg="1"/>
      <p:bldP spid="75" grpId="0" animBg="1"/>
      <p:bldP spid="76" grpId="0" animBg="1"/>
      <p:bldP spid="78" grpId="0" animBg="1"/>
      <p:bldP spid="79" grpId="0" animBg="1"/>
      <p:bldP spid="80" grpId="0" animBg="1"/>
      <p:bldP spid="86" grpId="0" animBg="1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118" grpId="0" animBg="1"/>
      <p:bldP spid="118" grpId="1" animBg="1"/>
      <p:bldP spid="119" grpId="0" animBg="1"/>
      <p:bldP spid="120" grpId="0"/>
      <p:bldP spid="55" grpId="0"/>
      <p:bldP spid="56" grpId="0"/>
      <p:bldP spid="58" grpId="0"/>
      <p:bldP spid="59" grpId="0"/>
      <p:bldP spid="60" grpId="0"/>
      <p:bldP spid="61" grpId="0"/>
      <p:bldP spid="62" grpId="0"/>
      <p:bldP spid="4" grpId="0" animBg="1"/>
      <p:bldP spid="9" grpId="0" animBg="1"/>
      <p:bldP spid="10" grpId="0" animBg="1"/>
      <p:bldP spid="72" grpId="0"/>
      <p:bldP spid="77" grpId="0"/>
      <p:bldP spid="81" grpId="0"/>
      <p:bldP spid="83" grpId="0"/>
      <p:bldP spid="84" grpId="0"/>
      <p:bldP spid="30" grpId="0" animBg="1"/>
      <p:bldP spid="85" grpId="0"/>
      <p:bldP spid="97" grpId="0" animBg="1"/>
      <p:bldP spid="9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40</a:t>
            </a:fld>
            <a:endParaRPr kumimoji="0" lang="ru-RU">
              <a:solidFill>
                <a:schemeClr val="tx2"/>
              </a:solidFill>
            </a:endParaRPr>
          </a:p>
        </p:txBody>
      </p:sp>
      <p:sp>
        <p:nvSpPr>
          <p:cNvPr id="3" name="Номер слайда 1"/>
          <p:cNvSpPr txBox="1">
            <a:spLocks/>
          </p:cNvSpPr>
          <p:nvPr/>
        </p:nvSpPr>
        <p:spPr>
          <a:xfrm>
            <a:off x="0" y="4686300"/>
            <a:ext cx="533400" cy="285750"/>
          </a:xfrm>
          <a:prstGeom prst="rect">
            <a:avLst/>
          </a:prstGeom>
        </p:spPr>
        <p:txBody>
          <a:bodyPr vert="horz" anchor="ctr" anchorCtr="0">
            <a:normAutofit lnSpcReduction="10000"/>
          </a:bodyPr>
          <a:lstStyle>
            <a:lvl1pPr marL="0" algn="ctr" rtl="0" eaLnBrk="1" latinLnBrk="0" hangingPunct="1">
              <a:defRPr kumimoji="0" lang="ru-RU"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fld id="{A3F7CB7D-F184-43C7-B6FD-03D728E1BBFF}" type="slidenum">
              <a:rPr lang="ru-RU" smtClean="0"/>
              <a:pPr/>
              <a:t>40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0" y="-22135"/>
                <a:ext cx="9144000" cy="79368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dirty="0" smtClean="0">
                    <a:solidFill>
                      <a:srgbClr val="7030A0"/>
                    </a:solidFill>
                  </a:rPr>
                  <a:t>23.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Точки</a:t>
                </a:r>
                <a:r>
                  <a:rPr lang="ru-RU" sz="1200" b="1" dirty="0" smtClean="0">
                    <a:solidFill>
                      <a:srgbClr val="7030A0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𝑴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𝑵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 -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середины ребер соответственно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𝑪</m:t>
                    </m:r>
                    <m:sSub>
                      <m:sSubPr>
                        <m:ctrlP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и   </m:t>
                    </m:r>
                    <m:sSub>
                      <m:sSubPr>
                        <m:ctrlP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треугольной призмы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𝑨𝑩𝑪</m:t>
                    </m:r>
                    <m:sSub>
                      <m:sSubPr>
                        <m:ctrlPr>
                          <a:rPr lang="ru-RU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ru-RU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ru-RU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ru-RU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ru-RU" sz="1200" b="1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ru-RU" sz="1200" b="1" i="1" dirty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 с основаниями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𝑨𝑩𝑪</m:t>
                    </m:r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 и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𝑨𝑩𝑪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ru-RU" sz="1200" b="1" i="0" dirty="0" smtClean="0">
                  <a:solidFill>
                    <a:srgbClr val="002060"/>
                  </a:solidFill>
                  <a:latin typeface="+mj-lt"/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а)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Докажите, что плоскость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𝑩</m:t>
                    </m:r>
                    <m:sSub>
                      <m:sSubPr>
                        <m:ctrlP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𝑴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  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делит отрезок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𝑵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 в отношении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𝟒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: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𝟑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, 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считая от точки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2060"/>
                        </a:solidFill>
                        <a:latin typeface="Cambria Math" charset="0"/>
                      </a:rPr>
                      <m:t>𝑨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.</a:t>
                </a: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б) В каком отношении плоскость </a:t>
                </a:r>
                <a14:m>
                  <m:oMath xmlns:m="http://schemas.openxmlformats.org/officeDocument/2006/math">
                    <m:r>
                      <a:rPr lang="en-US" sz="1200" b="1" i="1">
                        <a:solidFill>
                          <a:srgbClr val="002060"/>
                        </a:solidFill>
                        <a:latin typeface="Cambria Math" charset="0"/>
                      </a:rPr>
                      <m:t>𝑩</m:t>
                    </m:r>
                    <m:sSub>
                      <m:sSubPr>
                        <m:ctrlPr>
                          <a:rPr lang="en-US" sz="1200" b="1" i="1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en-US" sz="1200" b="1" i="1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>
                        <a:solidFill>
                          <a:srgbClr val="002060"/>
                        </a:solidFill>
                        <a:latin typeface="Cambria Math" charset="0"/>
                      </a:rPr>
                      <m:t>𝑴</m:t>
                    </m:r>
                    <m:r>
                      <a:rPr lang="en-US" sz="1200" b="1" i="1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 делит объем призмы. </a:t>
                </a: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5"/>
                <a:ext cx="9144000" cy="79368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Прямая соединительная линия 4"/>
          <p:cNvCxnSpPr/>
          <p:nvPr/>
        </p:nvCxnSpPr>
        <p:spPr>
          <a:xfrm>
            <a:off x="5724128" y="3212544"/>
            <a:ext cx="2736304" cy="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>
            <a:off x="5724128" y="3212544"/>
            <a:ext cx="1944216" cy="576064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flipV="1">
            <a:off x="7668344" y="3212544"/>
            <a:ext cx="792088" cy="576064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5544109" y="1268328"/>
            <a:ext cx="177489" cy="196720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5544109" y="1273049"/>
            <a:ext cx="2736304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5534169" y="1270718"/>
            <a:ext cx="1944216" cy="576064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 flipV="1">
            <a:off x="7488325" y="1273049"/>
            <a:ext cx="792088" cy="576064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8285005" y="1268328"/>
            <a:ext cx="172149" cy="196720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7485611" y="1844392"/>
            <a:ext cx="182733" cy="1954369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8380685" y="3107855"/>
                <a:ext cx="3983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0685" y="3107855"/>
                <a:ext cx="398330" cy="3077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 flipH="1">
                <a:off x="7504884" y="3782370"/>
                <a:ext cx="2465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504884" y="3782370"/>
                <a:ext cx="246540" cy="307777"/>
              </a:xfrm>
              <a:prstGeom prst="rect">
                <a:avLst/>
              </a:prstGeom>
              <a:blipFill rotWithShape="0">
                <a:blip r:embed="rId4"/>
                <a:stretch>
                  <a:fillRect r="-73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 flipH="1">
                <a:off x="5350538" y="3024346"/>
                <a:ext cx="49693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350538" y="3024346"/>
                <a:ext cx="496934" cy="3077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8232347" y="1048283"/>
                <a:ext cx="41716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2347" y="1048283"/>
                <a:ext cx="417165" cy="3077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 flipH="1">
                <a:off x="7302370" y="1532009"/>
                <a:ext cx="2465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302370" y="1532009"/>
                <a:ext cx="246540" cy="307777"/>
              </a:xfrm>
              <a:prstGeom prst="rect">
                <a:avLst/>
              </a:prstGeom>
              <a:blipFill rotWithShape="0">
                <a:blip r:embed="rId7"/>
                <a:stretch>
                  <a:fillRect r="-27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 flipH="1">
                <a:off x="5017249" y="1062085"/>
                <a:ext cx="7122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017249" y="1062085"/>
                <a:ext cx="712236" cy="30777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Овал 20"/>
          <p:cNvSpPr/>
          <p:nvPr/>
        </p:nvSpPr>
        <p:spPr>
          <a:xfrm flipH="1" flipV="1">
            <a:off x="5625029" y="2243648"/>
            <a:ext cx="45719" cy="4335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 flipH="1">
                <a:off x="5201350" y="2148255"/>
                <a:ext cx="49693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𝑀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01350" y="2148255"/>
                <a:ext cx="496934" cy="30777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Прямая соединительная линия 24"/>
          <p:cNvCxnSpPr/>
          <p:nvPr/>
        </p:nvCxnSpPr>
        <p:spPr>
          <a:xfrm flipV="1">
            <a:off x="7674782" y="1277658"/>
            <a:ext cx="604274" cy="2510950"/>
          </a:xfrm>
          <a:prstGeom prst="line">
            <a:avLst/>
          </a:prstGeom>
          <a:ln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 flipH="1" flipV="1">
            <a:off x="5664053" y="2280656"/>
            <a:ext cx="2010378" cy="1507952"/>
          </a:xfrm>
          <a:prstGeom prst="line">
            <a:avLst/>
          </a:prstGeom>
          <a:ln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 flipH="1">
            <a:off x="5647888" y="1283201"/>
            <a:ext cx="2640596" cy="960447"/>
          </a:xfrm>
          <a:prstGeom prst="line">
            <a:avLst/>
          </a:prstGeom>
          <a:ln>
            <a:solidFill>
              <a:srgbClr val="00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Полилиния 35"/>
          <p:cNvSpPr/>
          <p:nvPr/>
        </p:nvSpPr>
        <p:spPr>
          <a:xfrm>
            <a:off x="5527496" y="1746607"/>
            <a:ext cx="133564" cy="0"/>
          </a:xfrm>
          <a:custGeom>
            <a:avLst/>
            <a:gdLst>
              <a:gd name="connsiteX0" fmla="*/ 0 w 133564"/>
              <a:gd name="connsiteY0" fmla="*/ 0 h 0"/>
              <a:gd name="connsiteX1" fmla="*/ 133564 w 133564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3564">
                <a:moveTo>
                  <a:pt x="0" y="0"/>
                </a:moveTo>
                <a:lnTo>
                  <a:pt x="133564" y="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олилиния 36"/>
          <p:cNvSpPr/>
          <p:nvPr/>
        </p:nvSpPr>
        <p:spPr>
          <a:xfrm>
            <a:off x="5621118" y="2787774"/>
            <a:ext cx="133564" cy="0"/>
          </a:xfrm>
          <a:custGeom>
            <a:avLst/>
            <a:gdLst>
              <a:gd name="connsiteX0" fmla="*/ 0 w 133564"/>
              <a:gd name="connsiteY0" fmla="*/ 0 h 0"/>
              <a:gd name="connsiteX1" fmla="*/ 133564 w 133564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3564">
                <a:moveTo>
                  <a:pt x="0" y="0"/>
                </a:moveTo>
                <a:lnTo>
                  <a:pt x="133564" y="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Полилиния 53"/>
          <p:cNvSpPr/>
          <p:nvPr/>
        </p:nvSpPr>
        <p:spPr>
          <a:xfrm>
            <a:off x="5648588" y="1282887"/>
            <a:ext cx="2630184" cy="2496620"/>
          </a:xfrm>
          <a:custGeom>
            <a:avLst/>
            <a:gdLst>
              <a:gd name="connsiteX0" fmla="*/ 0 w 2630184"/>
              <a:gd name="connsiteY0" fmla="*/ 976045 h 2496620"/>
              <a:gd name="connsiteX1" fmla="*/ 2630184 w 2630184"/>
              <a:gd name="connsiteY1" fmla="*/ 0 h 2496620"/>
              <a:gd name="connsiteX2" fmla="*/ 2034283 w 2630184"/>
              <a:gd name="connsiteY2" fmla="*/ 2496620 h 2496620"/>
              <a:gd name="connsiteX3" fmla="*/ 0 w 2630184"/>
              <a:gd name="connsiteY3" fmla="*/ 976045 h 2496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0184" h="2496620">
                <a:moveTo>
                  <a:pt x="0" y="976045"/>
                </a:moveTo>
                <a:lnTo>
                  <a:pt x="2630184" y="0"/>
                </a:lnTo>
                <a:lnTo>
                  <a:pt x="2034283" y="2496620"/>
                </a:lnTo>
                <a:lnTo>
                  <a:pt x="0" y="976045"/>
                </a:lnTo>
                <a:close/>
              </a:path>
            </a:pathLst>
          </a:custGeom>
          <a:solidFill>
            <a:srgbClr val="339933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65393" y="915566"/>
                <a:ext cx="43841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 smtClean="0">
                    <a:solidFill>
                      <a:schemeClr val="tx1"/>
                    </a:solidFill>
                  </a:rPr>
                  <a:t>б) </a:t>
                </a:r>
                <a:r>
                  <a:rPr lang="ru-RU" sz="1200" dirty="0" smtClean="0">
                    <a:latin typeface="+mj-lt"/>
                  </a:rPr>
                  <a:t>Пусть объем призмы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𝐴𝐵𝐶</m:t>
                    </m:r>
                    <m:sSub>
                      <m:sSubPr>
                        <m:ctrlPr>
                          <a:rPr lang="ru-RU" sz="1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ru-RU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ru-RU" sz="1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𝐵</m:t>
                        </m:r>
                      </m:e>
                      <m:sub>
                        <m:r>
                          <a:rPr lang="ru-RU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ru-RU" sz="1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𝐶</m:t>
                        </m:r>
                      </m:e>
                      <m:sub>
                        <m:r>
                          <a:rPr lang="ru-RU" sz="1200" b="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ru-RU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равен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𝑉</m:t>
                    </m:r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93" y="915566"/>
                <a:ext cx="4384160" cy="276999"/>
              </a:xfrm>
              <a:prstGeom prst="rect">
                <a:avLst/>
              </a:prstGeom>
              <a:blipFill rotWithShape="0">
                <a:blip r:embed="rId10"/>
                <a:stretch>
                  <a:fillRect l="-139"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75012" y="1169954"/>
                <a:ext cx="356088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 smtClean="0">
                    <a:latin typeface="+mj-lt"/>
                  </a:rPr>
                  <a:t>Выразим  объем многогранника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𝐶𝑀𝐵</m:t>
                    </m:r>
                    <m:sSub>
                      <m:sSubPr>
                        <m:ctrlP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sz="12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𝐴</m:t>
                    </m:r>
                    <m:r>
                      <a:rPr lang="ru-RU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через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𝑉</m:t>
                    </m:r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12" y="1169954"/>
                <a:ext cx="3560884" cy="276999"/>
              </a:xfrm>
              <a:prstGeom prst="rect">
                <a:avLst/>
              </a:prstGeom>
              <a:blipFill rotWithShape="0">
                <a:blip r:embed="rId11"/>
                <a:stretch>
                  <a:fillRect t="-80000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Прямая соединительная линия 63"/>
          <p:cNvCxnSpPr/>
          <p:nvPr/>
        </p:nvCxnSpPr>
        <p:spPr>
          <a:xfrm flipH="1" flipV="1">
            <a:off x="5648793" y="2271142"/>
            <a:ext cx="2799575" cy="962040"/>
          </a:xfrm>
          <a:prstGeom prst="line">
            <a:avLst/>
          </a:prstGeom>
          <a:ln>
            <a:solidFill>
              <a:srgbClr val="00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73655" y="1414917"/>
                <a:ext cx="2098951" cy="292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𝐶𝑀𝐵</m:t>
                          </m:r>
                          <m:sSub>
                            <m:sSubPr>
                              <m:ctrlP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𝐴</m:t>
                          </m:r>
                        </m:sub>
                      </m:sSub>
                      <m:r>
                        <a:rPr lang="ru-RU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i="1" dirty="0">
                              <a:latin typeface="Cambria Math" charset="0"/>
                            </a:rPr>
                            <m:t>𝐶𝑀𝐵𝐴</m:t>
                          </m:r>
                        </m:sub>
                      </m:sSub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sz="12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</a:rPr>
                            <m:t>𝐵𝑀</m:t>
                          </m:r>
                          <m:sSub>
                            <m:sSubPr>
                              <m:ctrlPr>
                                <a:rPr lang="en-US" sz="1200" b="0" i="1" dirty="0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200" b="0" i="1" dirty="0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dirty="0" smtClean="0">
                              <a:latin typeface="Cambria Math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55" y="1414917"/>
                <a:ext cx="2098951" cy="292901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-147038" y="1694469"/>
                <a:ext cx="1540748" cy="439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i="1" dirty="0">
                              <a:latin typeface="Cambria Math" charset="0"/>
                            </a:rPr>
                            <m:t>𝐶𝑀𝐵𝐴</m:t>
                          </m:r>
                        </m:sub>
                      </m:sSub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i="1" dirty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i="1" dirty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i="1" dirty="0">
                              <a:latin typeface="Cambria Math" charset="0"/>
                            </a:rPr>
                            <m:t>6</m:t>
                          </m:r>
                        </m:den>
                      </m:f>
                      <m:r>
                        <a:rPr lang="en-US" sz="1200" i="1" dirty="0">
                          <a:latin typeface="Cambria Math" charset="0"/>
                        </a:rPr>
                        <m:t>𝑉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7038" y="1694469"/>
                <a:ext cx="1540748" cy="439223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Полилиния 71"/>
          <p:cNvSpPr/>
          <p:nvPr/>
        </p:nvSpPr>
        <p:spPr>
          <a:xfrm>
            <a:off x="5640625" y="1281092"/>
            <a:ext cx="2804844" cy="1952090"/>
          </a:xfrm>
          <a:custGeom>
            <a:avLst/>
            <a:gdLst>
              <a:gd name="connsiteX0" fmla="*/ 0 w 2804844"/>
              <a:gd name="connsiteY0" fmla="*/ 986319 h 1952090"/>
              <a:gd name="connsiteX1" fmla="*/ 2804844 w 2804844"/>
              <a:gd name="connsiteY1" fmla="*/ 1952090 h 1952090"/>
              <a:gd name="connsiteX2" fmla="*/ 2640458 w 2804844"/>
              <a:gd name="connsiteY2" fmla="*/ 0 h 1952090"/>
              <a:gd name="connsiteX3" fmla="*/ 0 w 2804844"/>
              <a:gd name="connsiteY3" fmla="*/ 986319 h 1952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4844" h="1952090">
                <a:moveTo>
                  <a:pt x="0" y="986319"/>
                </a:moveTo>
                <a:lnTo>
                  <a:pt x="2804844" y="1952090"/>
                </a:lnTo>
                <a:lnTo>
                  <a:pt x="2640458" y="0"/>
                </a:lnTo>
                <a:lnTo>
                  <a:pt x="0" y="986319"/>
                </a:lnTo>
                <a:close/>
              </a:path>
            </a:pathLst>
          </a:custGeom>
          <a:solidFill>
            <a:srgbClr val="339933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Полилиния 72"/>
          <p:cNvSpPr/>
          <p:nvPr/>
        </p:nvSpPr>
        <p:spPr>
          <a:xfrm>
            <a:off x="7674796" y="1263721"/>
            <a:ext cx="780835" cy="2517169"/>
          </a:xfrm>
          <a:custGeom>
            <a:avLst/>
            <a:gdLst>
              <a:gd name="connsiteX0" fmla="*/ 0 w 780835"/>
              <a:gd name="connsiteY0" fmla="*/ 2517169 h 2517169"/>
              <a:gd name="connsiteX1" fmla="*/ 616449 w 780835"/>
              <a:gd name="connsiteY1" fmla="*/ 0 h 2517169"/>
              <a:gd name="connsiteX2" fmla="*/ 780835 w 780835"/>
              <a:gd name="connsiteY2" fmla="*/ 1972639 h 2517169"/>
              <a:gd name="connsiteX3" fmla="*/ 0 w 780835"/>
              <a:gd name="connsiteY3" fmla="*/ 2517169 h 2517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0835" h="2517169">
                <a:moveTo>
                  <a:pt x="0" y="2517169"/>
                </a:moveTo>
                <a:lnTo>
                  <a:pt x="616449" y="0"/>
                </a:lnTo>
                <a:lnTo>
                  <a:pt x="780835" y="1972639"/>
                </a:lnTo>
                <a:lnTo>
                  <a:pt x="0" y="2517169"/>
                </a:lnTo>
                <a:close/>
              </a:path>
            </a:pathLst>
          </a:custGeom>
          <a:solidFill>
            <a:srgbClr val="339933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4" name="Прямая соединительная линия 73"/>
          <p:cNvCxnSpPr/>
          <p:nvPr/>
        </p:nvCxnSpPr>
        <p:spPr>
          <a:xfrm>
            <a:off x="4742081" y="1846782"/>
            <a:ext cx="2736304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единительная линия 74"/>
          <p:cNvCxnSpPr/>
          <p:nvPr/>
        </p:nvCxnSpPr>
        <p:spPr>
          <a:xfrm flipV="1">
            <a:off x="4748743" y="1268328"/>
            <a:ext cx="792088" cy="576064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единительная линия 75"/>
          <p:cNvCxnSpPr/>
          <p:nvPr/>
        </p:nvCxnSpPr>
        <p:spPr>
          <a:xfrm>
            <a:off x="4938478" y="3798761"/>
            <a:ext cx="2736304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единительная линия 76"/>
          <p:cNvCxnSpPr/>
          <p:nvPr/>
        </p:nvCxnSpPr>
        <p:spPr>
          <a:xfrm flipV="1">
            <a:off x="4928821" y="3230937"/>
            <a:ext cx="792088" cy="576064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единительная линия 77"/>
          <p:cNvCxnSpPr/>
          <p:nvPr/>
        </p:nvCxnSpPr>
        <p:spPr>
          <a:xfrm>
            <a:off x="4760917" y="1841835"/>
            <a:ext cx="177489" cy="196720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 flipH="1">
                <a:off x="4275292" y="1631925"/>
                <a:ext cx="7122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𝐷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275292" y="1631925"/>
                <a:ext cx="712236" cy="307777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 flipH="1">
                <a:off x="4481824" y="3718596"/>
                <a:ext cx="7122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𝐷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481824" y="3718596"/>
                <a:ext cx="712236" cy="307777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45046" y="2041875"/>
                <a:ext cx="2194089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20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𝐴𝐵𝐶</m:t>
                          </m:r>
                          <m:sSub>
                            <m:sSubPr>
                              <m:ctrlPr>
                                <a:rPr lang="ru-RU" sz="12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ru-RU" sz="1200" b="0" i="1" dirty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sz="12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ru-RU" sz="1200" b="0" i="1" dirty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sz="12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ru-RU" sz="1200" b="0" i="1" dirty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ru-RU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120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b="0" i="1" dirty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𝐴𝐵𝐶</m:t>
                          </m:r>
                          <m:sSub>
                            <m:sSubPr>
                              <m:ctrlPr>
                                <a:rPr lang="ru-RU" sz="12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𝐷</m:t>
                              </m:r>
                              <m:r>
                                <a:rPr lang="en-US" sz="1200" b="0" i="1" dirty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ru-RU" sz="1200" b="0" i="1" dirty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sz="12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ru-RU" sz="1200" b="0" i="1" dirty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sz="12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ru-RU" sz="1200" b="0" i="1" dirty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46" y="2041875"/>
                <a:ext cx="2194089" cy="438005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-170164" y="2438012"/>
                <a:ext cx="2730032" cy="292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b="0" i="1" dirty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𝐴𝐵𝐶</m:t>
                          </m:r>
                          <m:sSub>
                            <m:sSubPr>
                              <m:ctrlPr>
                                <a:rPr lang="ru-RU" sz="12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𝐷</m:t>
                              </m:r>
                              <m:r>
                                <a:rPr lang="en-US" sz="1200" b="0" i="1" dirty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ru-RU" sz="1200" b="0" i="1" dirty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sz="12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ru-RU" sz="1200" b="0" i="1" dirty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sz="12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ru-RU" sz="1200" b="0" i="1" dirty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𝐵</m:t>
                          </m:r>
                        </m:sub>
                      </m:sSub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i="1" dirty="0" smtClean="0">
                              <a:latin typeface="Cambria Math" charset="0"/>
                            </a:rPr>
                            <m:t>𝐷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charset="0"/>
                        </a:rPr>
                        <m:t>𝐻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70164" y="2438012"/>
                <a:ext cx="2730032" cy="292901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-306786" y="2756832"/>
                <a:ext cx="2730032" cy="439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i="1" dirty="0">
                              <a:latin typeface="Cambria Math" charset="0"/>
                            </a:rPr>
                            <m:t>𝐵𝑀</m:t>
                          </m:r>
                          <m:sSub>
                            <m:sSubPr>
                              <m:ctrlPr>
                                <a:rPr lang="en-US" sz="12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i="1" dirty="0">
                                  <a:latin typeface="Cambria Math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200" i="1" dirty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i="1" dirty="0">
                              <a:latin typeface="Cambria Math" charset="0"/>
                            </a:rPr>
                            <m:t>𝐴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</a:rPr>
                            <m:t>3</m:t>
                          </m:r>
                        </m:den>
                      </m:f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</m:t>
                          </m:r>
                        </m:sub>
                      </m:sSub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sSub>
                        <m:sSubPr>
                          <m:ctrlPr>
                            <a:rPr lang="en-US" sz="12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charset="0"/>
                            </a:rPr>
                            <m:t>𝐷</m:t>
                          </m:r>
                        </m:e>
                        <m:sub>
                          <m:r>
                            <a:rPr lang="en-US" sz="1200" i="1" dirty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i="1" dirty="0">
                          <a:latin typeface="Cambria Math" charset="0"/>
                        </a:rPr>
                        <m:t>𝐻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6786" y="2756832"/>
                <a:ext cx="2730032" cy="439223"/>
              </a:xfrm>
              <a:prstGeom prst="rect">
                <a:avLst/>
              </a:prstGeom>
              <a:blipFill rotWithShape="0">
                <a:blip r:embed="rId1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1835696" y="2751825"/>
                <a:ext cx="1909915" cy="443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</a:rPr>
                            <m:t>3</m:t>
                          </m:r>
                        </m:den>
                      </m:f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d>
                        <m:d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𝐴</m:t>
                              </m:r>
                              <m:sSub>
                                <m:sSubPr>
                                  <m:ctrlPr>
                                    <a:rPr lang="en-US" sz="1200" b="0" i="1" dirty="0" smtClean="0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dirty="0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200" b="0" i="1" dirty="0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200" b="0" i="1" dirty="0" smtClean="0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dirty="0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1200" b="0" i="1" dirty="0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sSub>
                        <m:sSubPr>
                          <m:ctrlPr>
                            <a:rPr lang="en-US" sz="12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charset="0"/>
                            </a:rPr>
                            <m:t>𝐷</m:t>
                          </m:r>
                        </m:e>
                        <m:sub>
                          <m:r>
                            <a:rPr lang="en-US" sz="1200" i="1" dirty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i="1" dirty="0">
                          <a:latin typeface="Cambria Math" charset="0"/>
                        </a:rPr>
                        <m:t>𝐻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2751825"/>
                <a:ext cx="1909915" cy="443135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9700" y="3107855"/>
                <a:ext cx="1887528" cy="439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</a:rPr>
                            <m:t>6</m:t>
                          </m:r>
                        </m:den>
                      </m:f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</m:t>
                          </m:r>
                        </m:sub>
                      </m:sSub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sSub>
                        <m:sSubPr>
                          <m:ctrlPr>
                            <a:rPr lang="en-US" sz="12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charset="0"/>
                            </a:rPr>
                            <m:t>𝐷</m:t>
                          </m:r>
                        </m:e>
                        <m:sub>
                          <m:r>
                            <a:rPr lang="en-US" sz="1200" i="1" dirty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i="1" dirty="0">
                          <a:latin typeface="Cambria Math" charset="0"/>
                        </a:rPr>
                        <m:t>𝐻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0" y="3107855"/>
                <a:ext cx="1887528" cy="439223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1303473" y="3104237"/>
                <a:ext cx="1887528" cy="439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</a:rPr>
                            <m:t>6</m:t>
                          </m:r>
                        </m:den>
                      </m:f>
                      <m:sSub>
                        <m:sSubPr>
                          <m:ctrlPr>
                            <a:rPr lang="en-US" sz="12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i="1" dirty="0">
                              <a:latin typeface="Cambria Math" charset="0"/>
                            </a:rPr>
                            <m:t>𝐴𝐵𝐶</m:t>
                          </m:r>
                          <m:sSub>
                            <m:sSubPr>
                              <m:ctrlPr>
                                <a:rPr lang="ru-RU" sz="12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i="1" dirty="0">
                                  <a:latin typeface="Cambria Math" charset="0"/>
                                </a:rPr>
                                <m:t>𝐷𝐴</m:t>
                              </m:r>
                            </m:e>
                            <m:sub>
                              <m:r>
                                <a:rPr lang="ru-RU" sz="1200" i="1" dirty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sz="12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i="1" dirty="0">
                                  <a:latin typeface="Cambria Math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ru-RU" sz="1200" i="1" dirty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sz="12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i="1" dirty="0">
                                  <a:latin typeface="Cambria Math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ru-RU" sz="1200" i="1" dirty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i="1" dirty="0">
                                  <a:latin typeface="Cambria Math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200" i="1" dirty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473" y="3104237"/>
                <a:ext cx="1887528" cy="439223"/>
              </a:xfrm>
              <a:prstGeom prst="rect">
                <a:avLst/>
              </a:prstGeom>
              <a:blipFill rotWithShape="0">
                <a:blip r:embed="rId21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2629521" y="3112738"/>
                <a:ext cx="1381988" cy="439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en-US" sz="12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i="1" dirty="0">
                              <a:latin typeface="Cambria Math" charset="0"/>
                            </a:rPr>
                            <m:t>𝐴𝐵𝐶</m:t>
                          </m:r>
                          <m:sSub>
                            <m:sSubPr>
                              <m:ctrlPr>
                                <a:rPr lang="ru-RU" sz="12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i="1" dirty="0">
                                  <a:latin typeface="Cambria Math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ru-RU" sz="1200" i="1" dirty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sz="12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i="1" dirty="0">
                                  <a:latin typeface="Cambria Math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ru-RU" sz="1200" i="1" dirty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sz="12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i="1" dirty="0">
                                  <a:latin typeface="Cambria Math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ru-RU" sz="1200" i="1" dirty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9521" y="3112738"/>
                <a:ext cx="1381988" cy="439223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3641455" y="3122026"/>
                <a:ext cx="746547" cy="439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</a:rPr>
                            <m:t>3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</a:rPr>
                        <m:t>𝑉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1455" y="3122026"/>
                <a:ext cx="746547" cy="439223"/>
              </a:xfrm>
              <a:prstGeom prst="rect">
                <a:avLst/>
              </a:prstGeom>
              <a:blipFill rotWithShape="0">
                <a:blip r:embed="rId2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133830" y="3597353"/>
                <a:ext cx="2098951" cy="292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𝐶𝑀𝐵</m:t>
                          </m:r>
                          <m:sSub>
                            <m:sSubPr>
                              <m:ctrlP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200" b="0" i="1" dirty="0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𝐴</m:t>
                          </m:r>
                        </m:sub>
                      </m:sSub>
                      <m:r>
                        <a:rPr lang="ru-RU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i="1" dirty="0">
                              <a:latin typeface="Cambria Math" charset="0"/>
                            </a:rPr>
                            <m:t>𝐶𝑀𝐵𝐴</m:t>
                          </m:r>
                        </m:sub>
                      </m:sSub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sz="12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</a:rPr>
                            <m:t>𝐵𝑀</m:t>
                          </m:r>
                          <m:sSub>
                            <m:sSubPr>
                              <m:ctrlPr>
                                <a:rPr lang="en-US" sz="1200" b="0" i="1" dirty="0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200" b="0" i="1" dirty="0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dirty="0" smtClean="0">
                              <a:latin typeface="Cambria Math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830" y="3597353"/>
                <a:ext cx="2098951" cy="292901"/>
              </a:xfrm>
              <a:prstGeom prst="rect">
                <a:avLst/>
              </a:prstGeom>
              <a:blipFill rotWithShape="0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2026713" y="3516762"/>
                <a:ext cx="988304" cy="439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6</m:t>
                          </m:r>
                        </m:den>
                      </m:f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𝑉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+</m:t>
                      </m:r>
                      <m:f>
                        <m:f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3</m:t>
                          </m:r>
                        </m:den>
                      </m:f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𝑉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6713" y="3516762"/>
                <a:ext cx="988304" cy="439223"/>
              </a:xfrm>
              <a:prstGeom prst="rect">
                <a:avLst/>
              </a:prstGeom>
              <a:blipFill rotWithShape="0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2643014" y="3503671"/>
                <a:ext cx="988304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𝑉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014" y="3503671"/>
                <a:ext cx="988304" cy="438005"/>
              </a:xfrm>
              <a:prstGeom prst="rect">
                <a:avLst/>
              </a:prstGeom>
              <a:blipFill rotWithShape="0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Полилиния 92"/>
          <p:cNvSpPr/>
          <p:nvPr/>
        </p:nvSpPr>
        <p:spPr>
          <a:xfrm>
            <a:off x="5640512" y="2279580"/>
            <a:ext cx="2815119" cy="1520575"/>
          </a:xfrm>
          <a:custGeom>
            <a:avLst/>
            <a:gdLst>
              <a:gd name="connsiteX0" fmla="*/ 0 w 2815119"/>
              <a:gd name="connsiteY0" fmla="*/ 0 h 1520575"/>
              <a:gd name="connsiteX1" fmla="*/ 2815119 w 2815119"/>
              <a:gd name="connsiteY1" fmla="*/ 955496 h 1520575"/>
              <a:gd name="connsiteX2" fmla="*/ 2044558 w 2815119"/>
              <a:gd name="connsiteY2" fmla="*/ 1520575 h 1520575"/>
              <a:gd name="connsiteX3" fmla="*/ 82194 w 2815119"/>
              <a:gd name="connsiteY3" fmla="*/ 955496 h 1520575"/>
              <a:gd name="connsiteX4" fmla="*/ 0 w 2815119"/>
              <a:gd name="connsiteY4" fmla="*/ 0 h 1520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15119" h="1520575">
                <a:moveTo>
                  <a:pt x="0" y="0"/>
                </a:moveTo>
                <a:lnTo>
                  <a:pt x="2815119" y="955496"/>
                </a:lnTo>
                <a:lnTo>
                  <a:pt x="2044558" y="1520575"/>
                </a:lnTo>
                <a:lnTo>
                  <a:pt x="82194" y="955496"/>
                </a:lnTo>
                <a:lnTo>
                  <a:pt x="0" y="0"/>
                </a:lnTo>
                <a:close/>
              </a:path>
            </a:pathLst>
          </a:custGeom>
          <a:solidFill>
            <a:srgbClr val="FFC000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/>
              <p:cNvSpPr txBox="1"/>
              <p:nvPr/>
            </p:nvSpPr>
            <p:spPr>
              <a:xfrm>
                <a:off x="2384776" y="4190039"/>
                <a:ext cx="12902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b="1" dirty="0" smtClean="0">
                    <a:solidFill>
                      <a:srgbClr val="FF0000"/>
                    </a:solidFill>
                  </a:rPr>
                  <a:t>Ответ: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  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𝟏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: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𝟏</m:t>
                    </m:r>
                  </m:oMath>
                </a14:m>
                <a:endParaRPr lang="ru-RU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4776" y="4190039"/>
                <a:ext cx="1290290" cy="369332"/>
              </a:xfrm>
              <a:prstGeom prst="rect">
                <a:avLst/>
              </a:prstGeom>
              <a:blipFill rotWithShape="0">
                <a:blip r:embed="rId27"/>
                <a:stretch>
                  <a:fillRect l="-3774" t="-95082" b="-1213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Прямая соединительная линия 95"/>
          <p:cNvCxnSpPr/>
          <p:nvPr/>
        </p:nvCxnSpPr>
        <p:spPr>
          <a:xfrm>
            <a:off x="4748743" y="1855613"/>
            <a:ext cx="2915877" cy="7783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Полилиния 97"/>
          <p:cNvSpPr/>
          <p:nvPr/>
        </p:nvSpPr>
        <p:spPr>
          <a:xfrm>
            <a:off x="7537606" y="1942874"/>
            <a:ext cx="127014" cy="99001"/>
          </a:xfrm>
          <a:custGeom>
            <a:avLst/>
            <a:gdLst>
              <a:gd name="connsiteX0" fmla="*/ 10274 w 133564"/>
              <a:gd name="connsiteY0" fmla="*/ 0 h 143838"/>
              <a:gd name="connsiteX1" fmla="*/ 0 w 133564"/>
              <a:gd name="connsiteY1" fmla="*/ 133564 h 143838"/>
              <a:gd name="connsiteX2" fmla="*/ 123290 w 133564"/>
              <a:gd name="connsiteY2" fmla="*/ 143838 h 143838"/>
              <a:gd name="connsiteX3" fmla="*/ 133564 w 133564"/>
              <a:gd name="connsiteY3" fmla="*/ 0 h 143838"/>
              <a:gd name="connsiteX4" fmla="*/ 10274 w 133564"/>
              <a:gd name="connsiteY4" fmla="*/ 0 h 14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564" h="143838">
                <a:moveTo>
                  <a:pt x="10274" y="0"/>
                </a:moveTo>
                <a:lnTo>
                  <a:pt x="0" y="133564"/>
                </a:lnTo>
                <a:lnTo>
                  <a:pt x="123290" y="143838"/>
                </a:lnTo>
                <a:lnTo>
                  <a:pt x="133564" y="0"/>
                </a:lnTo>
                <a:lnTo>
                  <a:pt x="10274" y="0"/>
                </a:lnTo>
                <a:close/>
              </a:path>
            </a:pathLst>
          </a:custGeom>
          <a:solidFill>
            <a:schemeClr val="bg1">
              <a:lumMod val="85000"/>
              <a:alpha val="43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 flipH="1">
                <a:off x="7564660" y="1698699"/>
                <a:ext cx="2465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𝐻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564660" y="1698699"/>
                <a:ext cx="246540" cy="307777"/>
              </a:xfrm>
              <a:prstGeom prst="rect">
                <a:avLst/>
              </a:prstGeom>
              <a:blipFill rotWithShape="0">
                <a:blip r:embed="rId28"/>
                <a:stretch>
                  <a:fillRect r="-1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5422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79" grpId="1"/>
      <p:bldP spid="80" grpId="0"/>
      <p:bldP spid="80" grpId="1"/>
      <p:bldP spid="81" grpId="0"/>
      <p:bldP spid="82" grpId="0"/>
      <p:bldP spid="83" grpId="0"/>
      <p:bldP spid="84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 animBg="1"/>
      <p:bldP spid="94" grpId="0"/>
      <p:bldP spid="98" grpId="0" animBg="1"/>
      <p:bldP spid="98" grpId="1" animBg="1"/>
      <p:bldP spid="99" grpId="0"/>
      <p:bldP spid="99" grpId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41</a:t>
            </a:fld>
            <a:endParaRPr kumimoji="0" lang="ru-RU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0" y="-22135"/>
                <a:ext cx="9144000" cy="79368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dirty="0" smtClean="0">
                    <a:solidFill>
                      <a:srgbClr val="7030A0"/>
                    </a:solidFill>
                  </a:rPr>
                  <a:t>24.</a:t>
                </a:r>
                <a:r>
                  <a:rPr lang="ru-RU" sz="1200" b="1" dirty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Плоскость </a:t>
                </a:r>
                <a14:m>
                  <m:oMath xmlns:m="http://schemas.openxmlformats.org/officeDocument/2006/math"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𝜶</m:t>
                    </m:r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проходит через вершину 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𝑫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и центры граней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𝑨</m:t>
                    </m:r>
                    <m:sSub>
                      <m:sSubPr>
                        <m:ctrlP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𝑩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 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𝑩</m:t>
                    </m:r>
                    <m:sSub>
                      <m:sSubPr>
                        <m:ctrlPr>
                          <a:rPr lang="en-US" sz="1200" b="1" i="1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𝑪</m:t>
                    </m:r>
                    <m:r>
                      <a:rPr lang="en-US" sz="1200" b="1" i="1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параллелепипеда 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𝑨𝑩𝑪𝑫</m:t>
                    </m:r>
                    <m:sSub>
                      <m:sSubPr>
                        <m:ctrlP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𝑫</m:t>
                        </m:r>
                      </m:e>
                      <m:sub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 smtClean="0">
                  <a:solidFill>
                    <a:srgbClr val="002060"/>
                  </a:solidFill>
                  <a:latin typeface="+mj-lt"/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а)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Докажите, что </a:t>
                </a:r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эта плоскость делит ребро </a:t>
                </a:r>
                <a14:m>
                  <m:oMath xmlns:m="http://schemas.openxmlformats.org/officeDocument/2006/math">
                    <m:r>
                      <a:rPr lang="en-US" sz="1200" b="1" i="1">
                        <a:solidFill>
                          <a:srgbClr val="002060"/>
                        </a:solidFill>
                        <a:latin typeface="Cambria Math" charset="0"/>
                      </a:rPr>
                      <m:t>𝑩</m:t>
                    </m:r>
                    <m:sSub>
                      <m:sSubPr>
                        <m:ctrlPr>
                          <a:rPr lang="en-US" sz="1200" b="1" i="1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 в отношении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𝟐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: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𝟏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,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 считая от вершины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𝑩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.</a:t>
                </a: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б)  Найдите объемы многогранников, на которые плоскость </a:t>
                </a:r>
                <a14:m>
                  <m:oMath xmlns:m="http://schemas.openxmlformats.org/officeDocument/2006/math">
                    <m:r>
                      <a:rPr lang="ru-RU" sz="1200" b="1" i="1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𝜶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 разбивает параллелепипед, если его объем равен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𝑽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ru-RU" sz="1200" b="1" i="0" dirty="0" smtClean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5"/>
                <a:ext cx="9144000" cy="79368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Прямая соединительная линия 6"/>
          <p:cNvCxnSpPr/>
          <p:nvPr/>
        </p:nvCxnSpPr>
        <p:spPr>
          <a:xfrm>
            <a:off x="4641048" y="3132408"/>
            <a:ext cx="2160240" cy="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3704944" y="3770206"/>
            <a:ext cx="216024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 flipV="1">
            <a:off x="3704944" y="3132408"/>
            <a:ext cx="936104" cy="648072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 flipV="1">
            <a:off x="5865184" y="3132408"/>
            <a:ext cx="936104" cy="648072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 flipV="1">
            <a:off x="3704944" y="1753982"/>
            <a:ext cx="720080" cy="2016224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5340670" y="1110455"/>
            <a:ext cx="216024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4404566" y="1758527"/>
            <a:ext cx="216024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 flipV="1">
            <a:off x="4404566" y="1120729"/>
            <a:ext cx="936104" cy="648072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 flipV="1">
            <a:off x="6564806" y="1120729"/>
            <a:ext cx="936104" cy="648072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5860703" y="1753982"/>
            <a:ext cx="720080" cy="2016224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 flipV="1">
            <a:off x="6792416" y="1116183"/>
            <a:ext cx="720080" cy="2016224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 flipV="1">
            <a:off x="4632086" y="1116185"/>
            <a:ext cx="720080" cy="2016224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402577" y="3698133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2577" y="3698133"/>
                <a:ext cx="340286" cy="3077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 flipH="1">
                <a:off x="4425024" y="3111860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425024" y="3111860"/>
                <a:ext cx="486282" cy="3077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 flipH="1">
                <a:off x="6732232" y="2857164"/>
                <a:ext cx="4609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732232" y="2857164"/>
                <a:ext cx="460919" cy="3077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 flipH="1">
                <a:off x="5661727" y="3787000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𝐷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661727" y="3787000"/>
                <a:ext cx="486282" cy="3077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4055825" y="1556093"/>
                <a:ext cx="41716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5825" y="1556093"/>
                <a:ext cx="417165" cy="30777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 flipH="1">
                <a:off x="4951648" y="863364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951648" y="863364"/>
                <a:ext cx="486282" cy="30777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 flipH="1">
                <a:off x="7447066" y="865034"/>
                <a:ext cx="3882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447066" y="865034"/>
                <a:ext cx="388236" cy="30777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 flipH="1">
                <a:off x="6435035" y="1712173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435035" y="1712173"/>
                <a:ext cx="486282" cy="30777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Прямая соединительная линия 34"/>
          <p:cNvCxnSpPr/>
          <p:nvPr/>
        </p:nvCxnSpPr>
        <p:spPr>
          <a:xfrm>
            <a:off x="4424428" y="1772301"/>
            <a:ext cx="225582" cy="1364651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/>
          <p:nvPr/>
        </p:nvCxnSpPr>
        <p:spPr>
          <a:xfrm flipH="1">
            <a:off x="3725125" y="1139047"/>
            <a:ext cx="1608141" cy="2620886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Овал 40"/>
          <p:cNvSpPr/>
          <p:nvPr/>
        </p:nvSpPr>
        <p:spPr>
          <a:xfrm flipV="1">
            <a:off x="4521666" y="2420705"/>
            <a:ext cx="50304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 flipH="1">
                <a:off x="4144623" y="2260348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𝐾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144623" y="2260348"/>
                <a:ext cx="486282" cy="30777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Прямая соединительная линия 43"/>
          <p:cNvCxnSpPr/>
          <p:nvPr/>
        </p:nvCxnSpPr>
        <p:spPr>
          <a:xfrm>
            <a:off x="5353814" y="1121619"/>
            <a:ext cx="1427614" cy="2015539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/>
          <p:cNvCxnSpPr/>
          <p:nvPr/>
        </p:nvCxnSpPr>
        <p:spPr>
          <a:xfrm flipV="1">
            <a:off x="4632086" y="1120730"/>
            <a:ext cx="2868824" cy="2019903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Овал 49"/>
          <p:cNvSpPr/>
          <p:nvPr/>
        </p:nvSpPr>
        <p:spPr>
          <a:xfrm flipV="1">
            <a:off x="6044728" y="2119614"/>
            <a:ext cx="50304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 flipH="1">
                <a:off x="5853566" y="1795941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𝐿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853566" y="1795941"/>
                <a:ext cx="486282" cy="307777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Овал 51"/>
          <p:cNvSpPr/>
          <p:nvPr/>
        </p:nvSpPr>
        <p:spPr>
          <a:xfrm flipV="1">
            <a:off x="5844636" y="3755219"/>
            <a:ext cx="50304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3" name="Прямая соединительная линия 52"/>
          <p:cNvCxnSpPr/>
          <p:nvPr/>
        </p:nvCxnSpPr>
        <p:spPr>
          <a:xfrm flipH="1">
            <a:off x="4546818" y="2144785"/>
            <a:ext cx="1523062" cy="301091"/>
          </a:xfrm>
          <a:prstGeom prst="line">
            <a:avLst/>
          </a:prstGeom>
          <a:ln>
            <a:solidFill>
              <a:srgbClr val="00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 flipH="1">
            <a:off x="3728627" y="3147227"/>
            <a:ext cx="3057148" cy="607992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/>
          <p:cNvCxnSpPr/>
          <p:nvPr/>
        </p:nvCxnSpPr>
        <p:spPr>
          <a:xfrm flipH="1">
            <a:off x="4976473" y="3135316"/>
            <a:ext cx="3984653" cy="827912"/>
          </a:xfrm>
          <a:prstGeom prst="line">
            <a:avLst/>
          </a:prstGeom>
          <a:ln>
            <a:solidFill>
              <a:srgbClr val="0066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единительная линия 66"/>
          <p:cNvCxnSpPr/>
          <p:nvPr/>
        </p:nvCxnSpPr>
        <p:spPr>
          <a:xfrm>
            <a:off x="6785775" y="3147814"/>
            <a:ext cx="2160240" cy="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Овал 68"/>
          <p:cNvSpPr/>
          <p:nvPr/>
        </p:nvSpPr>
        <p:spPr>
          <a:xfrm flipV="1">
            <a:off x="8910821" y="3125967"/>
            <a:ext cx="50304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 flipH="1">
                <a:off x="8657718" y="3182577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𝑃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657718" y="3182577"/>
                <a:ext cx="486282" cy="307777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Прямая соединительная линия 70"/>
          <p:cNvCxnSpPr/>
          <p:nvPr/>
        </p:nvCxnSpPr>
        <p:spPr>
          <a:xfrm flipH="1" flipV="1">
            <a:off x="5118369" y="1832017"/>
            <a:ext cx="1921378" cy="648279"/>
          </a:xfrm>
          <a:prstGeom prst="line">
            <a:avLst/>
          </a:prstGeom>
          <a:ln>
            <a:solidFill>
              <a:srgbClr val="00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единительная линия 74"/>
          <p:cNvCxnSpPr/>
          <p:nvPr/>
        </p:nvCxnSpPr>
        <p:spPr>
          <a:xfrm flipH="1" flipV="1">
            <a:off x="7039747" y="2482567"/>
            <a:ext cx="1871075" cy="642860"/>
          </a:xfrm>
          <a:prstGeom prst="line">
            <a:avLst/>
          </a:prstGeom>
          <a:ln>
            <a:solidFill>
              <a:srgbClr val="0066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Овал 78"/>
          <p:cNvSpPr/>
          <p:nvPr/>
        </p:nvSpPr>
        <p:spPr>
          <a:xfrm flipV="1">
            <a:off x="5089824" y="1798137"/>
            <a:ext cx="50304" cy="502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 flipH="1">
                <a:off x="4930310" y="1866061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𝑀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930310" y="1866061"/>
                <a:ext cx="486282" cy="307777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 flipH="1">
                <a:off x="6959754" y="2268787"/>
                <a:ext cx="4609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𝑁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959754" y="2268787"/>
                <a:ext cx="460919" cy="307777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Прямая соединительная линия 83"/>
          <p:cNvCxnSpPr/>
          <p:nvPr/>
        </p:nvCxnSpPr>
        <p:spPr>
          <a:xfrm flipV="1">
            <a:off x="3935844" y="1807333"/>
            <a:ext cx="1179132" cy="1323890"/>
          </a:xfrm>
          <a:prstGeom prst="line">
            <a:avLst/>
          </a:prstGeom>
          <a:ln>
            <a:solidFill>
              <a:srgbClr val="00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 flipH="1">
                <a:off x="3568945" y="2955486"/>
                <a:ext cx="4609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𝐸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568945" y="2955486"/>
                <a:ext cx="460919" cy="307777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Прямая соединительная линия 89"/>
          <p:cNvCxnSpPr/>
          <p:nvPr/>
        </p:nvCxnSpPr>
        <p:spPr>
          <a:xfrm>
            <a:off x="3935449" y="3105881"/>
            <a:ext cx="1961494" cy="66988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5" name="Прямая соединительная линия 94"/>
          <p:cNvCxnSpPr/>
          <p:nvPr/>
        </p:nvCxnSpPr>
        <p:spPr>
          <a:xfrm flipV="1">
            <a:off x="5877188" y="2461772"/>
            <a:ext cx="1142408" cy="129813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9" name="Прямая соединительная линия 98"/>
          <p:cNvCxnSpPr>
            <a:stCxn id="79" idx="7"/>
          </p:cNvCxnSpPr>
          <p:nvPr/>
        </p:nvCxnSpPr>
        <p:spPr>
          <a:xfrm>
            <a:off x="5132761" y="1841063"/>
            <a:ext cx="1906986" cy="641503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3" name="Прямая соединительная линия 102"/>
          <p:cNvCxnSpPr>
            <a:stCxn id="79" idx="2"/>
          </p:cNvCxnSpPr>
          <p:nvPr/>
        </p:nvCxnSpPr>
        <p:spPr>
          <a:xfrm flipH="1">
            <a:off x="3934664" y="1823282"/>
            <a:ext cx="1155160" cy="1294139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8" name="Полилиния 107"/>
          <p:cNvSpPr/>
          <p:nvPr/>
        </p:nvSpPr>
        <p:spPr>
          <a:xfrm>
            <a:off x="3955101" y="1838154"/>
            <a:ext cx="3061698" cy="1931542"/>
          </a:xfrm>
          <a:custGeom>
            <a:avLst/>
            <a:gdLst>
              <a:gd name="connsiteX0" fmla="*/ 0 w 3061698"/>
              <a:gd name="connsiteY0" fmla="*/ 1273995 h 1931542"/>
              <a:gd name="connsiteX1" fmla="*/ 1910993 w 3061698"/>
              <a:gd name="connsiteY1" fmla="*/ 1931542 h 1931542"/>
              <a:gd name="connsiteX2" fmla="*/ 3061698 w 3061698"/>
              <a:gd name="connsiteY2" fmla="*/ 647272 h 1931542"/>
              <a:gd name="connsiteX3" fmla="*/ 1140431 w 3061698"/>
              <a:gd name="connsiteY3" fmla="*/ 0 h 1931542"/>
              <a:gd name="connsiteX4" fmla="*/ 0 w 3061698"/>
              <a:gd name="connsiteY4" fmla="*/ 1273995 h 1931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61698" h="1931542">
                <a:moveTo>
                  <a:pt x="0" y="1273995"/>
                </a:moveTo>
                <a:lnTo>
                  <a:pt x="1910993" y="1931542"/>
                </a:lnTo>
                <a:lnTo>
                  <a:pt x="3061698" y="647272"/>
                </a:lnTo>
                <a:lnTo>
                  <a:pt x="1140431" y="0"/>
                </a:lnTo>
                <a:lnTo>
                  <a:pt x="0" y="1273995"/>
                </a:lnTo>
                <a:close/>
              </a:path>
            </a:pathLst>
          </a:custGeom>
          <a:solidFill>
            <a:srgbClr val="FF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0" name="Овал 109"/>
          <p:cNvSpPr/>
          <p:nvPr/>
        </p:nvSpPr>
        <p:spPr>
          <a:xfrm flipV="1">
            <a:off x="3928052" y="3084929"/>
            <a:ext cx="50304" cy="502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/>
          </a:p>
        </p:txBody>
      </p:sp>
      <p:sp>
        <p:nvSpPr>
          <p:cNvPr id="113" name="Овал 112"/>
          <p:cNvSpPr/>
          <p:nvPr/>
        </p:nvSpPr>
        <p:spPr>
          <a:xfrm flipV="1">
            <a:off x="7010060" y="2455268"/>
            <a:ext cx="45731" cy="502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107504" y="1225617"/>
                <a:ext cx="316835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𝐾𝐿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−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средняя линия треугольника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𝐴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𝐶</m:t>
                    </m:r>
                    <m:r>
                      <a:rPr lang="ru-RU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1225617"/>
                <a:ext cx="3168352" cy="276999"/>
              </a:xfrm>
              <a:prstGeom prst="rect">
                <a:avLst/>
              </a:prstGeom>
              <a:blipFill rotWithShape="0">
                <a:blip r:embed="rId17"/>
                <a:stretch>
                  <a:fillRect t="-80000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998822" y="1492835"/>
                <a:ext cx="31683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прямая пересечения плоскости </a:t>
                </a:r>
                <a14:m>
                  <m:oMath xmlns:m="http://schemas.openxmlformats.org/officeDocument/2006/math">
                    <m:r>
                      <a:rPr lang="ru-RU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с плоскостью </a:t>
                </a:r>
                <a14:m>
                  <m:oMath xmlns:m="http://schemas.openxmlformats.org/officeDocument/2006/math">
                    <m:r>
                      <a:rPr lang="ru-RU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(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𝐴𝐵𝐶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) 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параллельна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charset="0"/>
                      </a:rPr>
                      <m:t>𝐾𝐿</m:t>
                    </m:r>
                  </m:oMath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822" y="1492835"/>
                <a:ext cx="3168352" cy="461665"/>
              </a:xfrm>
              <a:prstGeom prst="rect">
                <a:avLst/>
              </a:prstGeom>
              <a:blipFill rotWithShape="0">
                <a:blip r:embed="rId18"/>
                <a:stretch>
                  <a:fillRect l="-192" t="-7895" b="-592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2771800" y="1218156"/>
                <a:ext cx="129614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 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𝐾𝐿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∥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𝐴𝐶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800" y="1218156"/>
                <a:ext cx="1296144" cy="276999"/>
              </a:xfrm>
              <a:prstGeom prst="rect">
                <a:avLst/>
              </a:prstGeom>
              <a:blipFill rotWithShape="0">
                <a:blip r:embed="rId19"/>
                <a:stretch>
                  <a:fillRect t="-80000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-76972" y="1502616"/>
                <a:ext cx="129614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 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𝐾𝐿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∥</m:t>
                      </m:r>
                      <m:r>
                        <a:rPr lang="ru-RU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(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𝐴𝐵𝐶</m:t>
                      </m:r>
                      <m:r>
                        <a:rPr lang="ru-RU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)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972" y="1502616"/>
                <a:ext cx="1296144" cy="276999"/>
              </a:xfrm>
              <a:prstGeom prst="rect">
                <a:avLst/>
              </a:prstGeom>
              <a:blipFill rotWithShape="0">
                <a:blip r:embed="rId20"/>
                <a:stretch>
                  <a:fillRect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32425" y="1842581"/>
                <a:ext cx="3086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𝐷𝑃</m:t>
                    </m:r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∥</m:t>
                    </m:r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𝐴𝐶</m:t>
                    </m:r>
                  </m:oMath>
                </a14:m>
                <a:r>
                  <a:rPr lang="ru-RU" sz="1200" dirty="0" smtClean="0"/>
                  <a:t>(по построению); 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𝐷𝑃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ru-RU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  <m:r>
                      <a:rPr lang="ru-RU" sz="12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∩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𝐴𝐵𝐶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  <m:r>
                      <a:rPr lang="en-US" sz="1200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;</m:t>
                    </m:r>
                  </m:oMath>
                </a14:m>
                <a:endParaRPr lang="ru-RU" sz="1200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25" y="1842581"/>
                <a:ext cx="3086946" cy="276999"/>
              </a:xfrm>
              <a:prstGeom prst="rect">
                <a:avLst/>
              </a:prstGeom>
              <a:blipFill rotWithShape="0">
                <a:blip r:embed="rId21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2816143" y="1852358"/>
                <a:ext cx="88355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𝑃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∈</m:t>
                      </m:r>
                      <m:r>
                        <a:rPr lang="ru-RU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𝛼</m:t>
                      </m:r>
                      <m:r>
                        <a:rPr lang="en-US" sz="1200" b="0" i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6143" y="1852358"/>
                <a:ext cx="883557" cy="276999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-76972" y="2115972"/>
                <a:ext cx="130087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𝑃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𝐷𝑃</m:t>
                      </m:r>
                      <m:r>
                        <a:rPr lang="ru-RU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∩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𝐵𝐶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972" y="2115972"/>
                <a:ext cx="1300870" cy="276999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936308" y="2115971"/>
                <a:ext cx="106304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𝑃</m:t>
                      </m:r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∈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(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)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308" y="2115971"/>
                <a:ext cx="1063043" cy="276999"/>
              </a:xfrm>
              <a:prstGeom prst="rect">
                <a:avLst/>
              </a:prstGeom>
              <a:blipFill rotWithShape="0">
                <a:blip r:embed="rId24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1725161" y="2115971"/>
                <a:ext cx="103317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𝑃𝐿</m:t>
                      </m:r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∈</m:t>
                      </m:r>
                      <m:r>
                        <a:rPr lang="ru-RU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𝛼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161" y="2115971"/>
                <a:ext cx="1033174" cy="276999"/>
              </a:xfrm>
              <a:prstGeom prst="rect">
                <a:avLst/>
              </a:prstGeom>
              <a:blipFill rotWithShape="0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-340443" y="2369069"/>
                <a:ext cx="256234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𝑀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𝑃𝐿</m:t>
                      </m:r>
                      <m:r>
                        <a:rPr lang="ru-RU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∩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𝐵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𝑀</m:t>
                      </m:r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∈</m:t>
                      </m:r>
                      <m:r>
                        <a:rPr lang="ru-RU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𝛼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40443" y="2369069"/>
                <a:ext cx="2562342" cy="276999"/>
              </a:xfrm>
              <a:prstGeom prst="rect">
                <a:avLst/>
              </a:prstGeom>
              <a:blipFill rotWithShape="0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-147799" y="2606101"/>
                <a:ext cx="215261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𝑁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𝑃𝐿</m:t>
                      </m:r>
                      <m:r>
                        <a:rPr lang="ru-RU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∩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𝐶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𝑁</m:t>
                      </m:r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∈</m:t>
                      </m:r>
                      <m:r>
                        <a:rPr lang="ru-RU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𝛼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7799" y="2606101"/>
                <a:ext cx="2152610" cy="276999"/>
              </a:xfrm>
              <a:prstGeom prst="rect">
                <a:avLst/>
              </a:prstGeom>
              <a:blipFill rotWithShape="0"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-34696" y="2870815"/>
                <a:ext cx="85652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𝑀𝐾</m:t>
                      </m:r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∈</m:t>
                      </m:r>
                      <m:r>
                        <a:rPr lang="ru-RU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𝛼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4696" y="2870815"/>
                <a:ext cx="856521" cy="276999"/>
              </a:xfrm>
              <a:prstGeom prst="rect">
                <a:avLst/>
              </a:prstGeom>
              <a:blipFill rotWithShape="0"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71437" y="840655"/>
                <a:ext cx="46407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b="0" dirty="0" smtClean="0">
                    <a:solidFill>
                      <a:schemeClr val="tx1"/>
                    </a:solidFill>
                  </a:rPr>
                  <a:t>а)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𝐾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−</m:t>
                    </m:r>
                  </m:oMath>
                </a14:m>
                <a:r>
                  <a:rPr lang="ru-RU" sz="1200" dirty="0" smtClean="0">
                    <a:solidFill>
                      <a:schemeClr val="tx1"/>
                    </a:solidFill>
                  </a:rPr>
                  <a:t> </a:t>
                </a:r>
                <a:r>
                  <a:rPr lang="ru-RU" sz="1200" dirty="0">
                    <a:solidFill>
                      <a:schemeClr val="tx1"/>
                    </a:solidFill>
                  </a:rPr>
                  <a:t>ц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ентр грани </a:t>
                </a:r>
                <a14:m>
                  <m:oMath xmlns:m="http://schemas.openxmlformats.org/officeDocument/2006/math">
                    <m:r>
                      <a:rPr lang="en-US" sz="1200" b="0" i="1">
                        <a:solidFill>
                          <a:schemeClr val="tx1"/>
                        </a:solidFill>
                        <a:latin typeface="Cambria Math" charset="0"/>
                      </a:rPr>
                      <m:t>𝐴</m:t>
                    </m:r>
                    <m:sSub>
                      <m:sSubPr>
                        <m:ctrlPr>
                          <a:rPr lang="en-US" sz="12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sz="1200" b="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sz="1200" b="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>
                        <a:solidFill>
                          <a:schemeClr val="tx1"/>
                        </a:solidFill>
                        <a:latin typeface="Cambria Math" charset="0"/>
                      </a:rPr>
                      <m:t>𝐵</m:t>
                    </m:r>
                    <m:r>
                      <a:rPr lang="ru-RU" sz="1200" b="0" i="0" smtClean="0">
                        <a:solidFill>
                          <a:schemeClr val="tx1"/>
                        </a:solidFill>
                        <a:latin typeface="Cambria Math" charset="0"/>
                      </a:rPr>
                      <m:t>;</m:t>
                    </m:r>
                    <m:r>
                      <a:rPr lang="ru-RU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 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𝐿</m:t>
                    </m:r>
                    <m:r>
                      <a:rPr lang="en-US" sz="1200" b="0" i="0" smtClean="0">
                        <a:solidFill>
                          <a:schemeClr val="tx1"/>
                        </a:solidFill>
                        <a:latin typeface="Cambria Math" charset="0"/>
                      </a:rPr>
                      <m:t>−</m:t>
                    </m:r>
                    <m:r>
                      <m:rPr>
                        <m:nor/>
                      </m:rPr>
                      <a:rPr lang="ru-RU" sz="1200" dirty="0">
                        <a:solidFill>
                          <a:schemeClr val="tx1"/>
                        </a:solidFill>
                      </a:rPr>
                      <m:t>центр грани</m:t>
                    </m:r>
                    <m:r>
                      <m:rPr>
                        <m:nor/>
                      </m:rPr>
                      <a:rPr lang="en-US" sz="1200" i="0" dirty="0" smtClean="0">
                        <a:solidFill>
                          <a:schemeClr val="tx1"/>
                        </a:solidFill>
                      </a:rPr>
                      <m:t> </m:t>
                    </m:r>
                    <m:r>
                      <a:rPr lang="en-US" sz="1200" b="0" i="1">
                        <a:solidFill>
                          <a:schemeClr val="tx1"/>
                        </a:solidFill>
                        <a:latin typeface="Cambria Math" charset="0"/>
                      </a:rPr>
                      <m:t>𝐵</m:t>
                    </m:r>
                    <m:sSub>
                      <m:sSubPr>
                        <m:ctrlPr>
                          <a:rPr lang="en-US" sz="12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sz="1200" b="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𝐶</m:t>
                        </m:r>
                      </m:e>
                      <m:sub>
                        <m:r>
                          <a:rPr lang="en-US" sz="1200" b="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>
                        <a:solidFill>
                          <a:schemeClr val="tx1"/>
                        </a:solidFill>
                        <a:latin typeface="Cambria Math" charset="0"/>
                      </a:rPr>
                      <m:t>𝐶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;  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𝐷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;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𝐾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;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𝐿</m:t>
                    </m:r>
                    <m:r>
                      <a:rPr lang="en-US" sz="1200" b="0" i="1" dirty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∈</m:t>
                    </m:r>
                    <m:r>
                      <a:rPr lang="ru-RU" sz="1200" b="0" i="1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endParaRPr lang="ru-RU" sz="1200" b="0" i="1" dirty="0" smtClean="0">
                  <a:solidFill>
                    <a:schemeClr val="tx1"/>
                  </a:solidFill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r>
                  <a:rPr lang="en-US" sz="1200" b="0" i="0" dirty="0" smtClean="0">
                    <a:solidFill>
                      <a:schemeClr val="tx1"/>
                    </a:solidFill>
                    <a:latin typeface="+mj-lt"/>
                    <a:ea typeface="Cambria Math" charset="0"/>
                    <a:cs typeface="Cambria Math" charset="0"/>
                  </a:rPr>
                  <a:t>(</a:t>
                </a:r>
                <a:r>
                  <a:rPr lang="ru-RU" sz="1200" b="0" i="0" dirty="0" smtClean="0">
                    <a:solidFill>
                      <a:schemeClr val="tx1"/>
                    </a:solidFill>
                    <a:latin typeface="+mj-lt"/>
                    <a:ea typeface="Cambria Math" charset="0"/>
                    <a:cs typeface="Cambria Math" charset="0"/>
                  </a:rPr>
                  <a:t>по условию).</a:t>
                </a:r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37" y="840655"/>
                <a:ext cx="4640769" cy="461665"/>
              </a:xfrm>
              <a:prstGeom prst="rect">
                <a:avLst/>
              </a:prstGeom>
              <a:blipFill rotWithShape="0">
                <a:blip r:embed="rId29"/>
                <a:stretch>
                  <a:fillRect l="-131" t="-46053" b="-210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580397" y="2870815"/>
                <a:ext cx="212527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𝐸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𝑀𝐾</m:t>
                      </m:r>
                      <m:r>
                        <a:rPr lang="ru-RU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∩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𝐴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𝐸</m:t>
                      </m:r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∈</m:t>
                      </m:r>
                      <m:r>
                        <a:rPr lang="ru-RU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𝛼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397" y="2870815"/>
                <a:ext cx="2125270" cy="276999"/>
              </a:xfrm>
              <a:prstGeom prst="rect">
                <a:avLst/>
              </a:prstGeom>
              <a:blipFill rotWithShape="0"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22428" y="3153834"/>
                <a:ext cx="36072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𝐸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𝑀𝑁𝐷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−</m:t>
                    </m:r>
                  </m:oMath>
                </a14:m>
                <a:r>
                  <a:rPr lang="en-US" sz="1200" dirty="0" smtClean="0">
                    <a:solidFill>
                      <a:schemeClr val="tx1"/>
                    </a:solidFill>
                  </a:rPr>
                  <a:t> </a:t>
                </a:r>
                <a:r>
                  <a:rPr lang="ru-RU" sz="1200" dirty="0" smtClean="0">
                    <a:solidFill>
                      <a:schemeClr val="tx1"/>
                    </a:solidFill>
                  </a:rPr>
                  <a:t>сечение параллелепипеда плоскостью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  <m:r>
                      <a:rPr lang="ru-RU" sz="1200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.</m:t>
                    </m:r>
                  </m:oMath>
                </a14:m>
                <a:endParaRPr lang="ru-RU" sz="1200" dirty="0"/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" y="3153834"/>
                <a:ext cx="3607234" cy="276999"/>
              </a:xfrm>
              <a:prstGeom prst="rect">
                <a:avLst/>
              </a:prstGeom>
              <a:blipFill rotWithShape="0">
                <a:blip r:embed="rId31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42631" y="3406932"/>
                <a:ext cx="3607234" cy="457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∠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𝐵𝐴𝐶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=∠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𝐶𝐷𝑃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;∠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𝐴𝐵𝐶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=∠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𝐷𝐶𝑃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1200" b="0" i="0" dirty="0" smtClean="0">
                    <a:latin typeface="+mj-lt"/>
                    <a:ea typeface="Cambria Math" charset="0"/>
                    <a:cs typeface="Cambria Math" charset="0"/>
                  </a:rPr>
                  <a:t>(</a:t>
                </a:r>
                <a:r>
                  <a:rPr lang="ru-RU" sz="1200" b="0" i="0" dirty="0" smtClean="0">
                    <a:latin typeface="+mj-lt"/>
                    <a:ea typeface="Cambria Math" charset="0"/>
                    <a:cs typeface="Cambria Math" charset="0"/>
                  </a:rPr>
                  <a:t>как соответственные)</a:t>
                </a:r>
                <a:r>
                  <a:rPr lang="en-US" sz="1200" b="0" i="0" dirty="0" smtClean="0">
                    <a:latin typeface="+mj-lt"/>
                    <a:ea typeface="Cambria Math" charset="0"/>
                    <a:cs typeface="Cambria Math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𝐴𝐵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en-US" sz="120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𝐶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𝐷</m:t>
                    </m:r>
                  </m:oMath>
                </a14:m>
                <a:endParaRPr lang="ru-RU" sz="1200" dirty="0"/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31" y="3406932"/>
                <a:ext cx="3607234" cy="457433"/>
              </a:xfrm>
              <a:prstGeom prst="rect">
                <a:avLst/>
              </a:prstGeom>
              <a:blipFill rotWithShape="0">
                <a:blip r:embed="rId32"/>
                <a:stretch>
                  <a:fillRect l="-169" t="-48000" b="-21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0" y="3827389"/>
                <a:ext cx="172516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⟹∆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𝐴𝐵𝐶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=∆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𝐷𝐶𝑃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827389"/>
                <a:ext cx="1725161" cy="276999"/>
              </a:xfrm>
              <a:prstGeom prst="rect">
                <a:avLst/>
              </a:prstGeom>
              <a:blipFill rotWithShape="0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1313956" y="3825278"/>
                <a:ext cx="126904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𝐵𝐶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𝐶𝑃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3956" y="3825278"/>
                <a:ext cx="1269042" cy="276999"/>
              </a:xfrm>
              <a:prstGeom prst="rect">
                <a:avLst/>
              </a:prstGeom>
              <a:blipFill rotWithShape="0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Полилиния 2"/>
          <p:cNvSpPr/>
          <p:nvPr/>
        </p:nvSpPr>
        <p:spPr>
          <a:xfrm>
            <a:off x="5784351" y="3071973"/>
            <a:ext cx="0" cy="123290"/>
          </a:xfrm>
          <a:custGeom>
            <a:avLst/>
            <a:gdLst>
              <a:gd name="connsiteX0" fmla="*/ 0 w 0"/>
              <a:gd name="connsiteY0" fmla="*/ 0 h 123290"/>
              <a:gd name="connsiteX1" fmla="*/ 0 w 0"/>
              <a:gd name="connsiteY1" fmla="*/ 123290 h 123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23290">
                <a:moveTo>
                  <a:pt x="0" y="0"/>
                </a:moveTo>
                <a:lnTo>
                  <a:pt x="0" y="12329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5" name="Полилиния 84"/>
          <p:cNvSpPr/>
          <p:nvPr/>
        </p:nvSpPr>
        <p:spPr>
          <a:xfrm>
            <a:off x="7740352" y="3096354"/>
            <a:ext cx="0" cy="112082"/>
          </a:xfrm>
          <a:custGeom>
            <a:avLst/>
            <a:gdLst>
              <a:gd name="connsiteX0" fmla="*/ 0 w 0"/>
              <a:gd name="connsiteY0" fmla="*/ 0 h 123290"/>
              <a:gd name="connsiteX1" fmla="*/ 0 w 0"/>
              <a:gd name="connsiteY1" fmla="*/ 123290 h 123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23290">
                <a:moveTo>
                  <a:pt x="0" y="0"/>
                </a:moveTo>
                <a:lnTo>
                  <a:pt x="0" y="123290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единительная линия 5"/>
          <p:cNvCxnSpPr>
            <a:stCxn id="50" idx="3"/>
          </p:cNvCxnSpPr>
          <p:nvPr/>
        </p:nvCxnSpPr>
        <p:spPr>
          <a:xfrm flipH="1">
            <a:off x="5713003" y="2126309"/>
            <a:ext cx="339092" cy="1004379"/>
          </a:xfrm>
          <a:prstGeom prst="line">
            <a:avLst/>
          </a:prstGeom>
          <a:ln>
            <a:prstDash val="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 flipH="1">
                <a:off x="5418216" y="3099150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𝐹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418216" y="3099150"/>
                <a:ext cx="486282" cy="307777"/>
              </a:xfrm>
              <a:prstGeom prst="rect">
                <a:avLst/>
              </a:prstGeom>
              <a:blipFill rotWithShape="0"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58426" y="4015633"/>
                <a:ext cx="4165712" cy="3546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1200" b="0" i="1" dirty="0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US" sz="12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𝐶𝑁</m:t>
                        </m:r>
                      </m:num>
                      <m:den>
                        <m:r>
                          <a:rPr lang="en-US" sz="12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𝐵𝑀</m:t>
                        </m:r>
                      </m:den>
                    </m:f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f>
                      <m:fPr>
                        <m:ctrlPr>
                          <a:rPr lang="en-US" sz="1200" b="0" i="1" dirty="0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US" sz="12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𝐶𝑃</m:t>
                        </m:r>
                      </m:num>
                      <m:den>
                        <m:r>
                          <a:rPr lang="en-US" sz="12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𝐵𝑃</m:t>
                        </m:r>
                      </m:den>
                    </m:f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f>
                      <m:fPr>
                        <m:ctrlPr>
                          <a:rPr lang="en-US" sz="1200" b="0" i="1" dirty="0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US" sz="12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sz="12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den>
                    </m:f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 </m:t>
                    </m:r>
                  </m:oMath>
                </a14:m>
                <a:r>
                  <a:rPr lang="en-US" sz="1200" dirty="0" smtClean="0"/>
                  <a:t>(</a:t>
                </a:r>
                <a:r>
                  <a:rPr lang="ru-RU" sz="1200" dirty="0" smtClean="0"/>
                  <a:t>из подобия треугольников</a:t>
                </a:r>
                <a:r>
                  <a:rPr lang="en-US" sz="1200" dirty="0" smtClean="0"/>
                  <a:t>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charset="0"/>
                      </a:rPr>
                      <m:t>𝐵𝑀𝑃</m:t>
                    </m:r>
                    <m:r>
                      <a:rPr lang="en-US" sz="1200" b="0" i="1" smtClean="0">
                        <a:latin typeface="Cambria Math" charset="0"/>
                      </a:rPr>
                      <m:t> и </m:t>
                    </m:r>
                    <m:r>
                      <a:rPr lang="en-US" sz="1200" b="0" i="1" smtClean="0">
                        <a:latin typeface="Cambria Math" charset="0"/>
                      </a:rPr>
                      <m:t>𝐶𝑁𝑃</m:t>
                    </m:r>
                  </m:oMath>
                </a14:m>
                <a:r>
                  <a:rPr lang="en-US" sz="1200" dirty="0" smtClean="0"/>
                  <a:t>)</a:t>
                </a:r>
                <a:endParaRPr lang="ru-RU" sz="1200" dirty="0"/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6" y="4015633"/>
                <a:ext cx="4165712" cy="354649"/>
              </a:xfrm>
              <a:prstGeom prst="rect">
                <a:avLst/>
              </a:prstGeom>
              <a:blipFill rotWithShape="0">
                <a:blip r:embed="rId36"/>
                <a:stretch>
                  <a:fillRect t="-51724" b="-689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107505" y="4351894"/>
                <a:ext cx="201622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𝐿𝐹</m:t>
                    </m:r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∥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𝐵</m:t>
                    </m:r>
                    <m:sSub>
                      <m:sSubPr>
                        <m:ctrlPr>
                          <a:rPr lang="en-US" sz="1200" b="0" i="1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200" dirty="0" smtClean="0"/>
                  <a:t> (</a:t>
                </a:r>
                <a:r>
                  <a:rPr lang="ru-RU" sz="1200" dirty="0" smtClean="0"/>
                  <a:t>по построению)</a:t>
                </a:r>
                <a:r>
                  <a:rPr lang="en-US" sz="1200" dirty="0" smtClean="0"/>
                  <a:t>;</a:t>
                </a:r>
                <a:endParaRPr lang="ru-RU" sz="1200" dirty="0"/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5" y="4351894"/>
                <a:ext cx="2016224" cy="276999"/>
              </a:xfrm>
              <a:prstGeom prst="rect">
                <a:avLst/>
              </a:prstGeom>
              <a:blipFill rotWithShape="0">
                <a:blip r:embed="rId37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1933368" y="4361816"/>
                <a:ext cx="41929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𝐿𝐹</m:t>
                    </m:r>
                    <m:r>
                      <a:rPr lang="en-US" sz="12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− </m:t>
                    </m:r>
                  </m:oMath>
                </a14:m>
                <a:r>
                  <a:rPr lang="ru-RU" sz="1200" dirty="0" smtClean="0"/>
                  <a:t>средняя линия </a:t>
                </a:r>
                <a14:m>
                  <m:oMath xmlns:m="http://schemas.openxmlformats.org/officeDocument/2006/math">
                    <m:r>
                      <a:rPr lang="ru-RU" sz="12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∆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𝐵</m:t>
                    </m:r>
                    <m:sSub>
                      <m:sSubPr>
                        <m:ctrlPr>
                          <a:rPr lang="en-US" sz="1200" b="0" i="1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𝐶</m:t>
                    </m:r>
                  </m:oMath>
                </a14:m>
                <a:r>
                  <a:rPr lang="en-US" sz="1200" dirty="0" smtClean="0"/>
                  <a:t> </a:t>
                </a:r>
                <a:r>
                  <a:rPr lang="ru-RU" sz="1200" dirty="0" smtClean="0"/>
                  <a:t>и  трапеции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charset="0"/>
                      </a:rPr>
                      <m:t>𝐵𝑀</m:t>
                    </m:r>
                    <m:r>
                      <a:rPr lang="en-US" sz="1200" b="0" i="1" smtClean="0">
                        <a:latin typeface="Cambria Math" charset="0"/>
                      </a:rPr>
                      <m:t>𝑁𝐶</m:t>
                    </m:r>
                    <m:r>
                      <a:rPr lang="en-US" sz="1200" b="0" i="1" smtClean="0">
                        <a:latin typeface="Cambria Math" charset="0"/>
                      </a:rPr>
                      <m:t>;</m:t>
                    </m:r>
                  </m:oMath>
                </a14:m>
                <a:endParaRPr lang="ru-RU" sz="1200" dirty="0"/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3368" y="4361816"/>
                <a:ext cx="4192992" cy="276999"/>
              </a:xfrm>
              <a:prstGeom prst="rect">
                <a:avLst/>
              </a:prstGeom>
              <a:blipFill rotWithShape="0">
                <a:blip r:embed="rId38"/>
                <a:stretch>
                  <a:fillRect t="-82222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6023196" y="4275558"/>
                <a:ext cx="1818025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𝐿𝐹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𝐶𝑁</m:t>
                          </m:r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</m:t>
                          </m:r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𝐵𝑀</m:t>
                          </m:r>
                        </m:num>
                        <m:den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196" y="4275558"/>
                <a:ext cx="1818025" cy="438005"/>
              </a:xfrm>
              <a:prstGeom prst="rect">
                <a:avLst/>
              </a:prstGeom>
              <a:blipFill rotWithShape="0">
                <a:blip r:embed="rId39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/>
              <p:cNvSpPr txBox="1"/>
              <p:nvPr/>
            </p:nvSpPr>
            <p:spPr>
              <a:xfrm>
                <a:off x="7629627" y="4351893"/>
                <a:ext cx="133486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𝐶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𝑁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+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𝐵𝑀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7" name="TextBox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9627" y="4351893"/>
                <a:ext cx="1334861" cy="276999"/>
              </a:xfrm>
              <a:prstGeom prst="rect">
                <a:avLst/>
              </a:prstGeom>
              <a:blipFill rotWithShape="0"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/>
              <p:cNvSpPr txBox="1"/>
              <p:nvPr/>
            </p:nvSpPr>
            <p:spPr>
              <a:xfrm>
                <a:off x="1721932" y="4597300"/>
                <a:ext cx="1908141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𝑀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+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𝐵𝑀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8" name="TextBox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1932" y="4597300"/>
                <a:ext cx="1908141" cy="438005"/>
              </a:xfrm>
              <a:prstGeom prst="rect">
                <a:avLst/>
              </a:prstGeom>
              <a:blipFill rotWithShape="0">
                <a:blip r:embed="rId41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/>
              <p:cNvSpPr txBox="1"/>
              <p:nvPr/>
            </p:nvSpPr>
            <p:spPr>
              <a:xfrm>
                <a:off x="3189352" y="4586633"/>
                <a:ext cx="143424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𝑀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0" name="TextBox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352" y="4586633"/>
                <a:ext cx="1434242" cy="438005"/>
              </a:xfrm>
              <a:prstGeom prst="rect">
                <a:avLst/>
              </a:prstGeom>
              <a:blipFill rotWithShape="0">
                <a:blip r:embed="rId4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/>
              <p:cNvSpPr txBox="1"/>
              <p:nvPr/>
            </p:nvSpPr>
            <p:spPr>
              <a:xfrm>
                <a:off x="4269057" y="4586633"/>
                <a:ext cx="1143080" cy="439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𝑀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1" name="TextBox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9057" y="4586633"/>
                <a:ext cx="1143080" cy="439223"/>
              </a:xfrm>
              <a:prstGeom prst="rect">
                <a:avLst/>
              </a:prstGeom>
              <a:blipFill rotWithShape="0">
                <a:blip r:embed="rId4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/>
              <p:cNvSpPr txBox="1"/>
              <p:nvPr/>
            </p:nvSpPr>
            <p:spPr>
              <a:xfrm>
                <a:off x="5229621" y="4677802"/>
                <a:ext cx="178996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𝐵𝑀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: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𝑀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=2:1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2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621" y="4677802"/>
                <a:ext cx="1789965" cy="276999"/>
              </a:xfrm>
              <a:prstGeom prst="rect">
                <a:avLst/>
              </a:prstGeom>
              <a:blipFill rotWithShape="0"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Прямоугольник 16"/>
          <p:cNvSpPr/>
          <p:nvPr/>
        </p:nvSpPr>
        <p:spPr>
          <a:xfrm>
            <a:off x="5703470" y="4677802"/>
            <a:ext cx="1120756" cy="2942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/>
              <p:cNvSpPr txBox="1"/>
              <p:nvPr/>
            </p:nvSpPr>
            <p:spPr>
              <a:xfrm>
                <a:off x="3646147" y="3963228"/>
                <a:ext cx="1213885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i="1" dirty="0" smtClean="0">
                          <a:latin typeface="Cambria Math" charset="0"/>
                        </a:rPr>
                        <m:t>𝐶𝑁</m:t>
                      </m:r>
                      <m:r>
                        <a:rPr lang="en-US" sz="1200" i="1" dirty="0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i="1" dirty="0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i="1" dirty="0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i="1" dirty="0" smtClean="0">
                              <a:latin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</a:rPr>
                        <m:t>𝐵𝑀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4" name="TextBox 1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6147" y="3963228"/>
                <a:ext cx="1213885" cy="438005"/>
              </a:xfrm>
              <a:prstGeom prst="rect">
                <a:avLst/>
              </a:prstGeom>
              <a:blipFill rotWithShape="0">
                <a:blip r:embed="rId4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/>
              <p:cNvSpPr txBox="1"/>
              <p:nvPr/>
            </p:nvSpPr>
            <p:spPr>
              <a:xfrm>
                <a:off x="571100" y="4662372"/>
                <a:ext cx="133486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(</m:t>
                      </m:r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𝐶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𝑁</m:t>
                      </m:r>
                      <m:r>
                        <a:rPr lang="ru-RU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𝑀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)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5" name="Text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100" y="4662372"/>
                <a:ext cx="1334861" cy="276999"/>
              </a:xfrm>
              <a:prstGeom prst="rect">
                <a:avLst/>
              </a:prstGeom>
              <a:blipFill rotWithShape="0">
                <a:blip r:embed="rId46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Полилиния 33"/>
          <p:cNvSpPr/>
          <p:nvPr/>
        </p:nvSpPr>
        <p:spPr>
          <a:xfrm>
            <a:off x="5154782" y="1522542"/>
            <a:ext cx="123290" cy="10274"/>
          </a:xfrm>
          <a:custGeom>
            <a:avLst/>
            <a:gdLst>
              <a:gd name="connsiteX0" fmla="*/ 0 w 123290"/>
              <a:gd name="connsiteY0" fmla="*/ 0 h 10274"/>
              <a:gd name="connsiteX1" fmla="*/ 123290 w 123290"/>
              <a:gd name="connsiteY1" fmla="*/ 10274 h 10274"/>
              <a:gd name="connsiteX2" fmla="*/ 123290 w 123290"/>
              <a:gd name="connsiteY2" fmla="*/ 10274 h 10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3290" h="10274">
                <a:moveTo>
                  <a:pt x="0" y="0"/>
                </a:moveTo>
                <a:lnTo>
                  <a:pt x="123290" y="10274"/>
                </a:lnTo>
                <a:lnTo>
                  <a:pt x="123290" y="10274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6" name="Полилиния 105"/>
          <p:cNvSpPr/>
          <p:nvPr/>
        </p:nvSpPr>
        <p:spPr>
          <a:xfrm>
            <a:off x="5158516" y="1565871"/>
            <a:ext cx="123290" cy="10274"/>
          </a:xfrm>
          <a:custGeom>
            <a:avLst/>
            <a:gdLst>
              <a:gd name="connsiteX0" fmla="*/ 0 w 123290"/>
              <a:gd name="connsiteY0" fmla="*/ 0 h 10274"/>
              <a:gd name="connsiteX1" fmla="*/ 123290 w 123290"/>
              <a:gd name="connsiteY1" fmla="*/ 10274 h 10274"/>
              <a:gd name="connsiteX2" fmla="*/ 123290 w 123290"/>
              <a:gd name="connsiteY2" fmla="*/ 10274 h 10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3290" h="10274">
                <a:moveTo>
                  <a:pt x="0" y="0"/>
                </a:moveTo>
                <a:lnTo>
                  <a:pt x="123290" y="10274"/>
                </a:lnTo>
                <a:lnTo>
                  <a:pt x="123290" y="10274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7" name="Полилиния 106"/>
          <p:cNvSpPr/>
          <p:nvPr/>
        </p:nvSpPr>
        <p:spPr>
          <a:xfrm>
            <a:off x="6855708" y="2806179"/>
            <a:ext cx="123290" cy="10274"/>
          </a:xfrm>
          <a:custGeom>
            <a:avLst/>
            <a:gdLst>
              <a:gd name="connsiteX0" fmla="*/ 0 w 123290"/>
              <a:gd name="connsiteY0" fmla="*/ 0 h 10274"/>
              <a:gd name="connsiteX1" fmla="*/ 123290 w 123290"/>
              <a:gd name="connsiteY1" fmla="*/ 10274 h 10274"/>
              <a:gd name="connsiteX2" fmla="*/ 123290 w 123290"/>
              <a:gd name="connsiteY2" fmla="*/ 10274 h 10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3290" h="10274">
                <a:moveTo>
                  <a:pt x="0" y="0"/>
                </a:moveTo>
                <a:lnTo>
                  <a:pt x="123290" y="10274"/>
                </a:lnTo>
                <a:lnTo>
                  <a:pt x="123290" y="10274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9" name="Полилиния 108"/>
          <p:cNvSpPr/>
          <p:nvPr/>
        </p:nvSpPr>
        <p:spPr>
          <a:xfrm>
            <a:off x="6838894" y="2849508"/>
            <a:ext cx="123290" cy="10274"/>
          </a:xfrm>
          <a:custGeom>
            <a:avLst/>
            <a:gdLst>
              <a:gd name="connsiteX0" fmla="*/ 0 w 123290"/>
              <a:gd name="connsiteY0" fmla="*/ 0 h 10274"/>
              <a:gd name="connsiteX1" fmla="*/ 123290 w 123290"/>
              <a:gd name="connsiteY1" fmla="*/ 10274 h 10274"/>
              <a:gd name="connsiteX2" fmla="*/ 123290 w 123290"/>
              <a:gd name="connsiteY2" fmla="*/ 10274 h 10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3290" h="10274">
                <a:moveTo>
                  <a:pt x="0" y="0"/>
                </a:moveTo>
                <a:lnTo>
                  <a:pt x="123290" y="10274"/>
                </a:lnTo>
                <a:lnTo>
                  <a:pt x="123290" y="10274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/>
              <p:cNvSpPr txBox="1"/>
              <p:nvPr/>
            </p:nvSpPr>
            <p:spPr>
              <a:xfrm>
                <a:off x="5148979" y="4268351"/>
                <a:ext cx="1100068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𝐿𝐹</m:t>
                      </m:r>
                      <m:r>
                        <a:rPr lang="en-US" sz="1200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</a:rPr>
                        <m:t>𝐵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ru-RU" sz="1200" b="0" i="1" smtClean="0"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11" name="TextBox 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979" y="4268351"/>
                <a:ext cx="1100068" cy="438005"/>
              </a:xfrm>
              <a:prstGeom prst="rect">
                <a:avLst/>
              </a:prstGeom>
              <a:blipFill rotWithShape="0">
                <a:blip r:embed="rId4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3246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indefinite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indefinite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41" grpId="0" animBg="1"/>
      <p:bldP spid="43" grpId="0"/>
      <p:bldP spid="50" grpId="0" animBg="1"/>
      <p:bldP spid="51" grpId="0"/>
      <p:bldP spid="52" grpId="0" animBg="1"/>
      <p:bldP spid="69" grpId="0" animBg="1"/>
      <p:bldP spid="70" grpId="0"/>
      <p:bldP spid="79" grpId="0" animBg="1"/>
      <p:bldP spid="80" grpId="0"/>
      <p:bldP spid="83" grpId="0"/>
      <p:bldP spid="88" grpId="0"/>
      <p:bldP spid="108" grpId="0" animBg="1"/>
      <p:bldP spid="110" grpId="0" animBg="1"/>
      <p:bldP spid="113" grpId="0" animBg="1"/>
      <p:bldP spid="55" grpId="0"/>
      <p:bldP spid="56" grpId="0"/>
      <p:bldP spid="57" grpId="0"/>
      <p:bldP spid="58" grpId="0"/>
      <p:bldP spid="61" grpId="0"/>
      <p:bldP spid="63" grpId="0"/>
      <p:bldP spid="64" grpId="0"/>
      <p:bldP spid="65" grpId="0"/>
      <p:bldP spid="66" grpId="0"/>
      <p:bldP spid="68" grpId="0"/>
      <p:bldP spid="72" grpId="0"/>
      <p:bldP spid="73" grpId="0"/>
      <p:bldP spid="74" grpId="0"/>
      <p:bldP spid="76" grpId="0"/>
      <p:bldP spid="77" grpId="0"/>
      <p:bldP spid="78" grpId="0"/>
      <p:bldP spid="81" grpId="0"/>
      <p:bldP spid="82" grpId="0"/>
      <p:bldP spid="3" grpId="0" animBg="1"/>
      <p:bldP spid="85" grpId="0" animBg="1"/>
      <p:bldP spid="87" grpId="0"/>
      <p:bldP spid="91" grpId="0"/>
      <p:bldP spid="92" grpId="0"/>
      <p:bldP spid="93" grpId="0"/>
      <p:bldP spid="96" grpId="0"/>
      <p:bldP spid="97" grpId="0"/>
      <p:bldP spid="98" grpId="0"/>
      <p:bldP spid="100" grpId="0"/>
      <p:bldP spid="101" grpId="0"/>
      <p:bldP spid="102" grpId="0"/>
      <p:bldP spid="17" grpId="0" animBg="1"/>
      <p:bldP spid="104" grpId="0"/>
      <p:bldP spid="105" grpId="0"/>
      <p:bldP spid="34" grpId="0" animBg="1"/>
      <p:bldP spid="106" grpId="0" animBg="1"/>
      <p:bldP spid="107" grpId="0" animBg="1"/>
      <p:bldP spid="109" grpId="0" animBg="1"/>
      <p:bldP spid="11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42</a:t>
            </a:fld>
            <a:endParaRPr kumimoji="0" lang="ru-RU">
              <a:solidFill>
                <a:schemeClr val="tx2"/>
              </a:solidFill>
            </a:endParaRPr>
          </a:p>
        </p:txBody>
      </p:sp>
      <p:sp>
        <p:nvSpPr>
          <p:cNvPr id="3" name="Номер слайда 1"/>
          <p:cNvSpPr txBox="1">
            <a:spLocks/>
          </p:cNvSpPr>
          <p:nvPr/>
        </p:nvSpPr>
        <p:spPr>
          <a:xfrm>
            <a:off x="0" y="4686300"/>
            <a:ext cx="533400" cy="285750"/>
          </a:xfrm>
          <a:prstGeom prst="rect">
            <a:avLst/>
          </a:prstGeom>
        </p:spPr>
        <p:txBody>
          <a:bodyPr vert="horz" anchor="ctr" anchorCtr="0">
            <a:normAutofit lnSpcReduction="10000"/>
          </a:bodyPr>
          <a:lstStyle>
            <a:lvl1pPr marL="0" algn="ctr" rtl="0" eaLnBrk="1" latinLnBrk="0" hangingPunct="1">
              <a:defRPr kumimoji="0" lang="ru-RU"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fld id="{A3F7CB7D-F184-43C7-B6FD-03D728E1BBFF}" type="slidenum">
              <a:rPr lang="is-IS" smtClean="0"/>
              <a:pPr/>
              <a:t>42</a:t>
            </a:fld>
            <a:endParaRPr lang="is-I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0" y="-22135"/>
                <a:ext cx="9144000" cy="79368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dirty="0" smtClean="0">
                    <a:solidFill>
                      <a:srgbClr val="7030A0"/>
                    </a:solidFill>
                  </a:rPr>
                  <a:t>24.</a:t>
                </a:r>
                <a:r>
                  <a:rPr lang="ru-RU" sz="1200" b="1" dirty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Плоскость </a:t>
                </a:r>
                <a14:m>
                  <m:oMath xmlns:m="http://schemas.openxmlformats.org/officeDocument/2006/math"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𝜶</m:t>
                    </m:r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проходит через вершину 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𝑫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и центры граней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𝑨</m:t>
                    </m:r>
                    <m:sSub>
                      <m:sSubPr>
                        <m:ctrlP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𝑩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 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𝑩</m:t>
                    </m:r>
                    <m:sSub>
                      <m:sSubPr>
                        <m:ctrlPr>
                          <a:rPr lang="en-US" sz="1200" b="1" i="1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𝑪</m:t>
                    </m:r>
                    <m:r>
                      <a:rPr lang="en-US" sz="1200" b="1" i="1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параллелепипеда 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𝑨𝑩𝑪𝑫</m:t>
                    </m:r>
                    <m:sSub>
                      <m:sSubPr>
                        <m:ctrlP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𝑨</m:t>
                        </m:r>
                      </m:e>
                      <m:sub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𝑪</m:t>
                        </m:r>
                      </m:e>
                      <m:sub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𝑫</m:t>
                        </m:r>
                      </m:e>
                      <m:sub>
                        <m:r>
                          <a:rPr lang="en-US" sz="1200" b="1" i="1" smtClean="0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  <m:r>
                      <a:rPr lang="en-US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 smtClean="0">
                  <a:solidFill>
                    <a:srgbClr val="002060"/>
                  </a:solidFill>
                  <a:latin typeface="+mj-lt"/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а)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Докажите, что </a:t>
                </a:r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эта плоскость делит ребро </a:t>
                </a:r>
                <a14:m>
                  <m:oMath xmlns:m="http://schemas.openxmlformats.org/officeDocument/2006/math">
                    <m:r>
                      <a:rPr lang="en-US" sz="1200" b="1" i="1">
                        <a:solidFill>
                          <a:srgbClr val="002060"/>
                        </a:solidFill>
                        <a:latin typeface="Cambria Math" charset="0"/>
                      </a:rPr>
                      <m:t>𝑩</m:t>
                    </m:r>
                    <m:sSub>
                      <m:sSubPr>
                        <m:ctrlPr>
                          <a:rPr lang="en-US" sz="1200" b="1" i="1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1" i="1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𝑩</m:t>
                        </m:r>
                      </m:e>
                      <m:sub>
                        <m:r>
                          <a:rPr lang="en-US" sz="1200" b="1" i="1">
                            <a:solidFill>
                              <a:srgbClr val="002060"/>
                            </a:solidFill>
                            <a:latin typeface="Cambria Math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 в отношении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𝟐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: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𝟏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,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 считая от вершины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𝑩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.</a:t>
                </a: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б)  Найдите объемы многогранников, на которые плоскость </a:t>
                </a:r>
                <a14:m>
                  <m:oMath xmlns:m="http://schemas.openxmlformats.org/officeDocument/2006/math">
                    <m:r>
                      <a:rPr lang="ru-RU" sz="1200" b="1" i="1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𝜶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 разбивает параллелепипед, если его объем равен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𝑽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ru-RU" sz="1200" b="1" i="0" dirty="0" smtClean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5"/>
                <a:ext cx="9144000" cy="79368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Прямая соединительная линия 4"/>
          <p:cNvCxnSpPr/>
          <p:nvPr/>
        </p:nvCxnSpPr>
        <p:spPr>
          <a:xfrm>
            <a:off x="5842242" y="3132408"/>
            <a:ext cx="2160240" cy="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>
            <a:off x="4906138" y="3770206"/>
            <a:ext cx="216024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flipV="1">
            <a:off x="4906138" y="3132408"/>
            <a:ext cx="936104" cy="648072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 flipV="1">
            <a:off x="7066378" y="3132408"/>
            <a:ext cx="936104" cy="648072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 flipV="1">
            <a:off x="4906138" y="1753982"/>
            <a:ext cx="720080" cy="2016224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6541864" y="1110455"/>
            <a:ext cx="216024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5605760" y="1758527"/>
            <a:ext cx="216024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 flipV="1">
            <a:off x="5605760" y="1120729"/>
            <a:ext cx="936104" cy="648072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 flipV="1">
            <a:off x="7766000" y="1120729"/>
            <a:ext cx="936104" cy="648072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 flipV="1">
            <a:off x="7061897" y="1753982"/>
            <a:ext cx="720080" cy="2016224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 flipV="1">
            <a:off x="7993610" y="1116183"/>
            <a:ext cx="720080" cy="2016224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 flipV="1">
            <a:off x="5833280" y="1116185"/>
            <a:ext cx="720080" cy="2016224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603771" y="3698133"/>
                <a:ext cx="340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3771" y="3698133"/>
                <a:ext cx="340286" cy="3077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 flipH="1">
                <a:off x="5626218" y="3111860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626218" y="3111860"/>
                <a:ext cx="486282" cy="3077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 flipH="1">
                <a:off x="7933426" y="2857164"/>
                <a:ext cx="4609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933426" y="2857164"/>
                <a:ext cx="460919" cy="3077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 flipH="1">
                <a:off x="6862921" y="3787000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𝐷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862921" y="3787000"/>
                <a:ext cx="486282" cy="3077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257019" y="1556093"/>
                <a:ext cx="41716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𝐴</m:t>
                          </m:r>
                        </m:e>
                        <m:sub>
                          <m:r>
                            <a:rPr lang="ru-RU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019" y="1556093"/>
                <a:ext cx="417165" cy="30777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 flipH="1">
                <a:off x="6152842" y="863364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152842" y="863364"/>
                <a:ext cx="486282" cy="30777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 flipH="1">
                <a:off x="8648260" y="865034"/>
                <a:ext cx="3882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648260" y="865034"/>
                <a:ext cx="388236" cy="30777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 flipH="1">
                <a:off x="7636229" y="1712173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𝐷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636229" y="1712173"/>
                <a:ext cx="486282" cy="30777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Овал 26"/>
          <p:cNvSpPr/>
          <p:nvPr/>
        </p:nvSpPr>
        <p:spPr>
          <a:xfrm flipV="1">
            <a:off x="5722860" y="2420705"/>
            <a:ext cx="50304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 flipH="1">
                <a:off x="5345817" y="2260348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𝐾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345817" y="2260348"/>
                <a:ext cx="486282" cy="30777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Овал 30"/>
          <p:cNvSpPr/>
          <p:nvPr/>
        </p:nvSpPr>
        <p:spPr>
          <a:xfrm flipV="1">
            <a:off x="7245922" y="2119614"/>
            <a:ext cx="50304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 flipH="1">
                <a:off x="7054760" y="1795941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𝐿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054760" y="1795941"/>
                <a:ext cx="486282" cy="307777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Овал 32"/>
          <p:cNvSpPr/>
          <p:nvPr/>
        </p:nvSpPr>
        <p:spPr>
          <a:xfrm flipV="1">
            <a:off x="7045830" y="3755219"/>
            <a:ext cx="50304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0" name="Прямая соединительная линия 39"/>
          <p:cNvCxnSpPr/>
          <p:nvPr/>
        </p:nvCxnSpPr>
        <p:spPr>
          <a:xfrm flipH="1" flipV="1">
            <a:off x="6319563" y="1832017"/>
            <a:ext cx="1921378" cy="648279"/>
          </a:xfrm>
          <a:prstGeom prst="line">
            <a:avLst/>
          </a:prstGeom>
          <a:ln>
            <a:solidFill>
              <a:srgbClr val="00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Овал 41"/>
          <p:cNvSpPr/>
          <p:nvPr/>
        </p:nvSpPr>
        <p:spPr>
          <a:xfrm flipV="1">
            <a:off x="6291018" y="1798137"/>
            <a:ext cx="50304" cy="502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 flipH="1">
                <a:off x="6131504" y="1866061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𝑀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131504" y="1866061"/>
                <a:ext cx="486282" cy="307777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 flipH="1">
                <a:off x="8160948" y="2268787"/>
                <a:ext cx="4609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𝑁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160948" y="2268787"/>
                <a:ext cx="460919" cy="307777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Прямая соединительная линия 44"/>
          <p:cNvCxnSpPr/>
          <p:nvPr/>
        </p:nvCxnSpPr>
        <p:spPr>
          <a:xfrm flipV="1">
            <a:off x="5137038" y="1807333"/>
            <a:ext cx="1179132" cy="1323890"/>
          </a:xfrm>
          <a:prstGeom prst="line">
            <a:avLst/>
          </a:prstGeom>
          <a:ln>
            <a:solidFill>
              <a:srgbClr val="00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 flipH="1">
                <a:off x="4770139" y="2955486"/>
                <a:ext cx="4609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𝐸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770139" y="2955486"/>
                <a:ext cx="460919" cy="307777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Прямая соединительная линия 46"/>
          <p:cNvCxnSpPr/>
          <p:nvPr/>
        </p:nvCxnSpPr>
        <p:spPr>
          <a:xfrm>
            <a:off x="5136643" y="3105881"/>
            <a:ext cx="1961494" cy="66988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/>
          <p:cNvCxnSpPr/>
          <p:nvPr/>
        </p:nvCxnSpPr>
        <p:spPr>
          <a:xfrm flipV="1">
            <a:off x="7078382" y="2461772"/>
            <a:ext cx="1142408" cy="129813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Прямая соединительная линия 48"/>
          <p:cNvCxnSpPr/>
          <p:nvPr/>
        </p:nvCxnSpPr>
        <p:spPr>
          <a:xfrm>
            <a:off x="6333955" y="1841063"/>
            <a:ext cx="1906986" cy="641503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/>
          <p:cNvCxnSpPr/>
          <p:nvPr/>
        </p:nvCxnSpPr>
        <p:spPr>
          <a:xfrm flipH="1">
            <a:off x="5135858" y="1823282"/>
            <a:ext cx="1155160" cy="1294139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1" name="Полилиния 50"/>
          <p:cNvSpPr/>
          <p:nvPr/>
        </p:nvSpPr>
        <p:spPr>
          <a:xfrm>
            <a:off x="5148489" y="1848375"/>
            <a:ext cx="3061698" cy="1931542"/>
          </a:xfrm>
          <a:custGeom>
            <a:avLst/>
            <a:gdLst>
              <a:gd name="connsiteX0" fmla="*/ 0 w 3061698"/>
              <a:gd name="connsiteY0" fmla="*/ 1273995 h 1931542"/>
              <a:gd name="connsiteX1" fmla="*/ 1910993 w 3061698"/>
              <a:gd name="connsiteY1" fmla="*/ 1931542 h 1931542"/>
              <a:gd name="connsiteX2" fmla="*/ 3061698 w 3061698"/>
              <a:gd name="connsiteY2" fmla="*/ 647272 h 1931542"/>
              <a:gd name="connsiteX3" fmla="*/ 1140431 w 3061698"/>
              <a:gd name="connsiteY3" fmla="*/ 0 h 1931542"/>
              <a:gd name="connsiteX4" fmla="*/ 0 w 3061698"/>
              <a:gd name="connsiteY4" fmla="*/ 1273995 h 1931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61698" h="1931542">
                <a:moveTo>
                  <a:pt x="0" y="1273995"/>
                </a:moveTo>
                <a:lnTo>
                  <a:pt x="1910993" y="1931542"/>
                </a:lnTo>
                <a:lnTo>
                  <a:pt x="3061698" y="647272"/>
                </a:lnTo>
                <a:lnTo>
                  <a:pt x="1140431" y="0"/>
                </a:lnTo>
                <a:lnTo>
                  <a:pt x="0" y="1273995"/>
                </a:lnTo>
                <a:close/>
              </a:path>
            </a:pathLst>
          </a:custGeom>
          <a:solidFill>
            <a:srgbClr val="FF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Овал 51"/>
          <p:cNvSpPr/>
          <p:nvPr/>
        </p:nvSpPr>
        <p:spPr>
          <a:xfrm flipV="1">
            <a:off x="5129246" y="3084929"/>
            <a:ext cx="50304" cy="502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/>
          </a:p>
        </p:txBody>
      </p:sp>
      <p:sp>
        <p:nvSpPr>
          <p:cNvPr id="53" name="Овал 52"/>
          <p:cNvSpPr/>
          <p:nvPr/>
        </p:nvSpPr>
        <p:spPr>
          <a:xfrm flipV="1">
            <a:off x="8211254" y="2455268"/>
            <a:ext cx="45731" cy="502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107504" y="882075"/>
                <a:ext cx="17281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b="0" smtClean="0">
                    <a:solidFill>
                      <a:schemeClr val="tx1"/>
                    </a:solidFill>
                  </a:rPr>
                  <a:t>а)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𝐵𝑀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: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𝑀</m:t>
                    </m:r>
                    <m:sSub>
                      <m:sSubPr>
                        <m:ctrlPr>
                          <a:rPr lang="en-US" sz="1200" i="1" dirty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sz="1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=2:1</m:t>
                    </m:r>
                  </m:oMath>
                </a14:m>
                <a:endParaRPr lang="ru-RU" sz="1200" dirty="0"/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882075"/>
                <a:ext cx="1728192" cy="276999"/>
              </a:xfrm>
              <a:prstGeom prst="rect">
                <a:avLst/>
              </a:prstGeom>
              <a:blipFill rotWithShape="0">
                <a:blip r:embed="rId16"/>
                <a:stretch>
                  <a:fillRect l="-353"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107503" y="1139047"/>
                <a:ext cx="381642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b="0" dirty="0" smtClean="0">
                    <a:solidFill>
                      <a:schemeClr val="tx1"/>
                    </a:solidFill>
                  </a:rPr>
                  <a:t>б) Выразим объем многогранника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𝐴𝐸𝑀𝑁𝐶𝐷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0" dirty="0" smtClean="0">
                    <a:solidFill>
                      <a:schemeClr val="tx1"/>
                    </a:solidFill>
                  </a:rPr>
                  <a:t>через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𝑉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. </m:t>
                    </m:r>
                  </m:oMath>
                </a14:m>
                <a:endParaRPr lang="ru-RU" sz="1200" dirty="0"/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3" y="1139047"/>
                <a:ext cx="3816425" cy="276999"/>
              </a:xfrm>
              <a:prstGeom prst="rect">
                <a:avLst/>
              </a:prstGeom>
              <a:blipFill rotWithShape="0">
                <a:blip r:embed="rId17"/>
                <a:stretch>
                  <a:fillRect l="-160" t="-80000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Полилиния 87"/>
          <p:cNvSpPr/>
          <p:nvPr/>
        </p:nvSpPr>
        <p:spPr>
          <a:xfrm>
            <a:off x="4931596" y="2465798"/>
            <a:ext cx="3308278" cy="1304818"/>
          </a:xfrm>
          <a:custGeom>
            <a:avLst/>
            <a:gdLst>
              <a:gd name="connsiteX0" fmla="*/ 0 w 3308278"/>
              <a:gd name="connsiteY0" fmla="*/ 1294544 h 1304818"/>
              <a:gd name="connsiteX1" fmla="*/ 215757 w 3308278"/>
              <a:gd name="connsiteY1" fmla="*/ 636998 h 1304818"/>
              <a:gd name="connsiteX2" fmla="*/ 2147298 w 3308278"/>
              <a:gd name="connsiteY2" fmla="*/ 1304818 h 1304818"/>
              <a:gd name="connsiteX3" fmla="*/ 3308278 w 3308278"/>
              <a:gd name="connsiteY3" fmla="*/ 0 h 1304818"/>
              <a:gd name="connsiteX4" fmla="*/ 3061698 w 3308278"/>
              <a:gd name="connsiteY4" fmla="*/ 678094 h 1304818"/>
              <a:gd name="connsiteX5" fmla="*/ 2137024 w 3308278"/>
              <a:gd name="connsiteY5" fmla="*/ 1304818 h 1304818"/>
              <a:gd name="connsiteX6" fmla="*/ 0 w 3308278"/>
              <a:gd name="connsiteY6" fmla="*/ 1294544 h 1304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08278" h="1304818">
                <a:moveTo>
                  <a:pt x="0" y="1294544"/>
                </a:moveTo>
                <a:lnTo>
                  <a:pt x="215757" y="636998"/>
                </a:lnTo>
                <a:lnTo>
                  <a:pt x="2147298" y="1304818"/>
                </a:lnTo>
                <a:lnTo>
                  <a:pt x="3308278" y="0"/>
                </a:lnTo>
                <a:lnTo>
                  <a:pt x="3061698" y="678094"/>
                </a:lnTo>
                <a:lnTo>
                  <a:pt x="2137024" y="1304818"/>
                </a:lnTo>
                <a:lnTo>
                  <a:pt x="0" y="1294544"/>
                </a:lnTo>
                <a:close/>
              </a:path>
            </a:pathLst>
          </a:custGeom>
          <a:solidFill>
            <a:srgbClr val="FF000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-69025" y="1409322"/>
                <a:ext cx="3816425" cy="2935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𝑉</m:t>
                          </m:r>
                        </m:e>
                        <m:sub>
                          <m:r>
                            <a:rPr lang="ru-RU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пар</m:t>
                          </m:r>
                        </m:sub>
                      </m:sSub>
                      <m:r>
                        <a:rPr lang="ru-RU" sz="1200" b="0" i="1" dirty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120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200" b="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200" b="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𝐵</m:t>
                          </m:r>
                        </m:sub>
                      </m:sSub>
                      <m:r>
                        <a:rPr lang="en-US" sz="1200" b="0" i="1" dirty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sSub>
                        <m:sSubPr>
                          <m:ctrlPr>
                            <a:rPr lang="en-US" sz="1200" i="1" dirty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h</m:t>
                          </m:r>
                        </m:e>
                        <m:sub>
                          <m:r>
                            <a:rPr lang="en-US" sz="1200" b="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200" b="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200" b="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𝐵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1200" i="1" dirty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dirty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𝐵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200" b="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200" b="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𝐶</m:t>
                          </m:r>
                        </m:sub>
                      </m:sSub>
                      <m:r>
                        <a:rPr lang="en-US" sz="1200" b="0" i="1" dirty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sSub>
                        <m:sSubPr>
                          <m:ctrlPr>
                            <a:rPr lang="en-US" sz="1200" i="1" dirty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dirty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h</m:t>
                          </m:r>
                        </m:e>
                        <m:sub>
                          <m:r>
                            <a:rPr lang="en-US" sz="1200" b="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𝐵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200" b="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200" b="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𝐶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𝑉</m:t>
                      </m:r>
                    </m:oMath>
                  </m:oMathPara>
                </a14:m>
                <a:endParaRPr lang="ru-RU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9025" y="1409322"/>
                <a:ext cx="3816425" cy="293542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0" y="1742950"/>
                <a:ext cx="246770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𝐴𝐸𝑀𝑁𝐶𝐷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1200" i="1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>
                              <a:latin typeface="Cambria Math" charset="0"/>
                            </a:rPr>
                            <m:t>V</m:t>
                          </m:r>
                        </m:e>
                        <m:sub>
                          <m:r>
                            <a:rPr lang="en-US" sz="1200" i="1">
                              <a:latin typeface="Cambria Math" charset="0"/>
                            </a:rPr>
                            <m:t>𝐷</m:t>
                          </m:r>
                          <m:r>
                            <a:rPr lang="en-US" sz="1200" b="0" i="1" smtClean="0">
                              <a:latin typeface="Cambria Math" charset="0"/>
                            </a:rPr>
                            <m:t>𝐵𝑀𝑁𝐶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sz="1200" i="1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>
                              <a:latin typeface="Cambria Math" charset="0"/>
                            </a:rPr>
                            <m:t>V</m:t>
                          </m:r>
                        </m:e>
                        <m:sub>
                          <m:r>
                            <a:rPr lang="en-US" sz="1200" i="1">
                              <a:latin typeface="Cambria Math" charset="0"/>
                            </a:rPr>
                            <m:t>𝐷𝐴𝐸𝑀𝐵</m:t>
                          </m:r>
                        </m:sub>
                      </m:sSub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42950"/>
                <a:ext cx="2467704" cy="276999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3" name="Прямая соединительная линия 92"/>
          <p:cNvCxnSpPr>
            <a:stCxn id="42" idx="1"/>
            <a:endCxn id="33" idx="0"/>
          </p:cNvCxnSpPr>
          <p:nvPr/>
        </p:nvCxnSpPr>
        <p:spPr>
          <a:xfrm>
            <a:off x="6298385" y="1841063"/>
            <a:ext cx="772597" cy="1959875"/>
          </a:xfrm>
          <a:prstGeom prst="line">
            <a:avLst/>
          </a:prstGeom>
          <a:ln>
            <a:prstDash val="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5" name="Прямая соединительная линия 94"/>
          <p:cNvCxnSpPr>
            <a:endCxn id="33" idx="7"/>
          </p:cNvCxnSpPr>
          <p:nvPr/>
        </p:nvCxnSpPr>
        <p:spPr>
          <a:xfrm>
            <a:off x="5867700" y="3135220"/>
            <a:ext cx="1221067" cy="659023"/>
          </a:xfrm>
          <a:prstGeom prst="line">
            <a:avLst/>
          </a:prstGeom>
          <a:ln>
            <a:prstDash val="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98" name="Полилиния 97"/>
          <p:cNvSpPr/>
          <p:nvPr/>
        </p:nvSpPr>
        <p:spPr>
          <a:xfrm>
            <a:off x="4921321" y="1839074"/>
            <a:ext cx="2157573" cy="1962364"/>
          </a:xfrm>
          <a:custGeom>
            <a:avLst/>
            <a:gdLst>
              <a:gd name="connsiteX0" fmla="*/ 0 w 2157573"/>
              <a:gd name="connsiteY0" fmla="*/ 1941816 h 1962364"/>
              <a:gd name="connsiteX1" fmla="*/ 236306 w 2157573"/>
              <a:gd name="connsiteY1" fmla="*/ 1263722 h 1962364"/>
              <a:gd name="connsiteX2" fmla="*/ 1397286 w 2157573"/>
              <a:gd name="connsiteY2" fmla="*/ 0 h 1962364"/>
              <a:gd name="connsiteX3" fmla="*/ 2157573 w 2157573"/>
              <a:gd name="connsiteY3" fmla="*/ 1962364 h 1962364"/>
              <a:gd name="connsiteX4" fmla="*/ 0 w 2157573"/>
              <a:gd name="connsiteY4" fmla="*/ 1941816 h 1962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7573" h="1962364">
                <a:moveTo>
                  <a:pt x="0" y="1941816"/>
                </a:moveTo>
                <a:lnTo>
                  <a:pt x="236306" y="1263722"/>
                </a:lnTo>
                <a:lnTo>
                  <a:pt x="1397286" y="0"/>
                </a:lnTo>
                <a:lnTo>
                  <a:pt x="2157573" y="1962364"/>
                </a:lnTo>
                <a:lnTo>
                  <a:pt x="0" y="1941816"/>
                </a:lnTo>
                <a:close/>
              </a:path>
            </a:pathLst>
          </a:custGeom>
          <a:solidFill>
            <a:srgbClr val="0070C0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/>
              <p:cNvSpPr txBox="1"/>
              <p:nvPr/>
            </p:nvSpPr>
            <p:spPr>
              <a:xfrm>
                <a:off x="-3023" y="1995322"/>
                <a:ext cx="2467704" cy="439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>
                              <a:latin typeface="Cambria Math" charset="0"/>
                            </a:rPr>
                            <m:t>V</m:t>
                          </m:r>
                        </m:e>
                        <m:sub>
                          <m:r>
                            <a:rPr lang="en-US" sz="1200" i="1">
                              <a:latin typeface="Cambria Math" charset="0"/>
                            </a:rPr>
                            <m:t>𝐷</m:t>
                          </m:r>
                          <m:r>
                            <a:rPr lang="en-US" sz="1200" b="0" i="1" smtClean="0">
                              <a:latin typeface="Cambria Math" charset="0"/>
                            </a:rPr>
                            <m:t>𝐵𝑀𝑁𝐶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</a:rPr>
                            <m:t>3</m:t>
                          </m:r>
                        </m:den>
                      </m:f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𝐵𝑀𝑁𝐶</m:t>
                          </m:r>
                        </m:sub>
                      </m:sSub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sSub>
                        <m:sSubPr>
                          <m:ctrlPr>
                            <a:rPr lang="en-US" sz="12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charset="0"/>
                            </a:rPr>
                            <m:t>h</m:t>
                          </m:r>
                        </m:e>
                        <m:sub>
                          <m:r>
                            <a:rPr lang="en-US" sz="1200" i="1">
                              <a:latin typeface="Cambria Math" charset="0"/>
                            </a:rPr>
                            <m:t>𝐵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i="1">
                              <a:latin typeface="Cambria Math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0" name="TextBox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23" y="1995322"/>
                <a:ext cx="2467704" cy="439223"/>
              </a:xfrm>
              <a:prstGeom prst="rect">
                <a:avLst/>
              </a:prstGeom>
              <a:blipFill rotWithShape="0">
                <a:blip r:embed="rId20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/>
              <p:cNvSpPr txBox="1"/>
              <p:nvPr/>
            </p:nvSpPr>
            <p:spPr>
              <a:xfrm>
                <a:off x="131000" y="2414236"/>
                <a:ext cx="3811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𝐶𝑁</m:t>
                      </m:r>
                      <m:r>
                        <a:rPr lang="en-US" sz="1200" b="0" i="1" smtClean="0">
                          <a:latin typeface="Cambria Math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𝑀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</a:rPr>
                        <m:t>;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𝐵𝑀</m:t>
                      </m:r>
                      <m:r>
                        <a:rPr lang="en-US" sz="1200" b="0" i="1" smtClean="0">
                          <a:latin typeface="Cambria Math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𝑁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</a:rPr>
                        <m:t>;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𝐵𝐶</m:t>
                      </m:r>
                      <m:r>
                        <a:rPr lang="en-US" sz="1200" b="0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</a:rPr>
                        <m:t>; 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∠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𝑀𝐵𝐶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=∠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 </m:t>
                      </m:r>
                    </m:oMath>
                  </m:oMathPara>
                </a14:m>
                <a:endParaRPr lang="en-US" sz="1200" b="0" i="1" dirty="0" smtClean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∠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𝐵𝑀𝑁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=∠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𝑀𝑁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1" name="TextBox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00" y="2414236"/>
                <a:ext cx="3811800" cy="461665"/>
              </a:xfrm>
              <a:prstGeom prst="rect">
                <a:avLst/>
              </a:prstGeom>
              <a:blipFill rotWithShape="0">
                <a:blip r:embed="rId21"/>
                <a:stretch>
                  <a:fillRect t="-46053" b="-210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/>
              <p:cNvSpPr txBox="1"/>
              <p:nvPr/>
            </p:nvSpPr>
            <p:spPr>
              <a:xfrm>
                <a:off x="160242" y="2825258"/>
                <a:ext cx="2354531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⟹</m:t>
                          </m:r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𝐵𝑀𝑁𝐶</m:t>
                          </m:r>
                        </m:sub>
                      </m:sSub>
                      <m:r>
                        <a:rPr lang="en-US" sz="1200" b="0" i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𝑁</m:t>
                          </m:r>
                        </m:sub>
                      </m:sSub>
                      <m:r>
                        <a:rPr lang="en-US" sz="120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12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i="1">
                              <a:latin typeface="Cambria Math" charset="0"/>
                            </a:rPr>
                            <m:t>𝐵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i="1">
                              <a:latin typeface="Cambria Math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2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42" y="2825258"/>
                <a:ext cx="2354531" cy="438005"/>
              </a:xfrm>
              <a:prstGeom prst="rect">
                <a:avLst/>
              </a:prstGeom>
              <a:blipFill rotWithShape="0">
                <a:blip r:embed="rId2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/>
              <p:cNvSpPr txBox="1"/>
              <p:nvPr/>
            </p:nvSpPr>
            <p:spPr>
              <a:xfrm>
                <a:off x="38073" y="3200025"/>
                <a:ext cx="2467704" cy="439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>
                              <a:latin typeface="Cambria Math" charset="0"/>
                            </a:rPr>
                            <m:t>V</m:t>
                          </m:r>
                        </m:e>
                        <m:sub>
                          <m:r>
                            <a:rPr lang="en-US" sz="1200" i="1">
                              <a:latin typeface="Cambria Math" charset="0"/>
                            </a:rPr>
                            <m:t>𝐷</m:t>
                          </m:r>
                          <m:r>
                            <a:rPr lang="en-US" sz="1200" b="0" i="1" smtClean="0">
                              <a:latin typeface="Cambria Math" charset="0"/>
                            </a:rPr>
                            <m:t>𝐵𝑀𝑁𝐶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</a:rPr>
                            <m:t>3</m:t>
                          </m:r>
                        </m:den>
                      </m:f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f>
                        <m:fPr>
                          <m:ctrlPr>
                            <a:rPr lang="en-US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12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i="1">
                              <a:latin typeface="Cambria Math" charset="0"/>
                            </a:rPr>
                            <m:t>𝐵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i="1">
                              <a:latin typeface="Cambria Math" charset="0"/>
                            </a:rPr>
                            <m:t>𝐶</m:t>
                          </m:r>
                        </m:sub>
                      </m:sSub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sSub>
                        <m:sSubPr>
                          <m:ctrlPr>
                            <a:rPr lang="en-US" sz="12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charset="0"/>
                            </a:rPr>
                            <m:t>h</m:t>
                          </m:r>
                        </m:e>
                        <m:sub>
                          <m:r>
                            <a:rPr lang="en-US" sz="1200" i="1">
                              <a:latin typeface="Cambria Math" charset="0"/>
                            </a:rPr>
                            <m:t>𝐵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i="1">
                              <a:latin typeface="Cambria Math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3" y="3200025"/>
                <a:ext cx="2467704" cy="439223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/>
              <p:cNvSpPr txBox="1"/>
              <p:nvPr/>
            </p:nvSpPr>
            <p:spPr>
              <a:xfrm>
                <a:off x="2256698" y="3226714"/>
                <a:ext cx="604168" cy="439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</a:rPr>
                            <m:t>6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</a:rPr>
                        <m:t>𝑉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4" name="TextBox 1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6698" y="3226714"/>
                <a:ext cx="604168" cy="439223"/>
              </a:xfrm>
              <a:prstGeom prst="rect">
                <a:avLst/>
              </a:prstGeom>
              <a:blipFill rotWithShape="0">
                <a:blip r:embed="rId24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/>
              <p:cNvSpPr txBox="1"/>
              <p:nvPr/>
            </p:nvSpPr>
            <p:spPr>
              <a:xfrm>
                <a:off x="186212" y="3662634"/>
                <a:ext cx="2165467" cy="3542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smtClean="0"/>
                  <a:t>Аналогично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>
                            <a:latin typeface="Cambria Math" charset="0"/>
                          </a:rPr>
                          <m:t>V</m:t>
                        </m:r>
                      </m:e>
                      <m:sub>
                        <m:r>
                          <a:rPr lang="en-US" sz="1200" i="1">
                            <a:latin typeface="Cambria Math" charset="0"/>
                          </a:rPr>
                          <m:t>𝐷𝐴𝐸𝑀𝐵</m:t>
                        </m:r>
                      </m:sub>
                    </m:sSub>
                    <m:r>
                      <a:rPr lang="en-US" sz="1200" i="1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sz="12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1200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sz="1200" i="1">
                            <a:latin typeface="Cambria Math" charset="0"/>
                          </a:rPr>
                          <m:t>6</m:t>
                        </m:r>
                      </m:den>
                    </m:f>
                    <m:r>
                      <a:rPr lang="en-US" sz="1200" i="1" dirty="0">
                        <a:latin typeface="Cambria Math" charset="0"/>
                      </a:rPr>
                      <m:t>𝑉</m:t>
                    </m:r>
                  </m:oMath>
                </a14:m>
                <a:endParaRPr lang="ru-RU" sz="1200" dirty="0"/>
              </a:p>
            </p:txBody>
          </p:sp>
        </mc:Choice>
        <mc:Fallback xmlns="">
          <p:sp>
            <p:nvSpPr>
              <p:cNvPr id="106" name="TextBox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212" y="3662634"/>
                <a:ext cx="2165467" cy="354264"/>
              </a:xfrm>
              <a:prstGeom prst="rect">
                <a:avLst/>
              </a:prstGeom>
              <a:blipFill rotWithShape="0">
                <a:blip r:embed="rId25"/>
                <a:stretch>
                  <a:fillRect l="-282" b="-34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/>
              <p:cNvSpPr txBox="1"/>
              <p:nvPr/>
            </p:nvSpPr>
            <p:spPr>
              <a:xfrm>
                <a:off x="157643" y="4062979"/>
                <a:ext cx="1568560" cy="439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𝐴𝐸𝑀𝑁𝐶𝐷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i="1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</a:rPr>
                            <m:t>6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</a:rPr>
                        <m:t>𝑉</m:t>
                      </m:r>
                      <m:r>
                        <a:rPr lang="en-US" sz="1200" b="0" i="1" smtClean="0">
                          <a:latin typeface="Cambria Math" charset="0"/>
                        </a:rPr>
                        <m:t>+</m:t>
                      </m:r>
                      <m:f>
                        <m:fPr>
                          <m:ctrlPr>
                            <a:rPr lang="en-US" sz="12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i="1">
                              <a:latin typeface="Cambria Math" charset="0"/>
                            </a:rPr>
                            <m:t>6</m:t>
                          </m:r>
                        </m:den>
                      </m:f>
                      <m:r>
                        <a:rPr lang="en-US" sz="1200" i="1">
                          <a:latin typeface="Cambria Math" charset="0"/>
                        </a:rPr>
                        <m:t>𝑉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7" name="TextBox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643" y="4062979"/>
                <a:ext cx="1568560" cy="439223"/>
              </a:xfrm>
              <a:prstGeom prst="rect">
                <a:avLst/>
              </a:prstGeom>
              <a:blipFill rotWithShape="0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/>
              <p:cNvSpPr txBox="1"/>
              <p:nvPr/>
            </p:nvSpPr>
            <p:spPr>
              <a:xfrm>
                <a:off x="1488455" y="4062978"/>
                <a:ext cx="776472" cy="439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</a:rPr>
                            <m:t>3</m:t>
                          </m:r>
                        </m:den>
                      </m:f>
                      <m:r>
                        <a:rPr lang="en-US" sz="1200" i="1">
                          <a:latin typeface="Cambria Math" charset="0"/>
                        </a:rPr>
                        <m:t>𝑉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8" name="TextBox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455" y="4062978"/>
                <a:ext cx="776472" cy="439223"/>
              </a:xfrm>
              <a:prstGeom prst="rect">
                <a:avLst/>
              </a:prstGeom>
              <a:blipFill rotWithShape="0"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/>
              <p:cNvSpPr txBox="1"/>
              <p:nvPr/>
            </p:nvSpPr>
            <p:spPr>
              <a:xfrm>
                <a:off x="2384776" y="4190039"/>
                <a:ext cx="1588448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b="1" dirty="0" smtClean="0">
                    <a:solidFill>
                      <a:srgbClr val="FF0000"/>
                    </a:solidFill>
                  </a:rPr>
                  <a:t>Ответ: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f>
                      <m:fPr>
                        <m:ctrlPr>
                          <a:rPr lang="ru-RU" b="1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𝟏</m:t>
                        </m:r>
                      </m:num>
                      <m:den>
                        <m:r>
                          <a:rPr lang="ru-RU" b="1" i="1" dirty="0" smtClean="0">
                            <a:solidFill>
                              <a:srgbClr val="FF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𝟑</m:t>
                        </m:r>
                      </m:den>
                    </m:f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𝑽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;</m:t>
                    </m:r>
                    <m:f>
                      <m:fPr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𝟐</m:t>
                        </m:r>
                      </m:num>
                      <m:den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𝟑</m:t>
                        </m:r>
                      </m:den>
                    </m:f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𝑽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.</m:t>
                    </m:r>
                  </m:oMath>
                </a14:m>
                <a:endParaRPr lang="ru-RU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9" name="TextBox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4776" y="4190039"/>
                <a:ext cx="1588448" cy="492443"/>
              </a:xfrm>
              <a:prstGeom prst="rect">
                <a:avLst/>
              </a:prstGeom>
              <a:blipFill rotWithShape="0">
                <a:blip r:embed="rId28"/>
                <a:stretch>
                  <a:fillRect l="-3065" t="-58025" b="-802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Полилиния 109"/>
          <p:cNvSpPr/>
          <p:nvPr/>
        </p:nvSpPr>
        <p:spPr>
          <a:xfrm>
            <a:off x="8049022" y="2795815"/>
            <a:ext cx="123290" cy="10274"/>
          </a:xfrm>
          <a:custGeom>
            <a:avLst/>
            <a:gdLst>
              <a:gd name="connsiteX0" fmla="*/ 0 w 123290"/>
              <a:gd name="connsiteY0" fmla="*/ 0 h 10274"/>
              <a:gd name="connsiteX1" fmla="*/ 123290 w 123290"/>
              <a:gd name="connsiteY1" fmla="*/ 10274 h 10274"/>
              <a:gd name="connsiteX2" fmla="*/ 123290 w 123290"/>
              <a:gd name="connsiteY2" fmla="*/ 10274 h 10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3290" h="10274">
                <a:moveTo>
                  <a:pt x="0" y="0"/>
                </a:moveTo>
                <a:lnTo>
                  <a:pt x="123290" y="10274"/>
                </a:lnTo>
                <a:lnTo>
                  <a:pt x="123290" y="10274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1" name="Полилиния 110"/>
          <p:cNvSpPr/>
          <p:nvPr/>
        </p:nvSpPr>
        <p:spPr>
          <a:xfrm>
            <a:off x="8052756" y="2839144"/>
            <a:ext cx="123290" cy="10274"/>
          </a:xfrm>
          <a:custGeom>
            <a:avLst/>
            <a:gdLst>
              <a:gd name="connsiteX0" fmla="*/ 0 w 123290"/>
              <a:gd name="connsiteY0" fmla="*/ 0 h 10274"/>
              <a:gd name="connsiteX1" fmla="*/ 123290 w 123290"/>
              <a:gd name="connsiteY1" fmla="*/ 10274 h 10274"/>
              <a:gd name="connsiteX2" fmla="*/ 123290 w 123290"/>
              <a:gd name="connsiteY2" fmla="*/ 10274 h 10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3290" h="10274">
                <a:moveTo>
                  <a:pt x="0" y="0"/>
                </a:moveTo>
                <a:lnTo>
                  <a:pt x="123290" y="10274"/>
                </a:lnTo>
                <a:lnTo>
                  <a:pt x="123290" y="10274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2" name="Полилиния 111"/>
          <p:cNvSpPr/>
          <p:nvPr/>
        </p:nvSpPr>
        <p:spPr>
          <a:xfrm>
            <a:off x="6358370" y="1491630"/>
            <a:ext cx="123290" cy="10274"/>
          </a:xfrm>
          <a:custGeom>
            <a:avLst/>
            <a:gdLst>
              <a:gd name="connsiteX0" fmla="*/ 0 w 123290"/>
              <a:gd name="connsiteY0" fmla="*/ 0 h 10274"/>
              <a:gd name="connsiteX1" fmla="*/ 123290 w 123290"/>
              <a:gd name="connsiteY1" fmla="*/ 10274 h 10274"/>
              <a:gd name="connsiteX2" fmla="*/ 123290 w 123290"/>
              <a:gd name="connsiteY2" fmla="*/ 10274 h 10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3290" h="10274">
                <a:moveTo>
                  <a:pt x="0" y="0"/>
                </a:moveTo>
                <a:lnTo>
                  <a:pt x="123290" y="10274"/>
                </a:lnTo>
                <a:lnTo>
                  <a:pt x="123290" y="10274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3" name="Полилиния 112"/>
          <p:cNvSpPr/>
          <p:nvPr/>
        </p:nvSpPr>
        <p:spPr>
          <a:xfrm>
            <a:off x="6362104" y="1534959"/>
            <a:ext cx="123290" cy="10274"/>
          </a:xfrm>
          <a:custGeom>
            <a:avLst/>
            <a:gdLst>
              <a:gd name="connsiteX0" fmla="*/ 0 w 123290"/>
              <a:gd name="connsiteY0" fmla="*/ 0 h 10274"/>
              <a:gd name="connsiteX1" fmla="*/ 123290 w 123290"/>
              <a:gd name="connsiteY1" fmla="*/ 10274 h 10274"/>
              <a:gd name="connsiteX2" fmla="*/ 123290 w 123290"/>
              <a:gd name="connsiteY2" fmla="*/ 10274 h 10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3290" h="10274">
                <a:moveTo>
                  <a:pt x="0" y="0"/>
                </a:moveTo>
                <a:lnTo>
                  <a:pt x="123290" y="10274"/>
                </a:lnTo>
                <a:lnTo>
                  <a:pt x="123290" y="10274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9600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88" grpId="0" animBg="1"/>
      <p:bldP spid="90" grpId="0"/>
      <p:bldP spid="91" grpId="0"/>
      <p:bldP spid="98" grpId="0" animBg="1"/>
      <p:bldP spid="100" grpId="0"/>
      <p:bldP spid="101" grpId="0"/>
      <p:bldP spid="102" grpId="0"/>
      <p:bldP spid="103" grpId="0"/>
      <p:bldP spid="104" grpId="0"/>
      <p:bldP spid="106" grpId="0"/>
      <p:bldP spid="107" grpId="0"/>
      <p:bldP spid="108" grpId="0"/>
      <p:bldP spid="10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43</a:t>
            </a:fld>
            <a:endParaRPr kumimoji="0" lang="ru-RU">
              <a:solidFill>
                <a:schemeClr val="tx2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27584" y="1851670"/>
            <a:ext cx="7416824" cy="627534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rgbClr val="FF0000"/>
                </a:solidFill>
              </a:rPr>
              <a:t>Тела вращения</a:t>
            </a:r>
            <a:endParaRPr lang="ru-R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573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44</a:t>
            </a:fld>
            <a:endParaRPr kumimoji="0" lang="ru-RU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Прямоугольник 7"/>
              <p:cNvSpPr/>
              <p:nvPr/>
            </p:nvSpPr>
            <p:spPr>
              <a:xfrm>
                <a:off x="0" y="-22135"/>
                <a:ext cx="9144000" cy="721677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dirty="0" smtClean="0">
                    <a:solidFill>
                      <a:srgbClr val="7030A0"/>
                    </a:solidFill>
                  </a:rPr>
                  <a:t>25.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 Высота конуса равна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𝟔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, а радиус основания равен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𝟖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.</a:t>
                </a:r>
                <a:endParaRPr lang="en-US" sz="1200" b="1" dirty="0" smtClean="0">
                  <a:solidFill>
                    <a:srgbClr val="002060"/>
                  </a:solidFill>
                  <a:latin typeface="+mj-lt"/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а)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Докажите, что </a:t>
                </a:r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наибольшая площадь сечения конуса плоскостью, проходящей через  его вершину равна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𝟓𝟎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ru-RU" sz="1200" b="1" i="0" dirty="0" smtClean="0">
                  <a:solidFill>
                    <a:srgbClr val="002060"/>
                  </a:solidFill>
                  <a:latin typeface="+mj-lt"/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б)  Найдите расстояние от центра основания конуса до этой плоскости.</a:t>
                </a:r>
                <a:endParaRPr lang="ru-RU" sz="1200" b="1" i="0" dirty="0" smtClean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8" name="Прямоугольник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5"/>
                <a:ext cx="9144000" cy="72167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Прямая соединительная линия 9"/>
          <p:cNvCxnSpPr/>
          <p:nvPr/>
        </p:nvCxnSpPr>
        <p:spPr>
          <a:xfrm>
            <a:off x="7175140" y="992829"/>
            <a:ext cx="0" cy="1800200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Дуга 11"/>
          <p:cNvSpPr/>
          <p:nvPr/>
        </p:nvSpPr>
        <p:spPr>
          <a:xfrm rot="16200000">
            <a:off x="6563072" y="1651753"/>
            <a:ext cx="1224136" cy="2282552"/>
          </a:xfrm>
          <a:prstGeom prst="arc">
            <a:avLst>
              <a:gd name="adj1" fmla="val 16200000"/>
              <a:gd name="adj2" fmla="val 5360448"/>
            </a:avLst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Дуга 12"/>
          <p:cNvSpPr/>
          <p:nvPr/>
        </p:nvSpPr>
        <p:spPr>
          <a:xfrm rot="5400000">
            <a:off x="6563072" y="1657008"/>
            <a:ext cx="1224136" cy="2282552"/>
          </a:xfrm>
          <a:prstGeom prst="arc">
            <a:avLst>
              <a:gd name="adj1" fmla="val 15476909"/>
              <a:gd name="adj2" fmla="val 6007197"/>
            </a:avLst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" name="Прямая соединительная линия 13"/>
          <p:cNvCxnSpPr>
            <a:endCxn id="13" idx="0"/>
          </p:cNvCxnSpPr>
          <p:nvPr/>
        </p:nvCxnSpPr>
        <p:spPr>
          <a:xfrm>
            <a:off x="7175140" y="992829"/>
            <a:ext cx="1060345" cy="1579075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 flipH="1">
            <a:off x="6090853" y="987574"/>
            <a:ext cx="1084290" cy="160958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 flipH="1" flipV="1">
            <a:off x="7175140" y="2793028"/>
            <a:ext cx="1065076" cy="216025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 flipH="1">
                <a:off x="7052340" y="1643355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b="0" i="1" smtClean="0">
                          <a:latin typeface="Cambria Math" charset="0"/>
                        </a:rPr>
                        <m:t>6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052340" y="1643355"/>
                <a:ext cx="486282" cy="3077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 flipH="1">
                <a:off x="7441378" y="2628485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400" b="0" i="1" smtClean="0">
                          <a:latin typeface="Cambria Math" charset="0"/>
                        </a:rPr>
                        <m:t>8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441378" y="2628485"/>
                <a:ext cx="486282" cy="3077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Прямая соединительная линия 27"/>
          <p:cNvCxnSpPr/>
          <p:nvPr/>
        </p:nvCxnSpPr>
        <p:spPr>
          <a:xfrm>
            <a:off x="7175139" y="987574"/>
            <a:ext cx="500429" cy="12761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/>
          <p:nvPr/>
        </p:nvCxnSpPr>
        <p:spPr>
          <a:xfrm flipH="1">
            <a:off x="6110065" y="992829"/>
            <a:ext cx="1065075" cy="201622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/>
          <p:nvPr/>
        </p:nvCxnSpPr>
        <p:spPr>
          <a:xfrm flipH="1">
            <a:off x="6110066" y="2263687"/>
            <a:ext cx="1549581" cy="75917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 flipH="1">
                <a:off x="6931997" y="717999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931997" y="717999"/>
                <a:ext cx="486282" cy="3077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 flipH="1">
                <a:off x="7076666" y="2555694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𝑂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076666" y="2555694"/>
                <a:ext cx="486282" cy="3077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 flipH="1">
                <a:off x="7449456" y="2223491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𝐾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449456" y="2223491"/>
                <a:ext cx="486282" cy="30777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 flipH="1">
                <a:off x="5775641" y="2951314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𝐿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775641" y="2951314"/>
                <a:ext cx="486282" cy="30777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107504" y="799883"/>
                <a:ext cx="2880320" cy="353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b="0" dirty="0" smtClean="0">
                    <a:solidFill>
                      <a:schemeClr val="tx1"/>
                    </a:solidFill>
                  </a:rPr>
                  <a:t>а)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∆</m:t>
                        </m:r>
                        <m:r>
                          <a:rPr lang="en-US" sz="12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𝐿𝐴𝐾</m:t>
                        </m:r>
                      </m:sub>
                    </m:sSub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f>
                      <m:fPr>
                        <m:ctrlPr>
                          <a:rPr lang="en-US" sz="1200" b="0" i="1" dirty="0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US" sz="12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sz="12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den>
                    </m:f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𝐴𝐿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∙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𝐴𝐾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sz="1200" b="0" i="0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sin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⁡(∠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𝐿𝐴𝐾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endParaRPr lang="ru-RU" sz="12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799883"/>
                <a:ext cx="2880320" cy="353110"/>
              </a:xfrm>
              <a:prstGeom prst="rect">
                <a:avLst/>
              </a:prstGeom>
              <a:blipFill rotWithShape="0">
                <a:blip r:embed="rId9"/>
                <a:stretch>
                  <a:fillRect l="-212" t="-50000" b="-689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Сектор 47"/>
          <p:cNvSpPr/>
          <p:nvPr/>
        </p:nvSpPr>
        <p:spPr>
          <a:xfrm>
            <a:off x="6719362" y="558302"/>
            <a:ext cx="914400" cy="914400"/>
          </a:xfrm>
          <a:prstGeom prst="pie">
            <a:avLst>
              <a:gd name="adj1" fmla="val 4118755"/>
              <a:gd name="adj2" fmla="val 7018813"/>
            </a:avLst>
          </a:prstGeom>
          <a:solidFill>
            <a:srgbClr val="FF0000">
              <a:alpha val="21000"/>
            </a:srgbClr>
          </a:solidFill>
          <a:ln w="6350" cmpd="dbl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40129" y="1108774"/>
                <a:ext cx="2313120" cy="3211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𝐴𝐿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𝐴𝐾</m:t>
                      </m:r>
                      <m:r>
                        <a:rPr lang="ru-RU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𝐴𝑁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mr-IN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mr-IN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𝐴𝑂</m:t>
                              </m:r>
                            </m:e>
                            <m:sup>
                              <m:r>
                                <a:rPr lang="mr-IN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mr-IN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mr-IN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𝑂𝑁</m:t>
                              </m:r>
                            </m:e>
                            <m:sup>
                              <m:r>
                                <a:rPr lang="mr-IN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29" y="1108774"/>
                <a:ext cx="2313120" cy="321114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2080231" y="1103051"/>
                <a:ext cx="1152265" cy="3211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mr-IN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mr-IN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6</m:t>
                              </m:r>
                            </m:e>
                            <m:sup>
                              <m:r>
                                <a:rPr lang="mr-IN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mr-IN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mr-IN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8</m:t>
                              </m:r>
                            </m:e>
                            <m:sup>
                              <m:r>
                                <a:rPr lang="mr-IN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0231" y="1103051"/>
                <a:ext cx="1152265" cy="321114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2896949" y="1144147"/>
                <a:ext cx="73894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=10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6949" y="1144147"/>
                <a:ext cx="738947" cy="276999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51"/>
          <p:cNvSpPr txBox="1"/>
          <p:nvPr/>
        </p:nvSpPr>
        <p:spPr>
          <a:xfrm>
            <a:off x="138099" y="1444303"/>
            <a:ext cx="5161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Угол между образующими принимает максимальное значение в осевом сечении. </a:t>
            </a:r>
            <a:endParaRPr lang="ru-RU" sz="1200" dirty="0"/>
          </a:p>
        </p:txBody>
      </p:sp>
      <p:cxnSp>
        <p:nvCxnSpPr>
          <p:cNvPr id="54" name="Прямая соединительная линия 53"/>
          <p:cNvCxnSpPr/>
          <p:nvPr/>
        </p:nvCxnSpPr>
        <p:spPr>
          <a:xfrm flipH="1" flipV="1">
            <a:off x="6108362" y="2579633"/>
            <a:ext cx="1066776" cy="213395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 flipH="1">
                <a:off x="5741902" y="2427416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𝑀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741902" y="2427416"/>
                <a:ext cx="486282" cy="307777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Полилиния 56"/>
          <p:cNvSpPr/>
          <p:nvPr/>
        </p:nvSpPr>
        <p:spPr>
          <a:xfrm>
            <a:off x="6101573" y="997240"/>
            <a:ext cx="2137025" cy="2013735"/>
          </a:xfrm>
          <a:custGeom>
            <a:avLst/>
            <a:gdLst>
              <a:gd name="connsiteX0" fmla="*/ 0 w 2137025"/>
              <a:gd name="connsiteY0" fmla="*/ 1582221 h 2013735"/>
              <a:gd name="connsiteX1" fmla="*/ 2137025 w 2137025"/>
              <a:gd name="connsiteY1" fmla="*/ 2013735 h 2013735"/>
              <a:gd name="connsiteX2" fmla="*/ 1068513 w 2137025"/>
              <a:gd name="connsiteY2" fmla="*/ 0 h 2013735"/>
              <a:gd name="connsiteX3" fmla="*/ 0 w 2137025"/>
              <a:gd name="connsiteY3" fmla="*/ 1582221 h 2013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025" h="2013735">
                <a:moveTo>
                  <a:pt x="0" y="1582221"/>
                </a:moveTo>
                <a:lnTo>
                  <a:pt x="2137025" y="2013735"/>
                </a:lnTo>
                <a:lnTo>
                  <a:pt x="1068513" y="0"/>
                </a:lnTo>
                <a:lnTo>
                  <a:pt x="0" y="1582221"/>
                </a:lnTo>
                <a:close/>
              </a:path>
            </a:pathLst>
          </a:custGeom>
          <a:solidFill>
            <a:schemeClr val="accent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18763" y="2065027"/>
                <a:ext cx="2665772" cy="457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b="0" i="0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∠</m:t>
                              </m:r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𝑀𝐴𝑁</m:t>
                              </m:r>
                            </m:e>
                          </m:d>
                        </m:e>
                      </m:func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</m:t>
                          </m:r>
                          <m:sSup>
                            <m:sSup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</m:t>
                          </m:r>
                          <m:sSup>
                            <m:sSup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𝑀</m:t>
                          </m:r>
                          <m:sSup>
                            <m:sSup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𝐴𝑀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𝐴𝑁</m:t>
                          </m:r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63" y="2065027"/>
                <a:ext cx="2665772" cy="457433"/>
              </a:xfrm>
              <a:prstGeom prst="rect">
                <a:avLst/>
              </a:prstGeom>
              <a:blipFill rotWithShape="0">
                <a:blip r:embed="rId1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2300908" y="2092739"/>
                <a:ext cx="1753169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100+100−256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𝐴𝑀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𝐴𝐾</m:t>
                          </m:r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0908" y="2092739"/>
                <a:ext cx="1753169" cy="438005"/>
              </a:xfrm>
              <a:prstGeom prst="rect">
                <a:avLst/>
              </a:prstGeom>
              <a:blipFill rotWithShape="0">
                <a:blip r:embed="rId15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3655027" y="2207181"/>
                <a:ext cx="78183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&lt;0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5027" y="2207181"/>
                <a:ext cx="781839" cy="276999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112692" y="1843760"/>
                <a:ext cx="516110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 smtClean="0"/>
                  <a:t>Определим знак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200" i="1" dirty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200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1200" i="1" dirty="0">
                                <a:latin typeface="Cambria Math"/>
                                <a:ea typeface="Cambria Math" charset="0"/>
                                <a:cs typeface="Cambria Math" charset="0"/>
                              </a:rPr>
                            </m:ctrlPr>
                          </m:dPr>
                          <m:e>
                            <m:r>
                              <a:rPr lang="en-US" sz="1200" i="1" dirty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∠</m:t>
                            </m:r>
                            <m:r>
                              <a:rPr lang="en-US" sz="1200" i="1" dirty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𝑀𝐴𝑁</m:t>
                            </m:r>
                          </m:e>
                        </m:d>
                      </m:e>
                    </m:func>
                  </m:oMath>
                </a14:m>
                <a:r>
                  <a:rPr lang="ru-RU" sz="1200" dirty="0" smtClean="0"/>
                  <a:t>. </a:t>
                </a:r>
                <a:endParaRPr lang="ru-RU" sz="1200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92" y="1843760"/>
                <a:ext cx="5161103" cy="276999"/>
              </a:xfrm>
              <a:prstGeom prst="rect">
                <a:avLst/>
              </a:prstGeom>
              <a:blipFill rotWithShape="0">
                <a:blip r:embed="rId17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Полилиния 65"/>
          <p:cNvSpPr/>
          <p:nvPr/>
        </p:nvSpPr>
        <p:spPr>
          <a:xfrm>
            <a:off x="6119811" y="987574"/>
            <a:ext cx="1571946" cy="2024009"/>
          </a:xfrm>
          <a:custGeom>
            <a:avLst/>
            <a:gdLst>
              <a:gd name="connsiteX0" fmla="*/ 0 w 1571946"/>
              <a:gd name="connsiteY0" fmla="*/ 2024009 h 2024009"/>
              <a:gd name="connsiteX1" fmla="*/ 1068512 w 1571946"/>
              <a:gd name="connsiteY1" fmla="*/ 0 h 2024009"/>
              <a:gd name="connsiteX2" fmla="*/ 1571946 w 1571946"/>
              <a:gd name="connsiteY2" fmla="*/ 1263722 h 2024009"/>
              <a:gd name="connsiteX3" fmla="*/ 0 w 1571946"/>
              <a:gd name="connsiteY3" fmla="*/ 2024009 h 2024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71946" h="2024009">
                <a:moveTo>
                  <a:pt x="0" y="2024009"/>
                </a:moveTo>
                <a:lnTo>
                  <a:pt x="1068512" y="0"/>
                </a:lnTo>
                <a:lnTo>
                  <a:pt x="1571946" y="1263722"/>
                </a:lnTo>
                <a:lnTo>
                  <a:pt x="0" y="2024009"/>
                </a:lnTo>
                <a:close/>
              </a:path>
            </a:pathLst>
          </a:custGeom>
          <a:solidFill>
            <a:srgbClr val="FF0000">
              <a:alpha val="1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 flipH="1">
                <a:off x="8107707" y="2908985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𝑁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107707" y="2908985"/>
                <a:ext cx="486282" cy="307777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Прямая соединительная линия 68"/>
          <p:cNvCxnSpPr/>
          <p:nvPr/>
        </p:nvCxnSpPr>
        <p:spPr>
          <a:xfrm>
            <a:off x="7170866" y="1010615"/>
            <a:ext cx="1073624" cy="2013821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91423" y="2520216"/>
                <a:ext cx="516110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 smtClean="0"/>
                  <a:t>Следовательно,</a:t>
                </a:r>
                <a14:m>
                  <m:oMath xmlns:m="http://schemas.openxmlformats.org/officeDocument/2006/math">
                    <m:r>
                      <a:rPr lang="ru-RU" sz="1200" b="0" i="0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  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∠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𝑀𝐴𝑁</m:t>
                    </m:r>
                    <m:r>
                      <a:rPr lang="ru-RU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− </m:t>
                    </m:r>
                  </m:oMath>
                </a14:m>
                <a:r>
                  <a:rPr lang="ru-RU" sz="1200" dirty="0" smtClean="0"/>
                  <a:t>тупой, и наибольшую площадь имеет сечение с прямым углом при вершине. </a:t>
                </a:r>
                <a:endParaRPr lang="ru-RU" sz="1200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23" y="2520216"/>
                <a:ext cx="5161103" cy="461665"/>
              </a:xfrm>
              <a:prstGeom prst="rect">
                <a:avLst/>
              </a:prstGeom>
              <a:blipFill rotWithShape="0">
                <a:blip r:embed="rId19"/>
                <a:stretch>
                  <a:fillRect l="-118" t="-47368" b="-197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110437" y="2908930"/>
                <a:ext cx="3309435" cy="353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 smtClean="0"/>
                  <a:t>Е</a:t>
                </a:r>
                <a:r>
                  <a:rPr lang="ru-RU" sz="1200" b="0" i="0" dirty="0" smtClean="0">
                    <a:latin typeface="+mj-lt"/>
                    <a:ea typeface="Cambria Math" charset="0"/>
                    <a:cs typeface="Cambria Math" charset="0"/>
                  </a:rPr>
                  <a:t>сли</a:t>
                </a:r>
                <a14:m>
                  <m:oMath xmlns:m="http://schemas.openxmlformats.org/officeDocument/2006/math">
                    <m:r>
                      <a:rPr lang="ru-RU" sz="1200" b="0" i="0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   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∠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𝐿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𝐴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𝐾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=90°,</m:t>
                    </m:r>
                  </m:oMath>
                </a14:m>
                <a:r>
                  <a:rPr lang="en-US" sz="1200" dirty="0" smtClean="0"/>
                  <a:t> </a:t>
                </a:r>
                <a:r>
                  <a:rPr lang="ru-RU" sz="1200" dirty="0" smtClean="0"/>
                  <a:t>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sz="1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∆</m:t>
                        </m:r>
                        <m:r>
                          <a:rPr lang="en-US" sz="1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𝐿𝐴𝐾</m:t>
                        </m:r>
                      </m:sub>
                    </m:sSub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f>
                      <m:fPr>
                        <m:ctrlPr>
                          <a:rPr lang="en-US" sz="1200" i="1" dirty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US" sz="1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sz="1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den>
                    </m:f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𝐴𝐿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∙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𝐴𝐾</m:t>
                    </m:r>
                    <m:r>
                      <a:rPr lang="ru-RU" sz="1200" b="0" i="0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=50</m:t>
                    </m:r>
                  </m:oMath>
                </a14:m>
                <a:r>
                  <a:rPr lang="ru-RU" sz="1200" dirty="0" smtClean="0"/>
                  <a:t> </a:t>
                </a:r>
                <a:endParaRPr lang="ru-RU" sz="1200" dirty="0"/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37" y="2908930"/>
                <a:ext cx="3309435" cy="353110"/>
              </a:xfrm>
              <a:prstGeom prst="rect">
                <a:avLst/>
              </a:prstGeom>
              <a:blipFill rotWithShape="0">
                <a:blip r:embed="rId20"/>
                <a:stretch>
                  <a:fillRect t="-50000" b="-689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91423" y="3231876"/>
                <a:ext cx="288032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b="0" dirty="0" smtClean="0">
                    <a:solidFill>
                      <a:schemeClr val="tx1"/>
                    </a:solidFill>
                  </a:rPr>
                  <a:t>б) </a:t>
                </a:r>
                <a:r>
                  <a:rPr lang="ru-RU" sz="1200" b="0" i="0" dirty="0" smtClean="0">
                    <a:latin typeface="+mj-lt"/>
                    <a:ea typeface="Cambria Math" charset="0"/>
                    <a:cs typeface="Cambria Math" charset="0"/>
                  </a:rPr>
                  <a:t>Пусть</a:t>
                </a:r>
                <a14:m>
                  <m:oMath xmlns:m="http://schemas.openxmlformats.org/officeDocument/2006/math">
                    <m:r>
                      <a:rPr lang="ru-RU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∠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𝐿𝐴𝐾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=90°</m:t>
                    </m:r>
                  </m:oMath>
                </a14:m>
                <a:endParaRPr lang="ru-RU" sz="1200" dirty="0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23" y="3231876"/>
                <a:ext cx="2880320" cy="276999"/>
              </a:xfrm>
              <a:prstGeom prst="rect">
                <a:avLst/>
              </a:prstGeom>
              <a:blipFill rotWithShape="0">
                <a:blip r:embed="rId21"/>
                <a:stretch>
                  <a:fillRect l="-212"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91423" y="3481871"/>
                <a:ext cx="53492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b="0" dirty="0" smtClean="0">
                    <a:solidFill>
                      <a:schemeClr val="tx1"/>
                    </a:solidFill>
                  </a:rPr>
                  <a:t>Проведем через точку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𝑂</m:t>
                    </m:r>
                  </m:oMath>
                </a14:m>
                <a:r>
                  <a:rPr lang="en-US" sz="1200" b="0" dirty="0" smtClean="0">
                    <a:solidFill>
                      <a:schemeClr val="tx1"/>
                    </a:solidFill>
                  </a:rPr>
                  <a:t> </a:t>
                </a:r>
                <a:r>
                  <a:rPr lang="ru-RU" sz="1200" b="0" dirty="0" smtClean="0">
                    <a:solidFill>
                      <a:schemeClr val="tx1"/>
                    </a:solidFill>
                  </a:rPr>
                  <a:t>плоскость, перпендикулярную плоскости </a:t>
                </a:r>
                <a14:m>
                  <m:oMath xmlns:m="http://schemas.openxmlformats.org/officeDocument/2006/math">
                    <m:r>
                      <a:rPr lang="en-US" sz="1200" b="0" i="0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𝐿𝐴𝐾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  <m:r>
                      <a:rPr lang="ru-RU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.</m:t>
                    </m:r>
                  </m:oMath>
                </a14:m>
                <a:endParaRPr lang="ru-RU" sz="1200" dirty="0"/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23" y="3481871"/>
                <a:ext cx="5349296" cy="276999"/>
              </a:xfrm>
              <a:prstGeom prst="rect">
                <a:avLst/>
              </a:prstGeom>
              <a:blipFill rotWithShape="0">
                <a:blip r:embed="rId22"/>
                <a:stretch>
                  <a:fillRect l="-114"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Прямая соединительная линия 75"/>
          <p:cNvCxnSpPr/>
          <p:nvPr/>
        </p:nvCxnSpPr>
        <p:spPr>
          <a:xfrm>
            <a:off x="6343115" y="2362717"/>
            <a:ext cx="1649883" cy="869159"/>
          </a:xfrm>
          <a:prstGeom prst="line">
            <a:avLst/>
          </a:prstGeom>
          <a:ln>
            <a:solidFill>
              <a:srgbClr val="0066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 flipH="1">
                <a:off x="7830134" y="3195874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830134" y="3195874"/>
                <a:ext cx="486282" cy="307777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 flipH="1">
                <a:off x="5978919" y="2131521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978919" y="2131521"/>
                <a:ext cx="486282" cy="307777"/>
              </a:xfrm>
              <a:prstGeom prst="rect">
                <a:avLst/>
              </a:prstGeom>
              <a:blipFill rotWithShape="0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Овал 81"/>
          <p:cNvSpPr/>
          <p:nvPr/>
        </p:nvSpPr>
        <p:spPr>
          <a:xfrm flipV="1">
            <a:off x="6870433" y="2633678"/>
            <a:ext cx="45719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3" name="Овал 82"/>
          <p:cNvSpPr/>
          <p:nvPr/>
        </p:nvSpPr>
        <p:spPr>
          <a:xfrm flipV="1">
            <a:off x="7156309" y="2783833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 flipH="1">
                <a:off x="6560424" y="2343399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𝐷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560424" y="2343399"/>
                <a:ext cx="486282" cy="307777"/>
              </a:xfrm>
              <a:prstGeom prst="rect">
                <a:avLst/>
              </a:prstGeom>
              <a:blipFill rotWithShape="0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6" name="Прямая соединительная линия 85"/>
          <p:cNvCxnSpPr/>
          <p:nvPr/>
        </p:nvCxnSpPr>
        <p:spPr>
          <a:xfrm>
            <a:off x="7167775" y="987574"/>
            <a:ext cx="817567" cy="2244302"/>
          </a:xfrm>
          <a:prstGeom prst="line">
            <a:avLst/>
          </a:prstGeom>
          <a:ln>
            <a:solidFill>
              <a:srgbClr val="0066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Прямая соединительная линия 89"/>
          <p:cNvCxnSpPr/>
          <p:nvPr/>
        </p:nvCxnSpPr>
        <p:spPr>
          <a:xfrm flipH="1">
            <a:off x="6353346" y="1000444"/>
            <a:ext cx="821269" cy="1376935"/>
          </a:xfrm>
          <a:prstGeom prst="line">
            <a:avLst/>
          </a:prstGeom>
          <a:ln>
            <a:solidFill>
              <a:srgbClr val="0066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Полилиния 96"/>
          <p:cNvSpPr/>
          <p:nvPr/>
        </p:nvSpPr>
        <p:spPr>
          <a:xfrm>
            <a:off x="6380951" y="1012579"/>
            <a:ext cx="1613042" cy="2229493"/>
          </a:xfrm>
          <a:custGeom>
            <a:avLst/>
            <a:gdLst>
              <a:gd name="connsiteX0" fmla="*/ 0 w 1613042"/>
              <a:gd name="connsiteY0" fmla="*/ 1366463 h 2229493"/>
              <a:gd name="connsiteX1" fmla="*/ 811658 w 1613042"/>
              <a:gd name="connsiteY1" fmla="*/ 0 h 2229493"/>
              <a:gd name="connsiteX2" fmla="*/ 1613042 w 1613042"/>
              <a:gd name="connsiteY2" fmla="*/ 2229493 h 2229493"/>
              <a:gd name="connsiteX3" fmla="*/ 0 w 1613042"/>
              <a:gd name="connsiteY3" fmla="*/ 1366463 h 2229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3042" h="2229493">
                <a:moveTo>
                  <a:pt x="0" y="1366463"/>
                </a:moveTo>
                <a:lnTo>
                  <a:pt x="811658" y="0"/>
                </a:lnTo>
                <a:lnTo>
                  <a:pt x="1613042" y="2229493"/>
                </a:lnTo>
                <a:lnTo>
                  <a:pt x="0" y="1366463"/>
                </a:lnTo>
                <a:close/>
              </a:path>
            </a:pathLst>
          </a:custGeom>
          <a:solidFill>
            <a:srgbClr val="33993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/>
              <p:cNvSpPr txBox="1"/>
              <p:nvPr/>
            </p:nvSpPr>
            <p:spPr>
              <a:xfrm>
                <a:off x="91423" y="3732181"/>
                <a:ext cx="20240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𝐵𝐶</m:t>
                    </m:r>
                    <m:r>
                      <a:rPr lang="ru-RU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⊥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𝐿𝐾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1200" dirty="0" smtClean="0"/>
                  <a:t>(</a:t>
                </a:r>
                <a:r>
                  <a:rPr lang="ru-RU" sz="1200" dirty="0" smtClean="0"/>
                  <a:t>по построению)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</a:rPr>
                      <m:t>;</m:t>
                    </m:r>
                  </m:oMath>
                </a14:m>
                <a:endParaRPr lang="ru-RU" sz="1200" dirty="0"/>
              </a:p>
            </p:txBody>
          </p:sp>
        </mc:Choice>
        <mc:Fallback xmlns="">
          <p:sp>
            <p:nvSpPr>
              <p:cNvPr id="98" name="TextBox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23" y="3732181"/>
                <a:ext cx="2024058" cy="276999"/>
              </a:xfrm>
              <a:prstGeom prst="rect">
                <a:avLst/>
              </a:prstGeom>
              <a:blipFill rotWithShape="0">
                <a:blip r:embed="rId26"/>
                <a:stretch>
                  <a:fillRect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1765154" y="3734125"/>
                <a:ext cx="94520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</a:rPr>
                        <m:t>𝐴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𝑂</m:t>
                      </m:r>
                      <m:r>
                        <a:rPr lang="ru-RU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⊥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𝐿𝐾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5154" y="3734125"/>
                <a:ext cx="945203" cy="276999"/>
              </a:xfrm>
              <a:prstGeom prst="rect">
                <a:avLst/>
              </a:prstGeom>
              <a:blipFill rotWithShape="0"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/>
              <p:cNvSpPr txBox="1"/>
              <p:nvPr/>
            </p:nvSpPr>
            <p:spPr>
              <a:xfrm>
                <a:off x="2447298" y="3732180"/>
                <a:ext cx="133080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i="1" dirty="0" smtClean="0">
                          <a:latin typeface="Cambria Math" charset="0"/>
                        </a:rPr>
                        <m:t>𝐿</m:t>
                      </m:r>
                      <m:r>
                        <a:rPr lang="en-US" sz="1200" b="0" i="1" dirty="0" smtClean="0">
                          <a:latin typeface="Cambria Math" charset="0"/>
                        </a:rPr>
                        <m:t>𝐾</m:t>
                      </m:r>
                      <m:r>
                        <a:rPr lang="ru-RU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⊥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(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𝐴𝐵𝐶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)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0" name="TextBox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298" y="3732180"/>
                <a:ext cx="1330802" cy="276999"/>
              </a:xfrm>
              <a:prstGeom prst="rect">
                <a:avLst/>
              </a:prstGeom>
              <a:blipFill rotWithShape="0">
                <a:blip r:embed="rId28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/>
              <p:cNvSpPr txBox="1"/>
              <p:nvPr/>
            </p:nvSpPr>
            <p:spPr>
              <a:xfrm>
                <a:off x="3478944" y="3728829"/>
                <a:ext cx="158728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d>
                        <m:d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𝐴𝐵𝐶</m:t>
                          </m:r>
                        </m:e>
                      </m:d>
                      <m:r>
                        <a:rPr lang="ru-RU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⊥</m:t>
                      </m:r>
                      <m:d>
                        <m:d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𝐿𝐴𝐾</m:t>
                          </m:r>
                        </m:e>
                      </m:d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1" name="TextBox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944" y="3728829"/>
                <a:ext cx="1587288" cy="276999"/>
              </a:xfrm>
              <a:prstGeom prst="rect">
                <a:avLst/>
              </a:prstGeom>
              <a:blipFill rotWithShape="0"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/>
              <p:cNvSpPr txBox="1"/>
              <p:nvPr/>
            </p:nvSpPr>
            <p:spPr>
              <a:xfrm>
                <a:off x="4834318" y="3738491"/>
                <a:ext cx="172610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𝐴𝐷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d>
                        <m:dPr>
                          <m:ctrlPr>
                            <a:rPr lang="en-US" sz="1200" b="0" i="1" dirty="0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200" b="0" i="1" dirty="0" smtClean="0">
                              <a:latin typeface="Cambria Math" charset="0"/>
                            </a:rPr>
                            <m:t>𝐴𝐵𝐶</m:t>
                          </m:r>
                        </m:e>
                      </m:d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∩</m:t>
                      </m:r>
                      <m:d>
                        <m:d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𝐿𝐴𝐾</m:t>
                          </m:r>
                        </m:e>
                      </m:d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2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4318" y="3738491"/>
                <a:ext cx="1726105" cy="276999"/>
              </a:xfrm>
              <a:prstGeom prst="rect">
                <a:avLst/>
              </a:prstGeom>
              <a:blipFill rotWithShape="0"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" name="Прямая соединительная линия 103"/>
          <p:cNvCxnSpPr>
            <a:stCxn id="66" idx="1"/>
            <a:endCxn id="82" idx="0"/>
          </p:cNvCxnSpPr>
          <p:nvPr/>
        </p:nvCxnSpPr>
        <p:spPr>
          <a:xfrm flipH="1">
            <a:off x="6893293" y="987574"/>
            <a:ext cx="295030" cy="1687667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/>
              <p:cNvSpPr txBox="1"/>
              <p:nvPr/>
            </p:nvSpPr>
            <p:spPr>
              <a:xfrm>
                <a:off x="6337234" y="3738490"/>
                <a:ext cx="105497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𝐿𝐷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𝐷𝐾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6" name="TextBox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234" y="3738490"/>
                <a:ext cx="1054970" cy="276999"/>
              </a:xfrm>
              <a:prstGeom prst="rect">
                <a:avLst/>
              </a:prstGeom>
              <a:blipFill rotWithShape="0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8" name="Прямая соединительная линия 107"/>
          <p:cNvCxnSpPr>
            <a:endCxn id="113" idx="3"/>
          </p:cNvCxnSpPr>
          <p:nvPr/>
        </p:nvCxnSpPr>
        <p:spPr>
          <a:xfrm flipH="1" flipV="1">
            <a:off x="6955604" y="2434975"/>
            <a:ext cx="222445" cy="363074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Овал 109"/>
          <p:cNvSpPr/>
          <p:nvPr/>
        </p:nvSpPr>
        <p:spPr>
          <a:xfrm flipV="1">
            <a:off x="6929175" y="2396793"/>
            <a:ext cx="45719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/>
              <p:cNvSpPr txBox="1"/>
              <p:nvPr/>
            </p:nvSpPr>
            <p:spPr>
              <a:xfrm flipH="1">
                <a:off x="6622183" y="2159314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𝐻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12" name="TextBox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622183" y="2159314"/>
                <a:ext cx="486282" cy="307777"/>
              </a:xfrm>
              <a:prstGeom prst="rect">
                <a:avLst/>
              </a:prstGeom>
              <a:blipFill rotWithShape="0"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Полилиния 112"/>
          <p:cNvSpPr/>
          <p:nvPr/>
        </p:nvSpPr>
        <p:spPr>
          <a:xfrm>
            <a:off x="6955604" y="2239766"/>
            <a:ext cx="123290" cy="339047"/>
          </a:xfrm>
          <a:custGeom>
            <a:avLst/>
            <a:gdLst>
              <a:gd name="connsiteX0" fmla="*/ 20549 w 123290"/>
              <a:gd name="connsiteY0" fmla="*/ 0 h 339047"/>
              <a:gd name="connsiteX1" fmla="*/ 123290 w 123290"/>
              <a:gd name="connsiteY1" fmla="*/ 164387 h 339047"/>
              <a:gd name="connsiteX2" fmla="*/ 102742 w 123290"/>
              <a:gd name="connsiteY2" fmla="*/ 339047 h 339047"/>
              <a:gd name="connsiteX3" fmla="*/ 0 w 123290"/>
              <a:gd name="connsiteY3" fmla="*/ 195209 h 339047"/>
              <a:gd name="connsiteX4" fmla="*/ 20549 w 123290"/>
              <a:gd name="connsiteY4" fmla="*/ 0 h 339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290" h="339047">
                <a:moveTo>
                  <a:pt x="20549" y="0"/>
                </a:moveTo>
                <a:lnTo>
                  <a:pt x="123290" y="164387"/>
                </a:lnTo>
                <a:lnTo>
                  <a:pt x="102742" y="339047"/>
                </a:lnTo>
                <a:lnTo>
                  <a:pt x="0" y="195209"/>
                </a:lnTo>
                <a:lnTo>
                  <a:pt x="20549" y="0"/>
                </a:lnTo>
                <a:close/>
              </a:path>
            </a:pathLst>
          </a:custGeom>
          <a:solidFill>
            <a:schemeClr val="bg1">
              <a:lumMod val="85000"/>
              <a:alpha val="56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5" name="Прямоугольный треугольник 114"/>
          <p:cNvSpPr/>
          <p:nvPr/>
        </p:nvSpPr>
        <p:spPr>
          <a:xfrm rot="16200000">
            <a:off x="7685563" y="3571730"/>
            <a:ext cx="1247665" cy="914400"/>
          </a:xfrm>
          <a:prstGeom prst="rtTriangle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/>
              <p:cNvSpPr txBox="1"/>
              <p:nvPr/>
            </p:nvSpPr>
            <p:spPr>
              <a:xfrm flipH="1">
                <a:off x="8561710" y="3106261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16" name="TextBox 1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561710" y="3106261"/>
                <a:ext cx="486282" cy="3077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/>
              <p:cNvSpPr txBox="1"/>
              <p:nvPr/>
            </p:nvSpPr>
            <p:spPr>
              <a:xfrm flipH="1">
                <a:off x="8629790" y="4534592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𝑂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17" name="TextBox 1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629790" y="4534592"/>
                <a:ext cx="486282" cy="307777"/>
              </a:xfrm>
              <a:prstGeom prst="rect">
                <a:avLst/>
              </a:prstGeom>
              <a:blipFill rotWithShape="0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/>
              <p:cNvSpPr txBox="1"/>
              <p:nvPr/>
            </p:nvSpPr>
            <p:spPr>
              <a:xfrm flipH="1">
                <a:off x="7506716" y="4561763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𝐷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18" name="TextBox 1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506716" y="4561763"/>
                <a:ext cx="486282" cy="307777"/>
              </a:xfrm>
              <a:prstGeom prst="rect">
                <a:avLst/>
              </a:prstGeom>
              <a:blipFill rotWithShape="0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" name="Прямоугольник 118"/>
          <p:cNvSpPr/>
          <p:nvPr/>
        </p:nvSpPr>
        <p:spPr>
          <a:xfrm rot="2182670">
            <a:off x="8095746" y="4269642"/>
            <a:ext cx="169042" cy="165963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1" name="Прямая соединительная линия 120"/>
          <p:cNvCxnSpPr/>
          <p:nvPr/>
        </p:nvCxnSpPr>
        <p:spPr>
          <a:xfrm>
            <a:off x="8165750" y="4227818"/>
            <a:ext cx="600846" cy="424945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/>
              <p:cNvSpPr txBox="1"/>
              <p:nvPr/>
            </p:nvSpPr>
            <p:spPr>
              <a:xfrm flipH="1">
                <a:off x="7864566" y="3987457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𝐻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864566" y="3987457"/>
                <a:ext cx="486282" cy="307777"/>
              </a:xfrm>
              <a:prstGeom prst="rect">
                <a:avLst/>
              </a:prstGeom>
              <a:blipFill rotWithShape="0"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7" name="Полилиния 126"/>
          <p:cNvSpPr/>
          <p:nvPr/>
        </p:nvSpPr>
        <p:spPr>
          <a:xfrm>
            <a:off x="6462445" y="2784297"/>
            <a:ext cx="92467" cy="113015"/>
          </a:xfrm>
          <a:custGeom>
            <a:avLst/>
            <a:gdLst>
              <a:gd name="connsiteX0" fmla="*/ 0 w 92467"/>
              <a:gd name="connsiteY0" fmla="*/ 0 h 113015"/>
              <a:gd name="connsiteX1" fmla="*/ 92467 w 92467"/>
              <a:gd name="connsiteY1" fmla="*/ 113015 h 113015"/>
              <a:gd name="connsiteX2" fmla="*/ 92467 w 92467"/>
              <a:gd name="connsiteY2" fmla="*/ 113015 h 113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67" h="113015">
                <a:moveTo>
                  <a:pt x="0" y="0"/>
                </a:moveTo>
                <a:lnTo>
                  <a:pt x="92467" y="113015"/>
                </a:lnTo>
                <a:lnTo>
                  <a:pt x="92467" y="113015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8" name="Полилиния 127"/>
          <p:cNvSpPr/>
          <p:nvPr/>
        </p:nvSpPr>
        <p:spPr>
          <a:xfrm>
            <a:off x="7308304" y="2365910"/>
            <a:ext cx="92467" cy="113015"/>
          </a:xfrm>
          <a:custGeom>
            <a:avLst/>
            <a:gdLst>
              <a:gd name="connsiteX0" fmla="*/ 0 w 92467"/>
              <a:gd name="connsiteY0" fmla="*/ 0 h 113015"/>
              <a:gd name="connsiteX1" fmla="*/ 92467 w 92467"/>
              <a:gd name="connsiteY1" fmla="*/ 113015 h 113015"/>
              <a:gd name="connsiteX2" fmla="*/ 92467 w 92467"/>
              <a:gd name="connsiteY2" fmla="*/ 113015 h 113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67" h="113015">
                <a:moveTo>
                  <a:pt x="0" y="0"/>
                </a:moveTo>
                <a:lnTo>
                  <a:pt x="92467" y="113015"/>
                </a:lnTo>
                <a:lnTo>
                  <a:pt x="92467" y="113015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/>
              <p:cNvSpPr txBox="1"/>
              <p:nvPr/>
            </p:nvSpPr>
            <p:spPr>
              <a:xfrm>
                <a:off x="34891" y="3946361"/>
                <a:ext cx="1350618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𝑂𝐻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𝐷𝑂</m:t>
                          </m:r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𝑂𝐴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𝐴𝐷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29" name="TextBox 1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1" y="3946361"/>
                <a:ext cx="1350618" cy="438005"/>
              </a:xfrm>
              <a:prstGeom prst="rect">
                <a:avLst/>
              </a:prstGeom>
              <a:blipFill rotWithShape="0">
                <a:blip r:embed="rId34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/>
              <p:cNvSpPr txBox="1"/>
              <p:nvPr/>
            </p:nvSpPr>
            <p:spPr>
              <a:xfrm>
                <a:off x="1218403" y="4034069"/>
                <a:ext cx="293226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∆</m:t>
                    </m:r>
                    <m:r>
                      <a:rPr lang="en-US" sz="12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𝐿𝐴𝐾</m:t>
                    </m:r>
                  </m:oMath>
                </a14:m>
                <a:r>
                  <a:rPr lang="en-US" sz="1200" dirty="0" smtClean="0"/>
                  <a:t>- </a:t>
                </a:r>
                <a:r>
                  <a:rPr lang="ru-RU" sz="1200" dirty="0" smtClean="0"/>
                  <a:t>равнобедренный прямоугольный.</a:t>
                </a:r>
                <a:endParaRPr lang="ru-RU" sz="1200" dirty="0"/>
              </a:p>
            </p:txBody>
          </p:sp>
        </mc:Choice>
        <mc:Fallback xmlns="">
          <p:sp>
            <p:nvSpPr>
              <p:cNvPr id="130" name="TextBox 1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403" y="4034069"/>
                <a:ext cx="2932264" cy="276999"/>
              </a:xfrm>
              <a:prstGeom prst="rect">
                <a:avLst/>
              </a:prstGeom>
              <a:blipFill rotWithShape="0">
                <a:blip r:embed="rId35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/>
              <p:cNvSpPr txBox="1"/>
              <p:nvPr/>
            </p:nvSpPr>
            <p:spPr>
              <a:xfrm>
                <a:off x="3828935" y="4035211"/>
                <a:ext cx="234283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𝐿𝐷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𝐴𝐷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𝐴𝐿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𝑠𝑖𝑛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45°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31" name="TextBox 1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8935" y="4035211"/>
                <a:ext cx="2342839" cy="276999"/>
              </a:xfrm>
              <a:prstGeom prst="rect">
                <a:avLst/>
              </a:prstGeom>
              <a:blipFill rotWithShape="0"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/>
              <p:cNvSpPr txBox="1"/>
              <p:nvPr/>
            </p:nvSpPr>
            <p:spPr>
              <a:xfrm>
                <a:off x="5791030" y="3912902"/>
                <a:ext cx="1339211" cy="4801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=10∙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=5</m:t>
                      </m:r>
                      <m:rad>
                        <m:radPr>
                          <m:degHide m:val="on"/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32" name="TextBox 1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030" y="3912902"/>
                <a:ext cx="1339211" cy="480196"/>
              </a:xfrm>
              <a:prstGeom prst="rect">
                <a:avLst/>
              </a:prstGeom>
              <a:blipFill rotWithShape="0"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4" name="Прямая соединительная линия 133"/>
          <p:cNvCxnSpPr>
            <a:endCxn id="83" idx="0"/>
          </p:cNvCxnSpPr>
          <p:nvPr/>
        </p:nvCxnSpPr>
        <p:spPr>
          <a:xfrm flipV="1">
            <a:off x="6108362" y="2829552"/>
            <a:ext cx="1070807" cy="200871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Полилиния 135"/>
          <p:cNvSpPr/>
          <p:nvPr/>
        </p:nvSpPr>
        <p:spPr>
          <a:xfrm>
            <a:off x="6739847" y="2650733"/>
            <a:ext cx="297951" cy="143838"/>
          </a:xfrm>
          <a:custGeom>
            <a:avLst/>
            <a:gdLst>
              <a:gd name="connsiteX0" fmla="*/ 0 w 297951"/>
              <a:gd name="connsiteY0" fmla="*/ 71919 h 143838"/>
              <a:gd name="connsiteX1" fmla="*/ 143839 w 297951"/>
              <a:gd name="connsiteY1" fmla="*/ 143838 h 143838"/>
              <a:gd name="connsiteX2" fmla="*/ 297951 w 297951"/>
              <a:gd name="connsiteY2" fmla="*/ 82193 h 143838"/>
              <a:gd name="connsiteX3" fmla="*/ 143839 w 297951"/>
              <a:gd name="connsiteY3" fmla="*/ 0 h 143838"/>
              <a:gd name="connsiteX4" fmla="*/ 0 w 297951"/>
              <a:gd name="connsiteY4" fmla="*/ 71919 h 14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7951" h="143838">
                <a:moveTo>
                  <a:pt x="0" y="71919"/>
                </a:moveTo>
                <a:lnTo>
                  <a:pt x="143839" y="143838"/>
                </a:lnTo>
                <a:lnTo>
                  <a:pt x="297951" y="82193"/>
                </a:lnTo>
                <a:lnTo>
                  <a:pt x="143839" y="0"/>
                </a:lnTo>
                <a:lnTo>
                  <a:pt x="0" y="7191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/>
              <p:cNvSpPr txBox="1"/>
              <p:nvPr/>
            </p:nvSpPr>
            <p:spPr>
              <a:xfrm>
                <a:off x="26667" y="4382002"/>
                <a:ext cx="1639478" cy="3225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𝐷𝑂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𝐿</m:t>
                          </m:r>
                          <m:sSup>
                            <m:sSup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𝑂</m:t>
                              </m:r>
                            </m:e>
                            <m:sup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𝐿</m:t>
                          </m:r>
                          <m:sSup>
                            <m:sSup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37" name="TextBox 1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7" y="4382002"/>
                <a:ext cx="1639478" cy="322589"/>
              </a:xfrm>
              <a:prstGeom prst="rect">
                <a:avLst/>
              </a:prstGeom>
              <a:blipFill rotWithShape="0"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/>
              <p:cNvSpPr txBox="1"/>
              <p:nvPr/>
            </p:nvSpPr>
            <p:spPr>
              <a:xfrm>
                <a:off x="1237111" y="4266499"/>
                <a:ext cx="1639478" cy="4681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8</m:t>
                              </m:r>
                            </m:e>
                            <m:sup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200" b="0" i="1" dirty="0" smtClean="0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dirty="0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5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sz="1200" b="0" i="1" dirty="0" smtClean="0">
                                          <a:latin typeface="Cambria Math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1200" b="0" i="1" dirty="0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e>
                              </m:d>
                            </m:e>
                            <m:sup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38" name="TextBox 1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7111" y="4266499"/>
                <a:ext cx="1639478" cy="468141"/>
              </a:xfrm>
              <a:prstGeom prst="rect">
                <a:avLst/>
              </a:prstGeom>
              <a:blipFill rotWithShape="0"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/>
              <p:cNvSpPr txBox="1"/>
              <p:nvPr/>
            </p:nvSpPr>
            <p:spPr>
              <a:xfrm>
                <a:off x="2427609" y="4391252"/>
                <a:ext cx="792656" cy="298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14</m:t>
                          </m:r>
                        </m:e>
                      </m:rad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39" name="TextBox 1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7609" y="4391252"/>
                <a:ext cx="792656" cy="298736"/>
              </a:xfrm>
              <a:prstGeom prst="rect">
                <a:avLst/>
              </a:prstGeom>
              <a:blipFill rotWithShape="0"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/>
              <p:cNvSpPr txBox="1"/>
              <p:nvPr/>
            </p:nvSpPr>
            <p:spPr>
              <a:xfrm>
                <a:off x="2940747" y="4276604"/>
                <a:ext cx="1350618" cy="515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𝑂𝐻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14</m:t>
                              </m:r>
                            </m:e>
                          </m:rad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6</m:t>
                          </m:r>
                        </m:num>
                        <m:den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5</m:t>
                          </m:r>
                          <m:rad>
                            <m:radPr>
                              <m:degHide m:val="on"/>
                              <m:ctrlPr>
                                <a:rPr lang="en-US" sz="1200" i="1" dirty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i="1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40" name="TextBox 1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0747" y="4276604"/>
                <a:ext cx="1350618" cy="515975"/>
              </a:xfrm>
              <a:prstGeom prst="rect">
                <a:avLst/>
              </a:prstGeom>
              <a:blipFill rotWithShape="0">
                <a:blip r:embed="rId41"/>
                <a:stretch>
                  <a:fillRect b="-11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/>
              <p:cNvSpPr txBox="1"/>
              <p:nvPr/>
            </p:nvSpPr>
            <p:spPr>
              <a:xfrm>
                <a:off x="3969743" y="4285132"/>
                <a:ext cx="771026" cy="480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6</m:t>
                          </m:r>
                          <m:rad>
                            <m:radPr>
                              <m:degHide m:val="on"/>
                              <m:ctrlPr>
                                <a:rPr lang="en-US" sz="1200" i="1" dirty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7</m:t>
                              </m:r>
                            </m:e>
                          </m:rad>
                        </m:num>
                        <m:den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41" name="TextBox 1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9743" y="4285132"/>
                <a:ext cx="771026" cy="480581"/>
              </a:xfrm>
              <a:prstGeom prst="rect">
                <a:avLst/>
              </a:prstGeom>
              <a:blipFill rotWithShape="0">
                <a:blip r:embed="rId42"/>
                <a:stretch>
                  <a:fillRect b="-25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/>
              <p:cNvSpPr txBox="1"/>
              <p:nvPr/>
            </p:nvSpPr>
            <p:spPr>
              <a:xfrm>
                <a:off x="4913521" y="4346766"/>
                <a:ext cx="1327223" cy="5343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b="1" dirty="0" smtClean="0">
                    <a:solidFill>
                      <a:srgbClr val="FF0000"/>
                    </a:solidFill>
                  </a:rPr>
                  <a:t>Ответ: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𝟔</m:t>
                        </m:r>
                        <m:rad>
                          <m:radPr>
                            <m:degHide m:val="on"/>
                            <m:ctrlPr>
                              <a:rPr lang="en-US" b="1" i="1" dirty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 charset="0"/>
                                <a:cs typeface="Cambria Math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 dirty="0">
                                <a:solidFill>
                                  <a:srgbClr val="FF0000"/>
                                </a:solidFill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𝟕</m:t>
                            </m:r>
                          </m:e>
                        </m:rad>
                      </m:num>
                      <m:den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𝟓</m:t>
                        </m:r>
                      </m:den>
                    </m:f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.</m:t>
                    </m:r>
                  </m:oMath>
                </a14:m>
                <a:endParaRPr lang="ru-RU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2" name="TextBox 1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3521" y="4346766"/>
                <a:ext cx="1327223" cy="534313"/>
              </a:xfrm>
              <a:prstGeom prst="rect">
                <a:avLst/>
              </a:prstGeom>
              <a:blipFill rotWithShape="0">
                <a:blip r:embed="rId43"/>
                <a:stretch>
                  <a:fillRect l="-3670" b="-68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2" name="Полилиния 151"/>
          <p:cNvSpPr/>
          <p:nvPr/>
        </p:nvSpPr>
        <p:spPr>
          <a:xfrm>
            <a:off x="7181636" y="2661007"/>
            <a:ext cx="123290" cy="226031"/>
          </a:xfrm>
          <a:custGeom>
            <a:avLst/>
            <a:gdLst>
              <a:gd name="connsiteX0" fmla="*/ 0 w 123290"/>
              <a:gd name="connsiteY0" fmla="*/ 0 h 226031"/>
              <a:gd name="connsiteX1" fmla="*/ 123290 w 123290"/>
              <a:gd name="connsiteY1" fmla="*/ 102741 h 226031"/>
              <a:gd name="connsiteX2" fmla="*/ 123290 w 123290"/>
              <a:gd name="connsiteY2" fmla="*/ 226031 h 226031"/>
              <a:gd name="connsiteX3" fmla="*/ 0 w 123290"/>
              <a:gd name="connsiteY3" fmla="*/ 133564 h 226031"/>
              <a:gd name="connsiteX4" fmla="*/ 0 w 123290"/>
              <a:gd name="connsiteY4" fmla="*/ 0 h 226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290" h="226031">
                <a:moveTo>
                  <a:pt x="0" y="0"/>
                </a:moveTo>
                <a:lnTo>
                  <a:pt x="123290" y="102741"/>
                </a:lnTo>
                <a:lnTo>
                  <a:pt x="123290" y="226031"/>
                </a:lnTo>
                <a:lnTo>
                  <a:pt x="0" y="133564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3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/>
              <p:cNvSpPr txBox="1"/>
              <p:nvPr/>
            </p:nvSpPr>
            <p:spPr>
              <a:xfrm flipH="1">
                <a:off x="6126030" y="2660661"/>
                <a:ext cx="4862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charset="0"/>
                        </a:rPr>
                        <m:t>45</m:t>
                      </m:r>
                      <m:r>
                        <a:rPr lang="it-IT" sz="11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°</m:t>
                      </m:r>
                    </m:oMath>
                  </m:oMathPara>
                </a14:m>
                <a:endParaRPr lang="ru-RU" sz="1100" dirty="0"/>
              </a:p>
            </p:txBody>
          </p:sp>
        </mc:Choice>
        <mc:Fallback xmlns="">
          <p:sp>
            <p:nvSpPr>
              <p:cNvPr id="155" name="TextBox 1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126030" y="2660661"/>
                <a:ext cx="486282" cy="261610"/>
              </a:xfrm>
              <a:prstGeom prst="rect">
                <a:avLst/>
              </a:prstGeom>
              <a:blipFill rotWithShape="0"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644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indefinite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indefinite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>
                      <p:stCondLst>
                        <p:cond delay="indefinite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3" grpId="0" animBg="1"/>
      <p:bldP spid="25" grpId="0"/>
      <p:bldP spid="26" grpId="0"/>
      <p:bldP spid="26" grpId="1"/>
      <p:bldP spid="43" grpId="0"/>
      <p:bldP spid="44" grpId="0"/>
      <p:bldP spid="45" grpId="0"/>
      <p:bldP spid="46" grpId="0"/>
      <p:bldP spid="47" grpId="0"/>
      <p:bldP spid="48" grpId="0" animBg="1"/>
      <p:bldP spid="49" grpId="0"/>
      <p:bldP spid="50" grpId="0"/>
      <p:bldP spid="51" grpId="0"/>
      <p:bldP spid="52" grpId="0"/>
      <p:bldP spid="56" grpId="0"/>
      <p:bldP spid="56" grpId="1"/>
      <p:bldP spid="57" grpId="0" animBg="1"/>
      <p:bldP spid="57" grpId="1" animBg="1"/>
      <p:bldP spid="58" grpId="0"/>
      <p:bldP spid="59" grpId="0"/>
      <p:bldP spid="60" grpId="0"/>
      <p:bldP spid="61" grpId="0"/>
      <p:bldP spid="66" grpId="0" animBg="1"/>
      <p:bldP spid="67" grpId="0"/>
      <p:bldP spid="67" grpId="1"/>
      <p:bldP spid="71" grpId="0"/>
      <p:bldP spid="72" grpId="0"/>
      <p:bldP spid="73" grpId="1"/>
      <p:bldP spid="74" grpId="0"/>
      <p:bldP spid="80" grpId="0"/>
      <p:bldP spid="81" grpId="0"/>
      <p:bldP spid="82" grpId="0" animBg="1"/>
      <p:bldP spid="83" grpId="0" animBg="1"/>
      <p:bldP spid="85" grpId="0"/>
      <p:bldP spid="97" grpId="0" animBg="1"/>
      <p:bldP spid="98" grpId="0"/>
      <p:bldP spid="99" grpId="0"/>
      <p:bldP spid="100" grpId="0"/>
      <p:bldP spid="101" grpId="0"/>
      <p:bldP spid="102" grpId="0"/>
      <p:bldP spid="106" grpId="0"/>
      <p:bldP spid="110" grpId="0" animBg="1"/>
      <p:bldP spid="112" grpId="0"/>
      <p:bldP spid="113" grpId="0" animBg="1"/>
      <p:bldP spid="115" grpId="0" animBg="1"/>
      <p:bldP spid="116" grpId="0"/>
      <p:bldP spid="117" grpId="0"/>
      <p:bldP spid="118" grpId="0"/>
      <p:bldP spid="119" grpId="0" animBg="1"/>
      <p:bldP spid="126" grpId="0"/>
      <p:bldP spid="127" grpId="0" animBg="1"/>
      <p:bldP spid="128" grpId="0" animBg="1"/>
      <p:bldP spid="129" grpId="0"/>
      <p:bldP spid="130" grpId="0"/>
      <p:bldP spid="131" grpId="0"/>
      <p:bldP spid="132" grpId="0"/>
      <p:bldP spid="136" grpId="0" animBg="1"/>
      <p:bldP spid="137" grpId="0"/>
      <p:bldP spid="138" grpId="0"/>
      <p:bldP spid="139" grpId="0"/>
      <p:bldP spid="140" grpId="0"/>
      <p:bldP spid="141" grpId="0"/>
      <p:bldP spid="142" grpId="0"/>
      <p:bldP spid="152" grpId="0" animBg="1"/>
      <p:bldP spid="15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45</a:t>
            </a:fld>
            <a:endParaRPr kumimoji="0" lang="ru-RU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/>
              <p:cNvSpPr/>
              <p:nvPr/>
            </p:nvSpPr>
            <p:spPr>
              <a:xfrm>
                <a:off x="0" y="-22135"/>
                <a:ext cx="9144000" cy="1081717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dirty="0" smtClean="0">
                    <a:solidFill>
                      <a:srgbClr val="7030A0"/>
                    </a:solidFill>
                  </a:rPr>
                  <a:t>26.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 Проведены две параллельные плоскости по разные стороны от центра шара на расстоянии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𝟕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 друг от друга. Эти плоскости дают в сечении два круга, площади которых равны </a:t>
                </a:r>
                <a14:m>
                  <m:oMath xmlns:m="http://schemas.openxmlformats.org/officeDocument/2006/math"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𝟗</m:t>
                    </m:r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𝝅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 и </a:t>
                </a:r>
                <a14:m>
                  <m:oMath xmlns:m="http://schemas.openxmlformats.org/officeDocument/2006/math"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</a:rPr>
                      <m:t>𝟏𝟔</m:t>
                    </m:r>
                    <m:r>
                      <a:rPr lang="ru-RU" sz="1200" b="1" i="1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𝝅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.</a:t>
                </a:r>
                <a:endParaRPr lang="en-US" sz="1200" b="1" dirty="0" smtClean="0">
                  <a:solidFill>
                    <a:srgbClr val="002060"/>
                  </a:solidFill>
                  <a:latin typeface="+mj-lt"/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а)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Точка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𝑯</m:t>
                    </m:r>
                  </m:oMath>
                </a14:m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mr-IN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–</m:t>
                    </m:r>
                  </m:oMath>
                </a14:m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ортогональная проекция произвольной точки окружности меньшего круга на плоскость большего. Докажите, что точка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𝑯</m:t>
                    </m:r>
                  </m:oMath>
                </a14:m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делит проходящий через нее диаметр большей окружности в отношении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𝟏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: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𝟕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ru-RU" sz="1200" b="1" i="0" dirty="0" smtClean="0">
                  <a:solidFill>
                    <a:srgbClr val="002060"/>
                  </a:solidFill>
                  <a:latin typeface="+mj-lt"/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б)  Найдите площадь поверхности шара.</a:t>
                </a:r>
                <a:endParaRPr lang="ru-RU" sz="1200" b="1" i="0" dirty="0" smtClean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5"/>
                <a:ext cx="9144000" cy="108171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Овал 4"/>
          <p:cNvSpPr/>
          <p:nvPr/>
        </p:nvSpPr>
        <p:spPr>
          <a:xfrm>
            <a:off x="6039078" y="1203598"/>
            <a:ext cx="2520280" cy="2448272"/>
          </a:xfrm>
          <a:prstGeom prst="ellipse">
            <a:avLst/>
          </a:prstGeom>
          <a:gradFill flip="none" rotWithShape="1">
            <a:gsLst>
              <a:gs pos="16000">
                <a:schemeClr val="accent1">
                  <a:alpha val="38000"/>
                  <a:lumMod val="0"/>
                  <a:lumOff val="10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 flipV="1">
            <a:off x="7278561" y="2402004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Дуга 16"/>
          <p:cNvSpPr/>
          <p:nvPr/>
        </p:nvSpPr>
        <p:spPr>
          <a:xfrm rot="10800000">
            <a:off x="6039078" y="2284476"/>
            <a:ext cx="2520280" cy="544080"/>
          </a:xfrm>
          <a:prstGeom prst="arc">
            <a:avLst>
              <a:gd name="adj1" fmla="val 10839281"/>
              <a:gd name="adj2" fmla="val 0"/>
            </a:avLst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Дуга 17"/>
          <p:cNvSpPr/>
          <p:nvPr/>
        </p:nvSpPr>
        <p:spPr>
          <a:xfrm>
            <a:off x="6036766" y="2287286"/>
            <a:ext cx="2522592" cy="541270"/>
          </a:xfrm>
          <a:prstGeom prst="arc">
            <a:avLst>
              <a:gd name="adj1" fmla="val 10839281"/>
              <a:gd name="adj2" fmla="val 0"/>
            </a:avLst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Дуга 20"/>
          <p:cNvSpPr/>
          <p:nvPr/>
        </p:nvSpPr>
        <p:spPr>
          <a:xfrm rot="10800000">
            <a:off x="6257780" y="1482235"/>
            <a:ext cx="2082876" cy="544080"/>
          </a:xfrm>
          <a:prstGeom prst="arc">
            <a:avLst>
              <a:gd name="adj1" fmla="val 10839281"/>
              <a:gd name="adj2" fmla="val 0"/>
            </a:avLst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Дуга 21"/>
          <p:cNvSpPr/>
          <p:nvPr/>
        </p:nvSpPr>
        <p:spPr>
          <a:xfrm>
            <a:off x="6255669" y="1485045"/>
            <a:ext cx="2084786" cy="541270"/>
          </a:xfrm>
          <a:prstGeom prst="arc">
            <a:avLst>
              <a:gd name="adj1" fmla="val 10839281"/>
              <a:gd name="adj2" fmla="val 0"/>
            </a:avLst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Овал 22"/>
          <p:cNvSpPr/>
          <p:nvPr/>
        </p:nvSpPr>
        <p:spPr>
          <a:xfrm flipV="1">
            <a:off x="7253415" y="1720407"/>
            <a:ext cx="50291" cy="4156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/>
          <p:cNvSpPr/>
          <p:nvPr/>
        </p:nvSpPr>
        <p:spPr>
          <a:xfrm flipV="1">
            <a:off x="7280405" y="2544100"/>
            <a:ext cx="41563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Прямая соединительная линия 27"/>
          <p:cNvCxnSpPr/>
          <p:nvPr/>
        </p:nvCxnSpPr>
        <p:spPr>
          <a:xfrm flipV="1">
            <a:off x="7301466" y="2551203"/>
            <a:ext cx="1257892" cy="27166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 flipH="1">
                <a:off x="7157321" y="2119957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𝑂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157321" y="2119957"/>
                <a:ext cx="486282" cy="3077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 flipH="1">
                <a:off x="7114575" y="2552005"/>
                <a:ext cx="4862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𝑂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114575" y="2552005"/>
                <a:ext cx="486282" cy="3077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 flipH="1">
                <a:off x="7200820" y="1440170"/>
                <a:ext cx="4018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charset="0"/>
                            </a:rPr>
                            <m:t>𝑂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200820" y="1440170"/>
                <a:ext cx="401886" cy="3077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Полилиния 32"/>
          <p:cNvSpPr/>
          <p:nvPr/>
        </p:nvSpPr>
        <p:spPr>
          <a:xfrm>
            <a:off x="7161144" y="1744221"/>
            <a:ext cx="93863" cy="813600"/>
          </a:xfrm>
          <a:custGeom>
            <a:avLst/>
            <a:gdLst>
              <a:gd name="connsiteX0" fmla="*/ 133564 w 133564"/>
              <a:gd name="connsiteY0" fmla="*/ 0 h 842480"/>
              <a:gd name="connsiteX1" fmla="*/ 0 w 133564"/>
              <a:gd name="connsiteY1" fmla="*/ 400692 h 842480"/>
              <a:gd name="connsiteX2" fmla="*/ 133564 w 133564"/>
              <a:gd name="connsiteY2" fmla="*/ 842480 h 842480"/>
              <a:gd name="connsiteX0" fmla="*/ 133643 w 150187"/>
              <a:gd name="connsiteY0" fmla="*/ 0 h 793033"/>
              <a:gd name="connsiteX1" fmla="*/ 79 w 150187"/>
              <a:gd name="connsiteY1" fmla="*/ 400692 h 793033"/>
              <a:gd name="connsiteX2" fmla="*/ 150187 w 150187"/>
              <a:gd name="connsiteY2" fmla="*/ 793033 h 793033"/>
              <a:gd name="connsiteX0" fmla="*/ 101512 w 151143"/>
              <a:gd name="connsiteY0" fmla="*/ 0 h 783144"/>
              <a:gd name="connsiteX1" fmla="*/ 1035 w 151143"/>
              <a:gd name="connsiteY1" fmla="*/ 390803 h 783144"/>
              <a:gd name="connsiteX2" fmla="*/ 151143 w 151143"/>
              <a:gd name="connsiteY2" fmla="*/ 783144 h 783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1143" h="783144">
                <a:moveTo>
                  <a:pt x="101512" y="0"/>
                </a:moveTo>
                <a:cubicBezTo>
                  <a:pt x="34730" y="130139"/>
                  <a:pt x="-7237" y="260279"/>
                  <a:pt x="1035" y="390803"/>
                </a:cubicBezTo>
                <a:cubicBezTo>
                  <a:pt x="9307" y="521327"/>
                  <a:pt x="151143" y="783144"/>
                  <a:pt x="151143" y="783144"/>
                </a:cubicBezTo>
              </a:path>
            </a:pathLst>
          </a:custGeom>
          <a:ln>
            <a:solidFill>
              <a:srgbClr val="00660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 flipH="1">
                <a:off x="6891096" y="1995840"/>
                <a:ext cx="4018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charset="0"/>
                        </a:rPr>
                        <m:t>7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891096" y="1995840"/>
                <a:ext cx="401886" cy="3077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/>
          <p:cNvSpPr txBox="1"/>
          <p:nvPr/>
        </p:nvSpPr>
        <p:spPr>
          <a:xfrm>
            <a:off x="-1" y="1121945"/>
            <a:ext cx="26997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а</a:t>
            </a:r>
            <a:r>
              <a:rPr lang="ru-RU" sz="1200" b="0" dirty="0" smtClean="0">
                <a:solidFill>
                  <a:schemeClr val="tx1"/>
                </a:solidFill>
              </a:rPr>
              <a:t>)</a:t>
            </a:r>
            <a:r>
              <a:rPr lang="en-US" sz="1200" b="0" dirty="0" smtClean="0">
                <a:solidFill>
                  <a:schemeClr val="tx1"/>
                </a:solidFill>
              </a:rPr>
              <a:t> </a:t>
            </a:r>
            <a:r>
              <a:rPr lang="ru-RU" sz="1200" b="0" dirty="0" smtClean="0">
                <a:solidFill>
                  <a:schemeClr val="tx1"/>
                </a:solidFill>
              </a:rPr>
              <a:t>Сечение шара плоскостью есть круг.  </a:t>
            </a:r>
            <a:endParaRPr lang="ru-RU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156679" y="1853763"/>
                <a:ext cx="11521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𝜋</m:t>
                      </m:r>
                      <m:sSubSup>
                        <m:sSubSup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Sup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𝑅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  <m:sup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bSup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=16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𝜋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6679" y="1853763"/>
                <a:ext cx="1152128" cy="276999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3073413" y="1853762"/>
                <a:ext cx="11521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=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𝑅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=4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3413" y="1853762"/>
                <a:ext cx="1152128" cy="276999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7829831" y="2582783"/>
                <a:ext cx="36948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4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9831" y="2582783"/>
                <a:ext cx="369487" cy="276999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-97215" y="1844043"/>
                <a:ext cx="11521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𝜋</m:t>
                      </m:r>
                      <m:sSubSup>
                        <m:sSubSup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Sup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𝑅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b>
                        <m:sup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bSup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=9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𝜋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7215" y="1844043"/>
                <a:ext cx="1152128" cy="276999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794037" y="1844043"/>
                <a:ext cx="11521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200" b="0" i="1" dirty="0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sz="1200" b="0" i="1" dirty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𝐶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=</m:t>
                          </m:r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𝑅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=3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037" y="1844043"/>
                <a:ext cx="1152128" cy="276999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Прямая соединительная линия 41"/>
          <p:cNvCxnSpPr/>
          <p:nvPr/>
        </p:nvCxnSpPr>
        <p:spPr>
          <a:xfrm>
            <a:off x="7276249" y="1737347"/>
            <a:ext cx="1064206" cy="11493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7551683" y="1519243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3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1683" y="1519243"/>
                <a:ext cx="569966" cy="276999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Овал 44"/>
          <p:cNvSpPr/>
          <p:nvPr/>
        </p:nvSpPr>
        <p:spPr>
          <a:xfrm flipV="1">
            <a:off x="8330816" y="1733947"/>
            <a:ext cx="45719" cy="502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8198416" y="1560472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8416" y="1560472"/>
                <a:ext cx="569966" cy="276999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Прямая соединительная линия 46"/>
          <p:cNvCxnSpPr/>
          <p:nvPr/>
        </p:nvCxnSpPr>
        <p:spPr>
          <a:xfrm>
            <a:off x="8351318" y="1766114"/>
            <a:ext cx="36946" cy="805637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Овал 52"/>
          <p:cNvSpPr/>
          <p:nvPr/>
        </p:nvSpPr>
        <p:spPr>
          <a:xfrm flipV="1">
            <a:off x="8366027" y="2532718"/>
            <a:ext cx="41563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7985185" y="2335780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𝐻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5185" y="2335780"/>
                <a:ext cx="569966" cy="276999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Полилиния 56"/>
          <p:cNvSpPr/>
          <p:nvPr/>
        </p:nvSpPr>
        <p:spPr>
          <a:xfrm>
            <a:off x="8390526" y="2393435"/>
            <a:ext cx="164387" cy="154112"/>
          </a:xfrm>
          <a:custGeom>
            <a:avLst/>
            <a:gdLst>
              <a:gd name="connsiteX0" fmla="*/ 0 w 164387"/>
              <a:gd name="connsiteY0" fmla="*/ 0 h 154112"/>
              <a:gd name="connsiteX1" fmla="*/ 164387 w 164387"/>
              <a:gd name="connsiteY1" fmla="*/ 10274 h 154112"/>
              <a:gd name="connsiteX2" fmla="*/ 164387 w 164387"/>
              <a:gd name="connsiteY2" fmla="*/ 154112 h 154112"/>
              <a:gd name="connsiteX3" fmla="*/ 10274 w 164387"/>
              <a:gd name="connsiteY3" fmla="*/ 154112 h 154112"/>
              <a:gd name="connsiteX4" fmla="*/ 0 w 164387"/>
              <a:gd name="connsiteY4" fmla="*/ 0 h 154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387" h="154112">
                <a:moveTo>
                  <a:pt x="0" y="0"/>
                </a:moveTo>
                <a:lnTo>
                  <a:pt x="164387" y="10274"/>
                </a:lnTo>
                <a:lnTo>
                  <a:pt x="164387" y="154112"/>
                </a:lnTo>
                <a:lnTo>
                  <a:pt x="10274" y="15411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3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3" name="Прямая соединительная линия 62"/>
          <p:cNvCxnSpPr/>
          <p:nvPr/>
        </p:nvCxnSpPr>
        <p:spPr>
          <a:xfrm>
            <a:off x="7273578" y="1769298"/>
            <a:ext cx="36946" cy="805637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 flipV="1">
            <a:off x="6033641" y="2568039"/>
            <a:ext cx="1257892" cy="27166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5649483" y="2536563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9483" y="2536563"/>
                <a:ext cx="569966" cy="276999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8394522" y="2500394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4522" y="2500394"/>
                <a:ext cx="569966" cy="276999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64364" y="2106380"/>
                <a:ext cx="23042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b="0" dirty="0" smtClean="0">
                    <a:solidFill>
                      <a:schemeClr val="tx1"/>
                    </a:solidFill>
                  </a:rPr>
                  <a:t>Докажем, что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𝐻𝐵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: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𝐴𝐻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=1:7</m:t>
                    </m:r>
                  </m:oMath>
                </a14:m>
                <a:endParaRPr lang="ru-RU" sz="1200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64" y="2106380"/>
                <a:ext cx="2304256" cy="276999"/>
              </a:xfrm>
              <a:prstGeom prst="rect">
                <a:avLst/>
              </a:prstGeom>
              <a:blipFill rotWithShape="0">
                <a:blip r:embed="rId17"/>
                <a:stretch>
                  <a:fillRect l="-265"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82935" y="2367997"/>
                <a:ext cx="18797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𝐶𝐻</m:t>
                    </m:r>
                    <m:r>
                      <a:rPr lang="ru-RU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⊥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𝐴𝐵</m:t>
                    </m:r>
                  </m:oMath>
                </a14:m>
                <a:r>
                  <a:rPr lang="en-US" sz="1200" dirty="0" smtClean="0"/>
                  <a:t>  </a:t>
                </a:r>
                <a:r>
                  <a:rPr lang="ru-RU" sz="1200" dirty="0" smtClean="0"/>
                  <a:t>(по условию);</a:t>
                </a:r>
                <a:endParaRPr lang="ru-RU" sz="1200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35" y="2367997"/>
                <a:ext cx="1879700" cy="276999"/>
              </a:xfrm>
              <a:prstGeom prst="rect">
                <a:avLst/>
              </a:prstGeom>
              <a:blipFill rotWithShape="0">
                <a:blip r:embed="rId18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47739" y="2564725"/>
                <a:ext cx="536032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b="0" i="0" dirty="0" smtClean="0">
                    <a:latin typeface="+mj-lt"/>
                    <a:ea typeface="Cambria Math" charset="0"/>
                    <a:cs typeface="Cambria Math" charset="0"/>
                  </a:rPr>
                  <a:t>точки</a:t>
                </a:r>
                <a14:m>
                  <m:oMath xmlns:m="http://schemas.openxmlformats.org/officeDocument/2006/math">
                    <m:r>
                      <a:rPr lang="ru-RU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 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𝑂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;</m:t>
                    </m:r>
                    <m:sSub>
                      <m:sSubPr>
                        <m:ctrlPr>
                          <a:rPr lang="en-US" sz="1200" b="0" i="1" dirty="0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𝑂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;</m:t>
                    </m:r>
                    <m:sSub>
                      <m:sSubPr>
                        <m:ctrlPr>
                          <a:rPr lang="en-US" sz="1200" b="0" i="1" dirty="0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𝑂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200" dirty="0" smtClean="0"/>
                  <a:t> </a:t>
                </a:r>
                <a:r>
                  <a:rPr lang="ru-RU" sz="1200" dirty="0" smtClean="0"/>
                  <a:t>лежат на одной прямой, перпендикулярной плоскостям сечений</a:t>
                </a:r>
                <a:r>
                  <a:rPr lang="en-US" sz="1200" dirty="0"/>
                  <a:t>.</a:t>
                </a:r>
                <a:endParaRPr lang="ru-RU" sz="1200" dirty="0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39" y="2564725"/>
                <a:ext cx="5360324" cy="461665"/>
              </a:xfrm>
              <a:prstGeom prst="rect">
                <a:avLst/>
              </a:prstGeom>
              <a:blipFill rotWithShape="0">
                <a:blip r:embed="rId19"/>
                <a:stretch>
                  <a:fillRect l="-114" t="-49333" b="-21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TextBox 69"/>
          <p:cNvSpPr txBox="1"/>
          <p:nvPr/>
        </p:nvSpPr>
        <p:spPr>
          <a:xfrm>
            <a:off x="23539" y="1374649"/>
            <a:ext cx="4921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Основание перпендикуляра, опущенного из центра шара на секущую плоскость есть центр этого круга.  </a:t>
            </a:r>
            <a:endParaRPr lang="ru-RU" sz="1200" dirty="0"/>
          </a:p>
        </p:txBody>
      </p:sp>
      <p:sp>
        <p:nvSpPr>
          <p:cNvPr id="71" name="Полилиния 70"/>
          <p:cNvSpPr/>
          <p:nvPr/>
        </p:nvSpPr>
        <p:spPr>
          <a:xfrm>
            <a:off x="7269655" y="1732952"/>
            <a:ext cx="164387" cy="154112"/>
          </a:xfrm>
          <a:custGeom>
            <a:avLst/>
            <a:gdLst>
              <a:gd name="connsiteX0" fmla="*/ 0 w 164387"/>
              <a:gd name="connsiteY0" fmla="*/ 0 h 154112"/>
              <a:gd name="connsiteX1" fmla="*/ 164387 w 164387"/>
              <a:gd name="connsiteY1" fmla="*/ 10274 h 154112"/>
              <a:gd name="connsiteX2" fmla="*/ 164387 w 164387"/>
              <a:gd name="connsiteY2" fmla="*/ 154112 h 154112"/>
              <a:gd name="connsiteX3" fmla="*/ 10274 w 164387"/>
              <a:gd name="connsiteY3" fmla="*/ 154112 h 154112"/>
              <a:gd name="connsiteX4" fmla="*/ 0 w 164387"/>
              <a:gd name="connsiteY4" fmla="*/ 0 h 154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387" h="154112">
                <a:moveTo>
                  <a:pt x="0" y="0"/>
                </a:moveTo>
                <a:lnTo>
                  <a:pt x="164387" y="10274"/>
                </a:lnTo>
                <a:lnTo>
                  <a:pt x="164387" y="154112"/>
                </a:lnTo>
                <a:lnTo>
                  <a:pt x="10274" y="15411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3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46330" y="2940953"/>
                <a:ext cx="23222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⟹</m:t>
                        </m:r>
                        <m:r>
                          <a:rPr lang="en-US" sz="1200" b="0" i="1" smtClean="0">
                            <a:latin typeface="Cambria Math" charset="0"/>
                          </a:rPr>
                          <m:t>𝑂</m:t>
                        </m:r>
                      </m:e>
                      <m:sub>
                        <m:r>
                          <a:rPr lang="en-US" sz="1200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charset="0"/>
                          </a:rPr>
                          <m:t>𝑂</m:t>
                        </m:r>
                      </m:e>
                      <m:sub>
                        <m:r>
                          <a:rPr lang="en-US" sz="1200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sz="1200" b="0" i="1" smtClean="0">
                        <a:latin typeface="Cambria Math" charset="0"/>
                      </a:rPr>
                      <m:t>𝐶𝐻</m:t>
                    </m:r>
                    <m:r>
                      <a:rPr lang="en-US" sz="1200" b="0" i="1" smtClean="0">
                        <a:latin typeface="Cambria Math" charset="0"/>
                      </a:rPr>
                      <m:t> − </m:t>
                    </m:r>
                  </m:oMath>
                </a14:m>
                <a:r>
                  <a:rPr lang="ru-RU" sz="1200" dirty="0" smtClean="0"/>
                  <a:t>прямоугольник;</a:t>
                </a:r>
                <a:endParaRPr lang="ru-RU" sz="1200" dirty="0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30" y="2940953"/>
                <a:ext cx="2322290" cy="276999"/>
              </a:xfrm>
              <a:prstGeom prst="rect">
                <a:avLst/>
              </a:prstGeom>
              <a:blipFill rotWithShape="0">
                <a:blip r:embed="rId20"/>
                <a:stretch>
                  <a:fillRect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2140867" y="2947112"/>
                <a:ext cx="139720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latin typeface="Cambria Math" charset="0"/>
                            </a:rPr>
                            <m:t>𝑂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</a:rPr>
                        <m:t>𝐻</m:t>
                      </m:r>
                      <m:r>
                        <a:rPr lang="en-US" sz="1200" b="0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𝑂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</a:rPr>
                        <m:t>𝐶</m:t>
                      </m:r>
                      <m:r>
                        <a:rPr lang="en-US" sz="1200" b="0" i="1" smtClean="0">
                          <a:latin typeface="Cambria Math" charset="0"/>
                        </a:rPr>
                        <m:t>=3; 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0867" y="2947112"/>
                <a:ext cx="1397201" cy="276999"/>
              </a:xfrm>
              <a:prstGeom prst="rect">
                <a:avLst/>
              </a:prstGeom>
              <a:blipFill rotWithShape="0">
                <a:blip r:embed="rId21"/>
                <a:stretch>
                  <a:fillRect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3250634" y="2945703"/>
                <a:ext cx="8795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𝐻𝐵</m:t>
                      </m:r>
                      <m:r>
                        <a:rPr lang="en-US" sz="1200" b="0" i="1" smtClean="0">
                          <a:latin typeface="Cambria Math" charset="0"/>
                        </a:rPr>
                        <m:t>=1;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0634" y="2945703"/>
                <a:ext cx="879528" cy="276999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3892401" y="2945703"/>
                <a:ext cx="8795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𝐴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𝑂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</a:rPr>
                        <m:t>=4;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2401" y="2945703"/>
                <a:ext cx="879528" cy="276999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4527711" y="2944266"/>
                <a:ext cx="8795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𝐴𝐻</m:t>
                      </m:r>
                      <m:r>
                        <a:rPr lang="en-US" sz="1200" b="0" i="1" smtClean="0">
                          <a:latin typeface="Cambria Math" charset="0"/>
                        </a:rPr>
                        <m:t>=7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7711" y="2944266"/>
                <a:ext cx="879528" cy="276999"/>
              </a:xfrm>
              <a:prstGeom prst="rect">
                <a:avLst/>
              </a:prstGeom>
              <a:blipFill rotWithShape="0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-40683" y="3183847"/>
                <a:ext cx="15252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𝐻𝐵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: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𝐴𝐻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=1:7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683" y="3183847"/>
                <a:ext cx="1525234" cy="276999"/>
              </a:xfrm>
              <a:prstGeom prst="rect">
                <a:avLst/>
              </a:prstGeom>
              <a:blipFill rotWithShape="0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30081" y="3399437"/>
                <a:ext cx="134045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 smtClean="0"/>
                  <a:t>б</a:t>
                </a:r>
                <a:r>
                  <a:rPr lang="ru-RU" sz="1200" b="0" dirty="0" smtClean="0">
                    <a:solidFill>
                      <a:schemeClr val="tx1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𝑂𝐶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𝑂𝐵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𝑅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;</m:t>
                    </m:r>
                  </m:oMath>
                </a14:m>
                <a:endParaRPr lang="ru-RU" sz="1200" dirty="0"/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1" y="3399437"/>
                <a:ext cx="1340457" cy="276999"/>
              </a:xfrm>
              <a:prstGeom prst="rect">
                <a:avLst/>
              </a:prstGeom>
              <a:blipFill rotWithShape="0">
                <a:blip r:embed="rId26"/>
                <a:stretch>
                  <a:fillRect l="-455"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Прямая соединительная линия 79"/>
          <p:cNvCxnSpPr/>
          <p:nvPr/>
        </p:nvCxnSpPr>
        <p:spPr>
          <a:xfrm flipV="1">
            <a:off x="7310524" y="1754310"/>
            <a:ext cx="1040794" cy="656863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Прямая соединительная линия 81"/>
          <p:cNvCxnSpPr/>
          <p:nvPr/>
        </p:nvCxnSpPr>
        <p:spPr>
          <a:xfrm>
            <a:off x="7291953" y="2402005"/>
            <a:ext cx="1269456" cy="134558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27680" y="3638849"/>
                <a:ext cx="193495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 smtClean="0"/>
                  <a:t>Пусть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𝑂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𝑂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𝑥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; 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𝑂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𝑂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𝑦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. </m:t>
                    </m:r>
                  </m:oMath>
                </a14:m>
                <a:endParaRPr lang="ru-RU" sz="1200" dirty="0"/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0" y="3638849"/>
                <a:ext cx="1934955" cy="276999"/>
              </a:xfrm>
              <a:prstGeom prst="rect">
                <a:avLst/>
              </a:prstGeom>
              <a:blipFill rotWithShape="0">
                <a:blip r:embed="rId27"/>
                <a:stretch>
                  <a:fillRect l="-315" t="-80000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7089149" y="1959288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149" y="1959288"/>
                <a:ext cx="569966" cy="276999"/>
              </a:xfrm>
              <a:prstGeom prst="rect">
                <a:avLst/>
              </a:prstGeom>
              <a:blipFill rotWithShape="0"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7108317" y="2336368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𝑦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317" y="2336368"/>
                <a:ext cx="569966" cy="276999"/>
              </a:xfrm>
              <a:prstGeom prst="rect">
                <a:avLst/>
              </a:prstGeom>
              <a:blipFill rotWithShape="0"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1626172" y="3608416"/>
                <a:ext cx="1934955" cy="459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1200" i="1" smtClean="0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200" b="0" i="1" smtClean="0">
                                  <a:latin typeface="Cambria Math"/>
                                </a:rPr>
                              </m:ctrlPr>
                            </m:eqArrPr>
                            <m:e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𝑥</m:t>
                              </m:r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+</m:t>
                              </m:r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𝑦</m:t>
                              </m:r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=7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charset="0"/>
                                    </a:rPr>
                                    <m:t>4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eqArr>
                          <m:r>
                            <a:rPr lang="en-US" sz="1200" b="0" i="1" smtClean="0">
                              <a:latin typeface="Cambria Math" charset="0"/>
                            </a:rPr>
                            <m:t>;</m:t>
                          </m:r>
                        </m:e>
                      </m: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6172" y="3608416"/>
                <a:ext cx="1934955" cy="459549"/>
              </a:xfrm>
              <a:prstGeom prst="rect">
                <a:avLst/>
              </a:prstGeom>
              <a:blipFill rotWithShape="0">
                <a:blip r:embed="rId30"/>
                <a:stretch>
                  <a:fillRect l="-15457" t="-148000" b="-22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2893321" y="3619570"/>
                <a:ext cx="1934955" cy="459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1200" i="1" smtClean="0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200" b="0" i="1" smtClean="0">
                                  <a:latin typeface="Cambria Math"/>
                                </a:rPr>
                              </m:ctrlPr>
                            </m:eqArrPr>
                            <m:e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𝑥</m:t>
                              </m:r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+</m:t>
                              </m:r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𝑦</m:t>
                              </m:r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=7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=7</m:t>
                              </m:r>
                            </m:e>
                          </m:eqArr>
                          <m:r>
                            <a:rPr lang="en-US" sz="1200" b="0" i="1" smtClean="0">
                              <a:latin typeface="Cambria Math" charset="0"/>
                            </a:rPr>
                            <m:t>;</m:t>
                          </m:r>
                        </m:e>
                      </m: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3321" y="3619570"/>
                <a:ext cx="1934955" cy="459549"/>
              </a:xfrm>
              <a:prstGeom prst="rect">
                <a:avLst/>
              </a:prstGeom>
              <a:blipFill rotWithShape="0">
                <a:blip r:embed="rId31"/>
                <a:stretch>
                  <a:fillRect l="-4732" t="-148000" b="-22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4160470" y="3618133"/>
                <a:ext cx="1934955" cy="441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1200" i="1" smtClean="0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200" b="0" i="1" smtClean="0">
                                  <a:latin typeface="Cambria Math"/>
                                </a:rPr>
                              </m:ctrlPr>
                            </m:eqArrPr>
                            <m:e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𝑥</m:t>
                              </m:r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+</m:t>
                              </m:r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𝑦</m:t>
                              </m:r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=7</m:t>
                              </m:r>
                            </m:e>
                            <m:e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(</m:t>
                              </m:r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𝑥</m:t>
                              </m:r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𝑦</m:t>
                              </m:r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)(</m:t>
                              </m:r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𝑥</m:t>
                              </m:r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+</m:t>
                              </m:r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𝑦</m:t>
                              </m:r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)=7</m:t>
                              </m:r>
                            </m:e>
                          </m:eqArr>
                          <m:r>
                            <a:rPr lang="en-US" sz="1200" b="0" i="1" smtClean="0">
                              <a:latin typeface="Cambria Math" charset="0"/>
                            </a:rPr>
                            <m:t>;</m:t>
                          </m:r>
                        </m:e>
                      </m: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0470" y="3618133"/>
                <a:ext cx="1934955" cy="441916"/>
              </a:xfrm>
              <a:prstGeom prst="rect">
                <a:avLst/>
              </a:prstGeom>
              <a:blipFill rotWithShape="0">
                <a:blip r:embed="rId32"/>
                <a:stretch>
                  <a:fillRect l="-16352" t="-156944" b="-2305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-46786" y="4100715"/>
                <a:ext cx="1101699" cy="4358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1200" i="1" smtClean="0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200" b="0" i="1" smtClean="0">
                                  <a:latin typeface="Cambria Math"/>
                                </a:rPr>
                              </m:ctrlPr>
                            </m:eqArrPr>
                            <m:e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𝑥</m:t>
                              </m:r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+</m:t>
                              </m:r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𝑦</m:t>
                              </m:r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=7</m:t>
                              </m:r>
                            </m:e>
                            <m:e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𝑥</m:t>
                              </m:r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𝑦</m:t>
                              </m:r>
                              <m:r>
                                <a:rPr lang="en-US" sz="1200" b="0" i="1" smtClean="0">
                                  <a:latin typeface="Cambria Math" charset="0"/>
                                </a:rPr>
                                <m:t>=1</m:t>
                              </m:r>
                            </m:e>
                          </m:eqArr>
                          <m:r>
                            <a:rPr lang="en-US" sz="1200" b="0" i="1" smtClean="0">
                              <a:latin typeface="Cambria Math" charset="0"/>
                            </a:rPr>
                            <m:t>;</m:t>
                          </m:r>
                        </m:e>
                      </m: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6786" y="4100715"/>
                <a:ext cx="1101699" cy="435889"/>
              </a:xfrm>
              <a:prstGeom prst="rect">
                <a:avLst/>
              </a:prstGeom>
              <a:blipFill rotWithShape="0">
                <a:blip r:embed="rId33"/>
                <a:stretch>
                  <a:fillRect l="-38674" t="-159155" b="-2352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/>
              <p:cNvSpPr txBox="1"/>
              <p:nvPr/>
            </p:nvSpPr>
            <p:spPr>
              <a:xfrm>
                <a:off x="700309" y="4174434"/>
                <a:ext cx="110169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</a:rPr>
                        <m:t>2</m:t>
                      </m:r>
                      <m:r>
                        <a:rPr lang="en-US" sz="1200" b="0" i="1" smtClean="0">
                          <a:latin typeface="Cambria Math" charset="0"/>
                        </a:rPr>
                        <m:t>𝑥</m:t>
                      </m:r>
                      <m:r>
                        <a:rPr lang="en-US" sz="1200" b="0" i="1" smtClean="0">
                          <a:latin typeface="Cambria Math" charset="0"/>
                        </a:rPr>
                        <m:t>=8;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09" y="4174434"/>
                <a:ext cx="1101699" cy="276999"/>
              </a:xfrm>
              <a:prstGeom prst="rect">
                <a:avLst/>
              </a:prstGeom>
              <a:blipFill rotWithShape="0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/>
              <p:cNvSpPr txBox="1"/>
              <p:nvPr/>
            </p:nvSpPr>
            <p:spPr>
              <a:xfrm>
                <a:off x="1251158" y="4173879"/>
                <a:ext cx="110169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𝑥</m:t>
                      </m:r>
                      <m:r>
                        <a:rPr lang="en-US" sz="1200" b="0" i="1" smtClean="0">
                          <a:latin typeface="Cambria Math" charset="0"/>
                        </a:rPr>
                        <m:t>=4;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158" y="4173879"/>
                <a:ext cx="1101699" cy="276999"/>
              </a:xfrm>
              <a:prstGeom prst="rect">
                <a:avLst/>
              </a:prstGeom>
              <a:blipFill rotWithShape="0"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1953553" y="4183598"/>
                <a:ext cx="70154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𝑅</m:t>
                      </m:r>
                      <m:r>
                        <a:rPr lang="en-US" sz="1200" b="0" i="1" smtClean="0">
                          <a:latin typeface="Cambria Math" charset="0"/>
                        </a:rPr>
                        <m:t>=5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553" y="4183598"/>
                <a:ext cx="701540" cy="276999"/>
              </a:xfrm>
              <a:prstGeom prst="rect">
                <a:avLst/>
              </a:prstGeom>
              <a:blipFill rotWithShape="0"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/>
              <p:cNvSpPr txBox="1"/>
              <p:nvPr/>
            </p:nvSpPr>
            <p:spPr>
              <a:xfrm>
                <a:off x="2273501" y="4187834"/>
                <a:ext cx="16113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𝑆</m:t>
                      </m:r>
                      <m:r>
                        <a:rPr lang="en-US" sz="1200" b="0" i="1" smtClean="0">
                          <a:latin typeface="Cambria Math" charset="0"/>
                        </a:rPr>
                        <m:t>=4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𝜋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𝑅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7" name="TextBox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3501" y="4187834"/>
                <a:ext cx="1611368" cy="276999"/>
              </a:xfrm>
              <a:prstGeom prst="rect">
                <a:avLst/>
              </a:prstGeom>
              <a:blipFill rotWithShape="0"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/>
              <p:cNvSpPr txBox="1"/>
              <p:nvPr/>
            </p:nvSpPr>
            <p:spPr>
              <a:xfrm>
                <a:off x="3219812" y="4196286"/>
                <a:ext cx="95393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charset="0"/>
                        </a:rPr>
                        <m:t>100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𝜋</m:t>
                      </m:r>
                      <m:r>
                        <a:rPr lang="en-US" sz="1200" b="0" i="1" smtClean="0"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8" name="TextBox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9812" y="4196286"/>
                <a:ext cx="953930" cy="276999"/>
              </a:xfrm>
              <a:prstGeom prst="rect">
                <a:avLst/>
              </a:prstGeom>
              <a:blipFill rotWithShape="0"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4266461" y="4380243"/>
                <a:ext cx="15547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b="1" dirty="0" smtClean="0">
                    <a:solidFill>
                      <a:srgbClr val="FF0000"/>
                    </a:solidFill>
                  </a:rPr>
                  <a:t>Ответ: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𝟏𝟎𝟎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𝝅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.</m:t>
                    </m:r>
                  </m:oMath>
                </a14:m>
                <a:endParaRPr lang="ru-RU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6461" y="4380243"/>
                <a:ext cx="1554785" cy="369332"/>
              </a:xfrm>
              <a:prstGeom prst="rect">
                <a:avLst/>
              </a:prstGeom>
              <a:blipFill rotWithShape="0">
                <a:blip r:embed="rId39"/>
                <a:stretch>
                  <a:fillRect l="-3529" t="-10000" b="-2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1548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12" grpId="0" animBg="1"/>
      <p:bldP spid="17" grpId="0" animBg="1"/>
      <p:bldP spid="18" grpId="0" animBg="1"/>
      <p:bldP spid="21" grpId="0" animBg="1"/>
      <p:bldP spid="22" grpId="0" animBg="1"/>
      <p:bldP spid="23" grpId="0" animBg="1"/>
      <p:bldP spid="24" grpId="0" animBg="1"/>
      <p:bldP spid="30" grpId="0"/>
      <p:bldP spid="31" grpId="0"/>
      <p:bldP spid="32" grpId="0"/>
      <p:bldP spid="33" grpId="0" animBg="1"/>
      <p:bldP spid="34" grpId="0"/>
      <p:bldP spid="36" grpId="0"/>
      <p:bldP spid="37" grpId="0"/>
      <p:bldP spid="38" grpId="0"/>
      <p:bldP spid="39" grpId="0"/>
      <p:bldP spid="40" grpId="0"/>
      <p:bldP spid="41" grpId="0"/>
      <p:bldP spid="44" grpId="0"/>
      <p:bldP spid="45" grpId="0" animBg="1"/>
      <p:bldP spid="46" grpId="0"/>
      <p:bldP spid="53" grpId="0" animBg="1"/>
      <p:bldP spid="56" grpId="0"/>
      <p:bldP spid="57" grpId="0" animBg="1"/>
      <p:bldP spid="65" grpId="0"/>
      <p:bldP spid="66" grpId="0"/>
      <p:bldP spid="67" grpId="0"/>
      <p:bldP spid="68" grpId="0"/>
      <p:bldP spid="69" grpId="0"/>
      <p:bldP spid="70" grpId="0"/>
      <p:bldP spid="71" grpId="0" animBg="1"/>
      <p:bldP spid="73" grpId="0"/>
      <p:bldP spid="74" grpId="0"/>
      <p:bldP spid="75" grpId="0"/>
      <p:bldP spid="76" grpId="0"/>
      <p:bldP spid="77" grpId="0"/>
      <p:bldP spid="78" grpId="0"/>
      <p:bldP spid="79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46</a:t>
            </a:fld>
            <a:endParaRPr kumimoji="0" lang="ru-RU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0" y="-22135"/>
                <a:ext cx="9144000" cy="1297741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dirty="0" smtClean="0">
                    <a:solidFill>
                      <a:srgbClr val="7030A0"/>
                    </a:solidFill>
                  </a:rPr>
                  <a:t>27.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 Плоскость </a:t>
                </a:r>
                <a14:m>
                  <m:oMath xmlns:m="http://schemas.openxmlformats.org/officeDocument/2006/math"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𝜶</m:t>
                    </m:r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проходит через диаметр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сферы. Через точку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𝑩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проведена плоскость, касательная к сфере. На этой плоскости взята точка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𝑲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  <a:latin typeface="+mj-lt"/>
                  </a:rPr>
                  <a:t>, </a:t>
                </a:r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причем отрезок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𝑲𝑩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равен радиусу сферы. Луч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𝑨𝑲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пересекает сферу в точку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𝑴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Через точку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𝑴</m:t>
                    </m:r>
                  </m:oMath>
                </a14:m>
                <a:r>
                  <a:rPr lang="en-US" sz="1200" b="1" dirty="0" smtClean="0">
                    <a:solidFill>
                      <a:srgbClr val="002060"/>
                    </a:solidFill>
                    <a:latin typeface="+mj-lt"/>
                  </a:rPr>
                  <a:t>  </a:t>
                </a:r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проведена плоскость </a:t>
                </a:r>
                <a14:m>
                  <m:oMath xmlns:m="http://schemas.openxmlformats.org/officeDocument/2006/math"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𝜷</m:t>
                    </m:r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,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перпендикулярная прямой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𝑨𝑩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Отрезок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𝑪𝑫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mr-IN" sz="1200" b="1" dirty="0" smtClean="0">
                    <a:solidFill>
                      <a:srgbClr val="002060"/>
                    </a:solidFill>
                  </a:rPr>
                  <a:t>–</a:t>
                </a:r>
                <a:r>
                  <a:rPr lang="en-US" sz="1200" b="1" dirty="0" smtClean="0">
                    <a:solidFill>
                      <a:srgbClr val="002060"/>
                    </a:solidFill>
                  </a:rPr>
                  <a:t> 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общая хорда окружностей сечений сферы плоскостями </a:t>
                </a:r>
                <a14:m>
                  <m:oMath xmlns:m="http://schemas.openxmlformats.org/officeDocument/2006/math">
                    <m:r>
                      <a:rPr lang="ru-RU" sz="1200" b="1" i="1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𝜶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 и </a:t>
                </a:r>
                <a14:m>
                  <m:oMath xmlns:m="http://schemas.openxmlformats.org/officeDocument/2006/math">
                    <m:r>
                      <a:rPr lang="ru-RU" sz="1200" b="1" i="1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𝜷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.</a:t>
                </a:r>
                <a:endParaRPr lang="en-US" sz="1200" b="1" dirty="0" smtClean="0">
                  <a:solidFill>
                    <a:srgbClr val="002060"/>
                  </a:solidFill>
                  <a:latin typeface="+mj-lt"/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а)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Докажите, что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𝑪𝑫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mr-IN" sz="1200" b="1" dirty="0" smtClean="0">
                    <a:solidFill>
                      <a:srgbClr val="002060"/>
                    </a:solidFill>
                  </a:rPr>
                  <a:t>–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 диаметр окружности сечения сферы плоскостью </a:t>
                </a:r>
                <a14:m>
                  <m:oMath xmlns:m="http://schemas.openxmlformats.org/officeDocument/2006/math">
                    <m:r>
                      <a:rPr lang="ru-RU" sz="1200" b="1" i="1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𝜷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.</a:t>
                </a: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б)  Вершина конуса совпадает с точкой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𝑩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, а окружность основания  - с окружностью сечения сферы плоскостью </a:t>
                </a:r>
                <a14:m>
                  <m:oMath xmlns:m="http://schemas.openxmlformats.org/officeDocument/2006/math">
                    <m:r>
                      <a:rPr lang="ru-RU" sz="1200" b="1" i="1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𝜷</m:t>
                    </m:r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.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 Найдите объем конуса, если радиус сферы равен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𝟓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 </m:t>
                    </m:r>
                  </m:oMath>
                </a14:m>
                <a:endParaRPr lang="ru-RU" sz="1200" b="1" i="0" dirty="0" smtClean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5"/>
                <a:ext cx="9144000" cy="129774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Овал 4"/>
          <p:cNvSpPr/>
          <p:nvPr/>
        </p:nvSpPr>
        <p:spPr>
          <a:xfrm>
            <a:off x="5823054" y="1687016"/>
            <a:ext cx="2520280" cy="2448272"/>
          </a:xfrm>
          <a:prstGeom prst="ellipse">
            <a:avLst/>
          </a:prstGeom>
          <a:gradFill flip="none" rotWithShape="1">
            <a:gsLst>
              <a:gs pos="16000">
                <a:schemeClr val="accent1">
                  <a:alpha val="38000"/>
                  <a:lumMod val="0"/>
                  <a:lumOff val="10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 flipV="1">
            <a:off x="7085442" y="2983251"/>
            <a:ext cx="1257892" cy="27166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flipV="1">
            <a:off x="5813498" y="3010417"/>
            <a:ext cx="1287126" cy="5782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448965" y="2918826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965" y="2918826"/>
                <a:ext cx="569966" cy="27699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178498" y="2932442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8498" y="2932442"/>
                <a:ext cx="569966" cy="27699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Овал 9"/>
          <p:cNvSpPr/>
          <p:nvPr/>
        </p:nvSpPr>
        <p:spPr>
          <a:xfrm>
            <a:off x="7083554" y="2985005"/>
            <a:ext cx="45719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8318784" y="2958093"/>
            <a:ext cx="41563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821430" y="2993614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𝑂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1430" y="2993614"/>
                <a:ext cx="569966" cy="27699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Полилиния 18"/>
          <p:cNvSpPr/>
          <p:nvPr/>
        </p:nvSpPr>
        <p:spPr>
          <a:xfrm>
            <a:off x="7812000" y="1304102"/>
            <a:ext cx="955496" cy="3143892"/>
          </a:xfrm>
          <a:custGeom>
            <a:avLst/>
            <a:gdLst>
              <a:gd name="connsiteX0" fmla="*/ 10274 w 955496"/>
              <a:gd name="connsiteY0" fmla="*/ 606175 h 3143892"/>
              <a:gd name="connsiteX1" fmla="*/ 955496 w 955496"/>
              <a:gd name="connsiteY1" fmla="*/ 0 h 3143892"/>
              <a:gd name="connsiteX2" fmla="*/ 934948 w 955496"/>
              <a:gd name="connsiteY2" fmla="*/ 2547991 h 3143892"/>
              <a:gd name="connsiteX3" fmla="*/ 0 w 955496"/>
              <a:gd name="connsiteY3" fmla="*/ 3143892 h 3143892"/>
              <a:gd name="connsiteX4" fmla="*/ 10274 w 955496"/>
              <a:gd name="connsiteY4" fmla="*/ 606175 h 3143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5496" h="3143892">
                <a:moveTo>
                  <a:pt x="10274" y="606175"/>
                </a:moveTo>
                <a:lnTo>
                  <a:pt x="955496" y="0"/>
                </a:lnTo>
                <a:lnTo>
                  <a:pt x="934948" y="2547991"/>
                </a:lnTo>
                <a:lnTo>
                  <a:pt x="0" y="3143892"/>
                </a:lnTo>
                <a:cubicBezTo>
                  <a:pt x="3425" y="2297986"/>
                  <a:pt x="6849" y="1452081"/>
                  <a:pt x="10274" y="606175"/>
                </a:cubicBezTo>
                <a:close/>
              </a:path>
            </a:pathLst>
          </a:custGeom>
          <a:solidFill>
            <a:srgbClr val="FFC0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/>
          <p:cNvSpPr/>
          <p:nvPr/>
        </p:nvSpPr>
        <p:spPr>
          <a:xfrm>
            <a:off x="8664795" y="2059764"/>
            <a:ext cx="45719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8579120" y="1870745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𝐾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9120" y="1870745"/>
                <a:ext cx="569966" cy="276999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Прямая соединительная линия 23"/>
          <p:cNvCxnSpPr>
            <a:endCxn id="20" idx="3"/>
          </p:cNvCxnSpPr>
          <p:nvPr/>
        </p:nvCxnSpPr>
        <p:spPr>
          <a:xfrm flipV="1">
            <a:off x="8339565" y="2095240"/>
            <a:ext cx="331925" cy="885714"/>
          </a:xfrm>
          <a:prstGeom prst="line">
            <a:avLst/>
          </a:prstGeom>
          <a:ln>
            <a:solidFill>
              <a:srgbClr val="00206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Полилиния 28"/>
          <p:cNvSpPr/>
          <p:nvPr/>
        </p:nvSpPr>
        <p:spPr>
          <a:xfrm>
            <a:off x="7685070" y="2948683"/>
            <a:ext cx="10274" cy="113016"/>
          </a:xfrm>
          <a:custGeom>
            <a:avLst/>
            <a:gdLst>
              <a:gd name="connsiteX0" fmla="*/ 0 w 10274"/>
              <a:gd name="connsiteY0" fmla="*/ 0 h 113016"/>
              <a:gd name="connsiteX1" fmla="*/ 10274 w 10274"/>
              <a:gd name="connsiteY1" fmla="*/ 113016 h 113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274" h="113016">
                <a:moveTo>
                  <a:pt x="0" y="0"/>
                </a:moveTo>
                <a:lnTo>
                  <a:pt x="10274" y="113016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олилиния 29"/>
          <p:cNvSpPr/>
          <p:nvPr/>
        </p:nvSpPr>
        <p:spPr>
          <a:xfrm>
            <a:off x="8476180" y="2486346"/>
            <a:ext cx="123290" cy="51371"/>
          </a:xfrm>
          <a:custGeom>
            <a:avLst/>
            <a:gdLst>
              <a:gd name="connsiteX0" fmla="*/ 0 w 123290"/>
              <a:gd name="connsiteY0" fmla="*/ 0 h 51371"/>
              <a:gd name="connsiteX1" fmla="*/ 123290 w 123290"/>
              <a:gd name="connsiteY1" fmla="*/ 51371 h 51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3290" h="51371">
                <a:moveTo>
                  <a:pt x="0" y="0"/>
                </a:moveTo>
                <a:lnTo>
                  <a:pt x="123290" y="51371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1" name="Прямая соединительная линия 30"/>
          <p:cNvCxnSpPr>
            <a:stCxn id="41" idx="0"/>
            <a:endCxn id="20" idx="2"/>
          </p:cNvCxnSpPr>
          <p:nvPr/>
        </p:nvCxnSpPr>
        <p:spPr>
          <a:xfrm flipV="1">
            <a:off x="5837354" y="2080546"/>
            <a:ext cx="2827441" cy="916339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Овал 37"/>
          <p:cNvSpPr/>
          <p:nvPr/>
        </p:nvSpPr>
        <p:spPr>
          <a:xfrm>
            <a:off x="7772680" y="2355816"/>
            <a:ext cx="41563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Дуга 39"/>
          <p:cNvSpPr/>
          <p:nvPr/>
        </p:nvSpPr>
        <p:spPr>
          <a:xfrm rot="10800000">
            <a:off x="5828469" y="2748696"/>
            <a:ext cx="2500822" cy="533479"/>
          </a:xfrm>
          <a:prstGeom prst="arc">
            <a:avLst>
              <a:gd name="adj1" fmla="val 10774256"/>
              <a:gd name="adj2" fmla="val 1509"/>
            </a:avLst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Дуга 40"/>
          <p:cNvSpPr/>
          <p:nvPr/>
        </p:nvSpPr>
        <p:spPr>
          <a:xfrm>
            <a:off x="5837232" y="2730012"/>
            <a:ext cx="2522592" cy="541270"/>
          </a:xfrm>
          <a:prstGeom prst="arc">
            <a:avLst>
              <a:gd name="adj1" fmla="val 10810254"/>
              <a:gd name="adj2" fmla="val 21519506"/>
            </a:avLst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7400860" y="2161853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𝑀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0860" y="2161853"/>
                <a:ext cx="569966" cy="276999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Прямая соединительная линия 42"/>
          <p:cNvCxnSpPr>
            <a:stCxn id="13" idx="0"/>
            <a:endCxn id="38" idx="3"/>
          </p:cNvCxnSpPr>
          <p:nvPr/>
        </p:nvCxnSpPr>
        <p:spPr>
          <a:xfrm flipV="1">
            <a:off x="7106413" y="2391292"/>
            <a:ext cx="672354" cy="602322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Полилиния 47"/>
          <p:cNvSpPr/>
          <p:nvPr/>
        </p:nvSpPr>
        <p:spPr>
          <a:xfrm>
            <a:off x="8147407" y="2804845"/>
            <a:ext cx="267128" cy="184935"/>
          </a:xfrm>
          <a:custGeom>
            <a:avLst/>
            <a:gdLst>
              <a:gd name="connsiteX0" fmla="*/ 0 w 267128"/>
              <a:gd name="connsiteY0" fmla="*/ 184935 h 184935"/>
              <a:gd name="connsiteX1" fmla="*/ 92467 w 267128"/>
              <a:gd name="connsiteY1" fmla="*/ 0 h 184935"/>
              <a:gd name="connsiteX2" fmla="*/ 267128 w 267128"/>
              <a:gd name="connsiteY2" fmla="*/ 0 h 184935"/>
              <a:gd name="connsiteX3" fmla="*/ 205483 w 267128"/>
              <a:gd name="connsiteY3" fmla="*/ 174661 h 184935"/>
              <a:gd name="connsiteX4" fmla="*/ 0 w 267128"/>
              <a:gd name="connsiteY4" fmla="*/ 184935 h 184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128" h="184935">
                <a:moveTo>
                  <a:pt x="0" y="184935"/>
                </a:moveTo>
                <a:lnTo>
                  <a:pt x="92467" y="0"/>
                </a:lnTo>
                <a:lnTo>
                  <a:pt x="267128" y="0"/>
                </a:lnTo>
                <a:lnTo>
                  <a:pt x="205483" y="174661"/>
                </a:lnTo>
                <a:lnTo>
                  <a:pt x="0" y="184935"/>
                </a:lnTo>
                <a:close/>
              </a:path>
            </a:pathLst>
          </a:custGeom>
          <a:solidFill>
            <a:schemeClr val="bg1">
              <a:lumMod val="85000"/>
              <a:alpha val="40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Полилиния 49"/>
          <p:cNvSpPr/>
          <p:nvPr/>
        </p:nvSpPr>
        <p:spPr>
          <a:xfrm>
            <a:off x="7500135" y="2589088"/>
            <a:ext cx="92467" cy="71919"/>
          </a:xfrm>
          <a:custGeom>
            <a:avLst/>
            <a:gdLst>
              <a:gd name="connsiteX0" fmla="*/ 0 w 92467"/>
              <a:gd name="connsiteY0" fmla="*/ 0 h 71919"/>
              <a:gd name="connsiteX1" fmla="*/ 92467 w 92467"/>
              <a:gd name="connsiteY1" fmla="*/ 71919 h 71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2467" h="71919">
                <a:moveTo>
                  <a:pt x="0" y="0"/>
                </a:moveTo>
                <a:lnTo>
                  <a:pt x="92467" y="71919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Полилиния 50"/>
          <p:cNvSpPr/>
          <p:nvPr/>
        </p:nvSpPr>
        <p:spPr>
          <a:xfrm>
            <a:off x="5578867" y="3102796"/>
            <a:ext cx="462337" cy="328773"/>
          </a:xfrm>
          <a:custGeom>
            <a:avLst/>
            <a:gdLst>
              <a:gd name="connsiteX0" fmla="*/ 0 w 575352"/>
              <a:gd name="connsiteY0" fmla="*/ 472611 h 472611"/>
              <a:gd name="connsiteX1" fmla="*/ 143838 w 575352"/>
              <a:gd name="connsiteY1" fmla="*/ 133564 h 472611"/>
              <a:gd name="connsiteX2" fmla="*/ 575352 w 575352"/>
              <a:gd name="connsiteY2" fmla="*/ 0 h 472611"/>
              <a:gd name="connsiteX0" fmla="*/ 0 w 575352"/>
              <a:gd name="connsiteY0" fmla="*/ 472611 h 472611"/>
              <a:gd name="connsiteX1" fmla="*/ 256853 w 575352"/>
              <a:gd name="connsiteY1" fmla="*/ 92468 h 472611"/>
              <a:gd name="connsiteX2" fmla="*/ 575352 w 575352"/>
              <a:gd name="connsiteY2" fmla="*/ 0 h 472611"/>
              <a:gd name="connsiteX0" fmla="*/ 0 w 462337"/>
              <a:gd name="connsiteY0" fmla="*/ 328773 h 328773"/>
              <a:gd name="connsiteX1" fmla="*/ 143838 w 462337"/>
              <a:gd name="connsiteY1" fmla="*/ 92468 h 328773"/>
              <a:gd name="connsiteX2" fmla="*/ 462337 w 462337"/>
              <a:gd name="connsiteY2" fmla="*/ 0 h 328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2337" h="328773">
                <a:moveTo>
                  <a:pt x="0" y="328773"/>
                </a:moveTo>
                <a:cubicBezTo>
                  <a:pt x="23973" y="198633"/>
                  <a:pt x="66782" y="147264"/>
                  <a:pt x="143838" y="92468"/>
                </a:cubicBezTo>
                <a:cubicBezTo>
                  <a:pt x="220894" y="37673"/>
                  <a:pt x="462337" y="0"/>
                  <a:pt x="462337" y="0"/>
                </a:cubicBezTo>
              </a:path>
            </a:pathLst>
          </a:custGeom>
          <a:ln>
            <a:solidFill>
              <a:srgbClr val="00660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5505888" y="3239131"/>
                <a:ext cx="3899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𝛼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888" y="3239131"/>
                <a:ext cx="389923" cy="30777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Полилиния 52"/>
          <p:cNvSpPr/>
          <p:nvPr/>
        </p:nvSpPr>
        <p:spPr>
          <a:xfrm>
            <a:off x="7029493" y="1300066"/>
            <a:ext cx="955496" cy="3143892"/>
          </a:xfrm>
          <a:custGeom>
            <a:avLst/>
            <a:gdLst>
              <a:gd name="connsiteX0" fmla="*/ 10274 w 955496"/>
              <a:gd name="connsiteY0" fmla="*/ 606175 h 3143892"/>
              <a:gd name="connsiteX1" fmla="*/ 955496 w 955496"/>
              <a:gd name="connsiteY1" fmla="*/ 0 h 3143892"/>
              <a:gd name="connsiteX2" fmla="*/ 934948 w 955496"/>
              <a:gd name="connsiteY2" fmla="*/ 2547991 h 3143892"/>
              <a:gd name="connsiteX3" fmla="*/ 0 w 955496"/>
              <a:gd name="connsiteY3" fmla="*/ 3143892 h 3143892"/>
              <a:gd name="connsiteX4" fmla="*/ 10274 w 955496"/>
              <a:gd name="connsiteY4" fmla="*/ 606175 h 3143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5496" h="3143892">
                <a:moveTo>
                  <a:pt x="10274" y="606175"/>
                </a:moveTo>
                <a:lnTo>
                  <a:pt x="955496" y="0"/>
                </a:lnTo>
                <a:lnTo>
                  <a:pt x="934948" y="2547991"/>
                </a:lnTo>
                <a:lnTo>
                  <a:pt x="0" y="3143892"/>
                </a:lnTo>
                <a:cubicBezTo>
                  <a:pt x="3425" y="2297986"/>
                  <a:pt x="6849" y="1452081"/>
                  <a:pt x="10274" y="606175"/>
                </a:cubicBezTo>
                <a:close/>
              </a:path>
            </a:pathLst>
          </a:custGeom>
          <a:solidFill>
            <a:srgbClr val="92D05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4" name="Прямая соединительная линия 53"/>
          <p:cNvCxnSpPr/>
          <p:nvPr/>
        </p:nvCxnSpPr>
        <p:spPr>
          <a:xfrm flipV="1">
            <a:off x="7571984" y="2344307"/>
            <a:ext cx="235091" cy="634846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Овал 55"/>
          <p:cNvSpPr/>
          <p:nvPr/>
        </p:nvSpPr>
        <p:spPr>
          <a:xfrm>
            <a:off x="7554110" y="2979305"/>
            <a:ext cx="41563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7281577" y="2992143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𝐿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1577" y="2992143"/>
                <a:ext cx="569966" cy="276999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Полилиния 58"/>
          <p:cNvSpPr/>
          <p:nvPr/>
        </p:nvSpPr>
        <p:spPr>
          <a:xfrm>
            <a:off x="7360030" y="2813409"/>
            <a:ext cx="267128" cy="184935"/>
          </a:xfrm>
          <a:custGeom>
            <a:avLst/>
            <a:gdLst>
              <a:gd name="connsiteX0" fmla="*/ 0 w 267128"/>
              <a:gd name="connsiteY0" fmla="*/ 184935 h 184935"/>
              <a:gd name="connsiteX1" fmla="*/ 92467 w 267128"/>
              <a:gd name="connsiteY1" fmla="*/ 0 h 184935"/>
              <a:gd name="connsiteX2" fmla="*/ 267128 w 267128"/>
              <a:gd name="connsiteY2" fmla="*/ 0 h 184935"/>
              <a:gd name="connsiteX3" fmla="*/ 205483 w 267128"/>
              <a:gd name="connsiteY3" fmla="*/ 174661 h 184935"/>
              <a:gd name="connsiteX4" fmla="*/ 0 w 267128"/>
              <a:gd name="connsiteY4" fmla="*/ 184935 h 184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128" h="184935">
                <a:moveTo>
                  <a:pt x="0" y="184935"/>
                </a:moveTo>
                <a:lnTo>
                  <a:pt x="92467" y="0"/>
                </a:lnTo>
                <a:lnTo>
                  <a:pt x="267128" y="0"/>
                </a:lnTo>
                <a:lnTo>
                  <a:pt x="205483" y="174661"/>
                </a:lnTo>
                <a:lnTo>
                  <a:pt x="0" y="184935"/>
                </a:lnTo>
                <a:close/>
              </a:path>
            </a:pathLst>
          </a:custGeom>
          <a:solidFill>
            <a:schemeClr val="bg1">
              <a:lumMod val="85000"/>
              <a:alpha val="40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6959237" y="4028497"/>
                <a:ext cx="3899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𝛽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237" y="4028497"/>
                <a:ext cx="389923" cy="307777"/>
              </a:xfrm>
              <a:prstGeom prst="rect">
                <a:avLst/>
              </a:prstGeom>
              <a:blipFill rotWithShape="0">
                <a:blip r:embed="rId10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Дуга 60"/>
          <p:cNvSpPr/>
          <p:nvPr/>
        </p:nvSpPr>
        <p:spPr>
          <a:xfrm>
            <a:off x="7124414" y="1769348"/>
            <a:ext cx="732529" cy="2275754"/>
          </a:xfrm>
          <a:prstGeom prst="arc">
            <a:avLst>
              <a:gd name="adj1" fmla="val 16184627"/>
              <a:gd name="adj2" fmla="val 5251227"/>
            </a:avLst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Дуга 61"/>
          <p:cNvSpPr/>
          <p:nvPr/>
        </p:nvSpPr>
        <p:spPr>
          <a:xfrm rot="10800000">
            <a:off x="7143171" y="1766636"/>
            <a:ext cx="732529" cy="2292651"/>
          </a:xfrm>
          <a:prstGeom prst="arc">
            <a:avLst>
              <a:gd name="adj1" fmla="val 16124732"/>
              <a:gd name="adj2" fmla="val 5495606"/>
            </a:avLst>
          </a:prstGeom>
          <a:ln>
            <a:solidFill>
              <a:srgbClr val="00206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Овал 62"/>
          <p:cNvSpPr/>
          <p:nvPr/>
        </p:nvSpPr>
        <p:spPr>
          <a:xfrm>
            <a:off x="7848821" y="2771846"/>
            <a:ext cx="45719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вал 63"/>
          <p:cNvSpPr/>
          <p:nvPr/>
        </p:nvSpPr>
        <p:spPr>
          <a:xfrm>
            <a:off x="7158966" y="3263070"/>
            <a:ext cx="45719" cy="4156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7489292" y="2550160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9292" y="2550160"/>
                <a:ext cx="569966" cy="276999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6829717" y="3246504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𝐷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9717" y="3246504"/>
                <a:ext cx="569966" cy="276999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Прямая соединительная линия 66"/>
          <p:cNvCxnSpPr>
            <a:stCxn id="64" idx="3"/>
          </p:cNvCxnSpPr>
          <p:nvPr/>
        </p:nvCxnSpPr>
        <p:spPr>
          <a:xfrm flipV="1">
            <a:off x="7165661" y="2807528"/>
            <a:ext cx="679769" cy="491019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7842928" y="4003995"/>
                <a:ext cx="3899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𝛾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2928" y="4003995"/>
                <a:ext cx="389923" cy="307777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-31840" y="1307683"/>
                <a:ext cx="464050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 smtClean="0"/>
                  <a:t>а</a:t>
                </a:r>
                <a:r>
                  <a:rPr lang="ru-RU" sz="1200" b="0" dirty="0" smtClean="0">
                    <a:solidFill>
                      <a:schemeClr val="tx1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𝐴𝐵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⊥</m:t>
                    </m:r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𝛾</m:t>
                    </m:r>
                    <m:r>
                      <a:rPr lang="ru-RU" sz="1200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,</m:t>
                    </m:r>
                    <m:r>
                      <a:rPr lang="en-US" sz="1200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ru-RU" sz="1200" dirty="0" smtClean="0"/>
                  <a:t>так как касательная плоскость перпендикулярна радиусу, проведенному к точке касания. </a:t>
                </a:r>
                <a:endParaRPr lang="ru-RU" sz="1200" dirty="0"/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1840" y="1307683"/>
                <a:ext cx="4640509" cy="461665"/>
              </a:xfrm>
              <a:prstGeom prst="rect">
                <a:avLst/>
              </a:prstGeom>
              <a:blipFill rotWithShape="0">
                <a:blip r:embed="rId14"/>
                <a:stretch>
                  <a:fillRect l="-131" t="-49333" r="-263" b="-21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0" y="1715262"/>
                <a:ext cx="18288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𝐵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,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𝐾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∈</m:t>
                    </m:r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𝛾</m:t>
                    </m:r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𝐴𝐵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⊥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𝐵𝐾</m:t>
                    </m:r>
                  </m:oMath>
                </a14:m>
                <a:r>
                  <a:rPr lang="en-US" sz="1200" dirty="0" smtClean="0"/>
                  <a:t>;</a:t>
                </a:r>
                <a:endParaRPr lang="ru-RU" sz="1200" dirty="0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15262"/>
                <a:ext cx="1828851" cy="276999"/>
              </a:xfrm>
              <a:prstGeom prst="rect">
                <a:avLst/>
              </a:prstGeom>
              <a:blipFill rotWithShape="0">
                <a:blip r:embed="rId15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1548759" y="1718837"/>
                <a:ext cx="309174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𝑀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− </m:t>
                    </m:r>
                  </m:oMath>
                </a14:m>
                <a:r>
                  <a:rPr lang="ru-RU" sz="1200" dirty="0" smtClean="0"/>
                  <a:t>точка пересечения луча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charset="0"/>
                      </a:rPr>
                      <m:t>𝐴</m:t>
                    </m:r>
                    <m:r>
                      <a:rPr lang="en-US" sz="1200" b="0" i="1" smtClean="0">
                        <a:latin typeface="Cambria Math" charset="0"/>
                      </a:rPr>
                      <m:t>𝐾</m:t>
                    </m:r>
                  </m:oMath>
                </a14:m>
                <a:r>
                  <a:rPr lang="en-US" sz="1200" dirty="0" smtClean="0"/>
                  <a:t> </a:t>
                </a:r>
                <a:r>
                  <a:rPr lang="ru-RU" sz="1200" dirty="0" smtClean="0"/>
                  <a:t>со сферой.</a:t>
                </a:r>
                <a:endParaRPr lang="ru-RU" sz="1200" dirty="0"/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8759" y="1718837"/>
                <a:ext cx="3091749" cy="276999"/>
              </a:xfrm>
              <a:prstGeom prst="rect">
                <a:avLst/>
              </a:prstGeom>
              <a:blipFill rotWithShape="0">
                <a:blip r:embed="rId16"/>
                <a:stretch>
                  <a:fillRect t="-80000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-20457" y="1921264"/>
                <a:ext cx="6356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𝛽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∥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𝛾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457" y="1921264"/>
                <a:ext cx="635646" cy="276999"/>
              </a:xfrm>
              <a:prstGeom prst="rect">
                <a:avLst/>
              </a:prstGeom>
              <a:blipFill rotWithShape="0">
                <a:blip r:embed="rId17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4194327" y="1725557"/>
                <a:ext cx="1163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𝑀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∈</m:t>
                      </m:r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𝛽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327" y="1725557"/>
                <a:ext cx="1163419" cy="276999"/>
              </a:xfrm>
              <a:prstGeom prst="rect">
                <a:avLst/>
              </a:prstGeom>
              <a:blipFill rotWithShape="0">
                <a:blip r:embed="rId18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437516" y="1927088"/>
                <a:ext cx="150501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smtClean="0">
                    <a:latin typeface="+mj-lt"/>
                    <a:ea typeface="Cambria Math" charset="0"/>
                    <a:cs typeface="Cambria Math" charset="0"/>
                  </a:rPr>
                  <a:t>, </a:t>
                </a:r>
                <a:r>
                  <a:rPr lang="ru-RU" sz="1200" i="0" smtClean="0">
                    <a:latin typeface="+mj-lt"/>
                    <a:ea typeface="Cambria Math" charset="0"/>
                    <a:cs typeface="Cambria Math" charset="0"/>
                  </a:rPr>
                  <a:t>т</a:t>
                </a:r>
                <a:r>
                  <a:rPr lang="ru-RU" sz="1200" b="0" i="0" smtClean="0">
                    <a:latin typeface="+mj-lt"/>
                    <a:ea typeface="Cambria Math" charset="0"/>
                    <a:cs typeface="Cambria Math" charset="0"/>
                  </a:rPr>
                  <a:t>ак </a:t>
                </a:r>
                <a:r>
                  <a:rPr lang="ru-RU" sz="1200" b="0" i="0" dirty="0" smtClean="0">
                    <a:latin typeface="+mj-lt"/>
                    <a:ea typeface="Cambria Math" charset="0"/>
                    <a:cs typeface="Cambria Math" charset="0"/>
                  </a:rPr>
                  <a:t>как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𝐴𝐵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⊥</m:t>
                    </m:r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𝛽</m:t>
                    </m:r>
                  </m:oMath>
                </a14:m>
                <a:endParaRPr lang="ru-RU" sz="1200" dirty="0"/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516" y="1927088"/>
                <a:ext cx="1505012" cy="276999"/>
              </a:xfrm>
              <a:prstGeom prst="rect">
                <a:avLst/>
              </a:prstGeom>
              <a:blipFill rotWithShape="0">
                <a:blip r:embed="rId19"/>
                <a:stretch>
                  <a:fillRect l="-405"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-4344" y="2178636"/>
                <a:ext cx="98914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𝐿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𝐴𝐵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∩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𝛽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344" y="2178636"/>
                <a:ext cx="989149" cy="276999"/>
              </a:xfrm>
              <a:prstGeom prst="rect">
                <a:avLst/>
              </a:prstGeom>
              <a:blipFill rotWithShape="0">
                <a:blip r:embed="rId20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-11504" y="3259524"/>
                <a:ext cx="12800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b="0" dirty="0" smtClean="0">
                    <a:ea typeface="Cambria Math" charset="0"/>
                    <a:cs typeface="Cambria Math" charset="0"/>
                  </a:rPr>
                  <a:t>б)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𝑀</m:t>
                    </m:r>
                    <m:r>
                      <a:rPr lang="en-US" sz="12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𝐿</m:t>
                    </m:r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⊥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𝐴𝐵</m:t>
                    </m:r>
                    <m:r>
                      <a:rPr lang="ru-RU" sz="1200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;</m:t>
                    </m:r>
                  </m:oMath>
                </a14:m>
                <a:endParaRPr lang="ru-RU" sz="1200" dirty="0"/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504" y="3259524"/>
                <a:ext cx="1280086" cy="276999"/>
              </a:xfrm>
              <a:prstGeom prst="rect">
                <a:avLst/>
              </a:prstGeom>
              <a:blipFill rotWithShape="0">
                <a:blip r:embed="rId21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821158" y="3254519"/>
                <a:ext cx="9624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𝐵𝐾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⊥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𝐴𝐵</m:t>
                      </m:r>
                      <m:r>
                        <a:rPr lang="en-US" sz="1200" b="0" i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158" y="3254519"/>
                <a:ext cx="962472" cy="276999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1405511" y="3254906"/>
                <a:ext cx="169014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𝑀𝐿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,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𝐵𝐾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∈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(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𝐴𝐵𝐾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)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5511" y="3254906"/>
                <a:ext cx="1690145" cy="276999"/>
              </a:xfrm>
              <a:prstGeom prst="rect">
                <a:avLst/>
              </a:prstGeom>
              <a:blipFill rotWithShape="0">
                <a:blip r:embed="rId23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876890" y="2175513"/>
                <a:ext cx="40660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  <m:r>
                      <a:rPr lang="en-US" sz="12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𝐿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−</m:t>
                    </m:r>
                  </m:oMath>
                </a14:m>
                <a:r>
                  <a:rPr lang="ru-RU" sz="1200" b="0" i="0" dirty="0" smtClean="0">
                    <a:latin typeface="+mj-lt"/>
                    <a:ea typeface="Cambria Math" charset="0"/>
                    <a:cs typeface="Cambria Math" charset="0"/>
                  </a:rPr>
                  <a:t>центр окружности сечения  сферы плоскостью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𝛽</m:t>
                    </m:r>
                    <m:r>
                      <a:rPr lang="ru-RU" sz="1200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,</m:t>
                    </m:r>
                  </m:oMath>
                </a14:m>
                <a:endParaRPr lang="ru-RU" sz="1200" dirty="0"/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890" y="2175513"/>
                <a:ext cx="4066019" cy="276999"/>
              </a:xfrm>
              <a:prstGeom prst="rect">
                <a:avLst/>
              </a:prstGeom>
              <a:blipFill rotWithShape="0">
                <a:blip r:embed="rId25"/>
                <a:stretch>
                  <a:fillRect t="-80000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TextBox 84"/>
          <p:cNvSpPr txBox="1"/>
          <p:nvPr/>
        </p:nvSpPr>
        <p:spPr>
          <a:xfrm>
            <a:off x="1484" y="2383416"/>
            <a:ext cx="5232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так как основание перпендикуляра, опущенного из центра сферы на секущую плоскость есть центр окружности сечения сферы этой плоскостью.  </a:t>
            </a:r>
            <a:endParaRPr lang="ru-RU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-104875" y="2800720"/>
                <a:ext cx="127797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𝐶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𝐷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𝛼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∩</m:t>
                      </m:r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𝛽</m:t>
                      </m:r>
                      <m:r>
                        <a:rPr lang="en-US" sz="1200" b="0" i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  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4875" y="2800720"/>
                <a:ext cx="1277975" cy="276999"/>
              </a:xfrm>
              <a:prstGeom prst="rect">
                <a:avLst/>
              </a:prstGeom>
              <a:blipFill rotWithShape="0">
                <a:blip r:embed="rId26"/>
                <a:stretch>
                  <a:fillRect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683001" y="2819016"/>
                <a:ext cx="160034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𝐶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, 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𝐷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, 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𝐿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∈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𝐶𝐷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001" y="2819016"/>
                <a:ext cx="1600340" cy="276999"/>
              </a:xfrm>
              <a:prstGeom prst="rect">
                <a:avLst/>
              </a:prstGeom>
              <a:blipFill rotWithShape="0"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13213" y="3003812"/>
                <a:ext cx="496879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𝐶𝐷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−</m:t>
                    </m:r>
                  </m:oMath>
                </a14:m>
                <a:r>
                  <a:rPr lang="en-US" sz="1200" dirty="0" smtClean="0"/>
                  <a:t> </a:t>
                </a:r>
                <a:r>
                  <a:rPr lang="ru-RU" sz="1200" dirty="0" smtClean="0"/>
                  <a:t>диаметр окружности сечения сферы плоскостью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𝛽</m:t>
                    </m:r>
                  </m:oMath>
                </a14:m>
                <a:endParaRPr lang="ru-RU" sz="1200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13" y="3003812"/>
                <a:ext cx="4968799" cy="276999"/>
              </a:xfrm>
              <a:prstGeom prst="rect">
                <a:avLst/>
              </a:prstGeom>
              <a:blipFill rotWithShape="0">
                <a:blip r:embed="rId28"/>
                <a:stretch>
                  <a:fillRect t="-80000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9" name="Прямая соединительная линия 88"/>
          <p:cNvCxnSpPr>
            <a:endCxn id="48" idx="3"/>
          </p:cNvCxnSpPr>
          <p:nvPr/>
        </p:nvCxnSpPr>
        <p:spPr>
          <a:xfrm>
            <a:off x="7642382" y="1873103"/>
            <a:ext cx="710508" cy="1106403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Прямая соединительная линия 91"/>
          <p:cNvCxnSpPr>
            <a:endCxn id="48" idx="3"/>
          </p:cNvCxnSpPr>
          <p:nvPr/>
        </p:nvCxnSpPr>
        <p:spPr>
          <a:xfrm flipV="1">
            <a:off x="7634186" y="2979506"/>
            <a:ext cx="718704" cy="977432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2777711" y="3259791"/>
                <a:ext cx="98914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𝑀𝐿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∥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𝐵𝐾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7711" y="3259791"/>
                <a:ext cx="989149" cy="276999"/>
              </a:xfrm>
              <a:prstGeom prst="rect">
                <a:avLst/>
              </a:prstGeom>
              <a:blipFill rotWithShape="0"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Прямоугольный треугольник 99"/>
          <p:cNvSpPr/>
          <p:nvPr/>
        </p:nvSpPr>
        <p:spPr>
          <a:xfrm>
            <a:off x="4867526" y="3070941"/>
            <a:ext cx="914400" cy="1721189"/>
          </a:xfrm>
          <a:prstGeom prst="rtTriangle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1" name="Овал 100"/>
          <p:cNvSpPr/>
          <p:nvPr/>
        </p:nvSpPr>
        <p:spPr>
          <a:xfrm>
            <a:off x="4852241" y="3933862"/>
            <a:ext cx="41563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/>
              <p:cNvSpPr txBox="1"/>
              <p:nvPr/>
            </p:nvSpPr>
            <p:spPr>
              <a:xfrm>
                <a:off x="4471935" y="2938924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1935" y="2938924"/>
                <a:ext cx="569966" cy="276999"/>
              </a:xfrm>
              <a:prstGeom prst="rect">
                <a:avLst/>
              </a:prstGeom>
              <a:blipFill rotWithShape="0"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/>
              <p:cNvSpPr txBox="1"/>
              <p:nvPr/>
            </p:nvSpPr>
            <p:spPr>
              <a:xfrm>
                <a:off x="4471935" y="4694689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4" name="TextBox 1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1935" y="4694689"/>
                <a:ext cx="569966" cy="276999"/>
              </a:xfrm>
              <a:prstGeom prst="rect">
                <a:avLst/>
              </a:prstGeom>
              <a:blipFill rotWithShape="0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/>
              <p:cNvSpPr txBox="1"/>
              <p:nvPr/>
            </p:nvSpPr>
            <p:spPr>
              <a:xfrm>
                <a:off x="5610828" y="4694689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𝐾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5" name="Text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828" y="4694689"/>
                <a:ext cx="569966" cy="276999"/>
              </a:xfrm>
              <a:prstGeom prst="rect">
                <a:avLst/>
              </a:prstGeom>
              <a:blipFill rotWithShape="0"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/>
              <p:cNvSpPr txBox="1"/>
              <p:nvPr/>
            </p:nvSpPr>
            <p:spPr>
              <a:xfrm>
                <a:off x="4468658" y="3866754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𝑂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6" name="TextBox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8658" y="3866754"/>
                <a:ext cx="569966" cy="276999"/>
              </a:xfrm>
              <a:prstGeom prst="rect">
                <a:avLst/>
              </a:prstGeom>
              <a:blipFill rotWithShape="0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Прямая соединительная линия 106"/>
          <p:cNvCxnSpPr/>
          <p:nvPr/>
        </p:nvCxnSpPr>
        <p:spPr>
          <a:xfrm flipH="1" flipV="1">
            <a:off x="4876775" y="3966620"/>
            <a:ext cx="677471" cy="397953"/>
          </a:xfrm>
          <a:prstGeom prst="line">
            <a:avLst/>
          </a:prstGeom>
          <a:ln>
            <a:solidFill>
              <a:srgbClr val="00206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Прямоугольник 109"/>
          <p:cNvSpPr/>
          <p:nvPr/>
        </p:nvSpPr>
        <p:spPr>
          <a:xfrm>
            <a:off x="4883296" y="4619868"/>
            <a:ext cx="165602" cy="160390"/>
          </a:xfrm>
          <a:prstGeom prst="rect">
            <a:avLst/>
          </a:prstGeom>
          <a:solidFill>
            <a:schemeClr val="bg1">
              <a:lumMod val="85000"/>
              <a:alpha val="2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2" name="Овал 111"/>
          <p:cNvSpPr/>
          <p:nvPr/>
        </p:nvSpPr>
        <p:spPr>
          <a:xfrm>
            <a:off x="5540852" y="4348911"/>
            <a:ext cx="41563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3" name="Овал 112"/>
          <p:cNvSpPr/>
          <p:nvPr/>
        </p:nvSpPr>
        <p:spPr>
          <a:xfrm>
            <a:off x="4859584" y="4324145"/>
            <a:ext cx="45719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/>
              <p:cNvSpPr txBox="1"/>
              <p:nvPr/>
            </p:nvSpPr>
            <p:spPr>
              <a:xfrm>
                <a:off x="5414386" y="4170995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𝑀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14" name="TextBox 1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386" y="4170995"/>
                <a:ext cx="569966" cy="276999"/>
              </a:xfrm>
              <a:prstGeom prst="rect">
                <a:avLst/>
              </a:prstGeom>
              <a:blipFill rotWithShape="0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/>
              <p:cNvSpPr txBox="1"/>
              <p:nvPr/>
            </p:nvSpPr>
            <p:spPr>
              <a:xfrm>
                <a:off x="-4345" y="3541676"/>
                <a:ext cx="172170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𝑂𝐴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𝑂𝐵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𝑂𝑀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𝐵𝐾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15" name="TextBox 1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345" y="3541676"/>
                <a:ext cx="1721707" cy="276999"/>
              </a:xfrm>
              <a:prstGeom prst="rect">
                <a:avLst/>
              </a:prstGeom>
              <a:blipFill rotWithShape="0"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Полилиния 115"/>
          <p:cNvSpPr/>
          <p:nvPr/>
        </p:nvSpPr>
        <p:spPr>
          <a:xfrm>
            <a:off x="4818580" y="3544584"/>
            <a:ext cx="123290" cy="10274"/>
          </a:xfrm>
          <a:custGeom>
            <a:avLst/>
            <a:gdLst>
              <a:gd name="connsiteX0" fmla="*/ 0 w 123290"/>
              <a:gd name="connsiteY0" fmla="*/ 0 h 10274"/>
              <a:gd name="connsiteX1" fmla="*/ 123290 w 123290"/>
              <a:gd name="connsiteY1" fmla="*/ 10274 h 10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3290" h="10274">
                <a:moveTo>
                  <a:pt x="0" y="0"/>
                </a:moveTo>
                <a:lnTo>
                  <a:pt x="123290" y="10274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7" name="Полилиния 116"/>
          <p:cNvSpPr/>
          <p:nvPr/>
        </p:nvSpPr>
        <p:spPr>
          <a:xfrm>
            <a:off x="4818580" y="4423409"/>
            <a:ext cx="113016" cy="20549"/>
          </a:xfrm>
          <a:custGeom>
            <a:avLst/>
            <a:gdLst>
              <a:gd name="connsiteX0" fmla="*/ 0 w 113016"/>
              <a:gd name="connsiteY0" fmla="*/ 0 h 20549"/>
              <a:gd name="connsiteX1" fmla="*/ 113016 w 113016"/>
              <a:gd name="connsiteY1" fmla="*/ 20549 h 2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3016" h="20549">
                <a:moveTo>
                  <a:pt x="0" y="0"/>
                </a:moveTo>
                <a:lnTo>
                  <a:pt x="113016" y="20549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8" name="Полилиния 117"/>
          <p:cNvSpPr/>
          <p:nvPr/>
        </p:nvSpPr>
        <p:spPr>
          <a:xfrm>
            <a:off x="5188449" y="4089115"/>
            <a:ext cx="41097" cy="123289"/>
          </a:xfrm>
          <a:custGeom>
            <a:avLst/>
            <a:gdLst>
              <a:gd name="connsiteX0" fmla="*/ 41097 w 41097"/>
              <a:gd name="connsiteY0" fmla="*/ 0 h 123289"/>
              <a:gd name="connsiteX1" fmla="*/ 0 w 41097"/>
              <a:gd name="connsiteY1" fmla="*/ 123289 h 123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097" h="123289">
                <a:moveTo>
                  <a:pt x="41097" y="0"/>
                </a:moveTo>
                <a:lnTo>
                  <a:pt x="0" y="123289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9" name="Прямая соединительная линия 118"/>
          <p:cNvCxnSpPr/>
          <p:nvPr/>
        </p:nvCxnSpPr>
        <p:spPr>
          <a:xfrm flipH="1" flipV="1">
            <a:off x="4883296" y="4347984"/>
            <a:ext cx="683351" cy="14121"/>
          </a:xfrm>
          <a:prstGeom prst="line">
            <a:avLst/>
          </a:prstGeom>
          <a:ln>
            <a:solidFill>
              <a:srgbClr val="00206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Прямоугольник 123"/>
          <p:cNvSpPr/>
          <p:nvPr/>
        </p:nvSpPr>
        <p:spPr>
          <a:xfrm>
            <a:off x="4880580" y="4176564"/>
            <a:ext cx="165602" cy="160390"/>
          </a:xfrm>
          <a:prstGeom prst="rect">
            <a:avLst/>
          </a:prstGeom>
          <a:solidFill>
            <a:schemeClr val="bg1">
              <a:lumMod val="85000"/>
              <a:alpha val="2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5" name="Полилиния 124"/>
          <p:cNvSpPr/>
          <p:nvPr/>
        </p:nvSpPr>
        <p:spPr>
          <a:xfrm>
            <a:off x="5320301" y="4732079"/>
            <a:ext cx="41097" cy="123289"/>
          </a:xfrm>
          <a:custGeom>
            <a:avLst/>
            <a:gdLst>
              <a:gd name="connsiteX0" fmla="*/ 41097 w 41097"/>
              <a:gd name="connsiteY0" fmla="*/ 0 h 123289"/>
              <a:gd name="connsiteX1" fmla="*/ 0 w 41097"/>
              <a:gd name="connsiteY1" fmla="*/ 123289 h 123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097" h="123289">
                <a:moveTo>
                  <a:pt x="41097" y="0"/>
                </a:moveTo>
                <a:lnTo>
                  <a:pt x="0" y="123289"/>
                </a:lnTo>
              </a:path>
            </a:pathLst>
          </a:cu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/>
              <p:cNvSpPr txBox="1"/>
              <p:nvPr/>
            </p:nvSpPr>
            <p:spPr>
              <a:xfrm>
                <a:off x="4499289" y="4204391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𝐿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28" name="TextBox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289" y="4204391"/>
                <a:ext cx="569966" cy="276999"/>
              </a:xfrm>
              <a:prstGeom prst="rect">
                <a:avLst/>
              </a:prstGeom>
              <a:blipFill rotWithShape="0"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/>
              <p:cNvSpPr txBox="1"/>
              <p:nvPr/>
            </p:nvSpPr>
            <p:spPr>
              <a:xfrm>
                <a:off x="1426665" y="3544052"/>
                <a:ext cx="172170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∠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𝑂𝐴𝑀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=∠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𝑂𝑀𝐴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29" name="TextBox 1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6665" y="3544052"/>
                <a:ext cx="1721707" cy="276999"/>
              </a:xfrm>
              <a:prstGeom prst="rect">
                <a:avLst/>
              </a:prstGeom>
              <a:blipFill rotWithShape="0"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/>
              <p:cNvSpPr txBox="1"/>
              <p:nvPr/>
            </p:nvSpPr>
            <p:spPr>
              <a:xfrm>
                <a:off x="-148443" y="3724440"/>
                <a:ext cx="27458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𝑡𝑔</m:t>
                      </m:r>
                      <m:d>
                        <m:d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∠</m:t>
                          </m:r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𝑂𝐴𝑀</m:t>
                          </m:r>
                        </m:e>
                      </m:d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𝐵𝐾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𝐴𝐵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ru-RU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из ∆</m:t>
                          </m:r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𝐴𝐵𝐾</m:t>
                          </m:r>
                        </m:e>
                      </m:d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31" name="TextBox 1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8443" y="3724440"/>
                <a:ext cx="2745832" cy="438005"/>
              </a:xfrm>
              <a:prstGeom prst="rect">
                <a:avLst/>
              </a:prstGeom>
              <a:blipFill rotWithShape="0">
                <a:blip r:embed="rId38"/>
                <a:stretch>
                  <a:fillRect t="-27778" b="-486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/>
              <p:cNvSpPr txBox="1"/>
              <p:nvPr/>
            </p:nvSpPr>
            <p:spPr>
              <a:xfrm>
                <a:off x="2366191" y="3819572"/>
                <a:ext cx="138807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∠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𝐿𝑂𝑀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=2∠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𝑂𝐴𝑀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32" name="TextBox 1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6191" y="3819572"/>
                <a:ext cx="1388076" cy="276999"/>
              </a:xfrm>
              <a:prstGeom prst="rect">
                <a:avLst/>
              </a:prstGeom>
              <a:blipFill rotWithShape="0"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/>
              <p:cNvSpPr txBox="1"/>
              <p:nvPr/>
            </p:nvSpPr>
            <p:spPr>
              <a:xfrm>
                <a:off x="-20457" y="4018500"/>
                <a:ext cx="1768341" cy="748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𝑡𝑔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(∠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𝐿𝑂𝑀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)=</m:t>
                      </m:r>
                      <m:f>
                        <m:fPr>
                          <m:ctrlPr>
                            <a:rPr lang="mr-IN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2∙</m:t>
                          </m:r>
                          <m:f>
                            <m:fPr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den>
                          </m:f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200" b="0" i="1" smtClean="0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200" b="0" i="1" smtClean="0">
                                          <a:latin typeface="Cambria Math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200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1200" b="0" i="1" smtClean="0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33" name="TextBox 1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457" y="4018500"/>
                <a:ext cx="1768341" cy="748666"/>
              </a:xfrm>
              <a:prstGeom prst="rect">
                <a:avLst/>
              </a:prstGeom>
              <a:blipFill rotWithShape="0"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/>
              <p:cNvSpPr txBox="1"/>
              <p:nvPr/>
            </p:nvSpPr>
            <p:spPr>
              <a:xfrm>
                <a:off x="1377265" y="4143753"/>
                <a:ext cx="833459" cy="438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4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35" name="TextBox 1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7265" y="4143753"/>
                <a:ext cx="833459" cy="438582"/>
              </a:xfrm>
              <a:prstGeom prst="rect">
                <a:avLst/>
              </a:prstGeom>
              <a:blipFill rotWithShape="0"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Сектор 135"/>
          <p:cNvSpPr/>
          <p:nvPr/>
        </p:nvSpPr>
        <p:spPr>
          <a:xfrm>
            <a:off x="4604564" y="2801697"/>
            <a:ext cx="541048" cy="554691"/>
          </a:xfrm>
          <a:prstGeom prst="pie">
            <a:avLst>
              <a:gd name="adj1" fmla="val 3686305"/>
              <a:gd name="adj2" fmla="val 5400000"/>
            </a:avLst>
          </a:prstGeom>
          <a:solidFill>
            <a:srgbClr val="339933">
              <a:alpha val="36000"/>
            </a:srgbClr>
          </a:solidFill>
          <a:ln w="63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37" name="Сектор 136"/>
          <p:cNvSpPr/>
          <p:nvPr/>
        </p:nvSpPr>
        <p:spPr>
          <a:xfrm rot="8998797">
            <a:off x="5301150" y="4094537"/>
            <a:ext cx="541048" cy="554691"/>
          </a:xfrm>
          <a:prstGeom prst="pie">
            <a:avLst>
              <a:gd name="adj1" fmla="val 3686305"/>
              <a:gd name="adj2" fmla="val 5400000"/>
            </a:avLst>
          </a:prstGeom>
          <a:solidFill>
            <a:srgbClr val="339933">
              <a:alpha val="36000"/>
            </a:srgbClr>
          </a:solidFill>
          <a:ln w="63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/>
              <p:cNvSpPr txBox="1"/>
              <p:nvPr/>
            </p:nvSpPr>
            <p:spPr>
              <a:xfrm>
                <a:off x="1984790" y="4143689"/>
                <a:ext cx="833459" cy="438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𝐿𝑀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𝑂𝐿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4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den>
                      </m:f>
                      <m:r>
                        <a:rPr lang="en-US" sz="1200" b="0" i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.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38" name="TextBox 1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4790" y="4143689"/>
                <a:ext cx="833459" cy="438646"/>
              </a:xfrm>
              <a:prstGeom prst="rect">
                <a:avLst/>
              </a:prstGeom>
              <a:blipFill rotWithShape="0"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/>
              <p:cNvSpPr txBox="1"/>
              <p:nvPr/>
            </p:nvSpPr>
            <p:spPr>
              <a:xfrm>
                <a:off x="264914" y="4653630"/>
                <a:ext cx="117863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𝑂𝑀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=5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𝑥</m:t>
                      </m:r>
                    </m:oMath>
                  </m:oMathPara>
                </a14:m>
                <a:endParaRPr lang="ru-RU" sz="1200" i="1" dirty="0"/>
              </a:p>
            </p:txBody>
          </p:sp>
        </mc:Choice>
        <mc:Fallback xmlns="">
          <p:sp>
            <p:nvSpPr>
              <p:cNvPr id="139" name="TextBox 1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14" y="4653630"/>
                <a:ext cx="1178630" cy="276999"/>
              </a:xfrm>
              <a:prstGeom prst="rect">
                <a:avLst/>
              </a:prstGeom>
              <a:blipFill rotWithShape="0"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/>
              <p:cNvSpPr txBox="1"/>
              <p:nvPr/>
            </p:nvSpPr>
            <p:spPr>
              <a:xfrm>
                <a:off x="1228245" y="4653629"/>
                <a:ext cx="36174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5;</m:t>
                      </m:r>
                    </m:oMath>
                  </m:oMathPara>
                </a14:m>
                <a:endParaRPr lang="ru-RU" sz="1200" i="1" dirty="0"/>
              </a:p>
            </p:txBody>
          </p:sp>
        </mc:Choice>
        <mc:Fallback xmlns="">
          <p:sp>
            <p:nvSpPr>
              <p:cNvPr id="140" name="TextBox 1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8245" y="4653629"/>
                <a:ext cx="361743" cy="276999"/>
              </a:xfrm>
              <a:prstGeom prst="rect">
                <a:avLst/>
              </a:prstGeom>
              <a:blipFill rotWithShape="0">
                <a:blip r:embed="rId44"/>
                <a:stretch>
                  <a:fillRect r="-1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/>
              <p:cNvSpPr txBox="1"/>
              <p:nvPr/>
            </p:nvSpPr>
            <p:spPr>
              <a:xfrm>
                <a:off x="1502339" y="4652032"/>
                <a:ext cx="77618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𝑥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=1;</m:t>
                      </m:r>
                    </m:oMath>
                  </m:oMathPara>
                </a14:m>
                <a:endParaRPr lang="ru-RU" sz="1200" i="1" dirty="0"/>
              </a:p>
            </p:txBody>
          </p:sp>
        </mc:Choice>
        <mc:Fallback xmlns="">
          <p:sp>
            <p:nvSpPr>
              <p:cNvPr id="141" name="TextBox 1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2339" y="4652032"/>
                <a:ext cx="776189" cy="276999"/>
              </a:xfrm>
              <a:prstGeom prst="rect">
                <a:avLst/>
              </a:prstGeom>
              <a:blipFill rotWithShape="0"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/>
              <p:cNvSpPr txBox="1"/>
              <p:nvPr/>
            </p:nvSpPr>
            <p:spPr>
              <a:xfrm>
                <a:off x="2063125" y="4651702"/>
                <a:ext cx="77618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𝐿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𝑀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=4;</m:t>
                      </m:r>
                    </m:oMath>
                  </m:oMathPara>
                </a14:m>
                <a:endParaRPr lang="ru-RU" sz="1200" i="1" dirty="0"/>
              </a:p>
            </p:txBody>
          </p:sp>
        </mc:Choice>
        <mc:Fallback xmlns="">
          <p:sp>
            <p:nvSpPr>
              <p:cNvPr id="142" name="TextBox 1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125" y="4651702"/>
                <a:ext cx="776189" cy="276999"/>
              </a:xfrm>
              <a:prstGeom prst="rect">
                <a:avLst/>
              </a:prstGeom>
              <a:blipFill rotWithShape="0"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Box 142"/>
              <p:cNvSpPr txBox="1"/>
              <p:nvPr/>
            </p:nvSpPr>
            <p:spPr>
              <a:xfrm>
                <a:off x="2697870" y="4651372"/>
                <a:ext cx="77618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𝑂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𝐿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=3;</m:t>
                      </m:r>
                    </m:oMath>
                  </m:oMathPara>
                </a14:m>
                <a:endParaRPr lang="ru-RU" sz="1200" i="1" dirty="0"/>
              </a:p>
            </p:txBody>
          </p:sp>
        </mc:Choice>
        <mc:Fallback xmlns="">
          <p:sp>
            <p:nvSpPr>
              <p:cNvPr id="143" name="TextBox 1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7870" y="4651372"/>
                <a:ext cx="776189" cy="276999"/>
              </a:xfrm>
              <a:prstGeom prst="rect">
                <a:avLst/>
              </a:prstGeom>
              <a:blipFill rotWithShape="0"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/>
              <p:cNvSpPr txBox="1"/>
              <p:nvPr/>
            </p:nvSpPr>
            <p:spPr>
              <a:xfrm>
                <a:off x="3238182" y="4651042"/>
                <a:ext cx="91248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𝐿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=2</m:t>
                      </m:r>
                    </m:oMath>
                  </m:oMathPara>
                </a14:m>
                <a:endParaRPr lang="ru-RU" sz="1200" i="1" dirty="0"/>
              </a:p>
            </p:txBody>
          </p:sp>
        </mc:Choice>
        <mc:Fallback xmlns="">
          <p:sp>
            <p:nvSpPr>
              <p:cNvPr id="144" name="TextBox 1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182" y="4651042"/>
                <a:ext cx="912481" cy="276999"/>
              </a:xfrm>
              <a:prstGeom prst="rect">
                <a:avLst/>
              </a:prstGeom>
              <a:blipFill rotWithShape="0"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/>
              <p:cNvSpPr txBox="1"/>
              <p:nvPr/>
            </p:nvSpPr>
            <p:spPr>
              <a:xfrm>
                <a:off x="6042548" y="4193898"/>
                <a:ext cx="1254404" cy="4831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𝑉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den>
                      </m:f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𝜋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𝑅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h</m:t>
                      </m:r>
                    </m:oMath>
                  </m:oMathPara>
                </a14:m>
                <a:endParaRPr lang="ru-RU" sz="1200" i="1" dirty="0"/>
              </a:p>
            </p:txBody>
          </p:sp>
        </mc:Choice>
        <mc:Fallback xmlns="">
          <p:sp>
            <p:nvSpPr>
              <p:cNvPr id="145" name="TextBox 1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2548" y="4193898"/>
                <a:ext cx="1254404" cy="483145"/>
              </a:xfrm>
              <a:prstGeom prst="rect">
                <a:avLst/>
              </a:prstGeom>
              <a:blipFill rotWithShape="0"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/>
              <p:cNvSpPr txBox="1"/>
              <p:nvPr/>
            </p:nvSpPr>
            <p:spPr>
              <a:xfrm>
                <a:off x="6978447" y="4193898"/>
                <a:ext cx="1254404" cy="4831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den>
                      </m:f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𝜋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∙4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∙2</m:t>
                      </m:r>
                    </m:oMath>
                  </m:oMathPara>
                </a14:m>
                <a:endParaRPr lang="ru-RU" sz="1200" i="1" dirty="0"/>
              </a:p>
            </p:txBody>
          </p:sp>
        </mc:Choice>
        <mc:Fallback xmlns="">
          <p:sp>
            <p:nvSpPr>
              <p:cNvPr id="146" name="TextBox 1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8447" y="4193898"/>
                <a:ext cx="1254404" cy="483145"/>
              </a:xfrm>
              <a:prstGeom prst="rect">
                <a:avLst/>
              </a:prstGeom>
              <a:blipFill rotWithShape="0"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/>
              <p:cNvSpPr txBox="1"/>
              <p:nvPr/>
            </p:nvSpPr>
            <p:spPr>
              <a:xfrm>
                <a:off x="7989558" y="4185425"/>
                <a:ext cx="613592" cy="4831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32</m:t>
                          </m:r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𝜋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ru-RU" sz="1200" i="1" dirty="0"/>
              </a:p>
            </p:txBody>
          </p:sp>
        </mc:Choice>
        <mc:Fallback xmlns="">
          <p:sp>
            <p:nvSpPr>
              <p:cNvPr id="147" name="TextBox 1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558" y="4185425"/>
                <a:ext cx="613592" cy="483145"/>
              </a:xfrm>
              <a:prstGeom prst="rect">
                <a:avLst/>
              </a:prstGeom>
              <a:blipFill rotWithShape="0"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/>
              <p:cNvSpPr txBox="1"/>
              <p:nvPr/>
            </p:nvSpPr>
            <p:spPr>
              <a:xfrm>
                <a:off x="6561653" y="4576242"/>
                <a:ext cx="1338380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b="1" dirty="0" smtClean="0">
                    <a:solidFill>
                      <a:srgbClr val="FF0000"/>
                    </a:solidFill>
                  </a:rPr>
                  <a:t>Ответ: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𝟑𝟐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𝝅</m:t>
                        </m:r>
                      </m:num>
                      <m:den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𝟑</m:t>
                        </m:r>
                      </m:den>
                    </m:f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.</m:t>
                    </m:r>
                  </m:oMath>
                </a14:m>
                <a:endParaRPr lang="ru-RU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8" name="TextBox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1653" y="4576242"/>
                <a:ext cx="1338380" cy="492443"/>
              </a:xfrm>
              <a:prstGeom prst="rect">
                <a:avLst/>
              </a:prstGeom>
              <a:blipFill rotWithShape="0">
                <a:blip r:embed="rId52"/>
                <a:stretch>
                  <a:fillRect l="-3636" b="-87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/>
              <p:cNvSpPr txBox="1"/>
              <p:nvPr/>
            </p:nvSpPr>
            <p:spPr>
              <a:xfrm>
                <a:off x="2691370" y="4223605"/>
                <a:ext cx="151260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𝐿𝑀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=4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𝑥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𝑂𝐿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=3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𝑥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8" name="TextBox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1370" y="4223605"/>
                <a:ext cx="1512604" cy="276999"/>
              </a:xfrm>
              <a:prstGeom prst="rect">
                <a:avLst/>
              </a:prstGeom>
              <a:blipFill rotWithShape="0"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7016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2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>
                      <p:stCondLst>
                        <p:cond delay="indefinite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>
                      <p:stCondLst>
                        <p:cond delay="indefinite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>
                      <p:stCondLst>
                        <p:cond delay="indefinite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indefinite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>
                      <p:stCondLst>
                        <p:cond delay="indefinite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>
                      <p:stCondLst>
                        <p:cond delay="indefinite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fill="hold">
                      <p:stCondLst>
                        <p:cond delay="indefinite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>
                      <p:stCondLst>
                        <p:cond delay="indefinite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5" grpId="1" animBg="1"/>
      <p:bldP spid="8" grpId="1"/>
      <p:bldP spid="9" grpId="1"/>
      <p:bldP spid="10" grpId="0" animBg="1"/>
      <p:bldP spid="12" grpId="0" animBg="1"/>
      <p:bldP spid="13" grpId="0"/>
      <p:bldP spid="19" grpId="0" animBg="1"/>
      <p:bldP spid="19" grpId="1" animBg="1"/>
      <p:bldP spid="19" grpId="2" animBg="1"/>
      <p:bldP spid="20" grpId="0" animBg="1"/>
      <p:bldP spid="23" grpId="0"/>
      <p:bldP spid="29" grpId="0" animBg="1"/>
      <p:bldP spid="30" grpId="0" animBg="1"/>
      <p:bldP spid="38" grpId="0" animBg="1"/>
      <p:bldP spid="40" grpId="0" animBg="1"/>
      <p:bldP spid="41" grpId="0" animBg="1"/>
      <p:bldP spid="42" grpId="0"/>
      <p:bldP spid="48" grpId="0" animBg="1"/>
      <p:bldP spid="50" grpId="0" animBg="1"/>
      <p:bldP spid="51" grpId="0" animBg="1"/>
      <p:bldP spid="52" grpId="0"/>
      <p:bldP spid="53" grpId="0" animBg="1"/>
      <p:bldP spid="53" grpId="1" animBg="1"/>
      <p:bldP spid="53" grpId="2" animBg="1"/>
      <p:bldP spid="56" grpId="0" animBg="1"/>
      <p:bldP spid="58" grpId="0"/>
      <p:bldP spid="59" grpId="0" animBg="1"/>
      <p:bldP spid="60" grpId="0"/>
      <p:bldP spid="60" grpId="1"/>
      <p:bldP spid="60" grpId="2"/>
      <p:bldP spid="61" grpId="0" animBg="1"/>
      <p:bldP spid="62" grpId="0" animBg="1"/>
      <p:bldP spid="63" grpId="0" animBg="1"/>
      <p:bldP spid="64" grpId="0" animBg="1"/>
      <p:bldP spid="65" grpId="0"/>
      <p:bldP spid="66" grpId="0"/>
      <p:bldP spid="71" grpId="0"/>
      <p:bldP spid="71" grpId="1"/>
      <p:bldP spid="71" grpId="2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1" grpId="0"/>
      <p:bldP spid="82" grpId="0"/>
      <p:bldP spid="84" grpId="0"/>
      <p:bldP spid="85" grpId="0"/>
      <p:bldP spid="86" grpId="0"/>
      <p:bldP spid="87" grpId="0"/>
      <p:bldP spid="88" grpId="0"/>
      <p:bldP spid="99" grpId="0"/>
      <p:bldP spid="100" grpId="0" animBg="1"/>
      <p:bldP spid="101" grpId="0" animBg="1"/>
      <p:bldP spid="103" grpId="0"/>
      <p:bldP spid="104" grpId="0"/>
      <p:bldP spid="105" grpId="0"/>
      <p:bldP spid="106" grpId="0"/>
      <p:bldP spid="110" grpId="0" animBg="1"/>
      <p:bldP spid="112" grpId="0" animBg="1"/>
      <p:bldP spid="113" grpId="0" animBg="1"/>
      <p:bldP spid="114" grpId="0"/>
      <p:bldP spid="115" grpId="0"/>
      <p:bldP spid="116" grpId="0" animBg="1"/>
      <p:bldP spid="117" grpId="0" animBg="1"/>
      <p:bldP spid="118" grpId="0" animBg="1"/>
      <p:bldP spid="124" grpId="0" animBg="1"/>
      <p:bldP spid="125" grpId="0" animBg="1"/>
      <p:bldP spid="128" grpId="0"/>
      <p:bldP spid="129" grpId="0"/>
      <p:bldP spid="131" grpId="0"/>
      <p:bldP spid="132" grpId="0"/>
      <p:bldP spid="133" grpId="0"/>
      <p:bldP spid="135" grpId="0"/>
      <p:bldP spid="136" grpId="0" animBg="1"/>
      <p:bldP spid="137" grpId="0" animBg="1"/>
      <p:bldP spid="138" grpId="0"/>
      <p:bldP spid="139" grpId="0"/>
      <p:bldP spid="140" grpId="0"/>
      <p:bldP spid="141" grpId="0"/>
      <p:bldP spid="142" grpId="0"/>
      <p:bldP spid="143" grpId="0"/>
      <p:bldP spid="144" grpId="0"/>
      <p:bldP spid="145" grpId="0"/>
      <p:bldP spid="146" grpId="0"/>
      <p:bldP spid="147" grpId="0"/>
      <p:bldP spid="148" grpId="0"/>
      <p:bldP spid="10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47</a:t>
            </a:fld>
            <a:endParaRPr kumimoji="0" lang="ru-RU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0" y="-22135"/>
                <a:ext cx="9144000" cy="115372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dirty="0" smtClean="0">
                    <a:solidFill>
                      <a:srgbClr val="7030A0"/>
                    </a:solidFill>
                  </a:rPr>
                  <a:t>28.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 Диаметр окружности основания цилиндра равен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𝟐𝟔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, образующая цилиндра равна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𝟐𝟏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Плоскость </a:t>
                </a:r>
                <a14:m>
                  <m:oMath xmlns:m="http://schemas.openxmlformats.org/officeDocument/2006/math"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𝜶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 пересекает его основания по хордам длины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𝟐𝟒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и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𝟏𝟎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 smtClean="0">
                  <a:solidFill>
                    <a:srgbClr val="002060"/>
                  </a:solidFill>
                  <a:latin typeface="+mj-lt"/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а)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Пусть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𝑴</m:t>
                    </m:r>
                  </m:oMath>
                </a14:m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 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𝑵</m:t>
                    </m:r>
                  </m:oMath>
                </a14:m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mr-IN" sz="1200" b="1" i="0" dirty="0" smtClean="0">
                    <a:solidFill>
                      <a:srgbClr val="002060"/>
                    </a:solidFill>
                    <a:latin typeface="+mj-lt"/>
                  </a:rPr>
                  <a:t>–</a:t>
                </a:r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середины этих хорд.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 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𝑷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− 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точка пересечения прямой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𝑴𝑵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с осью цилиндра. Докажите, что расстояния от точки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𝑷</m:t>
                    </m:r>
                  </m:oMath>
                </a14:m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до плоскостей основания цилиндра относятся как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𝟓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: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𝟏𝟐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ru-RU" sz="1200" b="1" i="0" dirty="0" smtClean="0">
                  <a:solidFill>
                    <a:srgbClr val="002060"/>
                  </a:solidFill>
                  <a:latin typeface="+mj-lt"/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б)  Найдите тангенс угла между плоскостью </a:t>
                </a:r>
                <a14:m>
                  <m:oMath xmlns:m="http://schemas.openxmlformats.org/officeDocument/2006/math">
                    <m:r>
                      <a:rPr lang="ru-RU" sz="1200" b="1" i="1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𝜶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 и плоскостью основания цилиндра. </a:t>
                </a: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5"/>
                <a:ext cx="9144000" cy="115372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Дуга 4"/>
          <p:cNvSpPr/>
          <p:nvPr/>
        </p:nvSpPr>
        <p:spPr>
          <a:xfrm rot="10800000">
            <a:off x="6173532" y="3179798"/>
            <a:ext cx="2520280" cy="544080"/>
          </a:xfrm>
          <a:prstGeom prst="arc">
            <a:avLst>
              <a:gd name="adj1" fmla="val 10839281"/>
              <a:gd name="adj2" fmla="val 0"/>
            </a:avLst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Дуга 5"/>
          <p:cNvSpPr/>
          <p:nvPr/>
        </p:nvSpPr>
        <p:spPr>
          <a:xfrm>
            <a:off x="6166814" y="3190072"/>
            <a:ext cx="2520280" cy="544080"/>
          </a:xfrm>
          <a:prstGeom prst="arc">
            <a:avLst>
              <a:gd name="adj1" fmla="val 10839281"/>
              <a:gd name="adj2" fmla="val 0"/>
            </a:avLst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Дуга 6"/>
          <p:cNvSpPr/>
          <p:nvPr/>
        </p:nvSpPr>
        <p:spPr>
          <a:xfrm rot="10800000">
            <a:off x="6180250" y="1388890"/>
            <a:ext cx="2520280" cy="544080"/>
          </a:xfrm>
          <a:prstGeom prst="arc">
            <a:avLst>
              <a:gd name="adj1" fmla="val 10839281"/>
              <a:gd name="adj2" fmla="val 0"/>
            </a:avLst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Дуга 7"/>
          <p:cNvSpPr/>
          <p:nvPr/>
        </p:nvSpPr>
        <p:spPr>
          <a:xfrm>
            <a:off x="6183806" y="1399164"/>
            <a:ext cx="2520280" cy="544080"/>
          </a:xfrm>
          <a:prstGeom prst="arc">
            <a:avLst>
              <a:gd name="adj1" fmla="val 10839281"/>
              <a:gd name="adj2" fmla="val 0"/>
            </a:avLst>
          </a:prstGeom>
          <a:ln>
            <a:solidFill>
              <a:srgbClr val="00206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единительная линия 9"/>
          <p:cNvCxnSpPr>
            <a:endCxn id="5" idx="2"/>
          </p:cNvCxnSpPr>
          <p:nvPr/>
        </p:nvCxnSpPr>
        <p:spPr>
          <a:xfrm flipH="1">
            <a:off x="6173532" y="1660929"/>
            <a:ext cx="6718" cy="1790909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 flipH="1">
            <a:off x="8689069" y="1650654"/>
            <a:ext cx="6718" cy="1790909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6342339" y="3315606"/>
            <a:ext cx="2161753" cy="269343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Овал 15"/>
          <p:cNvSpPr/>
          <p:nvPr/>
        </p:nvSpPr>
        <p:spPr>
          <a:xfrm flipH="1" flipV="1">
            <a:off x="7413974" y="3426536"/>
            <a:ext cx="45719" cy="4156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/>
          <p:cNvSpPr/>
          <p:nvPr/>
        </p:nvSpPr>
        <p:spPr>
          <a:xfrm flipH="1" flipV="1">
            <a:off x="7421500" y="1649909"/>
            <a:ext cx="45719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7272085" y="3243017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𝑂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2085" y="3243017"/>
                <a:ext cx="569966" cy="27699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292897" y="1448693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𝑂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97" y="1448693"/>
                <a:ext cx="569966" cy="27699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7480353" y="3467422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26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353" y="3467422"/>
                <a:ext cx="569966" cy="27699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5782788" y="2956864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21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2788" y="2956864"/>
                <a:ext cx="569966" cy="276999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Прямая соединительная линия 31"/>
          <p:cNvCxnSpPr/>
          <p:nvPr/>
        </p:nvCxnSpPr>
        <p:spPr>
          <a:xfrm flipV="1">
            <a:off x="6280538" y="1399166"/>
            <a:ext cx="901698" cy="365394"/>
          </a:xfrm>
          <a:prstGeom prst="line">
            <a:avLst/>
          </a:prstGeom>
          <a:ln>
            <a:solidFill>
              <a:srgbClr val="00206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5955378" y="1720310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5378" y="1720310"/>
                <a:ext cx="569966" cy="276999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6986406" y="1176407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406" y="1176407"/>
                <a:ext cx="569966" cy="276999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6724782" y="1419622"/>
                <a:ext cx="56996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charset="0"/>
                        </a:rPr>
                        <m:t>10</m:t>
                      </m:r>
                    </m:oMath>
                  </m:oMathPara>
                </a14:m>
                <a:endParaRPr lang="ru-RU" sz="10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4782" y="1419622"/>
                <a:ext cx="569966" cy="246221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Прямая соединительная линия 38"/>
          <p:cNvCxnSpPr/>
          <p:nvPr/>
        </p:nvCxnSpPr>
        <p:spPr>
          <a:xfrm flipV="1">
            <a:off x="6673179" y="3198284"/>
            <a:ext cx="1160095" cy="475055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6357742" y="3684345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7742" y="3684345"/>
                <a:ext cx="569966" cy="276999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7650670" y="2977363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𝐷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0670" y="2977363"/>
                <a:ext cx="569966" cy="276999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7052837" y="3150816"/>
                <a:ext cx="56996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charset="0"/>
                        </a:rPr>
                        <m:t>24</m:t>
                      </m:r>
                    </m:oMath>
                  </m:oMathPara>
                </a14:m>
                <a:endParaRPr lang="ru-RU" sz="10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2837" y="3150816"/>
                <a:ext cx="569966" cy="246221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Прямая соединительная линия 46"/>
          <p:cNvCxnSpPr/>
          <p:nvPr/>
        </p:nvCxnSpPr>
        <p:spPr>
          <a:xfrm>
            <a:off x="6280477" y="1764560"/>
            <a:ext cx="412998" cy="1908779"/>
          </a:xfrm>
          <a:prstGeom prst="line">
            <a:avLst/>
          </a:prstGeom>
          <a:ln>
            <a:solidFill>
              <a:srgbClr val="00206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единительная линия 50"/>
          <p:cNvCxnSpPr/>
          <p:nvPr/>
        </p:nvCxnSpPr>
        <p:spPr>
          <a:xfrm>
            <a:off x="7184211" y="1393356"/>
            <a:ext cx="635635" cy="1811680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Полилиния 52"/>
          <p:cNvSpPr/>
          <p:nvPr/>
        </p:nvSpPr>
        <p:spPr>
          <a:xfrm>
            <a:off x="6292434" y="1406567"/>
            <a:ext cx="1520576" cy="2260314"/>
          </a:xfrm>
          <a:custGeom>
            <a:avLst/>
            <a:gdLst>
              <a:gd name="connsiteX0" fmla="*/ 400692 w 1520576"/>
              <a:gd name="connsiteY0" fmla="*/ 2260314 h 2260314"/>
              <a:gd name="connsiteX1" fmla="*/ 0 w 1520576"/>
              <a:gd name="connsiteY1" fmla="*/ 359595 h 2260314"/>
              <a:gd name="connsiteX2" fmla="*/ 883578 w 1520576"/>
              <a:gd name="connsiteY2" fmla="*/ 0 h 2260314"/>
              <a:gd name="connsiteX3" fmla="*/ 1520576 w 1520576"/>
              <a:gd name="connsiteY3" fmla="*/ 1787703 h 2260314"/>
              <a:gd name="connsiteX4" fmla="*/ 400692 w 1520576"/>
              <a:gd name="connsiteY4" fmla="*/ 2260314 h 2260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0576" h="2260314">
                <a:moveTo>
                  <a:pt x="400692" y="2260314"/>
                </a:moveTo>
                <a:lnTo>
                  <a:pt x="0" y="359595"/>
                </a:lnTo>
                <a:lnTo>
                  <a:pt x="883578" y="0"/>
                </a:lnTo>
                <a:lnTo>
                  <a:pt x="1520576" y="1787703"/>
                </a:lnTo>
                <a:lnTo>
                  <a:pt x="400692" y="2260314"/>
                </a:lnTo>
                <a:close/>
              </a:path>
            </a:pathLst>
          </a:custGeom>
          <a:solidFill>
            <a:srgbClr val="FFC000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4" name="Прямая соединительная линия 53"/>
          <p:cNvCxnSpPr/>
          <p:nvPr/>
        </p:nvCxnSpPr>
        <p:spPr>
          <a:xfrm flipV="1">
            <a:off x="7052860" y="3236265"/>
            <a:ext cx="1160095" cy="475055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6755341" y="3693738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5341" y="3693738"/>
                <a:ext cx="569966" cy="276999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8043055" y="3007336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𝐷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3055" y="3007336"/>
                <a:ext cx="569966" cy="276999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Прямая соединительная линия 56"/>
          <p:cNvCxnSpPr/>
          <p:nvPr/>
        </p:nvCxnSpPr>
        <p:spPr>
          <a:xfrm>
            <a:off x="7188652" y="1401514"/>
            <a:ext cx="1014430" cy="1848435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/>
          <p:cNvCxnSpPr/>
          <p:nvPr/>
        </p:nvCxnSpPr>
        <p:spPr>
          <a:xfrm>
            <a:off x="6293948" y="1765421"/>
            <a:ext cx="773484" cy="1952377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Полилиния 65"/>
          <p:cNvSpPr/>
          <p:nvPr/>
        </p:nvSpPr>
        <p:spPr>
          <a:xfrm>
            <a:off x="6306050" y="1406112"/>
            <a:ext cx="1890445" cy="2311686"/>
          </a:xfrm>
          <a:custGeom>
            <a:avLst/>
            <a:gdLst>
              <a:gd name="connsiteX0" fmla="*/ 0 w 1890445"/>
              <a:gd name="connsiteY0" fmla="*/ 369870 h 2311686"/>
              <a:gd name="connsiteX1" fmla="*/ 883578 w 1890445"/>
              <a:gd name="connsiteY1" fmla="*/ 0 h 2311686"/>
              <a:gd name="connsiteX2" fmla="*/ 1890445 w 1890445"/>
              <a:gd name="connsiteY2" fmla="*/ 1849349 h 2311686"/>
              <a:gd name="connsiteX3" fmla="*/ 780836 w 1890445"/>
              <a:gd name="connsiteY3" fmla="*/ 2311686 h 2311686"/>
              <a:gd name="connsiteX4" fmla="*/ 0 w 1890445"/>
              <a:gd name="connsiteY4" fmla="*/ 369870 h 2311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90445" h="2311686">
                <a:moveTo>
                  <a:pt x="0" y="369870"/>
                </a:moveTo>
                <a:lnTo>
                  <a:pt x="883578" y="0"/>
                </a:lnTo>
                <a:lnTo>
                  <a:pt x="1890445" y="1849349"/>
                </a:lnTo>
                <a:lnTo>
                  <a:pt x="780836" y="2311686"/>
                </a:lnTo>
                <a:lnTo>
                  <a:pt x="0" y="369870"/>
                </a:lnTo>
                <a:close/>
              </a:path>
            </a:pathLst>
          </a:custGeom>
          <a:solidFill>
            <a:srgbClr val="339933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6160096" y="3059155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𝐾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0096" y="3059155"/>
                <a:ext cx="569966" cy="276999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8244269" y="3594649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𝐿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4269" y="3594649"/>
                <a:ext cx="569966" cy="276999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Овал 68"/>
          <p:cNvSpPr/>
          <p:nvPr/>
        </p:nvSpPr>
        <p:spPr>
          <a:xfrm flipH="1" flipV="1">
            <a:off x="6711700" y="1571497"/>
            <a:ext cx="41563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Овал 69"/>
          <p:cNvSpPr/>
          <p:nvPr/>
        </p:nvSpPr>
        <p:spPr>
          <a:xfrm flipH="1" flipV="1">
            <a:off x="7232637" y="3420773"/>
            <a:ext cx="41563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6357742" y="1401333"/>
                <a:ext cx="56996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charset="0"/>
                        </a:rPr>
                        <m:t>𝑁</m:t>
                      </m:r>
                    </m:oMath>
                  </m:oMathPara>
                </a14:m>
                <a:endParaRPr lang="ru-RU" sz="1000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7742" y="1401333"/>
                <a:ext cx="569966" cy="246221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6903206" y="3413433"/>
                <a:ext cx="56996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charset="0"/>
                        </a:rPr>
                        <m:t>𝑀</m:t>
                      </m:r>
                    </m:oMath>
                  </m:oMathPara>
                </a14:m>
                <a:endParaRPr lang="ru-RU" sz="1000" dirty="0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3206" y="3413433"/>
                <a:ext cx="569966" cy="246221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Прямая соединительная линия 73"/>
          <p:cNvCxnSpPr/>
          <p:nvPr/>
        </p:nvCxnSpPr>
        <p:spPr>
          <a:xfrm>
            <a:off x="7438764" y="1685963"/>
            <a:ext cx="10135" cy="3341690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единительная линия 77"/>
          <p:cNvCxnSpPr/>
          <p:nvPr/>
        </p:nvCxnSpPr>
        <p:spPr>
          <a:xfrm>
            <a:off x="6728114" y="1566135"/>
            <a:ext cx="889904" cy="3263040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Овал 81"/>
          <p:cNvSpPr/>
          <p:nvPr/>
        </p:nvSpPr>
        <p:spPr>
          <a:xfrm flipH="1" flipV="1">
            <a:off x="7423498" y="4175827"/>
            <a:ext cx="45719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7272085" y="4052451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𝑃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2085" y="4052451"/>
                <a:ext cx="569966" cy="276999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Прямая соединительная линия 89"/>
          <p:cNvCxnSpPr/>
          <p:nvPr/>
        </p:nvCxnSpPr>
        <p:spPr>
          <a:xfrm>
            <a:off x="6329195" y="1543564"/>
            <a:ext cx="2195700" cy="252225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5953812" y="1322269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812" y="1322269"/>
                <a:ext cx="569966" cy="276999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8127321" y="1815487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7321" y="1815487"/>
                <a:ext cx="569966" cy="276999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/>
              <p:cNvSpPr txBox="1"/>
              <p:nvPr/>
            </p:nvSpPr>
            <p:spPr>
              <a:xfrm>
                <a:off x="-1" y="1152767"/>
                <a:ext cx="21237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 smtClean="0"/>
                  <a:t>а</a:t>
                </a:r>
                <a:r>
                  <a:rPr lang="ru-RU" sz="1200" b="0" dirty="0" smtClean="0">
                    <a:solidFill>
                      <a:schemeClr val="tx1"/>
                    </a:solidFill>
                  </a:rPr>
                  <a:t>)</a:t>
                </a:r>
                <a:r>
                  <a:rPr lang="en-US" sz="1200" b="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𝐾𝐿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𝐶𝐷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1200" dirty="0" smtClean="0"/>
                  <a:t>(</a:t>
                </a:r>
                <a:r>
                  <a:rPr lang="ru-RU" sz="1200" dirty="0" smtClean="0"/>
                  <a:t>по построению),</a:t>
                </a:r>
                <a:endParaRPr lang="ru-RU" sz="1200" dirty="0"/>
              </a:p>
            </p:txBody>
          </p:sp>
        </mc:Choice>
        <mc:Fallback xmlns=""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1152767"/>
                <a:ext cx="2123729" cy="276999"/>
              </a:xfrm>
              <a:prstGeom prst="rect">
                <a:avLst/>
              </a:prstGeom>
              <a:blipFill rotWithShape="0">
                <a:blip r:embed="rId21"/>
                <a:stretch>
                  <a:fillRect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1917978" y="1159541"/>
                <a:ext cx="21237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𝐶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𝑀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𝑀𝐷</m:t>
                    </m:r>
                  </m:oMath>
                </a14:m>
                <a:r>
                  <a:rPr lang="en-US" sz="1200" dirty="0" smtClean="0"/>
                  <a:t> ( </a:t>
                </a:r>
                <a:r>
                  <a:rPr lang="ru-RU" sz="1200" dirty="0" smtClean="0"/>
                  <a:t>по условию)</a:t>
                </a:r>
                <a:endParaRPr lang="ru-RU" sz="1200" dirty="0"/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7978" y="1159541"/>
                <a:ext cx="2123729" cy="276999"/>
              </a:xfrm>
              <a:prstGeom prst="rect">
                <a:avLst/>
              </a:prstGeom>
              <a:blipFill rotWithShape="0">
                <a:blip r:embed="rId22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/>
              <p:cNvSpPr txBox="1"/>
              <p:nvPr/>
            </p:nvSpPr>
            <p:spPr>
              <a:xfrm>
                <a:off x="3540479" y="1159540"/>
                <a:ext cx="133078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𝑀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𝐾𝐿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∩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𝐶𝐷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8" name="TextBox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479" y="1159540"/>
                <a:ext cx="1330787" cy="276999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/>
              <p:cNvSpPr txBox="1"/>
              <p:nvPr/>
            </p:nvSpPr>
            <p:spPr>
              <a:xfrm>
                <a:off x="-1831" y="1412848"/>
                <a:ext cx="21237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𝐾𝐿</m:t>
                    </m:r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∥</m:t>
                    </m:r>
                    <m:sSub>
                      <m:sSubPr>
                        <m:ctrlPr>
                          <a:rPr lang="en-US" sz="1200" i="1" dirty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𝐾</m:t>
                        </m:r>
                      </m:e>
                      <m:sub>
                        <m:r>
                          <a:rPr lang="en-US" sz="1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i="1" dirty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𝐿</m:t>
                        </m:r>
                      </m:e>
                      <m:sub>
                        <m:r>
                          <a:rPr lang="en-US" sz="1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200" dirty="0" smtClean="0"/>
                  <a:t> (</a:t>
                </a:r>
                <a:r>
                  <a:rPr lang="ru-RU" sz="1200" dirty="0" smtClean="0"/>
                  <a:t>по построению)</a:t>
                </a:r>
                <a:endParaRPr lang="ru-RU" sz="1200" dirty="0"/>
              </a:p>
            </p:txBody>
          </p:sp>
        </mc:Choice>
        <mc:Fallback xmlns="">
          <p:sp>
            <p:nvSpPr>
              <p:cNvPr id="100" name="TextBox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31" y="1412848"/>
                <a:ext cx="2123729" cy="276999"/>
              </a:xfrm>
              <a:prstGeom prst="rect">
                <a:avLst/>
              </a:prstGeom>
              <a:blipFill rotWithShape="0">
                <a:blip r:embed="rId24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/>
              <p:cNvSpPr txBox="1"/>
              <p:nvPr/>
            </p:nvSpPr>
            <p:spPr>
              <a:xfrm>
                <a:off x="2911317" y="1410648"/>
                <a:ext cx="21237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𝐴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𝑁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𝑁𝐵</m:t>
                    </m:r>
                  </m:oMath>
                </a14:m>
                <a:r>
                  <a:rPr lang="en-US" sz="1200" dirty="0" smtClean="0"/>
                  <a:t> ( </a:t>
                </a:r>
                <a:r>
                  <a:rPr lang="ru-RU" sz="1200" dirty="0" smtClean="0"/>
                  <a:t>по условию)</a:t>
                </a:r>
                <a:endParaRPr lang="ru-RU" sz="1200" dirty="0"/>
              </a:p>
            </p:txBody>
          </p:sp>
        </mc:Choice>
        <mc:Fallback xmlns="">
          <p:sp>
            <p:nvSpPr>
              <p:cNvPr id="101" name="TextBox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1317" y="1410648"/>
                <a:ext cx="2123729" cy="276999"/>
              </a:xfrm>
              <a:prstGeom prst="rect">
                <a:avLst/>
              </a:prstGeom>
              <a:blipFill rotWithShape="0">
                <a:blip r:embed="rId25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/>
              <p:cNvSpPr txBox="1"/>
              <p:nvPr/>
            </p:nvSpPr>
            <p:spPr>
              <a:xfrm>
                <a:off x="4431704" y="1407901"/>
                <a:ext cx="15924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∩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𝐴𝐵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2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1704" y="1407901"/>
                <a:ext cx="1592406" cy="276999"/>
              </a:xfrm>
              <a:prstGeom prst="rect">
                <a:avLst/>
              </a:prstGeom>
              <a:blipFill rotWithShape="0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Полилиния 102"/>
          <p:cNvSpPr/>
          <p:nvPr/>
        </p:nvSpPr>
        <p:spPr>
          <a:xfrm>
            <a:off x="6400800" y="1571946"/>
            <a:ext cx="308225" cy="82193"/>
          </a:xfrm>
          <a:custGeom>
            <a:avLst/>
            <a:gdLst>
              <a:gd name="connsiteX0" fmla="*/ 133564 w 308225"/>
              <a:gd name="connsiteY0" fmla="*/ 0 h 82193"/>
              <a:gd name="connsiteX1" fmla="*/ 0 w 308225"/>
              <a:gd name="connsiteY1" fmla="*/ 61645 h 82193"/>
              <a:gd name="connsiteX2" fmla="*/ 164387 w 308225"/>
              <a:gd name="connsiteY2" fmla="*/ 82193 h 82193"/>
              <a:gd name="connsiteX3" fmla="*/ 308225 w 308225"/>
              <a:gd name="connsiteY3" fmla="*/ 20548 h 82193"/>
              <a:gd name="connsiteX4" fmla="*/ 133564 w 308225"/>
              <a:gd name="connsiteY4" fmla="*/ 0 h 8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8225" h="82193">
                <a:moveTo>
                  <a:pt x="133564" y="0"/>
                </a:moveTo>
                <a:lnTo>
                  <a:pt x="0" y="61645"/>
                </a:lnTo>
                <a:lnTo>
                  <a:pt x="164387" y="82193"/>
                </a:lnTo>
                <a:lnTo>
                  <a:pt x="308225" y="20548"/>
                </a:lnTo>
                <a:lnTo>
                  <a:pt x="133564" y="0"/>
                </a:lnTo>
                <a:close/>
              </a:path>
            </a:pathLst>
          </a:custGeom>
          <a:solidFill>
            <a:schemeClr val="bg1">
              <a:lumMod val="85000"/>
              <a:alpha val="63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4" name="Полилиния 103"/>
          <p:cNvSpPr/>
          <p:nvPr/>
        </p:nvSpPr>
        <p:spPr>
          <a:xfrm>
            <a:off x="6923509" y="3410184"/>
            <a:ext cx="308225" cy="82193"/>
          </a:xfrm>
          <a:custGeom>
            <a:avLst/>
            <a:gdLst>
              <a:gd name="connsiteX0" fmla="*/ 133564 w 308225"/>
              <a:gd name="connsiteY0" fmla="*/ 0 h 82193"/>
              <a:gd name="connsiteX1" fmla="*/ 0 w 308225"/>
              <a:gd name="connsiteY1" fmla="*/ 61645 h 82193"/>
              <a:gd name="connsiteX2" fmla="*/ 164387 w 308225"/>
              <a:gd name="connsiteY2" fmla="*/ 82193 h 82193"/>
              <a:gd name="connsiteX3" fmla="*/ 308225 w 308225"/>
              <a:gd name="connsiteY3" fmla="*/ 20548 h 82193"/>
              <a:gd name="connsiteX4" fmla="*/ 133564 w 308225"/>
              <a:gd name="connsiteY4" fmla="*/ 0 h 8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8225" h="82193">
                <a:moveTo>
                  <a:pt x="133564" y="0"/>
                </a:moveTo>
                <a:lnTo>
                  <a:pt x="0" y="61645"/>
                </a:lnTo>
                <a:lnTo>
                  <a:pt x="164387" y="82193"/>
                </a:lnTo>
                <a:lnTo>
                  <a:pt x="308225" y="20548"/>
                </a:lnTo>
                <a:lnTo>
                  <a:pt x="133564" y="0"/>
                </a:lnTo>
                <a:close/>
              </a:path>
            </a:pathLst>
          </a:custGeom>
          <a:solidFill>
            <a:schemeClr val="bg1">
              <a:lumMod val="85000"/>
              <a:alpha val="63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/>
              <p:cNvSpPr txBox="1"/>
              <p:nvPr/>
            </p:nvSpPr>
            <p:spPr>
              <a:xfrm>
                <a:off x="-5387" y="1671352"/>
                <a:ext cx="379041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 smtClean="0"/>
                  <a:t>Рассмотрим подобные треугольники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charset="0"/>
                      </a:rPr>
                      <m:t>𝑀𝑂𝑃</m:t>
                    </m:r>
                    <m:r>
                      <a:rPr lang="en-US" sz="1200" b="0" i="1" smtClean="0">
                        <a:latin typeface="Cambria Math" charset="0"/>
                      </a:rPr>
                      <m:t> и </m:t>
                    </m:r>
                    <m:r>
                      <a:rPr lang="en-US" sz="1200" b="0" i="1" smtClean="0">
                        <a:latin typeface="Cambria Math" charset="0"/>
                      </a:rPr>
                      <m:t>𝑁</m:t>
                    </m:r>
                    <m:sSub>
                      <m:sSubPr>
                        <m:ctrlPr>
                          <a:rPr lang="en-US" sz="12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charset="0"/>
                          </a:rPr>
                          <m:t>𝑂</m:t>
                        </m:r>
                      </m:e>
                      <m:sub>
                        <m:r>
                          <a:rPr lang="en-US" sz="1200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charset="0"/>
                      </a:rPr>
                      <m:t>𝑃</m:t>
                    </m:r>
                    <m:r>
                      <a:rPr lang="en-US" sz="1200" b="0" i="1" smtClean="0">
                        <a:latin typeface="Cambria Math" charset="0"/>
                      </a:rPr>
                      <m:t>.</m:t>
                    </m:r>
                  </m:oMath>
                </a14:m>
                <a:endParaRPr lang="ru-RU" sz="1200" dirty="0"/>
              </a:p>
            </p:txBody>
          </p:sp>
        </mc:Choice>
        <mc:Fallback xmlns="">
          <p:sp>
            <p:nvSpPr>
              <p:cNvPr id="105" name="Text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87" y="1671352"/>
                <a:ext cx="3790411" cy="276999"/>
              </a:xfrm>
              <a:prstGeom prst="rect">
                <a:avLst/>
              </a:prstGeom>
              <a:blipFill rotWithShape="0">
                <a:blip r:embed="rId27"/>
                <a:stretch>
                  <a:fillRect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/>
              <p:cNvSpPr txBox="1"/>
              <p:nvPr/>
            </p:nvSpPr>
            <p:spPr>
              <a:xfrm>
                <a:off x="12913" y="1911612"/>
                <a:ext cx="152360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𝑂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: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𝑃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𝑂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𝑂𝑀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: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𝑂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  <a:sym typeface="Wingdings"/>
                        </a:rPr>
                        <m:t>𝑁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8" name="TextBox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13" y="1911612"/>
                <a:ext cx="1523602" cy="276999"/>
              </a:xfrm>
              <a:prstGeom prst="rect">
                <a:avLst/>
              </a:prstGeom>
              <a:blipFill rotWithShape="0"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Овал 108"/>
          <p:cNvSpPr/>
          <p:nvPr/>
        </p:nvSpPr>
        <p:spPr>
          <a:xfrm>
            <a:off x="3805210" y="1797753"/>
            <a:ext cx="1960098" cy="1960098"/>
          </a:xfrm>
          <a:prstGeom prst="ellipse">
            <a:avLst/>
          </a:prstGeom>
          <a:solidFill>
            <a:schemeClr val="bg1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5" name="Овал 114"/>
          <p:cNvSpPr/>
          <p:nvPr/>
        </p:nvSpPr>
        <p:spPr>
          <a:xfrm flipV="1">
            <a:off x="4756450" y="2748901"/>
            <a:ext cx="45719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7" name="Прямая соединительная линия 116"/>
          <p:cNvCxnSpPr/>
          <p:nvPr/>
        </p:nvCxnSpPr>
        <p:spPr>
          <a:xfrm>
            <a:off x="4240561" y="1957640"/>
            <a:ext cx="1068845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/>
              <p:cNvSpPr txBox="1"/>
              <p:nvPr/>
            </p:nvSpPr>
            <p:spPr>
              <a:xfrm>
                <a:off x="3805924" y="1780396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18" name="TextBox 1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5924" y="1780396"/>
                <a:ext cx="569966" cy="276999"/>
              </a:xfrm>
              <a:prstGeom prst="rect">
                <a:avLst/>
              </a:prstGeom>
              <a:blipFill rotWithShape="0"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/>
              <p:cNvSpPr txBox="1"/>
              <p:nvPr/>
            </p:nvSpPr>
            <p:spPr>
              <a:xfrm>
                <a:off x="5176036" y="1802977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19" name="TextBox 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6036" y="1802977"/>
                <a:ext cx="569966" cy="276999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Овал 120"/>
          <p:cNvSpPr/>
          <p:nvPr/>
        </p:nvSpPr>
        <p:spPr>
          <a:xfrm flipV="1">
            <a:off x="4758057" y="1962570"/>
            <a:ext cx="41563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]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/>
              <p:cNvSpPr txBox="1"/>
              <p:nvPr/>
            </p:nvSpPr>
            <p:spPr>
              <a:xfrm>
                <a:off x="4517878" y="1749465"/>
                <a:ext cx="56996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charset="0"/>
                        </a:rPr>
                        <m:t>𝑁</m:t>
                      </m:r>
                    </m:oMath>
                  </m:oMathPara>
                </a14:m>
                <a:endParaRPr lang="ru-RU" sz="1000" dirty="0"/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7878" y="1749465"/>
                <a:ext cx="569966" cy="246221"/>
              </a:xfrm>
              <a:prstGeom prst="rect">
                <a:avLst/>
              </a:prstGeom>
              <a:blipFill rotWithShape="0"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4866130" y="1923678"/>
                <a:ext cx="56996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charset="0"/>
                        </a:rPr>
                        <m:t>5</m:t>
                      </m:r>
                    </m:oMath>
                  </m:oMathPara>
                </a14:m>
                <a:endParaRPr lang="ru-RU" sz="1000" dirty="0"/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6130" y="1923678"/>
                <a:ext cx="569966" cy="246221"/>
              </a:xfrm>
              <a:prstGeom prst="rect">
                <a:avLst/>
              </a:prstGeom>
              <a:blipFill rotWithShape="0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" name="Прямая соединительная линия 123"/>
          <p:cNvCxnSpPr/>
          <p:nvPr/>
        </p:nvCxnSpPr>
        <p:spPr>
          <a:xfrm flipV="1">
            <a:off x="4773419" y="1951752"/>
            <a:ext cx="539203" cy="832625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/>
              <p:cNvSpPr txBox="1"/>
              <p:nvPr/>
            </p:nvSpPr>
            <p:spPr>
              <a:xfrm>
                <a:off x="4402114" y="2756936"/>
                <a:ext cx="56996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000" i="1">
                              <a:latin typeface="Cambria Math" charset="0"/>
                            </a:rPr>
                            <m:t>𝑂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000" i="1" dirty="0"/>
              </a:p>
            </p:txBody>
          </p:sp>
        </mc:Choice>
        <mc:Fallback xmlns="">
          <p:sp>
            <p:nvSpPr>
              <p:cNvPr id="128" name="TextBox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2114" y="2756936"/>
                <a:ext cx="569966" cy="246221"/>
              </a:xfrm>
              <a:prstGeom prst="rect">
                <a:avLst/>
              </a:prstGeom>
              <a:blipFill rotWithShape="0"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/>
              <p:cNvSpPr txBox="1"/>
              <p:nvPr/>
            </p:nvSpPr>
            <p:spPr>
              <a:xfrm>
                <a:off x="4882731" y="2223472"/>
                <a:ext cx="56996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charset="0"/>
                        </a:rPr>
                        <m:t>13</m:t>
                      </m:r>
                    </m:oMath>
                  </m:oMathPara>
                </a14:m>
                <a:endParaRPr lang="ru-RU" sz="1000" dirty="0"/>
              </a:p>
            </p:txBody>
          </p:sp>
        </mc:Choice>
        <mc:Fallback xmlns="">
          <p:sp>
            <p:nvSpPr>
              <p:cNvPr id="129" name="TextBox 1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731" y="2223472"/>
                <a:ext cx="569966" cy="246221"/>
              </a:xfrm>
              <a:prstGeom prst="rect">
                <a:avLst/>
              </a:prstGeom>
              <a:blipFill rotWithShape="0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/>
              <p:cNvSpPr txBox="1"/>
              <p:nvPr/>
            </p:nvSpPr>
            <p:spPr>
              <a:xfrm>
                <a:off x="-127162" y="2080193"/>
                <a:ext cx="152360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𝐴𝐵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=5; 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31" name="TextBox 1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7162" y="2080193"/>
                <a:ext cx="1523602" cy="438005"/>
              </a:xfrm>
              <a:prstGeom prst="rect">
                <a:avLst/>
              </a:prstGeom>
              <a:blipFill rotWithShape="0">
                <a:blip r:embed="rId34"/>
                <a:stretch>
                  <a:fillRect t="-27778" b="-486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/>
              <p:cNvSpPr txBox="1"/>
              <p:nvPr/>
            </p:nvSpPr>
            <p:spPr>
              <a:xfrm>
                <a:off x="1127209" y="2079976"/>
                <a:ext cx="152360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𝑂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1200" i="1" dirty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𝐾</m:t>
                          </m:r>
                        </m:e>
                        <m:sub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200" i="1" dirty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=13; 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32" name="TextBox 1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209" y="2079976"/>
                <a:ext cx="1523602" cy="438005"/>
              </a:xfrm>
              <a:prstGeom prst="rect">
                <a:avLst/>
              </a:prstGeom>
              <a:blipFill rotWithShape="0">
                <a:blip r:embed="rId35"/>
                <a:stretch>
                  <a:fillRect t="-27778" b="-486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/>
              <p:cNvSpPr txBox="1"/>
              <p:nvPr/>
            </p:nvSpPr>
            <p:spPr>
              <a:xfrm>
                <a:off x="-149706" y="2466660"/>
                <a:ext cx="1985148" cy="315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𝑂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mr-IN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mr-IN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mr-IN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mr-IN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𝑁𝐵</m:t>
                              </m:r>
                            </m:e>
                            <m:sup>
                              <m:r>
                                <a:rPr lang="mr-IN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33" name="TextBox 1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9706" y="2466660"/>
                <a:ext cx="1985148" cy="315984"/>
              </a:xfrm>
              <a:prstGeom prst="rect">
                <a:avLst/>
              </a:prstGeom>
              <a:blipFill rotWithShape="0"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/>
              <p:cNvSpPr txBox="1"/>
              <p:nvPr/>
            </p:nvSpPr>
            <p:spPr>
              <a:xfrm>
                <a:off x="1455824" y="2463037"/>
                <a:ext cx="1160287" cy="3232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mr-IN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mr-IN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13</m:t>
                              </m:r>
                            </m:e>
                            <m:sup>
                              <m:r>
                                <a:rPr lang="mr-IN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mr-IN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mr-IN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34" name="TextBox 1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824" y="2463037"/>
                <a:ext cx="1160287" cy="323230"/>
              </a:xfrm>
              <a:prstGeom prst="rect">
                <a:avLst/>
              </a:prstGeom>
              <a:blipFill rotWithShape="0"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/>
              <p:cNvSpPr txBox="1"/>
              <p:nvPr/>
            </p:nvSpPr>
            <p:spPr>
              <a:xfrm>
                <a:off x="2112015" y="2492683"/>
                <a:ext cx="116028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1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2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35" name="TextBox 1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2015" y="2492683"/>
                <a:ext cx="1160287" cy="276999"/>
              </a:xfrm>
              <a:prstGeom prst="rect">
                <a:avLst/>
              </a:prstGeom>
              <a:blipFill rotWithShape="0"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6" name="Прямая соединительная линия 135"/>
          <p:cNvCxnSpPr/>
          <p:nvPr/>
        </p:nvCxnSpPr>
        <p:spPr>
          <a:xfrm>
            <a:off x="3832796" y="2492683"/>
            <a:ext cx="189352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/>
              <p:cNvSpPr txBox="1"/>
              <p:nvPr/>
            </p:nvSpPr>
            <p:spPr>
              <a:xfrm>
                <a:off x="3463401" y="2298978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37" name="TextBox 1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401" y="2298978"/>
                <a:ext cx="569966" cy="276999"/>
              </a:xfrm>
              <a:prstGeom prst="rect">
                <a:avLst/>
              </a:prstGeom>
              <a:blipFill rotWithShape="0"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/>
              <p:cNvSpPr txBox="1"/>
              <p:nvPr/>
            </p:nvSpPr>
            <p:spPr>
              <a:xfrm>
                <a:off x="5544679" y="2303222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𝐷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38" name="TextBox 1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4679" y="2303222"/>
                <a:ext cx="569966" cy="276999"/>
              </a:xfrm>
              <a:prstGeom prst="rect">
                <a:avLst/>
              </a:prstGeom>
              <a:blipFill rotWithShape="0"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Овал 138"/>
          <p:cNvSpPr/>
          <p:nvPr/>
        </p:nvSpPr>
        <p:spPr>
          <a:xfrm flipV="1">
            <a:off x="4753771" y="2482015"/>
            <a:ext cx="41563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/>
              <p:cNvSpPr txBox="1"/>
              <p:nvPr/>
            </p:nvSpPr>
            <p:spPr>
              <a:xfrm>
                <a:off x="4407436" y="2263235"/>
                <a:ext cx="56996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charset="0"/>
                        </a:rPr>
                        <m:t>𝑀</m:t>
                      </m:r>
                    </m:oMath>
                  </m:oMathPara>
                </a14:m>
                <a:endParaRPr lang="ru-RU" sz="1000" dirty="0"/>
              </a:p>
            </p:txBody>
          </p:sp>
        </mc:Choice>
        <mc:Fallback xmlns="">
          <p:sp>
            <p:nvSpPr>
              <p:cNvPr id="141" name="TextBox 1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7436" y="2263235"/>
                <a:ext cx="569966" cy="246221"/>
              </a:xfrm>
              <a:prstGeom prst="rect">
                <a:avLst/>
              </a:prstGeom>
              <a:blipFill rotWithShape="0"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/>
              <p:cNvSpPr txBox="1"/>
              <p:nvPr/>
            </p:nvSpPr>
            <p:spPr>
              <a:xfrm>
                <a:off x="4599024" y="2763373"/>
                <a:ext cx="56996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charset="0"/>
                        </a:rPr>
                        <m:t>𝑂</m:t>
                      </m:r>
                    </m:oMath>
                  </m:oMathPara>
                </a14:m>
                <a:endParaRPr lang="ru-RU" sz="1000" dirty="0"/>
              </a:p>
            </p:txBody>
          </p:sp>
        </mc:Choice>
        <mc:Fallback xmlns="">
          <p:sp>
            <p:nvSpPr>
              <p:cNvPr id="142" name="TextBox 1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9024" y="2763373"/>
                <a:ext cx="569966" cy="246221"/>
              </a:xfrm>
              <a:prstGeom prst="rect">
                <a:avLst/>
              </a:prstGeom>
              <a:blipFill rotWithShape="0"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3" name="Прямая соединительная линия 142"/>
          <p:cNvCxnSpPr/>
          <p:nvPr/>
        </p:nvCxnSpPr>
        <p:spPr>
          <a:xfrm flipV="1">
            <a:off x="4763145" y="2492289"/>
            <a:ext cx="956345" cy="272973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/>
              <p:cNvSpPr txBox="1"/>
              <p:nvPr/>
            </p:nvSpPr>
            <p:spPr>
              <a:xfrm>
                <a:off x="5117579" y="2572832"/>
                <a:ext cx="56996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charset="0"/>
                        </a:rPr>
                        <m:t>13</m:t>
                      </m:r>
                    </m:oMath>
                  </m:oMathPara>
                </a14:m>
                <a:endParaRPr lang="ru-RU" sz="1000" dirty="0"/>
              </a:p>
            </p:txBody>
          </p:sp>
        </mc:Choice>
        <mc:Fallback xmlns="">
          <p:sp>
            <p:nvSpPr>
              <p:cNvPr id="146" name="TextBox 1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7579" y="2572832"/>
                <a:ext cx="569966" cy="246221"/>
              </a:xfrm>
              <a:prstGeom prst="rect">
                <a:avLst/>
              </a:prstGeom>
              <a:blipFill rotWithShape="0"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/>
              <p:cNvSpPr txBox="1"/>
              <p:nvPr/>
            </p:nvSpPr>
            <p:spPr>
              <a:xfrm>
                <a:off x="5208699" y="2293775"/>
                <a:ext cx="56996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charset="0"/>
                        </a:rPr>
                        <m:t>12</m:t>
                      </m:r>
                    </m:oMath>
                  </m:oMathPara>
                </a14:m>
                <a:endParaRPr lang="ru-RU" sz="1000" dirty="0"/>
              </a:p>
            </p:txBody>
          </p:sp>
        </mc:Choice>
        <mc:Fallback xmlns="">
          <p:sp>
            <p:nvSpPr>
              <p:cNvPr id="147" name="TextBox 1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8699" y="2293775"/>
                <a:ext cx="569966" cy="246221"/>
              </a:xfrm>
              <a:prstGeom prst="rect">
                <a:avLst/>
              </a:prstGeom>
              <a:blipFill rotWithShape="0"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/>
              <p:cNvSpPr txBox="1"/>
              <p:nvPr/>
            </p:nvSpPr>
            <p:spPr>
              <a:xfrm>
                <a:off x="-76416" y="2725738"/>
                <a:ext cx="152360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𝑀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𝐷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𝐶𝐷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=12; 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49" name="TextBox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416" y="2725738"/>
                <a:ext cx="1523602" cy="438005"/>
              </a:xfrm>
              <a:prstGeom prst="rect">
                <a:avLst/>
              </a:prstGeom>
              <a:blipFill rotWithShape="0">
                <a:blip r:embed="rId45"/>
                <a:stretch>
                  <a:fillRect t="-27778" b="-486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/>
              <p:cNvSpPr txBox="1"/>
              <p:nvPr/>
            </p:nvSpPr>
            <p:spPr>
              <a:xfrm>
                <a:off x="1281313" y="2725521"/>
                <a:ext cx="152360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𝑂𝐷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𝐶𝐷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=13; 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50" name="TextBox 1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313" y="2725521"/>
                <a:ext cx="1523602" cy="438005"/>
              </a:xfrm>
              <a:prstGeom prst="rect">
                <a:avLst/>
              </a:prstGeom>
              <a:blipFill rotWithShape="0">
                <a:blip r:embed="rId46"/>
                <a:stretch>
                  <a:fillRect t="-27778" b="-486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/>
              <p:cNvSpPr txBox="1"/>
              <p:nvPr/>
            </p:nvSpPr>
            <p:spPr>
              <a:xfrm>
                <a:off x="-221624" y="3112205"/>
                <a:ext cx="1985148" cy="3225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𝑂𝑀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mr-IN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mr-IN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𝑂𝐷</m:t>
                              </m:r>
                            </m:e>
                            <m:sup>
                              <m:r>
                                <a:rPr lang="mr-IN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mr-IN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𝑀𝐷</m:t>
                              </m:r>
                            </m:e>
                            <m:sup>
                              <m:r>
                                <a:rPr lang="mr-IN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51" name="TextBox 1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1624" y="3112205"/>
                <a:ext cx="1985148" cy="322589"/>
              </a:xfrm>
              <a:prstGeom prst="rect">
                <a:avLst/>
              </a:prstGeom>
              <a:blipFill rotWithShape="0"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/>
              <p:cNvSpPr txBox="1"/>
              <p:nvPr/>
            </p:nvSpPr>
            <p:spPr>
              <a:xfrm>
                <a:off x="1383906" y="3108582"/>
                <a:ext cx="1160287" cy="3232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mr-IN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mr-IN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13</m:t>
                              </m:r>
                            </m:e>
                            <m:sup>
                              <m:r>
                                <a:rPr lang="mr-IN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mr-IN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12</m:t>
                              </m:r>
                            </m:e>
                            <m:sup>
                              <m:r>
                                <a:rPr lang="mr-IN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52" name="TextBox 1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906" y="3108582"/>
                <a:ext cx="1160287" cy="323230"/>
              </a:xfrm>
              <a:prstGeom prst="rect">
                <a:avLst/>
              </a:prstGeom>
              <a:blipFill rotWithShape="0"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extBox 152"/>
              <p:cNvSpPr txBox="1"/>
              <p:nvPr/>
            </p:nvSpPr>
            <p:spPr>
              <a:xfrm>
                <a:off x="2269873" y="3156050"/>
                <a:ext cx="704639" cy="251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5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53" name="TextBox 1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9873" y="3156050"/>
                <a:ext cx="704639" cy="251817"/>
              </a:xfrm>
              <a:prstGeom prst="rect">
                <a:avLst/>
              </a:prstGeom>
              <a:blipFill rotWithShape="0"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TextBox 153"/>
              <p:cNvSpPr txBox="1"/>
              <p:nvPr/>
            </p:nvSpPr>
            <p:spPr>
              <a:xfrm>
                <a:off x="-108114" y="3411974"/>
                <a:ext cx="235778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𝑂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: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𝑃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𝑂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𝑂𝑀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: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𝑂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  <a:sym typeface="Wingdings"/>
                        </a:rPr>
                        <m:t>𝑁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  <a:sym typeface="Wingdings"/>
                        </a:rPr>
                        <m:t>=5:12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54" name="TextBox 1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8114" y="3411974"/>
                <a:ext cx="2357789" cy="276999"/>
              </a:xfrm>
              <a:prstGeom prst="rect">
                <a:avLst/>
              </a:prstGeom>
              <a:blipFill rotWithShape="0"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/>
              <p:cNvSpPr txBox="1"/>
              <p:nvPr/>
            </p:nvSpPr>
            <p:spPr>
              <a:xfrm>
                <a:off x="-1832" y="3680043"/>
                <a:ext cx="475560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 smtClean="0"/>
                  <a:t>б</a:t>
                </a:r>
                <a:r>
                  <a:rPr lang="ru-RU" sz="1200" b="0" dirty="0" smtClean="0">
                    <a:solidFill>
                      <a:schemeClr val="tx1"/>
                    </a:solidFill>
                  </a:rPr>
                  <a:t>) Докажем, что плоскость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𝐾</m:t>
                        </m:r>
                        <m:r>
                          <a:rPr lang="en-US" sz="1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𝐾</m:t>
                        </m:r>
                      </m:e>
                      <m:sub>
                        <m:r>
                          <a:rPr lang="en-US" sz="1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i="1" dirty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𝐿</m:t>
                        </m:r>
                      </m:e>
                      <m:sub>
                        <m:r>
                          <a:rPr lang="en-US" sz="1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200" b="0" dirty="0" smtClean="0">
                    <a:solidFill>
                      <a:schemeClr val="tx1"/>
                    </a:solidFill>
                  </a:rPr>
                  <a:t> </a:t>
                </a:r>
                <a:r>
                  <a:rPr lang="ru-RU" sz="1200" b="0" dirty="0" smtClean="0">
                    <a:solidFill>
                      <a:schemeClr val="tx1"/>
                    </a:solidFill>
                  </a:rPr>
                  <a:t>перпендикулярна плоскости </a:t>
                </a:r>
                <a14:m>
                  <m:oMath xmlns:m="http://schemas.openxmlformats.org/officeDocument/2006/math">
                    <m:r>
                      <a:rPr lang="ru-RU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  <m:r>
                      <a:rPr lang="ru-RU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.</m:t>
                    </m:r>
                  </m:oMath>
                </a14:m>
                <a:r>
                  <a:rPr lang="ru-RU" sz="1200" b="0" dirty="0" smtClean="0">
                    <a:solidFill>
                      <a:schemeClr val="tx1"/>
                    </a:solidFill>
                  </a:rPr>
                  <a:t> </a:t>
                </a:r>
                <a:endParaRPr lang="ru-RU" sz="1200" dirty="0"/>
              </a:p>
            </p:txBody>
          </p:sp>
        </mc:Choice>
        <mc:Fallback xmlns="">
          <p:sp>
            <p:nvSpPr>
              <p:cNvPr id="155" name="TextBox 1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32" y="3680043"/>
                <a:ext cx="4755603" cy="276999"/>
              </a:xfrm>
              <a:prstGeom prst="rect">
                <a:avLst/>
              </a:prstGeom>
              <a:blipFill rotWithShape="0">
                <a:blip r:embed="rId51"/>
                <a:stretch>
                  <a:fillRect l="-128"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6" name="Прямая соединительная линия 155"/>
          <p:cNvCxnSpPr/>
          <p:nvPr/>
        </p:nvCxnSpPr>
        <p:spPr>
          <a:xfrm flipH="1">
            <a:off x="8504092" y="1802977"/>
            <a:ext cx="6718" cy="1790909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Прямая соединительная линия 157"/>
          <p:cNvCxnSpPr/>
          <p:nvPr/>
        </p:nvCxnSpPr>
        <p:spPr>
          <a:xfrm flipH="1">
            <a:off x="6336626" y="1546137"/>
            <a:ext cx="6718" cy="1790909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Полилиния 160"/>
          <p:cNvSpPr/>
          <p:nvPr/>
        </p:nvSpPr>
        <p:spPr>
          <a:xfrm>
            <a:off x="6349057" y="1541023"/>
            <a:ext cx="2167847" cy="2034283"/>
          </a:xfrm>
          <a:custGeom>
            <a:avLst/>
            <a:gdLst>
              <a:gd name="connsiteX0" fmla="*/ 0 w 2167847"/>
              <a:gd name="connsiteY0" fmla="*/ 1777429 h 2034283"/>
              <a:gd name="connsiteX1" fmla="*/ 0 w 2167847"/>
              <a:gd name="connsiteY1" fmla="*/ 0 h 2034283"/>
              <a:gd name="connsiteX2" fmla="*/ 2167847 w 2167847"/>
              <a:gd name="connsiteY2" fmla="*/ 256854 h 2034283"/>
              <a:gd name="connsiteX3" fmla="*/ 2167847 w 2167847"/>
              <a:gd name="connsiteY3" fmla="*/ 2034283 h 2034283"/>
              <a:gd name="connsiteX4" fmla="*/ 0 w 2167847"/>
              <a:gd name="connsiteY4" fmla="*/ 1777429 h 2034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7847" h="2034283">
                <a:moveTo>
                  <a:pt x="0" y="1777429"/>
                </a:moveTo>
                <a:lnTo>
                  <a:pt x="0" y="0"/>
                </a:lnTo>
                <a:lnTo>
                  <a:pt x="2167847" y="256854"/>
                </a:lnTo>
                <a:lnTo>
                  <a:pt x="2167847" y="2034283"/>
                </a:lnTo>
                <a:lnTo>
                  <a:pt x="0" y="1777429"/>
                </a:lnTo>
                <a:close/>
              </a:path>
            </a:pathLst>
          </a:custGeom>
          <a:solidFill>
            <a:schemeClr val="bg2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TextBox 161"/>
              <p:cNvSpPr txBox="1"/>
              <p:nvPr/>
            </p:nvSpPr>
            <p:spPr>
              <a:xfrm>
                <a:off x="29655" y="3935387"/>
                <a:ext cx="17338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𝐶𝐷</m:t>
                      </m:r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⊥</m:t>
                      </m:r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𝐾𝐿</m:t>
                      </m:r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 </m:t>
                      </m:r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𝐶𝐷</m:t>
                      </m:r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⊥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𝑂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𝑂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62" name="TextBox 1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5" y="3935387"/>
                <a:ext cx="1733869" cy="276999"/>
              </a:xfrm>
              <a:prstGeom prst="rect">
                <a:avLst/>
              </a:prstGeom>
              <a:blipFill rotWithShape="0">
                <a:blip r:embed="rId52"/>
                <a:stretch>
                  <a:fillRect t="-82222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TextBox 162"/>
              <p:cNvSpPr txBox="1"/>
              <p:nvPr/>
            </p:nvSpPr>
            <p:spPr>
              <a:xfrm>
                <a:off x="1370013" y="3921557"/>
                <a:ext cx="17338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𝐶𝐷</m:t>
                      </m:r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⊥(</m:t>
                      </m:r>
                      <m:sSub>
                        <m:sSubPr>
                          <m:ctrlPr>
                            <a:rPr lang="en-US" sz="1200" i="1" dirty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𝐾𝐾</m:t>
                          </m:r>
                        </m:e>
                        <m:sub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200" i="1" dirty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0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)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63" name="TextBox 1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0013" y="3921557"/>
                <a:ext cx="1733869" cy="276999"/>
              </a:xfrm>
              <a:prstGeom prst="rect">
                <a:avLst/>
              </a:prstGeom>
              <a:blipFill rotWithShape="0">
                <a:blip r:embed="rId5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/>
              <p:cNvSpPr txBox="1"/>
              <p:nvPr/>
            </p:nvSpPr>
            <p:spPr>
              <a:xfrm>
                <a:off x="2551264" y="3928472"/>
                <a:ext cx="17338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ru-RU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𝛼</m:t>
                      </m:r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⊥(</m:t>
                      </m:r>
                      <m:sSub>
                        <m:sSubPr>
                          <m:ctrlPr>
                            <a:rPr lang="en-US" sz="1200" i="1" dirty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𝐾𝐾</m:t>
                          </m:r>
                        </m:e>
                        <m:sub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200" i="1" dirty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0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)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64" name="TextBox 1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1264" y="3928472"/>
                <a:ext cx="1733869" cy="276999"/>
              </a:xfrm>
              <a:prstGeom prst="rect">
                <a:avLst/>
              </a:prstGeom>
              <a:blipFill rotWithShape="0">
                <a:blip r:embed="rId54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/>
              <p:cNvSpPr txBox="1"/>
              <p:nvPr/>
            </p:nvSpPr>
            <p:spPr>
              <a:xfrm>
                <a:off x="127335" y="4205511"/>
                <a:ext cx="708739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⟹∠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𝑃𝑁</m:t>
                    </m:r>
                    <m:sSub>
                      <m:sSubPr>
                        <m:ctrlPr>
                          <a:rPr lang="en-US" sz="1200" b="0" i="1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𝑂</m:t>
                        </m:r>
                      </m:e>
                      <m:sub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− </m:t>
                    </m:r>
                  </m:oMath>
                </a14:m>
                <a:r>
                  <a:rPr lang="ru-RU" sz="1200" dirty="0" smtClean="0"/>
                  <a:t>линейный угол двугранного угла между плоскостью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  <m:r>
                      <a:rPr lang="ru-RU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ru-RU" sz="1200" dirty="0" smtClean="0"/>
                  <a:t> и плоскостью верхнего основания.  </a:t>
                </a:r>
                <a:endParaRPr lang="ru-RU" sz="1200" dirty="0"/>
              </a:p>
            </p:txBody>
          </p:sp>
        </mc:Choice>
        <mc:Fallback xmlns="">
          <p:sp>
            <p:nvSpPr>
              <p:cNvPr id="165" name="TextBox 1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35" y="4205511"/>
                <a:ext cx="7087395" cy="276999"/>
              </a:xfrm>
              <a:prstGeom prst="rect">
                <a:avLst/>
              </a:prstGeom>
              <a:blipFill rotWithShape="0">
                <a:blip r:embed="rId55"/>
                <a:stretch>
                  <a:fillRect t="-80000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TextBox 165"/>
              <p:cNvSpPr txBox="1"/>
              <p:nvPr/>
            </p:nvSpPr>
            <p:spPr>
              <a:xfrm>
                <a:off x="196550" y="4449033"/>
                <a:ext cx="1719118" cy="469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𝑡𝑔</m:t>
                      </m:r>
                      <m:d>
                        <m:d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12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∠</m:t>
                          </m:r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𝑃𝑁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𝑃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𝑁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66" name="TextBox 1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550" y="4449033"/>
                <a:ext cx="1719118" cy="469424"/>
              </a:xfrm>
              <a:prstGeom prst="rect">
                <a:avLst/>
              </a:prstGeom>
              <a:blipFill rotWithShape="0"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/>
              <p:cNvSpPr txBox="1"/>
              <p:nvPr/>
            </p:nvSpPr>
            <p:spPr>
              <a:xfrm>
                <a:off x="1595344" y="4511156"/>
                <a:ext cx="323187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𝑃𝑂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=5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𝑥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  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𝑃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𝑂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=12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𝑥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𝑂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𝑂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=7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𝑥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=21;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67" name="TextBox 1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5344" y="4511156"/>
                <a:ext cx="3231877" cy="276999"/>
              </a:xfrm>
              <a:prstGeom prst="rect">
                <a:avLst/>
              </a:prstGeom>
              <a:blipFill rotWithShape="0">
                <a:blip r:embed="rId57"/>
                <a:stretch>
                  <a:fillRect t="-80000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Box 167"/>
              <p:cNvSpPr txBox="1"/>
              <p:nvPr/>
            </p:nvSpPr>
            <p:spPr>
              <a:xfrm>
                <a:off x="4513024" y="4509480"/>
                <a:ext cx="79751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𝑥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=3;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68" name="TextBox 1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3024" y="4509480"/>
                <a:ext cx="797513" cy="276999"/>
              </a:xfrm>
              <a:prstGeom prst="rect">
                <a:avLst/>
              </a:prstGeom>
              <a:blipFill rotWithShape="0">
                <a:blip r:embed="rId5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168"/>
              <p:cNvSpPr txBox="1"/>
              <p:nvPr/>
            </p:nvSpPr>
            <p:spPr>
              <a:xfrm>
                <a:off x="5085642" y="4518078"/>
                <a:ext cx="93554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𝑃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𝑂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=36;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69" name="TextBox 1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642" y="4518078"/>
                <a:ext cx="935545" cy="276999"/>
              </a:xfrm>
              <a:prstGeom prst="rect">
                <a:avLst/>
              </a:prstGeom>
              <a:blipFill rotWithShape="0">
                <a:blip r:embed="rId5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TextBox 169"/>
              <p:cNvSpPr txBox="1"/>
              <p:nvPr/>
            </p:nvSpPr>
            <p:spPr>
              <a:xfrm>
                <a:off x="5866521" y="4415942"/>
                <a:ext cx="1392818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𝑡𝑔</m:t>
                      </m:r>
                      <m:d>
                        <m:d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12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∠</m:t>
                          </m:r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𝑃𝑁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36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70" name="TextBox 1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6521" y="4415942"/>
                <a:ext cx="1392818" cy="438005"/>
              </a:xfrm>
              <a:prstGeom prst="rect">
                <a:avLst/>
              </a:prstGeom>
              <a:blipFill rotWithShape="0">
                <a:blip r:embed="rId60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TextBox 170"/>
              <p:cNvSpPr txBox="1"/>
              <p:nvPr/>
            </p:nvSpPr>
            <p:spPr>
              <a:xfrm>
                <a:off x="6986406" y="4517343"/>
                <a:ext cx="61017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=3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71" name="TextBox 1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406" y="4517343"/>
                <a:ext cx="610175" cy="276999"/>
              </a:xfrm>
              <a:prstGeom prst="rect">
                <a:avLst/>
              </a:prstGeom>
              <a:blipFill rotWithShape="0">
                <a:blip r:embed="rId6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/>
              <p:cNvSpPr txBox="1"/>
              <p:nvPr/>
            </p:nvSpPr>
            <p:spPr>
              <a:xfrm>
                <a:off x="7593415" y="4451625"/>
                <a:ext cx="10594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b="1" dirty="0" smtClean="0">
                    <a:solidFill>
                      <a:srgbClr val="FF0000"/>
                    </a:solidFill>
                  </a:rPr>
                  <a:t>Ответ: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charset="0"/>
                      </a:rPr>
                      <m:t>𝟑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.</m:t>
                    </m:r>
                  </m:oMath>
                </a14:m>
                <a:endParaRPr lang="ru-RU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2" name="TextBox 1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3415" y="4451625"/>
                <a:ext cx="1059457" cy="369332"/>
              </a:xfrm>
              <a:prstGeom prst="rect">
                <a:avLst/>
              </a:prstGeom>
              <a:blipFill rotWithShape="0">
                <a:blip r:embed="rId62"/>
                <a:stretch>
                  <a:fillRect l="-5202" t="-8197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3" name="Прямая соединительная линия 172"/>
          <p:cNvCxnSpPr/>
          <p:nvPr/>
        </p:nvCxnSpPr>
        <p:spPr>
          <a:xfrm>
            <a:off x="4774304" y="1970554"/>
            <a:ext cx="3446" cy="809851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TextBox 177"/>
              <p:cNvSpPr txBox="1"/>
              <p:nvPr/>
            </p:nvSpPr>
            <p:spPr>
              <a:xfrm>
                <a:off x="1800754" y="1402410"/>
                <a:ext cx="124174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⊥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𝐴𝐵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78" name="TextBox 1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0754" y="1402410"/>
                <a:ext cx="1241740" cy="276999"/>
              </a:xfrm>
              <a:prstGeom prst="rect">
                <a:avLst/>
              </a:prstGeom>
              <a:blipFill rotWithShape="0">
                <a:blip r:embed="rId6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9" name="Сектор 178"/>
          <p:cNvSpPr/>
          <p:nvPr/>
        </p:nvSpPr>
        <p:spPr>
          <a:xfrm>
            <a:off x="6288857" y="1131207"/>
            <a:ext cx="914400" cy="914400"/>
          </a:xfrm>
          <a:prstGeom prst="pie">
            <a:avLst>
              <a:gd name="adj1" fmla="val 376259"/>
              <a:gd name="adj2" fmla="val 4599076"/>
            </a:avLst>
          </a:prstGeom>
          <a:solidFill>
            <a:schemeClr val="accent1">
              <a:alpha val="36000"/>
            </a:schemeClr>
          </a:solidFill>
          <a:ln w="63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3230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6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0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5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indefinite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8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4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fill="hold">
                      <p:stCondLst>
                        <p:cond delay="indefinite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6" fill="hold">
                      <p:stCondLst>
                        <p:cond delay="indefinite"/>
                      </p:stCondLst>
                      <p:childTnLst>
                        <p:par>
                          <p:cTn id="357" fill="hold">
                            <p:stCondLst>
                              <p:cond delay="0"/>
                            </p:stCondLst>
                            <p:childTnLst>
                              <p:par>
                                <p:cTn id="3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>
                      <p:stCondLst>
                        <p:cond delay="indefinite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>
                      <p:stCondLst>
                        <p:cond delay="indefinite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id="3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indefinite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5" fill="hold">
                      <p:stCondLst>
                        <p:cond delay="indefinite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>
                      <p:stCondLst>
                        <p:cond delay="indefinite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indefinite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>
                      <p:stCondLst>
                        <p:cond delay="indefinite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1" fill="hold">
                      <p:stCondLst>
                        <p:cond delay="indefinite"/>
                      </p:stCondLst>
                      <p:childTnLst>
                        <p:par>
                          <p:cTn id="402" fill="hold">
                            <p:stCondLst>
                              <p:cond delay="0"/>
                            </p:stCondLst>
                            <p:childTnLst>
                              <p:par>
                                <p:cTn id="4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5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8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9" fill="hold">
                      <p:stCondLst>
                        <p:cond delay="indefinite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3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4" fill="hold">
                      <p:stCondLst>
                        <p:cond delay="indefinite"/>
                      </p:stCondLst>
                      <p:childTnLst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id="4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8" fill="hold">
                      <p:stCondLst>
                        <p:cond delay="indefinite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2" fill="hold">
                      <p:stCondLst>
                        <p:cond delay="indefinite"/>
                      </p:stCondLst>
                      <p:childTnLst>
                        <p:par>
                          <p:cTn id="423" fill="hold">
                            <p:stCondLst>
                              <p:cond delay="0"/>
                            </p:stCondLst>
                            <p:childTnLst>
                              <p:par>
                                <p:cTn id="4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6" fill="hold">
                      <p:stCondLst>
                        <p:cond delay="indefinite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" fill="hold">
                      <p:stCondLst>
                        <p:cond delay="indefinite"/>
                      </p:stCondLst>
                      <p:childTnLst>
                        <p:par>
                          <p:cTn id="431" fill="hold">
                            <p:stCondLst>
                              <p:cond delay="0"/>
                            </p:stCondLst>
                            <p:childTnLst>
                              <p:par>
                                <p:cTn id="4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4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5" fill="hold">
                      <p:stCondLst>
                        <p:cond delay="indefinite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indefinite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3" fill="hold">
                      <p:stCondLst>
                        <p:cond delay="indefinite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fill="hold">
                      <p:stCondLst>
                        <p:cond delay="indefinite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1" fill="hold">
                      <p:stCondLst>
                        <p:cond delay="indefinite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id="4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5" fill="hold">
                      <p:stCondLst>
                        <p:cond delay="indefinite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>
                      <p:stCondLst>
                        <p:cond delay="indefinite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3" fill="hold">
                      <p:stCondLst>
                        <p:cond delay="indefinite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7" fill="hold">
                      <p:stCondLst>
                        <p:cond delay="indefinite"/>
                      </p:stCondLst>
                      <p:childTnLst>
                        <p:par>
                          <p:cTn id="468" fill="hold">
                            <p:stCondLst>
                              <p:cond delay="0"/>
                            </p:stCondLst>
                            <p:childTnLst>
                              <p:par>
                                <p:cTn id="46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7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1" animBg="1"/>
      <p:bldP spid="6" grpId="1" animBg="1"/>
      <p:bldP spid="7" grpId="1" animBg="1"/>
      <p:bldP spid="8" grpId="1" animBg="1"/>
      <p:bldP spid="16" grpId="0" animBg="1"/>
      <p:bldP spid="17" grpId="0" animBg="1"/>
      <p:bldP spid="28" grpId="0"/>
      <p:bldP spid="29" grpId="0"/>
      <p:bldP spid="30" grpId="0"/>
      <p:bldP spid="31" grpId="0"/>
      <p:bldP spid="36" grpId="0"/>
      <p:bldP spid="37" grpId="0"/>
      <p:bldP spid="38" grpId="0"/>
      <p:bldP spid="43" grpId="0"/>
      <p:bldP spid="44" grpId="0"/>
      <p:bldP spid="46" grpId="0"/>
      <p:bldP spid="53" grpId="0" animBg="1"/>
      <p:bldP spid="55" grpId="0"/>
      <p:bldP spid="55" grpId="1"/>
      <p:bldP spid="56" grpId="0"/>
      <p:bldP spid="56" grpId="1"/>
      <p:bldP spid="66" grpId="0" animBg="1"/>
      <p:bldP spid="66" grpId="1" animBg="1"/>
      <p:bldP spid="67" grpId="0"/>
      <p:bldP spid="68" grpId="0"/>
      <p:bldP spid="69" grpId="0" animBg="1"/>
      <p:bldP spid="70" grpId="0" animBg="1"/>
      <p:bldP spid="71" grpId="0"/>
      <p:bldP spid="73" grpId="0"/>
      <p:bldP spid="82" grpId="0" animBg="1"/>
      <p:bldP spid="84" grpId="0"/>
      <p:bldP spid="91" grpId="0"/>
      <p:bldP spid="92" grpId="0"/>
      <p:bldP spid="95" grpId="0"/>
      <p:bldP spid="96" grpId="0"/>
      <p:bldP spid="98" grpId="0"/>
      <p:bldP spid="100" grpId="0"/>
      <p:bldP spid="101" grpId="0"/>
      <p:bldP spid="102" grpId="0"/>
      <p:bldP spid="103" grpId="0" animBg="1"/>
      <p:bldP spid="104" grpId="0" animBg="1"/>
      <p:bldP spid="105" grpId="0"/>
      <p:bldP spid="108" grpId="0"/>
      <p:bldP spid="109" grpId="0" animBg="1"/>
      <p:bldP spid="115" grpId="0" animBg="1"/>
      <p:bldP spid="118" grpId="0"/>
      <p:bldP spid="118" grpId="1"/>
      <p:bldP spid="119" grpId="0"/>
      <p:bldP spid="119" grpId="1"/>
      <p:bldP spid="121" grpId="0" animBg="1"/>
      <p:bldP spid="121" grpId="1" animBg="1"/>
      <p:bldP spid="122" grpId="0"/>
      <p:bldP spid="122" grpId="1"/>
      <p:bldP spid="123" grpId="0"/>
      <p:bldP spid="123" grpId="1"/>
      <p:bldP spid="128" grpId="0"/>
      <p:bldP spid="128" grpId="1"/>
      <p:bldP spid="129" grpId="0"/>
      <p:bldP spid="129" grpId="1"/>
      <p:bldP spid="131" grpId="0"/>
      <p:bldP spid="132" grpId="0"/>
      <p:bldP spid="133" grpId="0"/>
      <p:bldP spid="134" grpId="0"/>
      <p:bldP spid="135" grpId="0"/>
      <p:bldP spid="137" grpId="0"/>
      <p:bldP spid="138" grpId="0"/>
      <p:bldP spid="139" grpId="0" animBg="1"/>
      <p:bldP spid="141" grpId="0"/>
      <p:bldP spid="142" grpId="0"/>
      <p:bldP spid="146" grpId="0"/>
      <p:bldP spid="147" grpId="0"/>
      <p:bldP spid="149" grpId="0"/>
      <p:bldP spid="150" grpId="0"/>
      <p:bldP spid="151" grpId="0"/>
      <p:bldP spid="152" grpId="0"/>
      <p:bldP spid="153" grpId="0"/>
      <p:bldP spid="154" grpId="0"/>
      <p:bldP spid="155" grpId="0"/>
      <p:bldP spid="161" grpId="0" animBg="1"/>
      <p:bldP spid="162" grpId="0"/>
      <p:bldP spid="163" grpId="0"/>
      <p:bldP spid="164" grpId="0"/>
      <p:bldP spid="165" grpId="0"/>
      <p:bldP spid="166" grpId="0"/>
      <p:bldP spid="167" grpId="0"/>
      <p:bldP spid="168" grpId="0"/>
      <p:bldP spid="169" grpId="0"/>
      <p:bldP spid="170" grpId="0"/>
      <p:bldP spid="171" grpId="0"/>
      <p:bldP spid="172" grpId="0"/>
      <p:bldP spid="178" grpId="0"/>
      <p:bldP spid="17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A3F7CB7D-F184-43C7-B6FD-03D728E1BBFF}" type="slidenum">
              <a:rPr kumimoji="0" lang="ru-RU" smtClean="0">
                <a:solidFill>
                  <a:schemeClr val="tx2"/>
                </a:solidFill>
              </a:rPr>
              <a:pPr/>
              <a:t>48</a:t>
            </a:fld>
            <a:endParaRPr kumimoji="0" lang="ru-RU">
              <a:solidFill>
                <a:schemeClr val="tx2"/>
              </a:solidFill>
            </a:endParaRPr>
          </a:p>
        </p:txBody>
      </p:sp>
      <p:sp>
        <p:nvSpPr>
          <p:cNvPr id="3" name="Номер слайда 1"/>
          <p:cNvSpPr txBox="1">
            <a:spLocks/>
          </p:cNvSpPr>
          <p:nvPr/>
        </p:nvSpPr>
        <p:spPr>
          <a:xfrm>
            <a:off x="0" y="4686300"/>
            <a:ext cx="533400" cy="285750"/>
          </a:xfrm>
          <a:prstGeom prst="rect">
            <a:avLst/>
          </a:prstGeom>
        </p:spPr>
        <p:txBody>
          <a:bodyPr vert="horz" anchor="ctr" anchorCtr="0">
            <a:normAutofit lnSpcReduction="10000"/>
          </a:bodyPr>
          <a:lstStyle>
            <a:lvl1pPr marL="0" algn="ctr" rtl="0" eaLnBrk="1" latinLnBrk="0" hangingPunct="1">
              <a:defRPr kumimoji="0" lang="ru-RU"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fld id="{A3F7CB7D-F184-43C7-B6FD-03D728E1BBFF}" type="slidenum">
              <a:rPr lang="is-IS" smtClean="0"/>
              <a:pPr/>
              <a:t>48</a:t>
            </a:fld>
            <a:endParaRPr lang="is-I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0" y="-22135"/>
                <a:ext cx="9144000" cy="115372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b="1" dirty="0" smtClean="0">
                    <a:solidFill>
                      <a:srgbClr val="7030A0"/>
                    </a:solidFill>
                  </a:rPr>
                  <a:t>28.</a:t>
                </a:r>
                <a:r>
                  <a:rPr lang="ru-RU" sz="1200" b="1" dirty="0" smtClean="0">
                    <a:solidFill>
                      <a:srgbClr val="002060"/>
                    </a:solidFill>
                  </a:rPr>
                  <a:t> Диаметр окружности основания цилиндра равен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𝟐𝟔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, образующая цилиндра равна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𝟐𝟏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</a:rPr>
                  <a:t>Плоскость </a:t>
                </a:r>
                <a14:m>
                  <m:oMath xmlns:m="http://schemas.openxmlformats.org/officeDocument/2006/math">
                    <m:r>
                      <a:rPr lang="ru-RU" sz="1200" b="1" i="1" smtClean="0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𝜶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 пересекает его основания по хордам длины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𝟐𝟒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и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𝟏𝟎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en-US" sz="1200" b="1" dirty="0" smtClean="0">
                  <a:solidFill>
                    <a:srgbClr val="002060"/>
                  </a:solidFill>
                  <a:latin typeface="+mj-lt"/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а)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Пусть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𝑴</m:t>
                    </m:r>
                  </m:oMath>
                </a14:m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 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𝑵</m:t>
                    </m:r>
                  </m:oMath>
                </a14:m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mr-IN" sz="1200" b="1" i="0" dirty="0" smtClean="0">
                    <a:solidFill>
                      <a:srgbClr val="002060"/>
                    </a:solidFill>
                    <a:latin typeface="+mj-lt"/>
                  </a:rPr>
                  <a:t>–</a:t>
                </a:r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середины этих хорд.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 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𝑷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− 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точка пересечения прямой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𝑴𝑵</m:t>
                    </m:r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с осью цилиндра. Докажите, что расстояния от точки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𝑷</m:t>
                    </m:r>
                  </m:oMath>
                </a14:m>
                <a:r>
                  <a:rPr lang="en-US" sz="1200" b="1" i="0" dirty="0" smtClean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до плоскостей основания цилиндра относятся как </a:t>
                </a:r>
                <a14:m>
                  <m:oMath xmlns:m="http://schemas.openxmlformats.org/officeDocument/2006/math"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𝟓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: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𝟏𝟐</m:t>
                    </m:r>
                    <m:r>
                      <a:rPr lang="ru-RU" sz="1200" b="1" i="1" dirty="0" smtClean="0">
                        <a:solidFill>
                          <a:srgbClr val="002060"/>
                        </a:solidFill>
                        <a:latin typeface="Cambria Math" charset="0"/>
                      </a:rPr>
                      <m:t>.</m:t>
                    </m:r>
                  </m:oMath>
                </a14:m>
                <a:endParaRPr lang="ru-RU" sz="1200" b="1" i="0" dirty="0" smtClean="0">
                  <a:solidFill>
                    <a:srgbClr val="002060"/>
                  </a:solidFill>
                  <a:latin typeface="+mj-lt"/>
                </a:endParaRPr>
              </a:p>
              <a:p>
                <a:pPr algn="ctr"/>
                <a:r>
                  <a:rPr lang="ru-RU" sz="1200" b="1" dirty="0" smtClean="0">
                    <a:solidFill>
                      <a:srgbClr val="002060"/>
                    </a:solidFill>
                    <a:latin typeface="+mj-lt"/>
                  </a:rPr>
                  <a:t>б)  Найдите тангенс угла между плоскостью </a:t>
                </a:r>
                <a14:m>
                  <m:oMath xmlns:m="http://schemas.openxmlformats.org/officeDocument/2006/math">
                    <m:r>
                      <a:rPr lang="ru-RU" sz="1200" b="1" i="1">
                        <a:solidFill>
                          <a:srgbClr val="00206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𝜶</m:t>
                    </m:r>
                  </m:oMath>
                </a14:m>
                <a:r>
                  <a:rPr lang="ru-RU" sz="1200" b="1" i="0" dirty="0" smtClean="0">
                    <a:solidFill>
                      <a:srgbClr val="002060"/>
                    </a:solidFill>
                    <a:latin typeface="+mj-lt"/>
                  </a:rPr>
                  <a:t> и плоскостью основания цилиндра. </a:t>
                </a: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2135"/>
                <a:ext cx="9144000" cy="115372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Дуга 4"/>
          <p:cNvSpPr/>
          <p:nvPr/>
        </p:nvSpPr>
        <p:spPr>
          <a:xfrm rot="10800000">
            <a:off x="6173532" y="3179798"/>
            <a:ext cx="2520280" cy="544080"/>
          </a:xfrm>
          <a:prstGeom prst="arc">
            <a:avLst>
              <a:gd name="adj1" fmla="val 10839281"/>
              <a:gd name="adj2" fmla="val 0"/>
            </a:avLst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Дуга 5"/>
          <p:cNvSpPr/>
          <p:nvPr/>
        </p:nvSpPr>
        <p:spPr>
          <a:xfrm>
            <a:off x="6166814" y="3190072"/>
            <a:ext cx="2520280" cy="544080"/>
          </a:xfrm>
          <a:prstGeom prst="arc">
            <a:avLst>
              <a:gd name="adj1" fmla="val 10839281"/>
              <a:gd name="adj2" fmla="val 0"/>
            </a:avLst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Дуга 6"/>
          <p:cNvSpPr/>
          <p:nvPr/>
        </p:nvSpPr>
        <p:spPr>
          <a:xfrm rot="10800000">
            <a:off x="6180250" y="1388890"/>
            <a:ext cx="2520280" cy="544080"/>
          </a:xfrm>
          <a:prstGeom prst="arc">
            <a:avLst>
              <a:gd name="adj1" fmla="val 10839281"/>
              <a:gd name="adj2" fmla="val 0"/>
            </a:avLst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Дуга 7"/>
          <p:cNvSpPr/>
          <p:nvPr/>
        </p:nvSpPr>
        <p:spPr>
          <a:xfrm>
            <a:off x="6183806" y="1399164"/>
            <a:ext cx="2520280" cy="544080"/>
          </a:xfrm>
          <a:prstGeom prst="arc">
            <a:avLst>
              <a:gd name="adj1" fmla="val 10839281"/>
              <a:gd name="adj2" fmla="val 0"/>
            </a:avLst>
          </a:prstGeom>
          <a:ln>
            <a:solidFill>
              <a:srgbClr val="00206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>
            <a:endCxn id="6" idx="2"/>
          </p:cNvCxnSpPr>
          <p:nvPr/>
        </p:nvCxnSpPr>
        <p:spPr>
          <a:xfrm flipH="1">
            <a:off x="6173532" y="1660929"/>
            <a:ext cx="6718" cy="1790909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 flipH="1">
            <a:off x="8689069" y="1650654"/>
            <a:ext cx="6718" cy="1790909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6342339" y="3315606"/>
            <a:ext cx="2161753" cy="269343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 flipH="1" flipV="1">
            <a:off x="7413974" y="3426536"/>
            <a:ext cx="45719" cy="4156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/>
          <p:cNvSpPr/>
          <p:nvPr/>
        </p:nvSpPr>
        <p:spPr>
          <a:xfrm flipH="1" flipV="1">
            <a:off x="7421500" y="1649909"/>
            <a:ext cx="45719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7143740" y="3222469"/>
                <a:ext cx="4052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𝑂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3740" y="3222469"/>
                <a:ext cx="405262" cy="27699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292897" y="1448693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𝑂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97" y="1448693"/>
                <a:ext cx="569966" cy="27699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329794" y="3322301"/>
                <a:ext cx="56996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charset="0"/>
                        </a:rPr>
                        <m:t>26</m:t>
                      </m:r>
                    </m:oMath>
                  </m:oMathPara>
                </a14:m>
                <a:endParaRPr lang="ru-RU" sz="10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794" y="3322301"/>
                <a:ext cx="569966" cy="24622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782788" y="2956864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21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2788" y="2956864"/>
                <a:ext cx="569966" cy="276999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Прямая соединительная линия 17"/>
          <p:cNvCxnSpPr/>
          <p:nvPr/>
        </p:nvCxnSpPr>
        <p:spPr>
          <a:xfrm flipV="1">
            <a:off x="6280538" y="1399166"/>
            <a:ext cx="901698" cy="365394"/>
          </a:xfrm>
          <a:prstGeom prst="line">
            <a:avLst/>
          </a:prstGeom>
          <a:ln>
            <a:solidFill>
              <a:srgbClr val="00206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955378" y="1720310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5378" y="1720310"/>
                <a:ext cx="569966" cy="276999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986406" y="1176407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406" y="1176407"/>
                <a:ext cx="569966" cy="276999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724782" y="1419622"/>
                <a:ext cx="56996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charset="0"/>
                        </a:rPr>
                        <m:t>10</m:t>
                      </m:r>
                    </m:oMath>
                  </m:oMathPara>
                </a14:m>
                <a:endParaRPr lang="ru-RU" sz="10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4782" y="1419622"/>
                <a:ext cx="569966" cy="246221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606782" y="3151196"/>
                <a:ext cx="56996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charset="0"/>
                        </a:rPr>
                        <m:t>24</m:t>
                      </m:r>
                    </m:oMath>
                  </m:oMathPara>
                </a14:m>
                <a:endParaRPr lang="ru-RU" sz="10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6782" y="3151196"/>
                <a:ext cx="569966" cy="246221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Прямая соединительная линия 28"/>
          <p:cNvCxnSpPr/>
          <p:nvPr/>
        </p:nvCxnSpPr>
        <p:spPr>
          <a:xfrm flipV="1">
            <a:off x="7052860" y="3236265"/>
            <a:ext cx="1160095" cy="475055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6755341" y="3693738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5341" y="3693738"/>
                <a:ext cx="569966" cy="276999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8043055" y="3007336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𝐷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3055" y="3007336"/>
                <a:ext cx="569966" cy="276999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Прямая соединительная линия 31"/>
          <p:cNvCxnSpPr/>
          <p:nvPr/>
        </p:nvCxnSpPr>
        <p:spPr>
          <a:xfrm>
            <a:off x="7188652" y="1401514"/>
            <a:ext cx="1014430" cy="1848435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/>
          <p:nvPr/>
        </p:nvCxnSpPr>
        <p:spPr>
          <a:xfrm>
            <a:off x="6293948" y="1765421"/>
            <a:ext cx="773484" cy="1952377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Полилиния 33"/>
          <p:cNvSpPr/>
          <p:nvPr/>
        </p:nvSpPr>
        <p:spPr>
          <a:xfrm>
            <a:off x="6300468" y="1399073"/>
            <a:ext cx="1890445" cy="2311686"/>
          </a:xfrm>
          <a:custGeom>
            <a:avLst/>
            <a:gdLst>
              <a:gd name="connsiteX0" fmla="*/ 0 w 1890445"/>
              <a:gd name="connsiteY0" fmla="*/ 369870 h 2311686"/>
              <a:gd name="connsiteX1" fmla="*/ 883578 w 1890445"/>
              <a:gd name="connsiteY1" fmla="*/ 0 h 2311686"/>
              <a:gd name="connsiteX2" fmla="*/ 1890445 w 1890445"/>
              <a:gd name="connsiteY2" fmla="*/ 1849349 h 2311686"/>
              <a:gd name="connsiteX3" fmla="*/ 780836 w 1890445"/>
              <a:gd name="connsiteY3" fmla="*/ 2311686 h 2311686"/>
              <a:gd name="connsiteX4" fmla="*/ 0 w 1890445"/>
              <a:gd name="connsiteY4" fmla="*/ 369870 h 2311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90445" h="2311686">
                <a:moveTo>
                  <a:pt x="0" y="369870"/>
                </a:moveTo>
                <a:lnTo>
                  <a:pt x="883578" y="0"/>
                </a:lnTo>
                <a:lnTo>
                  <a:pt x="1890445" y="1849349"/>
                </a:lnTo>
                <a:lnTo>
                  <a:pt x="780836" y="2311686"/>
                </a:lnTo>
                <a:lnTo>
                  <a:pt x="0" y="369870"/>
                </a:lnTo>
                <a:close/>
              </a:path>
            </a:pathLst>
          </a:custGeom>
          <a:solidFill>
            <a:srgbClr val="339933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160096" y="3059155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𝐾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0096" y="3059155"/>
                <a:ext cx="569966" cy="276999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8244269" y="3594649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𝐿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4269" y="3594649"/>
                <a:ext cx="569966" cy="276999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Овал 36"/>
          <p:cNvSpPr/>
          <p:nvPr/>
        </p:nvSpPr>
        <p:spPr>
          <a:xfrm flipH="1" flipV="1">
            <a:off x="6711700" y="1571497"/>
            <a:ext cx="41563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Овал 37"/>
          <p:cNvSpPr/>
          <p:nvPr/>
        </p:nvSpPr>
        <p:spPr>
          <a:xfrm flipH="1" flipV="1">
            <a:off x="7592280" y="3464372"/>
            <a:ext cx="41563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6357742" y="1401333"/>
                <a:ext cx="56996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charset="0"/>
                        </a:rPr>
                        <m:t>𝑁</m:t>
                      </m:r>
                    </m:oMath>
                  </m:oMathPara>
                </a14:m>
                <a:endParaRPr lang="ru-RU" sz="10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7742" y="1401333"/>
                <a:ext cx="569966" cy="246221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7613073" y="3311071"/>
                <a:ext cx="56996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charset="0"/>
                        </a:rPr>
                        <m:t>𝑀</m:t>
                      </m:r>
                    </m:oMath>
                  </m:oMathPara>
                </a14:m>
                <a:endParaRPr lang="ru-RU" sz="10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3073" y="3311071"/>
                <a:ext cx="569966" cy="246221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Прямая соединительная линия 40"/>
          <p:cNvCxnSpPr/>
          <p:nvPr/>
        </p:nvCxnSpPr>
        <p:spPr>
          <a:xfrm>
            <a:off x="7438764" y="1685963"/>
            <a:ext cx="2404" cy="2291929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Овал 42"/>
          <p:cNvSpPr/>
          <p:nvPr/>
        </p:nvSpPr>
        <p:spPr>
          <a:xfrm flipH="1" flipV="1">
            <a:off x="7423398" y="3117374"/>
            <a:ext cx="45719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7267208" y="2912396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𝑃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7208" y="2912396"/>
                <a:ext cx="569966" cy="276999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Прямая соединительная линия 44"/>
          <p:cNvCxnSpPr/>
          <p:nvPr/>
        </p:nvCxnSpPr>
        <p:spPr>
          <a:xfrm>
            <a:off x="6329195" y="1543564"/>
            <a:ext cx="2195700" cy="252225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5953812" y="1322269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812" y="1322269"/>
                <a:ext cx="569966" cy="276999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8127321" y="1815487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7321" y="1815487"/>
                <a:ext cx="569966" cy="276999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-1" y="1152767"/>
                <a:ext cx="21237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 smtClean="0"/>
                  <a:t>а</a:t>
                </a:r>
                <a:r>
                  <a:rPr lang="ru-RU" sz="1200" b="0" dirty="0" smtClean="0">
                    <a:solidFill>
                      <a:schemeClr val="tx1"/>
                    </a:solidFill>
                  </a:rPr>
                  <a:t>)</a:t>
                </a:r>
                <a:r>
                  <a:rPr lang="en-US" sz="1200" b="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𝐾𝐿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⊥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𝐶𝐷</m:t>
                    </m:r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1200" dirty="0" smtClean="0"/>
                  <a:t>(</a:t>
                </a:r>
                <a:r>
                  <a:rPr lang="ru-RU" sz="1200" dirty="0" smtClean="0"/>
                  <a:t>по построению),</a:t>
                </a:r>
                <a:endParaRPr lang="ru-RU" sz="120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1152767"/>
                <a:ext cx="2123729" cy="276999"/>
              </a:xfrm>
              <a:prstGeom prst="rect">
                <a:avLst/>
              </a:prstGeom>
              <a:blipFill rotWithShape="0">
                <a:blip r:embed="rId20"/>
                <a:stretch>
                  <a:fillRect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1917978" y="1159541"/>
                <a:ext cx="21237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𝐶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𝑀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𝑀𝐷</m:t>
                    </m:r>
                  </m:oMath>
                </a14:m>
                <a:r>
                  <a:rPr lang="en-US" sz="1200" dirty="0" smtClean="0"/>
                  <a:t> ( </a:t>
                </a:r>
                <a:r>
                  <a:rPr lang="ru-RU" sz="1200" dirty="0" smtClean="0"/>
                  <a:t>по условию)</a:t>
                </a:r>
                <a:endParaRPr lang="ru-RU" sz="120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7978" y="1159541"/>
                <a:ext cx="2123729" cy="276999"/>
              </a:xfrm>
              <a:prstGeom prst="rect">
                <a:avLst/>
              </a:prstGeom>
              <a:blipFill rotWithShape="0">
                <a:blip r:embed="rId21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3540479" y="1159540"/>
                <a:ext cx="133078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𝑀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𝐾𝐿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∩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𝐶𝐷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479" y="1159540"/>
                <a:ext cx="1330787" cy="276999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-1831" y="1412848"/>
                <a:ext cx="204153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𝐾𝐿</m:t>
                    </m:r>
                    <m:r>
                      <a:rPr lang="en-US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∥</m:t>
                    </m:r>
                    <m:sSub>
                      <m:sSubPr>
                        <m:ctrlPr>
                          <a:rPr lang="en-US" sz="1200" i="1" dirty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𝐾</m:t>
                        </m:r>
                      </m:e>
                      <m:sub>
                        <m:r>
                          <a:rPr lang="en-US" sz="1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i="1" dirty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𝐿</m:t>
                        </m:r>
                      </m:e>
                      <m:sub>
                        <m:r>
                          <a:rPr lang="en-US" sz="1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200" dirty="0"/>
                  <a:t> (</a:t>
                </a:r>
                <a:r>
                  <a:rPr lang="ru-RU" sz="1200" dirty="0"/>
                  <a:t>по построению</a:t>
                </a:r>
                <a:r>
                  <a:rPr lang="ru-RU" sz="1200" dirty="0" smtClean="0"/>
                  <a:t>)</a:t>
                </a:r>
                <a:endParaRPr lang="ru-RU" sz="1200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31" y="1412848"/>
                <a:ext cx="2041533" cy="276999"/>
              </a:xfrm>
              <a:prstGeom prst="rect">
                <a:avLst/>
              </a:prstGeom>
              <a:blipFill rotWithShape="0">
                <a:blip r:embed="rId23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2869261" y="1399074"/>
                <a:ext cx="21237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𝐴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𝑁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en-US" sz="12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𝑁𝐵</m:t>
                    </m:r>
                  </m:oMath>
                </a14:m>
                <a:r>
                  <a:rPr lang="en-US" sz="1200" dirty="0" smtClean="0"/>
                  <a:t> ( </a:t>
                </a:r>
                <a:r>
                  <a:rPr lang="ru-RU" sz="1200" dirty="0" smtClean="0"/>
                  <a:t>по условию)</a:t>
                </a:r>
                <a:endParaRPr lang="ru-RU" sz="1200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261" y="1399074"/>
                <a:ext cx="2123729" cy="276999"/>
              </a:xfrm>
              <a:prstGeom prst="rect">
                <a:avLst/>
              </a:prstGeom>
              <a:blipFill rotWithShape="0">
                <a:blip r:embed="rId24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4491762" y="1399073"/>
                <a:ext cx="15924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∩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𝐴𝐵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1762" y="1399073"/>
                <a:ext cx="1592406" cy="276999"/>
              </a:xfrm>
              <a:prstGeom prst="rect">
                <a:avLst/>
              </a:prstGeom>
              <a:blipFill rotWithShape="0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Полилиния 53"/>
          <p:cNvSpPr/>
          <p:nvPr/>
        </p:nvSpPr>
        <p:spPr>
          <a:xfrm>
            <a:off x="6400800" y="1571946"/>
            <a:ext cx="308225" cy="82193"/>
          </a:xfrm>
          <a:custGeom>
            <a:avLst/>
            <a:gdLst>
              <a:gd name="connsiteX0" fmla="*/ 133564 w 308225"/>
              <a:gd name="connsiteY0" fmla="*/ 0 h 82193"/>
              <a:gd name="connsiteX1" fmla="*/ 0 w 308225"/>
              <a:gd name="connsiteY1" fmla="*/ 61645 h 82193"/>
              <a:gd name="connsiteX2" fmla="*/ 164387 w 308225"/>
              <a:gd name="connsiteY2" fmla="*/ 82193 h 82193"/>
              <a:gd name="connsiteX3" fmla="*/ 308225 w 308225"/>
              <a:gd name="connsiteY3" fmla="*/ 20548 h 82193"/>
              <a:gd name="connsiteX4" fmla="*/ 133564 w 308225"/>
              <a:gd name="connsiteY4" fmla="*/ 0 h 8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8225" h="82193">
                <a:moveTo>
                  <a:pt x="133564" y="0"/>
                </a:moveTo>
                <a:lnTo>
                  <a:pt x="0" y="61645"/>
                </a:lnTo>
                <a:lnTo>
                  <a:pt x="164387" y="82193"/>
                </a:lnTo>
                <a:lnTo>
                  <a:pt x="308225" y="20548"/>
                </a:lnTo>
                <a:lnTo>
                  <a:pt x="133564" y="0"/>
                </a:lnTo>
                <a:close/>
              </a:path>
            </a:pathLst>
          </a:custGeom>
          <a:solidFill>
            <a:schemeClr val="bg1">
              <a:lumMod val="85000"/>
              <a:alpha val="63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Полилиния 54"/>
          <p:cNvSpPr/>
          <p:nvPr/>
        </p:nvSpPr>
        <p:spPr>
          <a:xfrm>
            <a:off x="7314578" y="3451783"/>
            <a:ext cx="308225" cy="82193"/>
          </a:xfrm>
          <a:custGeom>
            <a:avLst/>
            <a:gdLst>
              <a:gd name="connsiteX0" fmla="*/ 133564 w 308225"/>
              <a:gd name="connsiteY0" fmla="*/ 0 h 82193"/>
              <a:gd name="connsiteX1" fmla="*/ 0 w 308225"/>
              <a:gd name="connsiteY1" fmla="*/ 61645 h 82193"/>
              <a:gd name="connsiteX2" fmla="*/ 164387 w 308225"/>
              <a:gd name="connsiteY2" fmla="*/ 82193 h 82193"/>
              <a:gd name="connsiteX3" fmla="*/ 308225 w 308225"/>
              <a:gd name="connsiteY3" fmla="*/ 20548 h 82193"/>
              <a:gd name="connsiteX4" fmla="*/ 133564 w 308225"/>
              <a:gd name="connsiteY4" fmla="*/ 0 h 8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8225" h="82193">
                <a:moveTo>
                  <a:pt x="133564" y="0"/>
                </a:moveTo>
                <a:lnTo>
                  <a:pt x="0" y="61645"/>
                </a:lnTo>
                <a:lnTo>
                  <a:pt x="164387" y="82193"/>
                </a:lnTo>
                <a:lnTo>
                  <a:pt x="308225" y="20548"/>
                </a:lnTo>
                <a:lnTo>
                  <a:pt x="133564" y="0"/>
                </a:lnTo>
                <a:close/>
              </a:path>
            </a:pathLst>
          </a:custGeom>
          <a:solidFill>
            <a:schemeClr val="bg1">
              <a:lumMod val="85000"/>
              <a:alpha val="63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-67209" y="1670690"/>
                <a:ext cx="366836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ru-RU" sz="1200" dirty="0"/>
                        <m:t>Рассмотрим подобные треугольники </m:t>
                      </m:r>
                      <m:r>
                        <a:rPr lang="en-US" sz="1200" i="1">
                          <a:latin typeface="Cambria Math" charset="0"/>
                        </a:rPr>
                        <m:t>𝑀𝑂𝑃</m:t>
                      </m:r>
                      <m:r>
                        <a:rPr lang="en-US" sz="1200" i="1">
                          <a:latin typeface="Cambria Math" charset="0"/>
                        </a:rPr>
                        <m:t> и </m:t>
                      </m:r>
                      <m:r>
                        <a:rPr lang="en-US" sz="1200" i="1">
                          <a:latin typeface="Cambria Math" charset="0"/>
                        </a:rPr>
                        <m:t>𝑁</m:t>
                      </m:r>
                      <m:sSub>
                        <m:sSubPr>
                          <m:ctrlPr>
                            <a:rPr lang="en-US" sz="1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charset="0"/>
                            </a:rPr>
                            <m:t>𝑂</m:t>
                          </m:r>
                        </m:e>
                        <m:sub>
                          <m:r>
                            <a:rPr lang="en-US" sz="1200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i="1">
                          <a:latin typeface="Cambria Math" charset="0"/>
                        </a:rPr>
                        <m:t>𝑃</m:t>
                      </m:r>
                      <m:r>
                        <a:rPr lang="en-US" sz="1200" i="1">
                          <a:latin typeface="Cambria Math" charset="0"/>
                        </a:rPr>
                        <m:t>.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7209" y="1670690"/>
                <a:ext cx="3668363" cy="276999"/>
              </a:xfrm>
              <a:prstGeom prst="rect">
                <a:avLst/>
              </a:prstGeom>
              <a:blipFill rotWithShape="0">
                <a:blip r:embed="rId26"/>
                <a:stretch>
                  <a:fillRect t="-78261" b="-97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12913" y="1911612"/>
                <a:ext cx="152360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𝑂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: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𝑃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𝑂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𝑂𝑀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: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𝑂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  <a:sym typeface="Wingdings"/>
                        </a:rPr>
                        <m:t>𝑁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13" y="1911612"/>
                <a:ext cx="1523602" cy="276999"/>
              </a:xfrm>
              <a:prstGeom prst="rect">
                <a:avLst/>
              </a:prstGeom>
              <a:blipFill rotWithShape="0"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Овал 58"/>
          <p:cNvSpPr/>
          <p:nvPr/>
        </p:nvSpPr>
        <p:spPr>
          <a:xfrm>
            <a:off x="3805210" y="1797753"/>
            <a:ext cx="1960098" cy="1960098"/>
          </a:xfrm>
          <a:prstGeom prst="ellipse">
            <a:avLst/>
          </a:prstGeom>
          <a:solidFill>
            <a:schemeClr val="bg1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Овал 60"/>
          <p:cNvSpPr/>
          <p:nvPr/>
        </p:nvSpPr>
        <p:spPr>
          <a:xfrm flipV="1">
            <a:off x="4756450" y="2748901"/>
            <a:ext cx="45719" cy="415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2" name="Прямая соединительная линия 61"/>
          <p:cNvCxnSpPr/>
          <p:nvPr/>
        </p:nvCxnSpPr>
        <p:spPr>
          <a:xfrm>
            <a:off x="4240561" y="1957640"/>
            <a:ext cx="1068845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3805924" y="1780396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𝐴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5924" y="1780396"/>
                <a:ext cx="569966" cy="276999"/>
              </a:xfrm>
              <a:prstGeom prst="rect">
                <a:avLst/>
              </a:prstGeom>
              <a:blipFill rotWithShape="0"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5176036" y="1802977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𝐵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6036" y="1802977"/>
                <a:ext cx="569966" cy="276999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Овал 64"/>
          <p:cNvSpPr/>
          <p:nvPr/>
        </p:nvSpPr>
        <p:spPr>
          <a:xfrm flipV="1">
            <a:off x="4755979" y="1950218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4578836" y="1753606"/>
                <a:ext cx="56996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charset="0"/>
                        </a:rPr>
                        <m:t>𝑁</m:t>
                      </m:r>
                    </m:oMath>
                  </m:oMathPara>
                </a14:m>
                <a:endParaRPr lang="ru-RU" sz="1000" dirty="0"/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8836" y="1753606"/>
                <a:ext cx="569966" cy="246221"/>
              </a:xfrm>
              <a:prstGeom prst="rect">
                <a:avLst/>
              </a:prstGeom>
              <a:blipFill rotWithShape="0"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4679063" y="1947419"/>
                <a:ext cx="56996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charset="0"/>
                        </a:rPr>
                        <m:t>5</m:t>
                      </m:r>
                    </m:oMath>
                  </m:oMathPara>
                </a14:m>
                <a:endParaRPr lang="ru-RU" sz="1000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9063" y="1947419"/>
                <a:ext cx="569966" cy="246221"/>
              </a:xfrm>
              <a:prstGeom prst="rect">
                <a:avLst/>
              </a:prstGeom>
              <a:blipFill rotWithShape="0"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Прямая соединительная линия 67"/>
          <p:cNvCxnSpPr/>
          <p:nvPr/>
        </p:nvCxnSpPr>
        <p:spPr>
          <a:xfrm flipV="1">
            <a:off x="4773419" y="1951752"/>
            <a:ext cx="539203" cy="832625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4402114" y="2756936"/>
                <a:ext cx="56996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000" i="1">
                              <a:latin typeface="Cambria Math" charset="0"/>
                            </a:rPr>
                            <m:t>𝑂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000" i="1" dirty="0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2114" y="2756936"/>
                <a:ext cx="569966" cy="246221"/>
              </a:xfrm>
              <a:prstGeom prst="rect">
                <a:avLst/>
              </a:prstGeom>
              <a:blipFill rotWithShape="0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4882731" y="2223472"/>
                <a:ext cx="56996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charset="0"/>
                        </a:rPr>
                        <m:t>13</m:t>
                      </m:r>
                    </m:oMath>
                  </m:oMathPara>
                </a14:m>
                <a:endParaRPr lang="ru-RU" sz="1000" dirty="0"/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731" y="2223472"/>
                <a:ext cx="569966" cy="246221"/>
              </a:xfrm>
              <a:prstGeom prst="rect">
                <a:avLst/>
              </a:prstGeom>
              <a:blipFill rotWithShape="0"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-127162" y="2080193"/>
                <a:ext cx="152360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𝐴𝐵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=5; 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7162" y="2080193"/>
                <a:ext cx="1523602" cy="438005"/>
              </a:xfrm>
              <a:prstGeom prst="rect">
                <a:avLst/>
              </a:prstGeom>
              <a:blipFill rotWithShape="0">
                <a:blip r:embed="rId33"/>
                <a:stretch>
                  <a:fillRect t="-27778" b="-486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1127209" y="2079976"/>
                <a:ext cx="152360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𝑂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1200" i="1" dirty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𝐾</m:t>
                          </m:r>
                        </m:e>
                        <m:sub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200" i="1" dirty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=13; 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209" y="2079976"/>
                <a:ext cx="1523602" cy="438005"/>
              </a:xfrm>
              <a:prstGeom prst="rect">
                <a:avLst/>
              </a:prstGeom>
              <a:blipFill rotWithShape="0">
                <a:blip r:embed="rId34"/>
                <a:stretch>
                  <a:fillRect t="-27778" b="-486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-149706" y="2466660"/>
                <a:ext cx="1985148" cy="315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𝑂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mr-IN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mr-IN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mr-IN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mr-IN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𝑁𝐵</m:t>
                              </m:r>
                            </m:e>
                            <m:sup>
                              <m:r>
                                <a:rPr lang="mr-IN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9706" y="2466660"/>
                <a:ext cx="1985148" cy="315984"/>
              </a:xfrm>
              <a:prstGeom prst="rect">
                <a:avLst/>
              </a:prstGeom>
              <a:blipFill rotWithShape="0"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1455824" y="2463037"/>
                <a:ext cx="1160287" cy="3232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mr-IN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mr-IN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13</m:t>
                              </m:r>
                            </m:e>
                            <m:sup>
                              <m:r>
                                <a:rPr lang="mr-IN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mr-IN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mr-IN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824" y="2463037"/>
                <a:ext cx="1160287" cy="323230"/>
              </a:xfrm>
              <a:prstGeom prst="rect">
                <a:avLst/>
              </a:prstGeom>
              <a:blipFill rotWithShape="0"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2112015" y="2492683"/>
                <a:ext cx="116028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1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2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2015" y="2492683"/>
                <a:ext cx="1160287" cy="276999"/>
              </a:xfrm>
              <a:prstGeom prst="rect">
                <a:avLst/>
              </a:prstGeom>
              <a:blipFill rotWithShape="0"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Прямая соединительная линия 75"/>
          <p:cNvCxnSpPr/>
          <p:nvPr/>
        </p:nvCxnSpPr>
        <p:spPr>
          <a:xfrm>
            <a:off x="3828223" y="3053274"/>
            <a:ext cx="1893524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3432596" y="3028364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𝐶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2596" y="3028364"/>
                <a:ext cx="569966" cy="276999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5503804" y="3010550"/>
                <a:ext cx="5699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</a:rPr>
                        <m:t>𝐷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3804" y="3010550"/>
                <a:ext cx="569966" cy="276999"/>
              </a:xfrm>
              <a:prstGeom prst="rect">
                <a:avLst/>
              </a:prstGeom>
              <a:blipFill rotWithShape="0"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Овал 78"/>
          <p:cNvSpPr/>
          <p:nvPr/>
        </p:nvSpPr>
        <p:spPr>
          <a:xfrm flipV="1">
            <a:off x="4752871" y="3036526"/>
            <a:ext cx="41563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4516715" y="3053928"/>
                <a:ext cx="56996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charset="0"/>
                        </a:rPr>
                        <m:t>𝑀</m:t>
                      </m:r>
                    </m:oMath>
                  </m:oMathPara>
                </a14:m>
                <a:endParaRPr lang="ru-RU" sz="1000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6715" y="3053928"/>
                <a:ext cx="569966" cy="246221"/>
              </a:xfrm>
              <a:prstGeom prst="rect">
                <a:avLst/>
              </a:prstGeom>
              <a:blipFill rotWithShape="0"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4599024" y="2763373"/>
                <a:ext cx="56996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charset="0"/>
                        </a:rPr>
                        <m:t>𝑂</m:t>
                      </m:r>
                    </m:oMath>
                  </m:oMathPara>
                </a14:m>
                <a:endParaRPr lang="ru-RU" sz="1000" dirty="0"/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9024" y="2763373"/>
                <a:ext cx="569966" cy="246221"/>
              </a:xfrm>
              <a:prstGeom prst="rect">
                <a:avLst/>
              </a:prstGeom>
              <a:blipFill rotWithShape="0"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Прямая соединительная линия 82"/>
          <p:cNvCxnSpPr/>
          <p:nvPr/>
        </p:nvCxnSpPr>
        <p:spPr>
          <a:xfrm>
            <a:off x="4763145" y="2765263"/>
            <a:ext cx="951160" cy="294566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5117579" y="2572832"/>
                <a:ext cx="56996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charset="0"/>
                        </a:rPr>
                        <m:t>13</m:t>
                      </m:r>
                    </m:oMath>
                  </m:oMathPara>
                </a14:m>
                <a:endParaRPr lang="ru-RU" sz="1000" dirty="0"/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7579" y="2572832"/>
                <a:ext cx="569966" cy="246221"/>
              </a:xfrm>
              <a:prstGeom prst="rect">
                <a:avLst/>
              </a:prstGeom>
              <a:blipFill rotWithShape="0"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4942373" y="2992935"/>
                <a:ext cx="56996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charset="0"/>
                        </a:rPr>
                        <m:t>12</m:t>
                      </m:r>
                    </m:oMath>
                  </m:oMathPara>
                </a14:m>
                <a:endParaRPr lang="ru-RU" sz="1000" dirty="0"/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373" y="2992935"/>
                <a:ext cx="569966" cy="246221"/>
              </a:xfrm>
              <a:prstGeom prst="rect">
                <a:avLst/>
              </a:prstGeom>
              <a:blipFill rotWithShape="0"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-76416" y="2725738"/>
                <a:ext cx="152360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𝑀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𝐷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𝐶𝐷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=12; 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416" y="2725738"/>
                <a:ext cx="1523602" cy="438005"/>
              </a:xfrm>
              <a:prstGeom prst="rect">
                <a:avLst/>
              </a:prstGeom>
              <a:blipFill rotWithShape="0">
                <a:blip r:embed="rId43"/>
                <a:stretch>
                  <a:fillRect t="-27778" b="-486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1281313" y="2725521"/>
                <a:ext cx="152360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𝑂𝐷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𝐶𝐷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=13; 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313" y="2725521"/>
                <a:ext cx="1523602" cy="438005"/>
              </a:xfrm>
              <a:prstGeom prst="rect">
                <a:avLst/>
              </a:prstGeom>
              <a:blipFill rotWithShape="0">
                <a:blip r:embed="rId44"/>
                <a:stretch>
                  <a:fillRect t="-27778" b="-486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-221624" y="3112205"/>
                <a:ext cx="1985148" cy="3225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𝑂𝑀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mr-IN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mr-IN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𝑂𝐷</m:t>
                              </m:r>
                            </m:e>
                            <m:sup>
                              <m:r>
                                <a:rPr lang="mr-IN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mr-IN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𝑀𝐷</m:t>
                              </m:r>
                            </m:e>
                            <m:sup>
                              <m:r>
                                <a:rPr lang="mr-IN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1624" y="3112205"/>
                <a:ext cx="1985148" cy="322589"/>
              </a:xfrm>
              <a:prstGeom prst="rect">
                <a:avLst/>
              </a:prstGeom>
              <a:blipFill rotWithShape="0"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1383906" y="3108582"/>
                <a:ext cx="1160287" cy="3232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mr-IN" sz="1200" i="1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mr-IN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13</m:t>
                              </m:r>
                            </m:e>
                            <m:sup>
                              <m:r>
                                <a:rPr lang="mr-IN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mr-IN" sz="1200" i="1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12</m:t>
                              </m:r>
                            </m:e>
                            <m:sup>
                              <m:r>
                                <a:rPr lang="mr-IN" sz="12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906" y="3108582"/>
                <a:ext cx="1160287" cy="323230"/>
              </a:xfrm>
              <a:prstGeom prst="rect">
                <a:avLst/>
              </a:prstGeom>
              <a:blipFill rotWithShape="0"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2269873" y="3156050"/>
                <a:ext cx="704639" cy="251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5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9873" y="3156050"/>
                <a:ext cx="704639" cy="251817"/>
              </a:xfrm>
              <a:prstGeom prst="rect">
                <a:avLst/>
              </a:prstGeom>
              <a:blipFill rotWithShape="0"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-108114" y="3411974"/>
                <a:ext cx="235778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𝑃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𝑂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: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𝑃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𝑂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𝑂𝑀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: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𝑂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  <a:sym typeface="Wingdings"/>
                        </a:rPr>
                        <m:t>𝑁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  <a:sym typeface="Wingdings"/>
                        </a:rPr>
                        <m:t>=5:12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8114" y="3411974"/>
                <a:ext cx="2357789" cy="276999"/>
              </a:xfrm>
              <a:prstGeom prst="rect">
                <a:avLst/>
              </a:prstGeom>
              <a:blipFill rotWithShape="0"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-1832" y="3680043"/>
                <a:ext cx="475560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 smtClean="0"/>
                  <a:t>б</a:t>
                </a:r>
                <a:r>
                  <a:rPr lang="ru-RU" sz="1200" b="0" dirty="0" smtClean="0">
                    <a:solidFill>
                      <a:schemeClr val="tx1"/>
                    </a:solidFill>
                  </a:rPr>
                  <a:t>) Докажем, что плоскость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𝐾</m:t>
                        </m:r>
                        <m:r>
                          <a:rPr lang="en-US" sz="1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𝐾</m:t>
                        </m:r>
                      </m:e>
                      <m:sub>
                        <m:r>
                          <a:rPr lang="en-US" sz="1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200" i="1" dirty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𝐿</m:t>
                        </m:r>
                      </m:e>
                      <m:sub>
                        <m:r>
                          <a:rPr lang="en-US" sz="12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200" b="0" dirty="0" smtClean="0">
                    <a:solidFill>
                      <a:schemeClr val="tx1"/>
                    </a:solidFill>
                  </a:rPr>
                  <a:t> </a:t>
                </a:r>
                <a:r>
                  <a:rPr lang="ru-RU" sz="1200" b="0" dirty="0" smtClean="0">
                    <a:solidFill>
                      <a:schemeClr val="tx1"/>
                    </a:solidFill>
                  </a:rPr>
                  <a:t>перпендикулярна плоскости </a:t>
                </a:r>
                <a14:m>
                  <m:oMath xmlns:m="http://schemas.openxmlformats.org/officeDocument/2006/math">
                    <m:r>
                      <a:rPr lang="ru-RU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  <m:r>
                      <a:rPr lang="ru-RU" sz="12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.</m:t>
                    </m:r>
                  </m:oMath>
                </a14:m>
                <a:r>
                  <a:rPr lang="ru-RU" sz="1200" b="0" dirty="0" smtClean="0">
                    <a:solidFill>
                      <a:schemeClr val="tx1"/>
                    </a:solidFill>
                  </a:rPr>
                  <a:t> </a:t>
                </a:r>
                <a:endParaRPr lang="ru-RU" sz="1200" dirty="0"/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32" y="3680043"/>
                <a:ext cx="4755603" cy="276999"/>
              </a:xfrm>
              <a:prstGeom prst="rect">
                <a:avLst/>
              </a:prstGeom>
              <a:blipFill rotWithShape="0">
                <a:blip r:embed="rId49"/>
                <a:stretch>
                  <a:fillRect l="-128" t="-2222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3" name="Прямая соединительная линия 92"/>
          <p:cNvCxnSpPr/>
          <p:nvPr/>
        </p:nvCxnSpPr>
        <p:spPr>
          <a:xfrm flipH="1">
            <a:off x="8504092" y="1802977"/>
            <a:ext cx="6718" cy="1790909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Прямая соединительная линия 93"/>
          <p:cNvCxnSpPr/>
          <p:nvPr/>
        </p:nvCxnSpPr>
        <p:spPr>
          <a:xfrm flipH="1">
            <a:off x="6336626" y="1546137"/>
            <a:ext cx="6718" cy="1790909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Полилиния 94"/>
          <p:cNvSpPr/>
          <p:nvPr/>
        </p:nvSpPr>
        <p:spPr>
          <a:xfrm>
            <a:off x="6332723" y="1535220"/>
            <a:ext cx="2167847" cy="2034283"/>
          </a:xfrm>
          <a:custGeom>
            <a:avLst/>
            <a:gdLst>
              <a:gd name="connsiteX0" fmla="*/ 0 w 2167847"/>
              <a:gd name="connsiteY0" fmla="*/ 1777429 h 2034283"/>
              <a:gd name="connsiteX1" fmla="*/ 0 w 2167847"/>
              <a:gd name="connsiteY1" fmla="*/ 0 h 2034283"/>
              <a:gd name="connsiteX2" fmla="*/ 2167847 w 2167847"/>
              <a:gd name="connsiteY2" fmla="*/ 256854 h 2034283"/>
              <a:gd name="connsiteX3" fmla="*/ 2167847 w 2167847"/>
              <a:gd name="connsiteY3" fmla="*/ 2034283 h 2034283"/>
              <a:gd name="connsiteX4" fmla="*/ 0 w 2167847"/>
              <a:gd name="connsiteY4" fmla="*/ 1777429 h 2034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7847" h="2034283">
                <a:moveTo>
                  <a:pt x="0" y="1777429"/>
                </a:moveTo>
                <a:lnTo>
                  <a:pt x="0" y="0"/>
                </a:lnTo>
                <a:lnTo>
                  <a:pt x="2167847" y="256854"/>
                </a:lnTo>
                <a:lnTo>
                  <a:pt x="2167847" y="2034283"/>
                </a:lnTo>
                <a:lnTo>
                  <a:pt x="0" y="1777429"/>
                </a:lnTo>
                <a:close/>
              </a:path>
            </a:pathLst>
          </a:custGeom>
          <a:solidFill>
            <a:schemeClr val="bg2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29655" y="3935387"/>
                <a:ext cx="17338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𝐶𝐷</m:t>
                      </m:r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⊥</m:t>
                      </m:r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𝐾𝐿</m:t>
                      </m:r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 </m:t>
                      </m:r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𝐶𝐷</m:t>
                      </m:r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⊥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𝑂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𝑂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5" y="3935387"/>
                <a:ext cx="1733869" cy="276999"/>
              </a:xfrm>
              <a:prstGeom prst="rect">
                <a:avLst/>
              </a:prstGeom>
              <a:blipFill rotWithShape="0">
                <a:blip r:embed="rId50"/>
                <a:stretch>
                  <a:fillRect t="-82222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/>
              <p:cNvSpPr txBox="1"/>
              <p:nvPr/>
            </p:nvSpPr>
            <p:spPr>
              <a:xfrm>
                <a:off x="1370013" y="3921557"/>
                <a:ext cx="17338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𝐶𝐷</m:t>
                      </m:r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⊥(</m:t>
                      </m:r>
                      <m:sSub>
                        <m:sSubPr>
                          <m:ctrlPr>
                            <a:rPr lang="en-US" sz="1200" i="1" dirty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𝐾𝐾</m:t>
                          </m:r>
                        </m:e>
                        <m:sub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200" i="1" dirty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0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)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7" name="TextBox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0013" y="3921557"/>
                <a:ext cx="1733869" cy="276999"/>
              </a:xfrm>
              <a:prstGeom prst="rect">
                <a:avLst/>
              </a:prstGeom>
              <a:blipFill rotWithShape="0">
                <a:blip r:embed="rId51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/>
              <p:cNvSpPr txBox="1"/>
              <p:nvPr/>
            </p:nvSpPr>
            <p:spPr>
              <a:xfrm>
                <a:off x="2551264" y="3928472"/>
                <a:ext cx="17338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ru-RU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𝛼</m:t>
                      </m:r>
                      <m:r>
                        <a:rPr lang="en-US" sz="1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⊥(</m:t>
                      </m:r>
                      <m:sSub>
                        <m:sSubPr>
                          <m:ctrlPr>
                            <a:rPr lang="en-US" sz="1200" i="1" dirty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𝐾𝐾</m:t>
                          </m:r>
                        </m:e>
                        <m:sub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200" i="1" dirty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0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)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98" name="TextBox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1264" y="3928472"/>
                <a:ext cx="1733869" cy="276999"/>
              </a:xfrm>
              <a:prstGeom prst="rect">
                <a:avLst/>
              </a:prstGeom>
              <a:blipFill rotWithShape="0">
                <a:blip r:embed="rId52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127335" y="4205511"/>
                <a:ext cx="708739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⟹∠</m:t>
                    </m:r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𝑃𝑁</m:t>
                    </m:r>
                    <m:sSub>
                      <m:sSubPr>
                        <m:ctrlPr>
                          <a:rPr lang="en-US" sz="1200" b="0" i="1" smtClean="0">
                            <a:latin typeface="Cambria Math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𝑂</m:t>
                        </m:r>
                      </m:e>
                      <m:sub>
                        <m:r>
                          <a:rPr lang="en-US" sz="12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− </m:t>
                    </m:r>
                  </m:oMath>
                </a14:m>
                <a:r>
                  <a:rPr lang="ru-RU" sz="1200" dirty="0" smtClean="0"/>
                  <a:t>линейный угол двугранного угла между плоскостью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  <m:r>
                      <a:rPr lang="ru-RU" sz="12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ru-RU" sz="1200" dirty="0" smtClean="0"/>
                  <a:t> и плоскостью верхнего основания.  </a:t>
                </a:r>
                <a:endParaRPr lang="ru-RU" sz="1200" dirty="0"/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35" y="4205511"/>
                <a:ext cx="7087395" cy="276999"/>
              </a:xfrm>
              <a:prstGeom prst="rect">
                <a:avLst/>
              </a:prstGeom>
              <a:blipFill rotWithShape="0">
                <a:blip r:embed="rId53"/>
                <a:stretch>
                  <a:fillRect t="-80000" b="-10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/>
              <p:cNvSpPr txBox="1"/>
              <p:nvPr/>
            </p:nvSpPr>
            <p:spPr>
              <a:xfrm>
                <a:off x="196550" y="4449033"/>
                <a:ext cx="1719118" cy="469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𝑡𝑔</m:t>
                      </m:r>
                      <m:d>
                        <m:d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12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∠</m:t>
                          </m:r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𝑃𝑁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𝑃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𝑁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0" name="TextBox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550" y="4449033"/>
                <a:ext cx="1719118" cy="469424"/>
              </a:xfrm>
              <a:prstGeom prst="rect">
                <a:avLst/>
              </a:prstGeom>
              <a:blipFill rotWithShape="0"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/>
              <p:cNvSpPr txBox="1"/>
              <p:nvPr/>
            </p:nvSpPr>
            <p:spPr>
              <a:xfrm>
                <a:off x="1595344" y="4534021"/>
                <a:ext cx="3231877" cy="251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𝑃𝑂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=5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𝑥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  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𝑃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𝑂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=12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𝑥</m:t>
                      </m:r>
                      <m:r>
                        <a:rPr lang="en-US" sz="1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𝑂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𝑂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=17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𝑥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=21;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1" name="TextBox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5344" y="4534021"/>
                <a:ext cx="3231877" cy="251817"/>
              </a:xfrm>
              <a:prstGeom prst="rect">
                <a:avLst/>
              </a:prstGeom>
              <a:blipFill rotWithShape="0">
                <a:blip r:embed="rId55"/>
                <a:stretch>
                  <a:fillRect t="-87805" b="-1219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/>
              <p:cNvSpPr txBox="1"/>
              <p:nvPr/>
            </p:nvSpPr>
            <p:spPr>
              <a:xfrm>
                <a:off x="4555085" y="4446287"/>
                <a:ext cx="797513" cy="4385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𝑥</m:t>
                      </m:r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17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2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5085" y="4446287"/>
                <a:ext cx="797513" cy="438518"/>
              </a:xfrm>
              <a:prstGeom prst="rect">
                <a:avLst/>
              </a:prstGeom>
              <a:blipFill rotWithShape="0">
                <a:blip r:embed="rId56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/>
              <p:cNvSpPr txBox="1"/>
              <p:nvPr/>
            </p:nvSpPr>
            <p:spPr>
              <a:xfrm>
                <a:off x="4972080" y="4435244"/>
                <a:ext cx="1592114" cy="4385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𝑃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𝑂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12∙21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17</m:t>
                          </m:r>
                        </m:den>
                      </m:f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2080" y="4435244"/>
                <a:ext cx="1592114" cy="438518"/>
              </a:xfrm>
              <a:prstGeom prst="rect">
                <a:avLst/>
              </a:prstGeom>
              <a:blipFill rotWithShape="0">
                <a:blip r:embed="rId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/>
              <p:cNvSpPr txBox="1"/>
              <p:nvPr/>
            </p:nvSpPr>
            <p:spPr>
              <a:xfrm>
                <a:off x="6235513" y="4417738"/>
                <a:ext cx="1392818" cy="4385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𝑡𝑔</m:t>
                      </m:r>
                      <m:d>
                        <m:d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sz="12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∠</m:t>
                          </m:r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𝑃𝑁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2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21</m:t>
                          </m:r>
                        </m:num>
                        <m:den>
                          <m:r>
                            <a:rPr lang="en-US" sz="1200" b="0" i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17</m:t>
                          </m:r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04" name="TextBox 1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5513" y="4417738"/>
                <a:ext cx="1392818" cy="438518"/>
              </a:xfrm>
              <a:prstGeom prst="rect">
                <a:avLst/>
              </a:prstGeom>
              <a:blipFill rotWithShape="0">
                <a:blip r:embed="rId5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/>
              <p:cNvSpPr txBox="1"/>
              <p:nvPr/>
            </p:nvSpPr>
            <p:spPr>
              <a:xfrm>
                <a:off x="7631930" y="4388327"/>
                <a:ext cx="1162049" cy="491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b="1" dirty="0" smtClean="0">
                    <a:solidFill>
                      <a:srgbClr val="FF0000"/>
                    </a:solidFill>
                  </a:rPr>
                  <a:t>Ответ: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𝟐𝟏</m:t>
                        </m:r>
                      </m:num>
                      <m:den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𝟏𝟕</m:t>
                        </m:r>
                      </m:den>
                    </m:f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.</m:t>
                    </m:r>
                  </m:oMath>
                </a14:m>
                <a:endParaRPr lang="ru-RU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6" name="TextBox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1930" y="4388327"/>
                <a:ext cx="1162049" cy="491288"/>
              </a:xfrm>
              <a:prstGeom prst="rect">
                <a:avLst/>
              </a:prstGeom>
              <a:blipFill rotWithShape="0">
                <a:blip r:embed="rId59"/>
                <a:stretch>
                  <a:fillRect l="-4712" b="-87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Прямая соединительная линия 106"/>
          <p:cNvCxnSpPr/>
          <p:nvPr/>
        </p:nvCxnSpPr>
        <p:spPr>
          <a:xfrm>
            <a:off x="6729643" y="1579250"/>
            <a:ext cx="1144451" cy="2484933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Прямая соединительная линия 113"/>
          <p:cNvCxnSpPr>
            <a:endCxn id="79" idx="0"/>
          </p:cNvCxnSpPr>
          <p:nvPr/>
        </p:nvCxnSpPr>
        <p:spPr>
          <a:xfrm>
            <a:off x="4764030" y="1980828"/>
            <a:ext cx="9623" cy="1101417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/>
              <p:cNvSpPr txBox="1"/>
              <p:nvPr/>
            </p:nvSpPr>
            <p:spPr>
              <a:xfrm>
                <a:off x="1800754" y="1402410"/>
                <a:ext cx="124174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⟹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200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⊥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𝐴𝐵</m:t>
                      </m:r>
                      <m:r>
                        <a:rPr lang="en-US" sz="1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;</m:t>
                      </m:r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16" name="TextBox 1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0754" y="1402410"/>
                <a:ext cx="1241740" cy="276999"/>
              </a:xfrm>
              <a:prstGeom prst="rect">
                <a:avLst/>
              </a:prstGeom>
              <a:blipFill rotWithShape="0">
                <a:blip r:embed="rId6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Сектор 116"/>
          <p:cNvSpPr/>
          <p:nvPr/>
        </p:nvSpPr>
        <p:spPr>
          <a:xfrm>
            <a:off x="6272788" y="1129992"/>
            <a:ext cx="914400" cy="914400"/>
          </a:xfrm>
          <a:prstGeom prst="pie">
            <a:avLst>
              <a:gd name="adj1" fmla="val 454642"/>
              <a:gd name="adj2" fmla="val 3846381"/>
            </a:avLst>
          </a:prstGeom>
          <a:solidFill>
            <a:schemeClr val="accent1">
              <a:alpha val="29000"/>
            </a:schemeClr>
          </a:solidFill>
          <a:ln w="63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615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indefinite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5" grpId="0"/>
      <p:bldP spid="36" grpId="0"/>
      <p:bldP spid="43" grpId="0" animBg="1"/>
      <p:bldP spid="44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 animBg="1"/>
      <p:bldP spid="55" grpId="0" animBg="1"/>
      <p:bldP spid="56" grpId="0"/>
      <p:bldP spid="58" grpId="0"/>
      <p:bldP spid="59" grpId="0" animBg="1"/>
      <p:bldP spid="61" grpId="0" animBg="1"/>
      <p:bldP spid="63" grpId="0"/>
      <p:bldP spid="63" grpId="1"/>
      <p:bldP spid="64" grpId="0"/>
      <p:bldP spid="64" grpId="1"/>
      <p:bldP spid="65" grpId="0" animBg="1"/>
      <p:bldP spid="66" grpId="0"/>
      <p:bldP spid="66" grpId="1"/>
      <p:bldP spid="67" grpId="0"/>
      <p:bldP spid="67" grpId="1"/>
      <p:bldP spid="69" grpId="0"/>
      <p:bldP spid="69" grpId="1"/>
      <p:bldP spid="70" grpId="0"/>
      <p:bldP spid="70" grpId="1"/>
      <p:bldP spid="71" grpId="0"/>
      <p:bldP spid="72" grpId="0"/>
      <p:bldP spid="73" grpId="0"/>
      <p:bldP spid="74" grpId="0"/>
      <p:bldP spid="75" grpId="0"/>
      <p:bldP spid="77" grpId="0"/>
      <p:bldP spid="78" grpId="0"/>
      <p:bldP spid="79" grpId="0" animBg="1"/>
      <p:bldP spid="81" grpId="0"/>
      <p:bldP spid="82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5" grpId="0" animBg="1"/>
      <p:bldP spid="96" grpId="0"/>
      <p:bldP spid="97" grpId="0"/>
      <p:bldP spid="98" grpId="0"/>
      <p:bldP spid="99" grpId="0"/>
      <p:bldP spid="100" grpId="0"/>
      <p:bldP spid="101" grpId="0"/>
      <p:bldP spid="102" grpId="0"/>
      <p:bldP spid="103" grpId="0"/>
      <p:bldP spid="104" grpId="0"/>
      <p:bldP spid="106" grpId="0"/>
      <p:bldP spid="116" grpId="0"/>
      <p:bldP spid="117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806963ddd92361f9517b2d24adc7d037592fad6b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Широкоэкранная презентация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WidescreenPresentation</Template>
  <TotalTime>0</TotalTime>
  <Words>15702</Words>
  <Application>Microsoft Office PowerPoint</Application>
  <PresentationFormat>Экран (16:9)</PresentationFormat>
  <Paragraphs>1761</Paragraphs>
  <Slides>48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48</vt:i4>
      </vt:variant>
    </vt:vector>
  </HeadingPairs>
  <TitlesOfParts>
    <vt:vector size="49" baseType="lpstr">
      <vt:lpstr>Широкоэкранная презентация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cp:lastPrinted>2017-08-31T08:49:22Z</cp:lastPrinted>
  <dcterms:created xsi:type="dcterms:W3CDTF">2012-11-23T07:59:32Z</dcterms:created>
  <dcterms:modified xsi:type="dcterms:W3CDTF">2019-01-22T17:27:40Z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1049</vt:i4>
  </property>
  <property fmtid="{D5CDD505-2E9C-101B-9397-08002B2CF9AE}" pid="3" name="_Version">
    <vt:lpwstr>12.0.4518</vt:lpwstr>
  </property>
</Properties>
</file>